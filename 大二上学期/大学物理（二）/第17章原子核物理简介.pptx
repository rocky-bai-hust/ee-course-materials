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3" r:id="rId1"/>
  </p:sldMasterIdLst>
  <p:notesMasterIdLst>
    <p:notesMasterId r:id="rId58"/>
  </p:notesMasterIdLst>
  <p:sldIdLst>
    <p:sldId id="317" r:id="rId2"/>
    <p:sldId id="313" r:id="rId3"/>
    <p:sldId id="256" r:id="rId4"/>
    <p:sldId id="322" r:id="rId5"/>
    <p:sldId id="323" r:id="rId6"/>
    <p:sldId id="325" r:id="rId7"/>
    <p:sldId id="326" r:id="rId8"/>
    <p:sldId id="327" r:id="rId9"/>
    <p:sldId id="328" r:id="rId10"/>
    <p:sldId id="329" r:id="rId11"/>
    <p:sldId id="330" r:id="rId12"/>
    <p:sldId id="314" r:id="rId13"/>
    <p:sldId id="332" r:id="rId14"/>
    <p:sldId id="333" r:id="rId15"/>
    <p:sldId id="342" r:id="rId16"/>
    <p:sldId id="343" r:id="rId17"/>
    <p:sldId id="334" r:id="rId18"/>
    <p:sldId id="335" r:id="rId19"/>
    <p:sldId id="336" r:id="rId20"/>
    <p:sldId id="337" r:id="rId21"/>
    <p:sldId id="359" r:id="rId22"/>
    <p:sldId id="344" r:id="rId23"/>
    <p:sldId id="346" r:id="rId24"/>
    <p:sldId id="347" r:id="rId25"/>
    <p:sldId id="353" r:id="rId26"/>
    <p:sldId id="354" r:id="rId27"/>
    <p:sldId id="355" r:id="rId28"/>
    <p:sldId id="357" r:id="rId29"/>
    <p:sldId id="358" r:id="rId30"/>
    <p:sldId id="362" r:id="rId31"/>
    <p:sldId id="363" r:id="rId32"/>
    <p:sldId id="364" r:id="rId33"/>
    <p:sldId id="380" r:id="rId34"/>
    <p:sldId id="379" r:id="rId35"/>
    <p:sldId id="374" r:id="rId36"/>
    <p:sldId id="376" r:id="rId37"/>
    <p:sldId id="365" r:id="rId38"/>
    <p:sldId id="366" r:id="rId39"/>
    <p:sldId id="367" r:id="rId40"/>
    <p:sldId id="368" r:id="rId41"/>
    <p:sldId id="369" r:id="rId42"/>
    <p:sldId id="370" r:id="rId43"/>
    <p:sldId id="371" r:id="rId44"/>
    <p:sldId id="372" r:id="rId45"/>
    <p:sldId id="373" r:id="rId46"/>
    <p:sldId id="361" r:id="rId47"/>
    <p:sldId id="381" r:id="rId48"/>
    <p:sldId id="382" r:id="rId49"/>
    <p:sldId id="383" r:id="rId50"/>
    <p:sldId id="384" r:id="rId51"/>
    <p:sldId id="385" r:id="rId52"/>
    <p:sldId id="392" r:id="rId53"/>
    <p:sldId id="393" r:id="rId54"/>
    <p:sldId id="394" r:id="rId55"/>
    <p:sldId id="360" r:id="rId56"/>
    <p:sldId id="391" r:id="rId57"/>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00080"/>
    <a:srgbClr val="A70994"/>
    <a:srgbClr val="202AF4"/>
    <a:srgbClr val="E86EEB"/>
    <a:srgbClr val="00FF00"/>
    <a:srgbClr val="FFFF00"/>
    <a:srgbClr val="FFCCFF"/>
    <a:srgbClr val="6600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p:restoredLeft sz="15890" autoAdjust="0"/>
    <p:restoredTop sz="94640" autoAdjust="0"/>
  </p:normalViewPr>
  <p:slideViewPr>
    <p:cSldViewPr>
      <p:cViewPr varScale="1">
        <p:scale>
          <a:sx n="107" d="100"/>
          <a:sy n="107" d="100"/>
        </p:scale>
        <p:origin x="474" y="11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4.wmf"/><Relationship Id="rId1" Type="http://schemas.openxmlformats.org/officeDocument/2006/relationships/image" Target="../media/image3.wmf"/><Relationship Id="rId6" Type="http://schemas.openxmlformats.org/officeDocument/2006/relationships/image" Target="../media/image8.wmf"/><Relationship Id="rId5" Type="http://schemas.openxmlformats.org/officeDocument/2006/relationships/image" Target="../media/image7.wmf"/><Relationship Id="rId4" Type="http://schemas.openxmlformats.org/officeDocument/2006/relationships/image" Target="../media/image6.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image" Target="../media/image10.wmf"/><Relationship Id="rId1" Type="http://schemas.openxmlformats.org/officeDocument/2006/relationships/image" Target="../media/image9.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image" Target="../media/image12.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5.wmf"/><Relationship Id="rId1" Type="http://schemas.openxmlformats.org/officeDocument/2006/relationships/image" Target="../media/image14.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image" Target="../media/image18.wmf"/><Relationship Id="rId1" Type="http://schemas.openxmlformats.org/officeDocument/2006/relationships/image" Target="../media/image17.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image" Target="../media/image21.wmf"/><Relationship Id="rId1" Type="http://schemas.openxmlformats.org/officeDocument/2006/relationships/image" Target="../media/image20.wmf"/><Relationship Id="rId5" Type="http://schemas.openxmlformats.org/officeDocument/2006/relationships/image" Target="../media/image24.wmf"/><Relationship Id="rId4" Type="http://schemas.openxmlformats.org/officeDocument/2006/relationships/image" Target="../media/image23.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image" Target="../media/image26.wmf"/><Relationship Id="rId1" Type="http://schemas.openxmlformats.org/officeDocument/2006/relationships/image" Target="../media/image25.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image" Target="../media/image31.wmf"/><Relationship Id="rId1" Type="http://schemas.openxmlformats.org/officeDocument/2006/relationships/image" Target="../media/image30.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image" Target="../media/image34.wmf"/><Relationship Id="rId1" Type="http://schemas.openxmlformats.org/officeDocument/2006/relationships/image" Target="../media/image33.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image" Target="../media/image37.wmf"/><Relationship Id="rId1" Type="http://schemas.openxmlformats.org/officeDocument/2006/relationships/image" Target="../media/image36.wmf"/><Relationship Id="rId5" Type="http://schemas.openxmlformats.org/officeDocument/2006/relationships/image" Target="../media/image40.emf"/><Relationship Id="rId4" Type="http://schemas.openxmlformats.org/officeDocument/2006/relationships/image" Target="../media/image39.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image" Target="../media/image42.wmf"/><Relationship Id="rId1" Type="http://schemas.openxmlformats.org/officeDocument/2006/relationships/image" Target="../media/image41.wmf"/><Relationship Id="rId4" Type="http://schemas.openxmlformats.org/officeDocument/2006/relationships/image" Target="../media/image40.emf"/></Relationships>
</file>

<file path=ppt/drawings/_rels/vmlDrawing13.vml.rels><?xml version="1.0" encoding="UTF-8" standalone="yes"?>
<Relationships xmlns="http://schemas.openxmlformats.org/package/2006/relationships"><Relationship Id="rId8" Type="http://schemas.openxmlformats.org/officeDocument/2006/relationships/image" Target="../media/image40.emf"/><Relationship Id="rId3" Type="http://schemas.openxmlformats.org/officeDocument/2006/relationships/image" Target="../media/image45.wmf"/><Relationship Id="rId7" Type="http://schemas.openxmlformats.org/officeDocument/2006/relationships/image" Target="../media/image33.wmf"/><Relationship Id="rId2" Type="http://schemas.openxmlformats.org/officeDocument/2006/relationships/image" Target="../media/image44.wmf"/><Relationship Id="rId1" Type="http://schemas.openxmlformats.org/officeDocument/2006/relationships/image" Target="../media/image43.wmf"/><Relationship Id="rId6" Type="http://schemas.openxmlformats.org/officeDocument/2006/relationships/image" Target="../media/image48.wmf"/><Relationship Id="rId5" Type="http://schemas.openxmlformats.org/officeDocument/2006/relationships/image" Target="../media/image47.wmf"/><Relationship Id="rId4" Type="http://schemas.openxmlformats.org/officeDocument/2006/relationships/image" Target="../media/image46.wmf"/></Relationships>
</file>

<file path=ppt/drawings/_rels/vmlDrawing14.vml.rels><?xml version="1.0" encoding="UTF-8" standalone="yes"?>
<Relationships xmlns="http://schemas.openxmlformats.org/package/2006/relationships"><Relationship Id="rId8" Type="http://schemas.openxmlformats.org/officeDocument/2006/relationships/image" Target="../media/image56.emf"/><Relationship Id="rId3" Type="http://schemas.openxmlformats.org/officeDocument/2006/relationships/image" Target="../media/image51.wmf"/><Relationship Id="rId7" Type="http://schemas.openxmlformats.org/officeDocument/2006/relationships/image" Target="../media/image55.wmf"/><Relationship Id="rId2" Type="http://schemas.openxmlformats.org/officeDocument/2006/relationships/image" Target="../media/image50.wmf"/><Relationship Id="rId1" Type="http://schemas.openxmlformats.org/officeDocument/2006/relationships/image" Target="../media/image49.emf"/><Relationship Id="rId6" Type="http://schemas.openxmlformats.org/officeDocument/2006/relationships/image" Target="../media/image54.wmf"/><Relationship Id="rId11" Type="http://schemas.openxmlformats.org/officeDocument/2006/relationships/image" Target="../media/image59.wmf"/><Relationship Id="rId5" Type="http://schemas.openxmlformats.org/officeDocument/2006/relationships/image" Target="../media/image53.wmf"/><Relationship Id="rId10" Type="http://schemas.openxmlformats.org/officeDocument/2006/relationships/image" Target="../media/image58.emf"/><Relationship Id="rId4" Type="http://schemas.openxmlformats.org/officeDocument/2006/relationships/image" Target="../media/image52.wmf"/><Relationship Id="rId9" Type="http://schemas.openxmlformats.org/officeDocument/2006/relationships/image" Target="../media/image57.e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61.wmf"/><Relationship Id="rId1" Type="http://schemas.openxmlformats.org/officeDocument/2006/relationships/image" Target="../media/image60.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64.wmf"/><Relationship Id="rId2" Type="http://schemas.openxmlformats.org/officeDocument/2006/relationships/image" Target="../media/image63.wmf"/><Relationship Id="rId1" Type="http://schemas.openxmlformats.org/officeDocument/2006/relationships/image" Target="../media/image62.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65.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68.wmf"/><Relationship Id="rId2" Type="http://schemas.openxmlformats.org/officeDocument/2006/relationships/image" Target="../media/image67.wmf"/><Relationship Id="rId1" Type="http://schemas.openxmlformats.org/officeDocument/2006/relationships/image" Target="../media/image66.w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71.wmf"/><Relationship Id="rId2" Type="http://schemas.openxmlformats.org/officeDocument/2006/relationships/image" Target="../media/image70.wmf"/><Relationship Id="rId1" Type="http://schemas.openxmlformats.org/officeDocument/2006/relationships/image" Target="../media/image69.wmf"/><Relationship Id="rId4" Type="http://schemas.openxmlformats.org/officeDocument/2006/relationships/image" Target="../media/image72.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75.wmf"/><Relationship Id="rId2" Type="http://schemas.openxmlformats.org/officeDocument/2006/relationships/image" Target="../media/image74.wmf"/><Relationship Id="rId1" Type="http://schemas.openxmlformats.org/officeDocument/2006/relationships/image" Target="../media/image73.wmf"/><Relationship Id="rId4" Type="http://schemas.openxmlformats.org/officeDocument/2006/relationships/image" Target="../media/image76.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79.e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82.wmf"/><Relationship Id="rId2" Type="http://schemas.openxmlformats.org/officeDocument/2006/relationships/image" Target="../media/image81.wmf"/><Relationship Id="rId1" Type="http://schemas.openxmlformats.org/officeDocument/2006/relationships/image" Target="../media/image80.wmf"/><Relationship Id="rId4" Type="http://schemas.openxmlformats.org/officeDocument/2006/relationships/image" Target="../media/image83.wmf"/></Relationships>
</file>

<file path=ppt/drawings/_rels/vmlDrawing23.vml.rels><?xml version="1.0" encoding="UTF-8" standalone="yes"?>
<Relationships xmlns="http://schemas.openxmlformats.org/package/2006/relationships"><Relationship Id="rId3" Type="http://schemas.openxmlformats.org/officeDocument/2006/relationships/image" Target="../media/image86.emf"/><Relationship Id="rId2" Type="http://schemas.openxmlformats.org/officeDocument/2006/relationships/image" Target="../media/image85.emf"/><Relationship Id="rId1" Type="http://schemas.openxmlformats.org/officeDocument/2006/relationships/image" Target="../media/image84.emf"/><Relationship Id="rId6" Type="http://schemas.openxmlformats.org/officeDocument/2006/relationships/image" Target="../media/image89.wmf"/><Relationship Id="rId5" Type="http://schemas.openxmlformats.org/officeDocument/2006/relationships/image" Target="../media/image88.emf"/><Relationship Id="rId4" Type="http://schemas.openxmlformats.org/officeDocument/2006/relationships/image" Target="../media/image87.emf"/></Relationships>
</file>

<file path=ppt/drawings/_rels/vmlDrawing24.vml.rels><?xml version="1.0" encoding="UTF-8" standalone="yes"?>
<Relationships xmlns="http://schemas.openxmlformats.org/package/2006/relationships"><Relationship Id="rId3" Type="http://schemas.openxmlformats.org/officeDocument/2006/relationships/image" Target="../media/image122.wmf"/><Relationship Id="rId2" Type="http://schemas.openxmlformats.org/officeDocument/2006/relationships/image" Target="../media/image121.wmf"/><Relationship Id="rId1" Type="http://schemas.openxmlformats.org/officeDocument/2006/relationships/image" Target="../media/image120.wmf"/><Relationship Id="rId4" Type="http://schemas.openxmlformats.org/officeDocument/2006/relationships/image" Target="../media/image123.w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124.emf"/></Relationships>
</file>

<file path=ppt/drawings/_rels/vmlDrawing26.vml.rels><?xml version="1.0" encoding="UTF-8" standalone="yes"?>
<Relationships xmlns="http://schemas.openxmlformats.org/package/2006/relationships"><Relationship Id="rId2" Type="http://schemas.openxmlformats.org/officeDocument/2006/relationships/image" Target="../media/image126.wmf"/><Relationship Id="rId1" Type="http://schemas.openxmlformats.org/officeDocument/2006/relationships/image" Target="../media/image125.wmf"/></Relationships>
</file>

<file path=ppt/drawings/_rels/vmlDrawing27.vml.rels><?xml version="1.0" encoding="UTF-8" standalone="yes"?>
<Relationships xmlns="http://schemas.openxmlformats.org/package/2006/relationships"><Relationship Id="rId3" Type="http://schemas.openxmlformats.org/officeDocument/2006/relationships/image" Target="../media/image129.emf"/><Relationship Id="rId2" Type="http://schemas.openxmlformats.org/officeDocument/2006/relationships/image" Target="../media/image128.wmf"/><Relationship Id="rId1" Type="http://schemas.openxmlformats.org/officeDocument/2006/relationships/image" Target="../media/image127.wmf"/></Relationships>
</file>

<file path=ppt/drawings/_rels/vmlDrawing28.vml.rels><?xml version="1.0" encoding="UTF-8" standalone="yes"?>
<Relationships xmlns="http://schemas.openxmlformats.org/package/2006/relationships"><Relationship Id="rId3" Type="http://schemas.openxmlformats.org/officeDocument/2006/relationships/image" Target="../media/image134.wmf"/><Relationship Id="rId2" Type="http://schemas.openxmlformats.org/officeDocument/2006/relationships/image" Target="../media/image133.wmf"/><Relationship Id="rId1" Type="http://schemas.openxmlformats.org/officeDocument/2006/relationships/image" Target="../media/image132.png"/><Relationship Id="rId5" Type="http://schemas.openxmlformats.org/officeDocument/2006/relationships/image" Target="../media/image136.wmf"/><Relationship Id="rId4" Type="http://schemas.openxmlformats.org/officeDocument/2006/relationships/image" Target="../media/image135.wmf"/></Relationships>
</file>

<file path=ppt/drawings/_rels/vmlDrawing29.vml.rels><?xml version="1.0" encoding="UTF-8" standalone="yes"?>
<Relationships xmlns="http://schemas.openxmlformats.org/package/2006/relationships"><Relationship Id="rId3" Type="http://schemas.openxmlformats.org/officeDocument/2006/relationships/image" Target="../media/image139.wmf"/><Relationship Id="rId2" Type="http://schemas.openxmlformats.org/officeDocument/2006/relationships/image" Target="../media/image138.wmf"/><Relationship Id="rId1" Type="http://schemas.openxmlformats.org/officeDocument/2006/relationships/image" Target="../media/image137.wmf"/><Relationship Id="rId4" Type="http://schemas.openxmlformats.org/officeDocument/2006/relationships/image" Target="../media/image59.wmf"/></Relationships>
</file>

<file path=ppt/drawings/_rels/vmlDrawing30.vml.rels><?xml version="1.0" encoding="UTF-8" standalone="yes"?>
<Relationships xmlns="http://schemas.openxmlformats.org/package/2006/relationships"><Relationship Id="rId3" Type="http://schemas.openxmlformats.org/officeDocument/2006/relationships/image" Target="../media/image64.wmf"/><Relationship Id="rId2" Type="http://schemas.openxmlformats.org/officeDocument/2006/relationships/image" Target="../media/image63.wmf"/><Relationship Id="rId1" Type="http://schemas.openxmlformats.org/officeDocument/2006/relationships/image" Target="../media/image60.wmf"/><Relationship Id="rId5" Type="http://schemas.openxmlformats.org/officeDocument/2006/relationships/image" Target="../media/image69.wmf"/><Relationship Id="rId4" Type="http://schemas.openxmlformats.org/officeDocument/2006/relationships/image" Target="../media/image65.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B856B498-59B3-428B-9C64-2CE88A1F000B}"/>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kumimoji="1" sz="1200">
                <a:latin typeface="Times New Roman" pitchFamily="18" charset="0"/>
              </a:defRPr>
            </a:lvl1pPr>
          </a:lstStyle>
          <a:p>
            <a:pPr>
              <a:defRPr/>
            </a:pPr>
            <a:endParaRPr lang="en-US" altLang="zh-CN"/>
          </a:p>
        </p:txBody>
      </p:sp>
      <p:sp>
        <p:nvSpPr>
          <p:cNvPr id="33795" name="Rectangle 3">
            <a:extLst>
              <a:ext uri="{FF2B5EF4-FFF2-40B4-BE49-F238E27FC236}">
                <a16:creationId xmlns:a16="http://schemas.microsoft.com/office/drawing/2014/main" id="{D7FB8A76-8BE5-4C3C-B364-204EA10F2671}"/>
              </a:ext>
            </a:extLst>
          </p:cNvPr>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kumimoji="1" sz="1200">
                <a:latin typeface="Times New Roman" pitchFamily="18" charset="0"/>
              </a:defRPr>
            </a:lvl1pPr>
          </a:lstStyle>
          <a:p>
            <a:pPr>
              <a:defRPr/>
            </a:pPr>
            <a:endParaRPr lang="en-US" altLang="zh-CN"/>
          </a:p>
        </p:txBody>
      </p:sp>
      <p:sp>
        <p:nvSpPr>
          <p:cNvPr id="2052" name="Rectangle 4">
            <a:extLst>
              <a:ext uri="{FF2B5EF4-FFF2-40B4-BE49-F238E27FC236}">
                <a16:creationId xmlns:a16="http://schemas.microsoft.com/office/drawing/2014/main" id="{C4B3053A-C993-4548-BC15-C1C53B6572C7}"/>
              </a:ext>
            </a:extLst>
          </p:cNvPr>
          <p:cNvSpPr>
            <a:spLocks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3797" name="Rectangle 5">
            <a:extLst>
              <a:ext uri="{FF2B5EF4-FFF2-40B4-BE49-F238E27FC236}">
                <a16:creationId xmlns:a16="http://schemas.microsoft.com/office/drawing/2014/main" id="{22D97C63-491B-40FE-A9D6-079209994829}"/>
              </a:ext>
            </a:extLst>
          </p:cNvPr>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33798" name="Rectangle 6">
            <a:extLst>
              <a:ext uri="{FF2B5EF4-FFF2-40B4-BE49-F238E27FC236}">
                <a16:creationId xmlns:a16="http://schemas.microsoft.com/office/drawing/2014/main" id="{8E5B021C-8576-4014-92AD-31F3EAFB51F0}"/>
              </a:ext>
            </a:extLst>
          </p:cNvPr>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kumimoji="1" sz="1200">
                <a:latin typeface="Times New Roman" pitchFamily="18" charset="0"/>
              </a:defRPr>
            </a:lvl1pPr>
          </a:lstStyle>
          <a:p>
            <a:pPr>
              <a:defRPr/>
            </a:pPr>
            <a:endParaRPr lang="en-US" altLang="zh-CN"/>
          </a:p>
        </p:txBody>
      </p:sp>
      <p:sp>
        <p:nvSpPr>
          <p:cNvPr id="33799" name="Rectangle 7">
            <a:extLst>
              <a:ext uri="{FF2B5EF4-FFF2-40B4-BE49-F238E27FC236}">
                <a16:creationId xmlns:a16="http://schemas.microsoft.com/office/drawing/2014/main" id="{292A17BA-E705-4438-80AE-942E3A7F4DC5}"/>
              </a:ext>
            </a:extLst>
          </p:cNvPr>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kumimoji="1" sz="1200">
                <a:latin typeface="Times New Roman" panose="02020603050405020304" pitchFamily="18" charset="0"/>
              </a:defRPr>
            </a:lvl1pPr>
          </a:lstStyle>
          <a:p>
            <a:fld id="{26B70DD3-7490-42A0-B907-63E3105AE052}" type="slidenum">
              <a:rPr lang="en-US" altLang="zh-CN"/>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E30BEF85-6A7F-4C9B-941C-F12ECB5150A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1AA9610A-DC26-4F14-8DD1-C6CC18E2825D}" type="slidenum">
              <a:rPr lang="en-US" altLang="zh-CN">
                <a:latin typeface="Times New Roman" panose="02020603050405020304" pitchFamily="18" charset="0"/>
              </a:rPr>
              <a:pPr/>
              <a:t>3</a:t>
            </a:fld>
            <a:endParaRPr lang="en-US" altLang="zh-CN">
              <a:latin typeface="Times New Roman" panose="02020603050405020304" pitchFamily="18" charset="0"/>
            </a:endParaRPr>
          </a:p>
        </p:txBody>
      </p:sp>
      <p:sp>
        <p:nvSpPr>
          <p:cNvPr id="6147" name="Rectangle 2">
            <a:extLst>
              <a:ext uri="{FF2B5EF4-FFF2-40B4-BE49-F238E27FC236}">
                <a16:creationId xmlns:a16="http://schemas.microsoft.com/office/drawing/2014/main" id="{8815A1FA-5727-4261-93EE-62F8DC40DFFF}"/>
              </a:ext>
            </a:extLst>
          </p:cNvPr>
          <p:cNvSpPr>
            <a:spLocks noChangeArrowheads="1" noTextEdit="1"/>
          </p:cNvSpPr>
          <p:nvPr>
            <p:ph type="sldImg"/>
          </p:nvPr>
        </p:nvSpPr>
        <p:spPr>
          <a:ln/>
        </p:spPr>
      </p:sp>
      <p:sp>
        <p:nvSpPr>
          <p:cNvPr id="6148" name="Rectangle 3">
            <a:extLst>
              <a:ext uri="{FF2B5EF4-FFF2-40B4-BE49-F238E27FC236}">
                <a16:creationId xmlns:a16="http://schemas.microsoft.com/office/drawing/2014/main" id="{D79ED2DB-FC89-46AC-B147-BD3E2AFD595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a:extLst>
              <a:ext uri="{FF2B5EF4-FFF2-40B4-BE49-F238E27FC236}">
                <a16:creationId xmlns:a16="http://schemas.microsoft.com/office/drawing/2014/main" id="{ECFB41B0-258B-4755-B17A-C243823B8F6A}"/>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4144F2F1-50B4-488C-A29B-D63DF0C34FF5}"/>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EAC243B1-453E-41AF-8505-E804E4843EF8}"/>
              </a:ext>
            </a:extLst>
          </p:cNvPr>
          <p:cNvSpPr>
            <a:spLocks noGrp="1" noChangeArrowheads="1"/>
          </p:cNvSpPr>
          <p:nvPr>
            <p:ph type="sldNum" sz="quarter" idx="12"/>
          </p:nvPr>
        </p:nvSpPr>
        <p:spPr>
          <a:ln/>
        </p:spPr>
        <p:txBody>
          <a:bodyPr/>
          <a:lstStyle>
            <a:lvl1pPr>
              <a:defRPr/>
            </a:lvl1pPr>
          </a:lstStyle>
          <a:p>
            <a:fld id="{E46F5158-2A9D-42F0-93BC-C1672851269C}" type="slidenum">
              <a:rPr lang="en-US" altLang="zh-CN"/>
              <a:pPr/>
              <a:t>‹#›</a:t>
            </a:fld>
            <a:endParaRPr lang="en-US" altLang="zh-CN"/>
          </a:p>
        </p:txBody>
      </p:sp>
    </p:spTree>
    <p:extLst>
      <p:ext uri="{BB962C8B-B14F-4D97-AF65-F5344CB8AC3E}">
        <p14:creationId xmlns:p14="http://schemas.microsoft.com/office/powerpoint/2010/main" val="16406133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29EE3237-2100-4792-8B3F-9AF1D623E6F7}"/>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1A4FA001-4A11-445D-8477-FAB8F98E6DAD}"/>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3551E493-7391-4BE5-B04F-C3CB92CA78A1}"/>
              </a:ext>
            </a:extLst>
          </p:cNvPr>
          <p:cNvSpPr>
            <a:spLocks noGrp="1" noChangeArrowheads="1"/>
          </p:cNvSpPr>
          <p:nvPr>
            <p:ph type="sldNum" sz="quarter" idx="12"/>
          </p:nvPr>
        </p:nvSpPr>
        <p:spPr>
          <a:ln/>
        </p:spPr>
        <p:txBody>
          <a:bodyPr/>
          <a:lstStyle>
            <a:lvl1pPr>
              <a:defRPr/>
            </a:lvl1pPr>
          </a:lstStyle>
          <a:p>
            <a:fld id="{D232C548-7B76-412C-91BF-B906F7901673}" type="slidenum">
              <a:rPr lang="en-US" altLang="zh-CN"/>
              <a:pPr/>
              <a:t>‹#›</a:t>
            </a:fld>
            <a:endParaRPr lang="en-US" altLang="zh-CN"/>
          </a:p>
        </p:txBody>
      </p:sp>
    </p:spTree>
    <p:extLst>
      <p:ext uri="{BB962C8B-B14F-4D97-AF65-F5344CB8AC3E}">
        <p14:creationId xmlns:p14="http://schemas.microsoft.com/office/powerpoint/2010/main" val="7392505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a:extLst>
              <a:ext uri="{FF2B5EF4-FFF2-40B4-BE49-F238E27FC236}">
                <a16:creationId xmlns:a16="http://schemas.microsoft.com/office/drawing/2014/main" id="{2198484A-8D41-4FBF-96BE-DDCA6801CB0F}"/>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8AED76CD-01C2-48D1-B95C-6D82AAD8BC8D}"/>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13DB2F9D-AD29-4628-9762-C63469ED10B0}"/>
              </a:ext>
            </a:extLst>
          </p:cNvPr>
          <p:cNvSpPr>
            <a:spLocks noGrp="1" noChangeArrowheads="1"/>
          </p:cNvSpPr>
          <p:nvPr>
            <p:ph type="sldNum" sz="quarter" idx="12"/>
          </p:nvPr>
        </p:nvSpPr>
        <p:spPr>
          <a:ln/>
        </p:spPr>
        <p:txBody>
          <a:bodyPr/>
          <a:lstStyle>
            <a:lvl1pPr>
              <a:defRPr/>
            </a:lvl1pPr>
          </a:lstStyle>
          <a:p>
            <a:fld id="{40F2DCC9-F6B5-4982-91A3-E181A7C4EF5B}" type="slidenum">
              <a:rPr lang="en-US" altLang="zh-CN"/>
              <a:pPr/>
              <a:t>‹#›</a:t>
            </a:fld>
            <a:endParaRPr lang="en-US" altLang="zh-CN"/>
          </a:p>
        </p:txBody>
      </p:sp>
    </p:spTree>
    <p:extLst>
      <p:ext uri="{BB962C8B-B14F-4D97-AF65-F5344CB8AC3E}">
        <p14:creationId xmlns:p14="http://schemas.microsoft.com/office/powerpoint/2010/main" val="42107865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AF5BA28E-0080-454E-AD6B-C96C889B5DD7}"/>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68DBA546-1F7F-48B7-A826-95FF96EF7837}"/>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B5B1F107-CAA3-42E5-AB4A-CCC13978EAE6}"/>
              </a:ext>
            </a:extLst>
          </p:cNvPr>
          <p:cNvSpPr>
            <a:spLocks noGrp="1" noChangeArrowheads="1"/>
          </p:cNvSpPr>
          <p:nvPr>
            <p:ph type="sldNum" sz="quarter" idx="12"/>
          </p:nvPr>
        </p:nvSpPr>
        <p:spPr>
          <a:ln/>
        </p:spPr>
        <p:txBody>
          <a:bodyPr/>
          <a:lstStyle>
            <a:lvl1pPr>
              <a:defRPr/>
            </a:lvl1pPr>
          </a:lstStyle>
          <a:p>
            <a:fld id="{DB5D2C2A-5E54-4DA1-9002-E53851B9E224}" type="slidenum">
              <a:rPr lang="en-US" altLang="zh-CN"/>
              <a:pPr/>
              <a:t>‹#›</a:t>
            </a:fld>
            <a:endParaRPr lang="en-US" altLang="zh-CN"/>
          </a:p>
        </p:txBody>
      </p:sp>
    </p:spTree>
    <p:extLst>
      <p:ext uri="{BB962C8B-B14F-4D97-AF65-F5344CB8AC3E}">
        <p14:creationId xmlns:p14="http://schemas.microsoft.com/office/powerpoint/2010/main" val="5123044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0C88BEC3-670B-416C-ADAB-0D636B0B58AB}"/>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a:extLst>
              <a:ext uri="{FF2B5EF4-FFF2-40B4-BE49-F238E27FC236}">
                <a16:creationId xmlns:a16="http://schemas.microsoft.com/office/drawing/2014/main" id="{CF76B1C6-0A97-4671-882F-A9BAC5BB4EEF}"/>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a:extLst>
              <a:ext uri="{FF2B5EF4-FFF2-40B4-BE49-F238E27FC236}">
                <a16:creationId xmlns:a16="http://schemas.microsoft.com/office/drawing/2014/main" id="{081AECA0-8EB8-4942-9112-9E790820071F}"/>
              </a:ext>
            </a:extLst>
          </p:cNvPr>
          <p:cNvSpPr>
            <a:spLocks noGrp="1" noChangeArrowheads="1"/>
          </p:cNvSpPr>
          <p:nvPr>
            <p:ph type="sldNum" sz="quarter" idx="12"/>
          </p:nvPr>
        </p:nvSpPr>
        <p:spPr>
          <a:ln/>
        </p:spPr>
        <p:txBody>
          <a:bodyPr/>
          <a:lstStyle>
            <a:lvl1pPr>
              <a:defRPr/>
            </a:lvl1pPr>
          </a:lstStyle>
          <a:p>
            <a:fld id="{60C24A81-B95F-4CC5-B574-9C145A7B1C85}" type="slidenum">
              <a:rPr lang="en-US" altLang="zh-CN"/>
              <a:pPr/>
              <a:t>‹#›</a:t>
            </a:fld>
            <a:endParaRPr lang="en-US" altLang="zh-CN"/>
          </a:p>
        </p:txBody>
      </p:sp>
    </p:spTree>
    <p:extLst>
      <p:ext uri="{BB962C8B-B14F-4D97-AF65-F5344CB8AC3E}">
        <p14:creationId xmlns:p14="http://schemas.microsoft.com/office/powerpoint/2010/main" val="8364286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a:extLst>
              <a:ext uri="{FF2B5EF4-FFF2-40B4-BE49-F238E27FC236}">
                <a16:creationId xmlns:a16="http://schemas.microsoft.com/office/drawing/2014/main" id="{A898A030-0680-44A8-B82E-943DEAD80D4A}"/>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a:extLst>
              <a:ext uri="{FF2B5EF4-FFF2-40B4-BE49-F238E27FC236}">
                <a16:creationId xmlns:a16="http://schemas.microsoft.com/office/drawing/2014/main" id="{EA84128B-AABC-4CDD-A2C2-0C1099CA9206}"/>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0C61E1C9-4D43-4456-9833-7B23C7C667F0}"/>
              </a:ext>
            </a:extLst>
          </p:cNvPr>
          <p:cNvSpPr>
            <a:spLocks noGrp="1" noChangeArrowheads="1"/>
          </p:cNvSpPr>
          <p:nvPr>
            <p:ph type="sldNum" sz="quarter" idx="12"/>
          </p:nvPr>
        </p:nvSpPr>
        <p:spPr>
          <a:ln/>
        </p:spPr>
        <p:txBody>
          <a:bodyPr/>
          <a:lstStyle>
            <a:lvl1pPr>
              <a:defRPr/>
            </a:lvl1pPr>
          </a:lstStyle>
          <a:p>
            <a:fld id="{680C7C7F-52FE-42A5-A719-159F76530E96}" type="slidenum">
              <a:rPr lang="en-US" altLang="zh-CN"/>
              <a:pPr/>
              <a:t>‹#›</a:t>
            </a:fld>
            <a:endParaRPr lang="en-US" altLang="zh-CN"/>
          </a:p>
        </p:txBody>
      </p:sp>
    </p:spTree>
    <p:extLst>
      <p:ext uri="{BB962C8B-B14F-4D97-AF65-F5344CB8AC3E}">
        <p14:creationId xmlns:p14="http://schemas.microsoft.com/office/powerpoint/2010/main" val="21723714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27FB0142-F994-489B-8253-5841442F602B}"/>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a:extLst>
              <a:ext uri="{FF2B5EF4-FFF2-40B4-BE49-F238E27FC236}">
                <a16:creationId xmlns:a16="http://schemas.microsoft.com/office/drawing/2014/main" id="{B3A559CD-5141-4CFA-A393-9FEAFF0867A3}"/>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a:extLst>
              <a:ext uri="{FF2B5EF4-FFF2-40B4-BE49-F238E27FC236}">
                <a16:creationId xmlns:a16="http://schemas.microsoft.com/office/drawing/2014/main" id="{22D6B18D-AC93-41A1-B134-7B04E0D9D38F}"/>
              </a:ext>
            </a:extLst>
          </p:cNvPr>
          <p:cNvSpPr>
            <a:spLocks noGrp="1" noChangeArrowheads="1"/>
          </p:cNvSpPr>
          <p:nvPr>
            <p:ph type="sldNum" sz="quarter" idx="12"/>
          </p:nvPr>
        </p:nvSpPr>
        <p:spPr>
          <a:ln/>
        </p:spPr>
        <p:txBody>
          <a:bodyPr/>
          <a:lstStyle>
            <a:lvl1pPr>
              <a:defRPr/>
            </a:lvl1pPr>
          </a:lstStyle>
          <a:p>
            <a:fld id="{488C0E41-340E-4C30-9168-32783F99661A}" type="slidenum">
              <a:rPr lang="en-US" altLang="zh-CN"/>
              <a:pPr/>
              <a:t>‹#›</a:t>
            </a:fld>
            <a:endParaRPr lang="en-US" altLang="zh-CN"/>
          </a:p>
        </p:txBody>
      </p:sp>
    </p:spTree>
    <p:extLst>
      <p:ext uri="{BB962C8B-B14F-4D97-AF65-F5344CB8AC3E}">
        <p14:creationId xmlns:p14="http://schemas.microsoft.com/office/powerpoint/2010/main" val="13725213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D1B26817-B967-4CAD-93BB-2232B17F2C60}"/>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8928A91A-338A-4E14-8B10-CAF2998A741E}"/>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E4286FF8-7687-4B1A-AA3E-6A418BD5511F}"/>
              </a:ext>
            </a:extLst>
          </p:cNvPr>
          <p:cNvSpPr>
            <a:spLocks noGrp="1" noChangeArrowheads="1"/>
          </p:cNvSpPr>
          <p:nvPr>
            <p:ph type="sldNum" sz="quarter" idx="12"/>
          </p:nvPr>
        </p:nvSpPr>
        <p:spPr>
          <a:ln/>
        </p:spPr>
        <p:txBody>
          <a:bodyPr/>
          <a:lstStyle>
            <a:lvl1pPr>
              <a:defRPr/>
            </a:lvl1pPr>
          </a:lstStyle>
          <a:p>
            <a:fld id="{D78EB06E-9FB7-4821-8FFE-ECF0B722368B}" type="slidenum">
              <a:rPr lang="en-US" altLang="zh-CN"/>
              <a:pPr/>
              <a:t>‹#›</a:t>
            </a:fld>
            <a:endParaRPr lang="en-US" altLang="zh-CN"/>
          </a:p>
        </p:txBody>
      </p:sp>
    </p:spTree>
    <p:extLst>
      <p:ext uri="{BB962C8B-B14F-4D97-AF65-F5344CB8AC3E}">
        <p14:creationId xmlns:p14="http://schemas.microsoft.com/office/powerpoint/2010/main" val="24760233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F4CFF09D-7624-4047-973D-027C2E99F5BC}"/>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FB0E58FF-CBCF-4682-BAC6-877E4C6E8865}"/>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6B2A04F5-0E2A-413C-9337-A45B5365621F}"/>
              </a:ext>
            </a:extLst>
          </p:cNvPr>
          <p:cNvSpPr>
            <a:spLocks noGrp="1" noChangeArrowheads="1"/>
          </p:cNvSpPr>
          <p:nvPr>
            <p:ph type="sldNum" sz="quarter" idx="12"/>
          </p:nvPr>
        </p:nvSpPr>
        <p:spPr>
          <a:ln/>
        </p:spPr>
        <p:txBody>
          <a:bodyPr/>
          <a:lstStyle>
            <a:lvl1pPr>
              <a:defRPr/>
            </a:lvl1pPr>
          </a:lstStyle>
          <a:p>
            <a:fld id="{D26CD509-A15F-43D6-9D30-EDC10139A23F}" type="slidenum">
              <a:rPr lang="en-US" altLang="zh-CN"/>
              <a:pPr/>
              <a:t>‹#›</a:t>
            </a:fld>
            <a:endParaRPr lang="en-US" altLang="zh-CN"/>
          </a:p>
        </p:txBody>
      </p:sp>
    </p:spTree>
    <p:extLst>
      <p:ext uri="{BB962C8B-B14F-4D97-AF65-F5344CB8AC3E}">
        <p14:creationId xmlns:p14="http://schemas.microsoft.com/office/powerpoint/2010/main" val="973722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AE2E9636-9D0E-44A2-8506-BA9FFCC43661}"/>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6169B6CD-5C74-4009-B3CE-D98901FBA895}"/>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0CEB1748-D2F5-4A84-88D2-F7D289565BC6}"/>
              </a:ext>
            </a:extLst>
          </p:cNvPr>
          <p:cNvSpPr>
            <a:spLocks noGrp="1" noChangeArrowheads="1"/>
          </p:cNvSpPr>
          <p:nvPr>
            <p:ph type="sldNum" sz="quarter" idx="12"/>
          </p:nvPr>
        </p:nvSpPr>
        <p:spPr>
          <a:ln/>
        </p:spPr>
        <p:txBody>
          <a:bodyPr/>
          <a:lstStyle>
            <a:lvl1pPr>
              <a:defRPr/>
            </a:lvl1pPr>
          </a:lstStyle>
          <a:p>
            <a:fld id="{F7962383-9808-4020-B848-68710B3D838F}" type="slidenum">
              <a:rPr lang="en-US" altLang="zh-CN"/>
              <a:pPr/>
              <a:t>‹#›</a:t>
            </a:fld>
            <a:endParaRPr lang="en-US" altLang="zh-CN"/>
          </a:p>
        </p:txBody>
      </p:sp>
    </p:spTree>
    <p:extLst>
      <p:ext uri="{BB962C8B-B14F-4D97-AF65-F5344CB8AC3E}">
        <p14:creationId xmlns:p14="http://schemas.microsoft.com/office/powerpoint/2010/main" val="27255730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AB6F1177-61DA-4B78-BE03-ADAC8AC303D2}"/>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60431C89-A833-4EA0-89F1-1C5F3954E261}"/>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0BF988E8-9E76-4779-BAF5-1F5786B6EC90}"/>
              </a:ext>
            </a:extLst>
          </p:cNvPr>
          <p:cNvSpPr>
            <a:spLocks noGrp="1" noChangeArrowheads="1"/>
          </p:cNvSpPr>
          <p:nvPr>
            <p:ph type="sldNum" sz="quarter" idx="12"/>
          </p:nvPr>
        </p:nvSpPr>
        <p:spPr>
          <a:ln/>
        </p:spPr>
        <p:txBody>
          <a:bodyPr/>
          <a:lstStyle>
            <a:lvl1pPr>
              <a:defRPr/>
            </a:lvl1pPr>
          </a:lstStyle>
          <a:p>
            <a:fld id="{451EAE93-FCC5-4A5B-B9F0-EA684B9399FF}" type="slidenum">
              <a:rPr lang="en-US" altLang="zh-CN"/>
              <a:pPr/>
              <a:t>‹#›</a:t>
            </a:fld>
            <a:endParaRPr lang="en-US" altLang="zh-CN"/>
          </a:p>
        </p:txBody>
      </p:sp>
    </p:spTree>
    <p:extLst>
      <p:ext uri="{BB962C8B-B14F-4D97-AF65-F5344CB8AC3E}">
        <p14:creationId xmlns:p14="http://schemas.microsoft.com/office/powerpoint/2010/main" val="10129312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38"/>
            <a:ext cx="8229600" cy="58515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4">
            <a:extLst>
              <a:ext uri="{FF2B5EF4-FFF2-40B4-BE49-F238E27FC236}">
                <a16:creationId xmlns:a16="http://schemas.microsoft.com/office/drawing/2014/main" id="{725AAF99-87A9-407D-B8D8-A6A40082A405}"/>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a:extLst>
              <a:ext uri="{FF2B5EF4-FFF2-40B4-BE49-F238E27FC236}">
                <a16:creationId xmlns:a16="http://schemas.microsoft.com/office/drawing/2014/main" id="{58ADC60C-E40B-4369-9ED7-C4649831D370}"/>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CC29A236-D8A4-4E77-A682-3C746075B8C4}"/>
              </a:ext>
            </a:extLst>
          </p:cNvPr>
          <p:cNvSpPr>
            <a:spLocks noGrp="1" noChangeArrowheads="1"/>
          </p:cNvSpPr>
          <p:nvPr>
            <p:ph type="sldNum" sz="quarter" idx="12"/>
          </p:nvPr>
        </p:nvSpPr>
        <p:spPr>
          <a:ln/>
        </p:spPr>
        <p:txBody>
          <a:bodyPr/>
          <a:lstStyle>
            <a:lvl1pPr>
              <a:defRPr/>
            </a:lvl1pPr>
          </a:lstStyle>
          <a:p>
            <a:fld id="{9C76E0D0-D770-4ED1-8FF2-CEACDE8749B0}" type="slidenum">
              <a:rPr lang="en-US" altLang="zh-CN"/>
              <a:pPr/>
              <a:t>‹#›</a:t>
            </a:fld>
            <a:endParaRPr lang="en-US" altLang="zh-CN"/>
          </a:p>
        </p:txBody>
      </p:sp>
    </p:spTree>
    <p:extLst>
      <p:ext uri="{BB962C8B-B14F-4D97-AF65-F5344CB8AC3E}">
        <p14:creationId xmlns:p14="http://schemas.microsoft.com/office/powerpoint/2010/main" val="21604504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79DA01ED-F622-419C-9123-CDAEED986B49}"/>
              </a:ext>
            </a:extLst>
          </p:cNvPr>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a:extLst>
              <a:ext uri="{FF2B5EF4-FFF2-40B4-BE49-F238E27FC236}">
                <a16:creationId xmlns:a16="http://schemas.microsoft.com/office/drawing/2014/main" id="{FE00DEDD-D1AB-46C5-A377-C9B6165BACB4}"/>
              </a:ext>
            </a:extLst>
          </p:cNvPr>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34148" name="Rectangle 4">
            <a:extLst>
              <a:ext uri="{FF2B5EF4-FFF2-40B4-BE49-F238E27FC236}">
                <a16:creationId xmlns:a16="http://schemas.microsoft.com/office/drawing/2014/main" id="{374B2FE8-3CAF-4B47-8A06-AEE5B24C7FDB}"/>
              </a:ext>
            </a:extLst>
          </p:cNvPr>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latin typeface="Arial" charset="0"/>
              </a:defRPr>
            </a:lvl1pPr>
          </a:lstStyle>
          <a:p>
            <a:pPr>
              <a:defRPr/>
            </a:pPr>
            <a:endParaRPr lang="en-US" altLang="zh-CN"/>
          </a:p>
        </p:txBody>
      </p:sp>
      <p:sp>
        <p:nvSpPr>
          <p:cNvPr id="134149" name="Rectangle 5">
            <a:extLst>
              <a:ext uri="{FF2B5EF4-FFF2-40B4-BE49-F238E27FC236}">
                <a16:creationId xmlns:a16="http://schemas.microsoft.com/office/drawing/2014/main" id="{4B958DA5-3E9F-4530-8D1C-EC5FC7101034}"/>
              </a:ext>
            </a:extLst>
          </p:cNvPr>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a:latin typeface="Arial" charset="0"/>
              </a:defRPr>
            </a:lvl1pPr>
          </a:lstStyle>
          <a:p>
            <a:pPr>
              <a:defRPr/>
            </a:pPr>
            <a:endParaRPr lang="en-US" altLang="zh-CN"/>
          </a:p>
        </p:txBody>
      </p:sp>
      <p:sp>
        <p:nvSpPr>
          <p:cNvPr id="134150" name="Rectangle 6">
            <a:extLst>
              <a:ext uri="{FF2B5EF4-FFF2-40B4-BE49-F238E27FC236}">
                <a16:creationId xmlns:a16="http://schemas.microsoft.com/office/drawing/2014/main" id="{9553B2F2-780E-4241-A484-B0C7E4F91AD8}"/>
              </a:ext>
            </a:extLst>
          </p:cNvPr>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lvl1pPr>
          </a:lstStyle>
          <a:p>
            <a:fld id="{EC38BD29-593E-4877-BB6A-BECE6717D0F7}"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 id="2147483664" r:id="rId11"/>
    <p:sldLayoutId id="2147483665" r:id="rId12"/>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pitchFamily="2" charset="-122"/>
        </a:defRPr>
      </a:lvl2pPr>
      <a:lvl3pPr algn="ctr" rtl="0" eaLnBrk="0" fontAlgn="base" hangingPunct="0">
        <a:spcBef>
          <a:spcPct val="0"/>
        </a:spcBef>
        <a:spcAft>
          <a:spcPct val="0"/>
        </a:spcAft>
        <a:defRPr sz="4400">
          <a:solidFill>
            <a:schemeClr val="tx2"/>
          </a:solidFill>
          <a:latin typeface="Arial" charset="0"/>
          <a:ea typeface="宋体" pitchFamily="2" charset="-122"/>
        </a:defRPr>
      </a:lvl3pPr>
      <a:lvl4pPr algn="ctr" rtl="0" eaLnBrk="0" fontAlgn="base" hangingPunct="0">
        <a:spcBef>
          <a:spcPct val="0"/>
        </a:spcBef>
        <a:spcAft>
          <a:spcPct val="0"/>
        </a:spcAft>
        <a:defRPr sz="4400">
          <a:solidFill>
            <a:schemeClr val="tx2"/>
          </a:solidFill>
          <a:latin typeface="Arial" charset="0"/>
          <a:ea typeface="宋体" pitchFamily="2" charset="-122"/>
        </a:defRPr>
      </a:lvl4pPr>
      <a:lvl5pPr algn="ctr" rtl="0" eaLnBrk="0" fontAlgn="base" hangingPunct="0">
        <a:spcBef>
          <a:spcPct val="0"/>
        </a:spcBef>
        <a:spcAft>
          <a:spcPct val="0"/>
        </a:spcAft>
        <a:defRPr sz="4400">
          <a:solidFill>
            <a:schemeClr val="tx2"/>
          </a:solidFill>
          <a:latin typeface="Arial" charset="0"/>
          <a:ea typeface="宋体" pitchFamily="2" charset="-122"/>
        </a:defRPr>
      </a:lvl5pPr>
      <a:lvl6pPr marL="457200" algn="ctr" rtl="0" fontAlgn="base">
        <a:spcBef>
          <a:spcPct val="0"/>
        </a:spcBef>
        <a:spcAft>
          <a:spcPct val="0"/>
        </a:spcAft>
        <a:defRPr sz="4400">
          <a:solidFill>
            <a:schemeClr val="tx2"/>
          </a:solidFill>
          <a:latin typeface="Arial" charset="0"/>
          <a:ea typeface="宋体" pitchFamily="2" charset="-122"/>
        </a:defRPr>
      </a:lvl6pPr>
      <a:lvl7pPr marL="914400" algn="ctr" rtl="0" fontAlgn="base">
        <a:spcBef>
          <a:spcPct val="0"/>
        </a:spcBef>
        <a:spcAft>
          <a:spcPct val="0"/>
        </a:spcAft>
        <a:defRPr sz="4400">
          <a:solidFill>
            <a:schemeClr val="tx2"/>
          </a:solidFill>
          <a:latin typeface="Arial" charset="0"/>
          <a:ea typeface="宋体" pitchFamily="2" charset="-122"/>
        </a:defRPr>
      </a:lvl7pPr>
      <a:lvl8pPr marL="1371600" algn="ctr" rtl="0" fontAlgn="base">
        <a:spcBef>
          <a:spcPct val="0"/>
        </a:spcBef>
        <a:spcAft>
          <a:spcPct val="0"/>
        </a:spcAft>
        <a:defRPr sz="4400">
          <a:solidFill>
            <a:schemeClr val="tx2"/>
          </a:solidFill>
          <a:latin typeface="Arial" charset="0"/>
          <a:ea typeface="宋体" pitchFamily="2" charset="-122"/>
        </a:defRPr>
      </a:lvl8pPr>
      <a:lvl9pPr marL="1828800" algn="ctr" rtl="0" fontAlgn="base">
        <a:spcBef>
          <a:spcPct val="0"/>
        </a:spcBef>
        <a:spcAft>
          <a:spcPct val="0"/>
        </a:spcAft>
        <a:defRPr sz="4400">
          <a:solidFill>
            <a:schemeClr val="tx2"/>
          </a:solidFill>
          <a:latin typeface="Arial" charset="0"/>
          <a:ea typeface="宋体"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vmlDrawing" Target="../drawings/vmlDrawing1.vml"/><Relationship Id="rId5" Type="http://schemas.openxmlformats.org/officeDocument/2006/relationships/image" Target="../media/image2.wmf"/><Relationship Id="rId4" Type="http://schemas.openxmlformats.org/officeDocument/2006/relationships/oleObject" Target="../embeddings/oleObject1.bin"/></Relationships>
</file>

<file path=ppt/slides/_rels/slide4.xml.rels><?xml version="1.0" encoding="UTF-8" standalone="yes"?>
<Relationships xmlns="http://schemas.openxmlformats.org/package/2006/relationships"><Relationship Id="rId8" Type="http://schemas.openxmlformats.org/officeDocument/2006/relationships/image" Target="../media/image5.wmf"/><Relationship Id="rId13" Type="http://schemas.openxmlformats.org/officeDocument/2006/relationships/oleObject" Target="../embeddings/oleObject7.bin"/><Relationship Id="rId3" Type="http://schemas.openxmlformats.org/officeDocument/2006/relationships/oleObject" Target="../embeddings/oleObject2.bin"/><Relationship Id="rId7" Type="http://schemas.openxmlformats.org/officeDocument/2006/relationships/oleObject" Target="../embeddings/oleObject4.bin"/><Relationship Id="rId12" Type="http://schemas.openxmlformats.org/officeDocument/2006/relationships/image" Target="../media/image7.wmf"/><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image" Target="../media/image4.wmf"/><Relationship Id="rId11" Type="http://schemas.openxmlformats.org/officeDocument/2006/relationships/oleObject" Target="../embeddings/oleObject6.bin"/><Relationship Id="rId5" Type="http://schemas.openxmlformats.org/officeDocument/2006/relationships/oleObject" Target="../embeddings/oleObject3.bin"/><Relationship Id="rId10" Type="http://schemas.openxmlformats.org/officeDocument/2006/relationships/image" Target="../media/image6.wmf"/><Relationship Id="rId4" Type="http://schemas.openxmlformats.org/officeDocument/2006/relationships/image" Target="../media/image3.wmf"/><Relationship Id="rId9" Type="http://schemas.openxmlformats.org/officeDocument/2006/relationships/oleObject" Target="../embeddings/oleObject5.bin"/><Relationship Id="rId14" Type="http://schemas.openxmlformats.org/officeDocument/2006/relationships/image" Target="../media/image8.wmf"/></Relationships>
</file>

<file path=ppt/slides/_rels/slide5.xml.rels><?xml version="1.0" encoding="UTF-8" standalone="yes"?>
<Relationships xmlns="http://schemas.openxmlformats.org/package/2006/relationships"><Relationship Id="rId8" Type="http://schemas.openxmlformats.org/officeDocument/2006/relationships/image" Target="../media/image11.wmf"/><Relationship Id="rId3" Type="http://schemas.openxmlformats.org/officeDocument/2006/relationships/oleObject" Target="../embeddings/oleObject8.bin"/><Relationship Id="rId7" Type="http://schemas.openxmlformats.org/officeDocument/2006/relationships/oleObject" Target="../embeddings/oleObject10.bin"/><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image" Target="../media/image10.wmf"/><Relationship Id="rId5" Type="http://schemas.openxmlformats.org/officeDocument/2006/relationships/oleObject" Target="../embeddings/oleObject9.bin"/><Relationship Id="rId4" Type="http://schemas.openxmlformats.org/officeDocument/2006/relationships/image" Target="../media/image9.w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image" Target="../media/image13.wmf"/><Relationship Id="rId5" Type="http://schemas.openxmlformats.org/officeDocument/2006/relationships/oleObject" Target="../embeddings/oleObject12.bin"/><Relationship Id="rId4" Type="http://schemas.openxmlformats.org/officeDocument/2006/relationships/image" Target="../media/image12.wmf"/></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3.bin"/><Relationship Id="rId7" Type="http://schemas.openxmlformats.org/officeDocument/2006/relationships/image" Target="../media/image16.wmf"/><Relationship Id="rId2" Type="http://schemas.openxmlformats.org/officeDocument/2006/relationships/slideLayout" Target="../slideLayouts/slideLayout7.xml"/><Relationship Id="rId1" Type="http://schemas.openxmlformats.org/officeDocument/2006/relationships/vmlDrawing" Target="../drawings/vmlDrawing5.vml"/><Relationship Id="rId6" Type="http://schemas.openxmlformats.org/officeDocument/2006/relationships/image" Target="../media/image15.wmf"/><Relationship Id="rId5" Type="http://schemas.openxmlformats.org/officeDocument/2006/relationships/oleObject" Target="../embeddings/oleObject14.bin"/><Relationship Id="rId4" Type="http://schemas.openxmlformats.org/officeDocument/2006/relationships/image" Target="../media/image14.wmf"/></Relationships>
</file>

<file path=ppt/slides/_rels/slide10.xml.rels><?xml version="1.0" encoding="UTF-8" standalone="yes"?>
<Relationships xmlns="http://schemas.openxmlformats.org/package/2006/relationships"><Relationship Id="rId8" Type="http://schemas.openxmlformats.org/officeDocument/2006/relationships/image" Target="../media/image19.wmf"/><Relationship Id="rId3" Type="http://schemas.openxmlformats.org/officeDocument/2006/relationships/oleObject" Target="../embeddings/oleObject15.bin"/><Relationship Id="rId7" Type="http://schemas.openxmlformats.org/officeDocument/2006/relationships/oleObject" Target="../embeddings/oleObject17.bin"/><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image" Target="../media/image18.wmf"/><Relationship Id="rId5" Type="http://schemas.openxmlformats.org/officeDocument/2006/relationships/oleObject" Target="../embeddings/oleObject16.bin"/><Relationship Id="rId4" Type="http://schemas.openxmlformats.org/officeDocument/2006/relationships/image" Target="../media/image17.wmf"/></Relationships>
</file>

<file path=ppt/slides/_rels/slide11.xml.rels><?xml version="1.0" encoding="UTF-8" standalone="yes"?>
<Relationships xmlns="http://schemas.openxmlformats.org/package/2006/relationships"><Relationship Id="rId8" Type="http://schemas.openxmlformats.org/officeDocument/2006/relationships/image" Target="../media/image22.wmf"/><Relationship Id="rId3" Type="http://schemas.openxmlformats.org/officeDocument/2006/relationships/oleObject" Target="../embeddings/oleObject18.bin"/><Relationship Id="rId7" Type="http://schemas.openxmlformats.org/officeDocument/2006/relationships/oleObject" Target="../embeddings/oleObject20.bin"/><Relationship Id="rId12" Type="http://schemas.openxmlformats.org/officeDocument/2006/relationships/image" Target="../media/image24.wmf"/><Relationship Id="rId2" Type="http://schemas.openxmlformats.org/officeDocument/2006/relationships/slideLayout" Target="../slideLayouts/slideLayout7.xml"/><Relationship Id="rId1" Type="http://schemas.openxmlformats.org/officeDocument/2006/relationships/vmlDrawing" Target="../drawings/vmlDrawing7.vml"/><Relationship Id="rId6" Type="http://schemas.openxmlformats.org/officeDocument/2006/relationships/image" Target="../media/image21.wmf"/><Relationship Id="rId11" Type="http://schemas.openxmlformats.org/officeDocument/2006/relationships/oleObject" Target="../embeddings/oleObject22.bin"/><Relationship Id="rId5" Type="http://schemas.openxmlformats.org/officeDocument/2006/relationships/oleObject" Target="../embeddings/oleObject19.bin"/><Relationship Id="rId10" Type="http://schemas.openxmlformats.org/officeDocument/2006/relationships/image" Target="../media/image23.wmf"/><Relationship Id="rId4" Type="http://schemas.openxmlformats.org/officeDocument/2006/relationships/image" Target="../media/image20.wmf"/><Relationship Id="rId9" Type="http://schemas.openxmlformats.org/officeDocument/2006/relationships/oleObject" Target="../embeddings/oleObject21.bin"/></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8" Type="http://schemas.openxmlformats.org/officeDocument/2006/relationships/image" Target="../media/image27.wmf"/><Relationship Id="rId3" Type="http://schemas.openxmlformats.org/officeDocument/2006/relationships/oleObject" Target="../embeddings/oleObject23.bin"/><Relationship Id="rId7" Type="http://schemas.openxmlformats.org/officeDocument/2006/relationships/oleObject" Target="../embeddings/oleObject25.bin"/><Relationship Id="rId2" Type="http://schemas.openxmlformats.org/officeDocument/2006/relationships/slideLayout" Target="../slideLayouts/slideLayout7.xml"/><Relationship Id="rId1" Type="http://schemas.openxmlformats.org/officeDocument/2006/relationships/vmlDrawing" Target="../drawings/vmlDrawing8.vml"/><Relationship Id="rId6" Type="http://schemas.openxmlformats.org/officeDocument/2006/relationships/image" Target="../media/image26.wmf"/><Relationship Id="rId5" Type="http://schemas.openxmlformats.org/officeDocument/2006/relationships/oleObject" Target="../embeddings/oleObject24.bin"/><Relationship Id="rId4" Type="http://schemas.openxmlformats.org/officeDocument/2006/relationships/image" Target="../media/image25.wmf"/></Relationships>
</file>

<file path=ppt/slides/_rels/slide14.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8" Type="http://schemas.openxmlformats.org/officeDocument/2006/relationships/image" Target="../media/image32.wmf"/><Relationship Id="rId3" Type="http://schemas.openxmlformats.org/officeDocument/2006/relationships/oleObject" Target="../embeddings/oleObject26.bin"/><Relationship Id="rId7" Type="http://schemas.openxmlformats.org/officeDocument/2006/relationships/oleObject" Target="../embeddings/oleObject28.bin"/><Relationship Id="rId2" Type="http://schemas.openxmlformats.org/officeDocument/2006/relationships/slideLayout" Target="../slideLayouts/slideLayout7.xml"/><Relationship Id="rId1" Type="http://schemas.openxmlformats.org/officeDocument/2006/relationships/vmlDrawing" Target="../drawings/vmlDrawing9.vml"/><Relationship Id="rId6" Type="http://schemas.openxmlformats.org/officeDocument/2006/relationships/image" Target="../media/image31.wmf"/><Relationship Id="rId5" Type="http://schemas.openxmlformats.org/officeDocument/2006/relationships/oleObject" Target="../embeddings/oleObject27.bin"/><Relationship Id="rId4" Type="http://schemas.openxmlformats.org/officeDocument/2006/relationships/image" Target="../media/image30.wmf"/></Relationships>
</file>

<file path=ppt/slides/_rels/slide17.xml.rels><?xml version="1.0" encoding="UTF-8" standalone="yes"?>
<Relationships xmlns="http://schemas.openxmlformats.org/package/2006/relationships"><Relationship Id="rId8" Type="http://schemas.openxmlformats.org/officeDocument/2006/relationships/image" Target="../media/image35.wmf"/><Relationship Id="rId3" Type="http://schemas.openxmlformats.org/officeDocument/2006/relationships/oleObject" Target="../embeddings/oleObject29.bin"/><Relationship Id="rId7" Type="http://schemas.openxmlformats.org/officeDocument/2006/relationships/oleObject" Target="../embeddings/oleObject31.bin"/><Relationship Id="rId2" Type="http://schemas.openxmlformats.org/officeDocument/2006/relationships/slideLayout" Target="../slideLayouts/slideLayout7.xml"/><Relationship Id="rId1" Type="http://schemas.openxmlformats.org/officeDocument/2006/relationships/vmlDrawing" Target="../drawings/vmlDrawing10.vml"/><Relationship Id="rId6" Type="http://schemas.openxmlformats.org/officeDocument/2006/relationships/image" Target="../media/image34.wmf"/><Relationship Id="rId5" Type="http://schemas.openxmlformats.org/officeDocument/2006/relationships/oleObject" Target="../embeddings/oleObject30.bin"/><Relationship Id="rId4" Type="http://schemas.openxmlformats.org/officeDocument/2006/relationships/image" Target="../media/image33.wmf"/></Relationships>
</file>

<file path=ppt/slides/_rels/slide18.xml.rels><?xml version="1.0" encoding="UTF-8" standalone="yes"?>
<Relationships xmlns="http://schemas.openxmlformats.org/package/2006/relationships"><Relationship Id="rId8" Type="http://schemas.openxmlformats.org/officeDocument/2006/relationships/image" Target="../media/image38.wmf"/><Relationship Id="rId3" Type="http://schemas.openxmlformats.org/officeDocument/2006/relationships/oleObject" Target="../embeddings/oleObject32.bin"/><Relationship Id="rId7" Type="http://schemas.openxmlformats.org/officeDocument/2006/relationships/oleObject" Target="../embeddings/oleObject34.bin"/><Relationship Id="rId12" Type="http://schemas.openxmlformats.org/officeDocument/2006/relationships/image" Target="../media/image40.emf"/><Relationship Id="rId2" Type="http://schemas.openxmlformats.org/officeDocument/2006/relationships/slideLayout" Target="../slideLayouts/slideLayout7.xml"/><Relationship Id="rId1" Type="http://schemas.openxmlformats.org/officeDocument/2006/relationships/vmlDrawing" Target="../drawings/vmlDrawing11.vml"/><Relationship Id="rId6" Type="http://schemas.openxmlformats.org/officeDocument/2006/relationships/image" Target="../media/image37.wmf"/><Relationship Id="rId11" Type="http://schemas.openxmlformats.org/officeDocument/2006/relationships/oleObject" Target="../embeddings/oleObject36.bin"/><Relationship Id="rId5" Type="http://schemas.openxmlformats.org/officeDocument/2006/relationships/oleObject" Target="../embeddings/oleObject33.bin"/><Relationship Id="rId10" Type="http://schemas.openxmlformats.org/officeDocument/2006/relationships/image" Target="../media/image39.wmf"/><Relationship Id="rId4" Type="http://schemas.openxmlformats.org/officeDocument/2006/relationships/image" Target="../media/image36.wmf"/><Relationship Id="rId9" Type="http://schemas.openxmlformats.org/officeDocument/2006/relationships/oleObject" Target="../embeddings/oleObject35.bin"/></Relationships>
</file>

<file path=ppt/slides/_rels/slide19.xml.rels><?xml version="1.0" encoding="UTF-8" standalone="yes"?>
<Relationships xmlns="http://schemas.openxmlformats.org/package/2006/relationships"><Relationship Id="rId8" Type="http://schemas.openxmlformats.org/officeDocument/2006/relationships/image" Target="../media/image33.wmf"/><Relationship Id="rId3" Type="http://schemas.openxmlformats.org/officeDocument/2006/relationships/oleObject" Target="../embeddings/oleObject37.bin"/><Relationship Id="rId7" Type="http://schemas.openxmlformats.org/officeDocument/2006/relationships/oleObject" Target="../embeddings/oleObject39.bin"/><Relationship Id="rId2" Type="http://schemas.openxmlformats.org/officeDocument/2006/relationships/slideLayout" Target="../slideLayouts/slideLayout7.xml"/><Relationship Id="rId1" Type="http://schemas.openxmlformats.org/officeDocument/2006/relationships/vmlDrawing" Target="../drawings/vmlDrawing12.vml"/><Relationship Id="rId6" Type="http://schemas.openxmlformats.org/officeDocument/2006/relationships/image" Target="../media/image42.wmf"/><Relationship Id="rId5" Type="http://schemas.openxmlformats.org/officeDocument/2006/relationships/oleObject" Target="../embeddings/oleObject38.bin"/><Relationship Id="rId10" Type="http://schemas.openxmlformats.org/officeDocument/2006/relationships/image" Target="../media/image40.emf"/><Relationship Id="rId4" Type="http://schemas.openxmlformats.org/officeDocument/2006/relationships/image" Target="../media/image41.wmf"/><Relationship Id="rId9" Type="http://schemas.openxmlformats.org/officeDocument/2006/relationships/oleObject" Target="../embeddings/oleObject40.bin"/></Relationships>
</file>

<file path=ppt/slides/_rels/slide20.xml.rels><?xml version="1.0" encoding="UTF-8" standalone="yes"?>
<Relationships xmlns="http://schemas.openxmlformats.org/package/2006/relationships"><Relationship Id="rId8" Type="http://schemas.openxmlformats.org/officeDocument/2006/relationships/image" Target="../media/image45.wmf"/><Relationship Id="rId13" Type="http://schemas.openxmlformats.org/officeDocument/2006/relationships/oleObject" Target="../embeddings/oleObject46.bin"/><Relationship Id="rId18" Type="http://schemas.openxmlformats.org/officeDocument/2006/relationships/image" Target="../media/image40.emf"/><Relationship Id="rId3" Type="http://schemas.openxmlformats.org/officeDocument/2006/relationships/oleObject" Target="../embeddings/oleObject41.bin"/><Relationship Id="rId7" Type="http://schemas.openxmlformats.org/officeDocument/2006/relationships/oleObject" Target="../embeddings/oleObject43.bin"/><Relationship Id="rId12" Type="http://schemas.openxmlformats.org/officeDocument/2006/relationships/image" Target="../media/image47.wmf"/><Relationship Id="rId17" Type="http://schemas.openxmlformats.org/officeDocument/2006/relationships/oleObject" Target="../embeddings/oleObject48.bin"/><Relationship Id="rId2" Type="http://schemas.openxmlformats.org/officeDocument/2006/relationships/slideLayout" Target="../slideLayouts/slideLayout7.xml"/><Relationship Id="rId16" Type="http://schemas.openxmlformats.org/officeDocument/2006/relationships/image" Target="../media/image33.wmf"/><Relationship Id="rId1" Type="http://schemas.openxmlformats.org/officeDocument/2006/relationships/vmlDrawing" Target="../drawings/vmlDrawing13.vml"/><Relationship Id="rId6" Type="http://schemas.openxmlformats.org/officeDocument/2006/relationships/image" Target="../media/image44.wmf"/><Relationship Id="rId11" Type="http://schemas.openxmlformats.org/officeDocument/2006/relationships/oleObject" Target="../embeddings/oleObject45.bin"/><Relationship Id="rId5" Type="http://schemas.openxmlformats.org/officeDocument/2006/relationships/oleObject" Target="../embeddings/oleObject42.bin"/><Relationship Id="rId15" Type="http://schemas.openxmlformats.org/officeDocument/2006/relationships/oleObject" Target="../embeddings/oleObject47.bin"/><Relationship Id="rId10" Type="http://schemas.openxmlformats.org/officeDocument/2006/relationships/image" Target="../media/image46.wmf"/><Relationship Id="rId4" Type="http://schemas.openxmlformats.org/officeDocument/2006/relationships/image" Target="../media/image43.wmf"/><Relationship Id="rId9" Type="http://schemas.openxmlformats.org/officeDocument/2006/relationships/oleObject" Target="../embeddings/oleObject44.bin"/><Relationship Id="rId14" Type="http://schemas.openxmlformats.org/officeDocument/2006/relationships/image" Target="../media/image48.wmf"/></Relationships>
</file>

<file path=ppt/slides/_rels/slide21.xml.rels><?xml version="1.0" encoding="UTF-8" standalone="yes"?>
<Relationships xmlns="http://schemas.openxmlformats.org/package/2006/relationships"><Relationship Id="rId8" Type="http://schemas.openxmlformats.org/officeDocument/2006/relationships/image" Target="../media/image51.wmf"/><Relationship Id="rId13" Type="http://schemas.openxmlformats.org/officeDocument/2006/relationships/oleObject" Target="../embeddings/oleObject54.bin"/><Relationship Id="rId18" Type="http://schemas.openxmlformats.org/officeDocument/2006/relationships/image" Target="../media/image56.emf"/><Relationship Id="rId3" Type="http://schemas.openxmlformats.org/officeDocument/2006/relationships/oleObject" Target="../embeddings/oleObject49.bin"/><Relationship Id="rId21" Type="http://schemas.openxmlformats.org/officeDocument/2006/relationships/oleObject" Target="../embeddings/oleObject58.bin"/><Relationship Id="rId7" Type="http://schemas.openxmlformats.org/officeDocument/2006/relationships/oleObject" Target="../embeddings/oleObject51.bin"/><Relationship Id="rId12" Type="http://schemas.openxmlformats.org/officeDocument/2006/relationships/image" Target="../media/image53.wmf"/><Relationship Id="rId17" Type="http://schemas.openxmlformats.org/officeDocument/2006/relationships/oleObject" Target="../embeddings/oleObject56.bin"/><Relationship Id="rId2" Type="http://schemas.openxmlformats.org/officeDocument/2006/relationships/slideLayout" Target="../slideLayouts/slideLayout7.xml"/><Relationship Id="rId16" Type="http://schemas.openxmlformats.org/officeDocument/2006/relationships/image" Target="../media/image55.wmf"/><Relationship Id="rId20" Type="http://schemas.openxmlformats.org/officeDocument/2006/relationships/image" Target="../media/image57.emf"/><Relationship Id="rId1" Type="http://schemas.openxmlformats.org/officeDocument/2006/relationships/vmlDrawing" Target="../drawings/vmlDrawing14.vml"/><Relationship Id="rId6" Type="http://schemas.openxmlformats.org/officeDocument/2006/relationships/image" Target="../media/image50.wmf"/><Relationship Id="rId11" Type="http://schemas.openxmlformats.org/officeDocument/2006/relationships/oleObject" Target="../embeddings/oleObject53.bin"/><Relationship Id="rId24" Type="http://schemas.openxmlformats.org/officeDocument/2006/relationships/image" Target="../media/image59.wmf"/><Relationship Id="rId5" Type="http://schemas.openxmlformats.org/officeDocument/2006/relationships/oleObject" Target="../embeddings/oleObject50.bin"/><Relationship Id="rId15" Type="http://schemas.openxmlformats.org/officeDocument/2006/relationships/oleObject" Target="../embeddings/oleObject55.bin"/><Relationship Id="rId23" Type="http://schemas.openxmlformats.org/officeDocument/2006/relationships/oleObject" Target="../embeddings/oleObject59.bin"/><Relationship Id="rId10" Type="http://schemas.openxmlformats.org/officeDocument/2006/relationships/image" Target="../media/image52.wmf"/><Relationship Id="rId19" Type="http://schemas.openxmlformats.org/officeDocument/2006/relationships/oleObject" Target="../embeddings/oleObject57.bin"/><Relationship Id="rId4" Type="http://schemas.openxmlformats.org/officeDocument/2006/relationships/image" Target="../media/image49.emf"/><Relationship Id="rId9" Type="http://schemas.openxmlformats.org/officeDocument/2006/relationships/oleObject" Target="../embeddings/oleObject52.bin"/><Relationship Id="rId14" Type="http://schemas.openxmlformats.org/officeDocument/2006/relationships/image" Target="../media/image54.wmf"/><Relationship Id="rId22" Type="http://schemas.openxmlformats.org/officeDocument/2006/relationships/image" Target="../media/image58.emf"/></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60.bin"/><Relationship Id="rId2" Type="http://schemas.openxmlformats.org/officeDocument/2006/relationships/slideLayout" Target="../slideLayouts/slideLayout7.xml"/><Relationship Id="rId1" Type="http://schemas.openxmlformats.org/officeDocument/2006/relationships/vmlDrawing" Target="../drawings/vmlDrawing15.vml"/><Relationship Id="rId6" Type="http://schemas.openxmlformats.org/officeDocument/2006/relationships/image" Target="../media/image61.wmf"/><Relationship Id="rId5" Type="http://schemas.openxmlformats.org/officeDocument/2006/relationships/oleObject" Target="../embeddings/oleObject61.bin"/><Relationship Id="rId4" Type="http://schemas.openxmlformats.org/officeDocument/2006/relationships/image" Target="../media/image60.wmf"/></Relationships>
</file>

<file path=ppt/slides/_rels/slide23.xml.rels><?xml version="1.0" encoding="UTF-8" standalone="yes"?>
<Relationships xmlns="http://schemas.openxmlformats.org/package/2006/relationships"><Relationship Id="rId8" Type="http://schemas.openxmlformats.org/officeDocument/2006/relationships/image" Target="../media/image64.wmf"/><Relationship Id="rId3" Type="http://schemas.openxmlformats.org/officeDocument/2006/relationships/oleObject" Target="../embeddings/oleObject62.bin"/><Relationship Id="rId7" Type="http://schemas.openxmlformats.org/officeDocument/2006/relationships/oleObject" Target="../embeddings/oleObject64.bin"/><Relationship Id="rId2" Type="http://schemas.openxmlformats.org/officeDocument/2006/relationships/slideLayout" Target="../slideLayouts/slideLayout7.xml"/><Relationship Id="rId1" Type="http://schemas.openxmlformats.org/officeDocument/2006/relationships/vmlDrawing" Target="../drawings/vmlDrawing16.vml"/><Relationship Id="rId6" Type="http://schemas.openxmlformats.org/officeDocument/2006/relationships/image" Target="../media/image63.wmf"/><Relationship Id="rId5" Type="http://schemas.openxmlformats.org/officeDocument/2006/relationships/oleObject" Target="../embeddings/oleObject63.bin"/><Relationship Id="rId4" Type="http://schemas.openxmlformats.org/officeDocument/2006/relationships/image" Target="../media/image62.wmf"/></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65.bin"/><Relationship Id="rId2" Type="http://schemas.openxmlformats.org/officeDocument/2006/relationships/slideLayout" Target="../slideLayouts/slideLayout7.xml"/><Relationship Id="rId1" Type="http://schemas.openxmlformats.org/officeDocument/2006/relationships/vmlDrawing" Target="../drawings/vmlDrawing17.vml"/><Relationship Id="rId4" Type="http://schemas.openxmlformats.org/officeDocument/2006/relationships/image" Target="../media/image65.wmf"/></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8" Type="http://schemas.openxmlformats.org/officeDocument/2006/relationships/image" Target="../media/image68.wmf"/><Relationship Id="rId3" Type="http://schemas.openxmlformats.org/officeDocument/2006/relationships/oleObject" Target="../embeddings/oleObject66.bin"/><Relationship Id="rId7" Type="http://schemas.openxmlformats.org/officeDocument/2006/relationships/oleObject" Target="../embeddings/oleObject68.bin"/><Relationship Id="rId2" Type="http://schemas.openxmlformats.org/officeDocument/2006/relationships/slideLayout" Target="../slideLayouts/slideLayout7.xml"/><Relationship Id="rId1" Type="http://schemas.openxmlformats.org/officeDocument/2006/relationships/vmlDrawing" Target="../drawings/vmlDrawing18.vml"/><Relationship Id="rId6" Type="http://schemas.openxmlformats.org/officeDocument/2006/relationships/image" Target="../media/image67.wmf"/><Relationship Id="rId5" Type="http://schemas.openxmlformats.org/officeDocument/2006/relationships/oleObject" Target="../embeddings/oleObject67.bin"/><Relationship Id="rId4" Type="http://schemas.openxmlformats.org/officeDocument/2006/relationships/image" Target="../media/image66.wmf"/></Relationships>
</file>

<file path=ppt/slides/_rels/slide27.xml.rels><?xml version="1.0" encoding="UTF-8" standalone="yes"?>
<Relationships xmlns="http://schemas.openxmlformats.org/package/2006/relationships"><Relationship Id="rId8" Type="http://schemas.openxmlformats.org/officeDocument/2006/relationships/image" Target="../media/image71.wmf"/><Relationship Id="rId3" Type="http://schemas.openxmlformats.org/officeDocument/2006/relationships/oleObject" Target="../embeddings/oleObject69.bin"/><Relationship Id="rId7" Type="http://schemas.openxmlformats.org/officeDocument/2006/relationships/oleObject" Target="../embeddings/oleObject71.bin"/><Relationship Id="rId2" Type="http://schemas.openxmlformats.org/officeDocument/2006/relationships/slideLayout" Target="../slideLayouts/slideLayout7.xml"/><Relationship Id="rId1" Type="http://schemas.openxmlformats.org/officeDocument/2006/relationships/vmlDrawing" Target="../drawings/vmlDrawing19.vml"/><Relationship Id="rId6" Type="http://schemas.openxmlformats.org/officeDocument/2006/relationships/image" Target="../media/image70.wmf"/><Relationship Id="rId5" Type="http://schemas.openxmlformats.org/officeDocument/2006/relationships/oleObject" Target="../embeddings/oleObject70.bin"/><Relationship Id="rId10" Type="http://schemas.openxmlformats.org/officeDocument/2006/relationships/image" Target="../media/image72.wmf"/><Relationship Id="rId4" Type="http://schemas.openxmlformats.org/officeDocument/2006/relationships/image" Target="../media/image69.wmf"/><Relationship Id="rId9" Type="http://schemas.openxmlformats.org/officeDocument/2006/relationships/oleObject" Target="../embeddings/oleObject72.bin"/></Relationships>
</file>

<file path=ppt/slides/_rels/slide28.xml.rels><?xml version="1.0" encoding="UTF-8" standalone="yes"?>
<Relationships xmlns="http://schemas.openxmlformats.org/package/2006/relationships"><Relationship Id="rId8" Type="http://schemas.openxmlformats.org/officeDocument/2006/relationships/image" Target="../media/image75.wmf"/><Relationship Id="rId3" Type="http://schemas.openxmlformats.org/officeDocument/2006/relationships/oleObject" Target="../embeddings/oleObject73.bin"/><Relationship Id="rId7" Type="http://schemas.openxmlformats.org/officeDocument/2006/relationships/oleObject" Target="../embeddings/oleObject75.bin"/><Relationship Id="rId2" Type="http://schemas.openxmlformats.org/officeDocument/2006/relationships/slideLayout" Target="../slideLayouts/slideLayout7.xml"/><Relationship Id="rId1" Type="http://schemas.openxmlformats.org/officeDocument/2006/relationships/vmlDrawing" Target="../drawings/vmlDrawing20.vml"/><Relationship Id="rId6" Type="http://schemas.openxmlformats.org/officeDocument/2006/relationships/image" Target="../media/image74.wmf"/><Relationship Id="rId11" Type="http://schemas.openxmlformats.org/officeDocument/2006/relationships/image" Target="../media/image77.png"/><Relationship Id="rId5" Type="http://schemas.openxmlformats.org/officeDocument/2006/relationships/oleObject" Target="../embeddings/oleObject74.bin"/><Relationship Id="rId10" Type="http://schemas.openxmlformats.org/officeDocument/2006/relationships/image" Target="../media/image76.wmf"/><Relationship Id="rId4" Type="http://schemas.openxmlformats.org/officeDocument/2006/relationships/image" Target="../media/image73.wmf"/><Relationship Id="rId9" Type="http://schemas.openxmlformats.org/officeDocument/2006/relationships/oleObject" Target="../embeddings/oleObject76.bin"/></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78.jpe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77.bin"/><Relationship Id="rId2" Type="http://schemas.openxmlformats.org/officeDocument/2006/relationships/slideLayout" Target="../slideLayouts/slideLayout7.xml"/><Relationship Id="rId1" Type="http://schemas.openxmlformats.org/officeDocument/2006/relationships/vmlDrawing" Target="../drawings/vmlDrawing21.vml"/><Relationship Id="rId4" Type="http://schemas.openxmlformats.org/officeDocument/2006/relationships/image" Target="../media/image79.emf"/></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8" Type="http://schemas.openxmlformats.org/officeDocument/2006/relationships/image" Target="../media/image82.wmf"/><Relationship Id="rId3" Type="http://schemas.openxmlformats.org/officeDocument/2006/relationships/oleObject" Target="../embeddings/oleObject78.bin"/><Relationship Id="rId7" Type="http://schemas.openxmlformats.org/officeDocument/2006/relationships/oleObject" Target="../embeddings/oleObject80.bin"/><Relationship Id="rId2" Type="http://schemas.openxmlformats.org/officeDocument/2006/relationships/slideLayout" Target="../slideLayouts/slideLayout7.xml"/><Relationship Id="rId1" Type="http://schemas.openxmlformats.org/officeDocument/2006/relationships/vmlDrawing" Target="../drawings/vmlDrawing22.vml"/><Relationship Id="rId6" Type="http://schemas.openxmlformats.org/officeDocument/2006/relationships/image" Target="../media/image81.wmf"/><Relationship Id="rId5" Type="http://schemas.openxmlformats.org/officeDocument/2006/relationships/oleObject" Target="../embeddings/oleObject79.bin"/><Relationship Id="rId10" Type="http://schemas.openxmlformats.org/officeDocument/2006/relationships/image" Target="../media/image83.wmf"/><Relationship Id="rId4" Type="http://schemas.openxmlformats.org/officeDocument/2006/relationships/image" Target="../media/image80.wmf"/><Relationship Id="rId9" Type="http://schemas.openxmlformats.org/officeDocument/2006/relationships/oleObject" Target="../embeddings/oleObject81.bin"/></Relationships>
</file>

<file path=ppt/slides/_rels/slide34.xml.rels><?xml version="1.0" encoding="UTF-8" standalone="yes"?>
<Relationships xmlns="http://schemas.openxmlformats.org/package/2006/relationships"><Relationship Id="rId8" Type="http://schemas.openxmlformats.org/officeDocument/2006/relationships/image" Target="../media/image86.emf"/><Relationship Id="rId13" Type="http://schemas.openxmlformats.org/officeDocument/2006/relationships/oleObject" Target="../embeddings/oleObject87.bin"/><Relationship Id="rId3" Type="http://schemas.openxmlformats.org/officeDocument/2006/relationships/oleObject" Target="../embeddings/oleObject82.bin"/><Relationship Id="rId7" Type="http://schemas.openxmlformats.org/officeDocument/2006/relationships/oleObject" Target="../embeddings/oleObject84.bin"/><Relationship Id="rId12" Type="http://schemas.openxmlformats.org/officeDocument/2006/relationships/image" Target="../media/image88.emf"/><Relationship Id="rId2" Type="http://schemas.openxmlformats.org/officeDocument/2006/relationships/slideLayout" Target="../slideLayouts/slideLayout7.xml"/><Relationship Id="rId1" Type="http://schemas.openxmlformats.org/officeDocument/2006/relationships/vmlDrawing" Target="../drawings/vmlDrawing23.vml"/><Relationship Id="rId6" Type="http://schemas.openxmlformats.org/officeDocument/2006/relationships/image" Target="../media/image85.emf"/><Relationship Id="rId11" Type="http://schemas.openxmlformats.org/officeDocument/2006/relationships/oleObject" Target="../embeddings/oleObject86.bin"/><Relationship Id="rId5" Type="http://schemas.openxmlformats.org/officeDocument/2006/relationships/oleObject" Target="../embeddings/oleObject83.bin"/><Relationship Id="rId10" Type="http://schemas.openxmlformats.org/officeDocument/2006/relationships/image" Target="../media/image87.emf"/><Relationship Id="rId4" Type="http://schemas.openxmlformats.org/officeDocument/2006/relationships/image" Target="../media/image84.emf"/><Relationship Id="rId9" Type="http://schemas.openxmlformats.org/officeDocument/2006/relationships/oleObject" Target="../embeddings/oleObject85.bin"/><Relationship Id="rId14" Type="http://schemas.openxmlformats.org/officeDocument/2006/relationships/image" Target="../media/image89.wmf"/></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image" Target="../media/image90.jpeg"/><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image" Target="../media/image92.jpeg"/><Relationship Id="rId2" Type="http://schemas.openxmlformats.org/officeDocument/2006/relationships/image" Target="../media/image91.jpeg"/><Relationship Id="rId1" Type="http://schemas.openxmlformats.org/officeDocument/2006/relationships/slideLayout" Target="../slideLayouts/slideLayout7.xml"/><Relationship Id="rId4" Type="http://schemas.openxmlformats.org/officeDocument/2006/relationships/image" Target="../media/image93.jpeg"/></Relationships>
</file>

<file path=ppt/slides/_rels/slide38.xml.rels><?xml version="1.0" encoding="UTF-8" standalone="yes"?>
<Relationships xmlns="http://schemas.openxmlformats.org/package/2006/relationships"><Relationship Id="rId3" Type="http://schemas.openxmlformats.org/officeDocument/2006/relationships/image" Target="../media/image95.jpeg"/><Relationship Id="rId2" Type="http://schemas.openxmlformats.org/officeDocument/2006/relationships/image" Target="../media/image94.jpe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97.jpeg"/><Relationship Id="rId2" Type="http://schemas.openxmlformats.org/officeDocument/2006/relationships/image" Target="../media/image96.jpe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99.jpeg"/><Relationship Id="rId2" Type="http://schemas.openxmlformats.org/officeDocument/2006/relationships/image" Target="../media/image98.jpeg"/><Relationship Id="rId1" Type="http://schemas.openxmlformats.org/officeDocument/2006/relationships/slideLayout" Target="../slideLayouts/slideLayout7.xml"/><Relationship Id="rId6" Type="http://schemas.openxmlformats.org/officeDocument/2006/relationships/image" Target="../media/image102.jpeg"/><Relationship Id="rId5" Type="http://schemas.openxmlformats.org/officeDocument/2006/relationships/image" Target="../media/image101.jpeg"/><Relationship Id="rId4" Type="http://schemas.openxmlformats.org/officeDocument/2006/relationships/image" Target="../media/image100.jpeg"/></Relationships>
</file>

<file path=ppt/slides/_rels/slide41.xml.rels><?xml version="1.0" encoding="UTF-8" standalone="yes"?>
<Relationships xmlns="http://schemas.openxmlformats.org/package/2006/relationships"><Relationship Id="rId3" Type="http://schemas.openxmlformats.org/officeDocument/2006/relationships/image" Target="../media/image104.jpeg"/><Relationship Id="rId2" Type="http://schemas.openxmlformats.org/officeDocument/2006/relationships/image" Target="../media/image103.jpe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image" Target="../media/image105.png"/><Relationship Id="rId1" Type="http://schemas.openxmlformats.org/officeDocument/2006/relationships/slideLayout" Target="../slideLayouts/slideLayout7.xml"/><Relationship Id="rId6" Type="http://schemas.openxmlformats.org/officeDocument/2006/relationships/image" Target="../media/image109.jpeg"/><Relationship Id="rId5" Type="http://schemas.openxmlformats.org/officeDocument/2006/relationships/image" Target="../media/image108.jpeg"/><Relationship Id="rId4" Type="http://schemas.openxmlformats.org/officeDocument/2006/relationships/image" Target="../media/image107.jpeg"/></Relationships>
</file>

<file path=ppt/slides/_rels/slide43.xml.rels><?xml version="1.0" encoding="UTF-8" standalone="yes"?>
<Relationships xmlns="http://schemas.openxmlformats.org/package/2006/relationships"><Relationship Id="rId3" Type="http://schemas.openxmlformats.org/officeDocument/2006/relationships/image" Target="../media/image111.jpeg"/><Relationship Id="rId2" Type="http://schemas.openxmlformats.org/officeDocument/2006/relationships/image" Target="../media/image110.jpeg"/><Relationship Id="rId1" Type="http://schemas.openxmlformats.org/officeDocument/2006/relationships/slideLayout" Target="../slideLayouts/slideLayout7.xml"/><Relationship Id="rId5" Type="http://schemas.openxmlformats.org/officeDocument/2006/relationships/image" Target="../media/image113.jpeg"/><Relationship Id="rId4" Type="http://schemas.openxmlformats.org/officeDocument/2006/relationships/image" Target="../media/image112.jpeg"/></Relationships>
</file>

<file path=ppt/slides/_rels/slide44.xml.rels><?xml version="1.0" encoding="UTF-8" standalone="yes"?>
<Relationships xmlns="http://schemas.openxmlformats.org/package/2006/relationships"><Relationship Id="rId2" Type="http://schemas.openxmlformats.org/officeDocument/2006/relationships/image" Target="../media/image114.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116.jpeg"/><Relationship Id="rId2" Type="http://schemas.openxmlformats.org/officeDocument/2006/relationships/image" Target="../media/image115.jpeg"/><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image" Target="../media/image117.png"/><Relationship Id="rId1" Type="http://schemas.openxmlformats.org/officeDocument/2006/relationships/slideLayout" Target="../slideLayouts/slideLayout7.xml"/><Relationship Id="rId4" Type="http://schemas.openxmlformats.org/officeDocument/2006/relationships/image" Target="../media/image119.png"/></Relationships>
</file>

<file path=ppt/slides/_rels/slide47.xml.rels><?xml version="1.0" encoding="UTF-8" standalone="yes"?>
<Relationships xmlns="http://schemas.openxmlformats.org/package/2006/relationships"><Relationship Id="rId8" Type="http://schemas.openxmlformats.org/officeDocument/2006/relationships/image" Target="../media/image122.wmf"/><Relationship Id="rId3" Type="http://schemas.openxmlformats.org/officeDocument/2006/relationships/oleObject" Target="../embeddings/oleObject88.bin"/><Relationship Id="rId7" Type="http://schemas.openxmlformats.org/officeDocument/2006/relationships/oleObject" Target="../embeddings/oleObject90.bin"/><Relationship Id="rId2" Type="http://schemas.openxmlformats.org/officeDocument/2006/relationships/slideLayout" Target="../slideLayouts/slideLayout2.xml"/><Relationship Id="rId1" Type="http://schemas.openxmlformats.org/officeDocument/2006/relationships/vmlDrawing" Target="../drawings/vmlDrawing24.vml"/><Relationship Id="rId6" Type="http://schemas.openxmlformats.org/officeDocument/2006/relationships/image" Target="../media/image121.wmf"/><Relationship Id="rId5" Type="http://schemas.openxmlformats.org/officeDocument/2006/relationships/oleObject" Target="../embeddings/oleObject89.bin"/><Relationship Id="rId10" Type="http://schemas.openxmlformats.org/officeDocument/2006/relationships/image" Target="../media/image123.wmf"/><Relationship Id="rId4" Type="http://schemas.openxmlformats.org/officeDocument/2006/relationships/image" Target="../media/image120.wmf"/><Relationship Id="rId9" Type="http://schemas.openxmlformats.org/officeDocument/2006/relationships/oleObject" Target="../embeddings/oleObject91.bin"/></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oleObject" Target="../embeddings/oleObject92.bin"/><Relationship Id="rId2" Type="http://schemas.openxmlformats.org/officeDocument/2006/relationships/slideLayout" Target="../slideLayouts/slideLayout2.xml"/><Relationship Id="rId1" Type="http://schemas.openxmlformats.org/officeDocument/2006/relationships/vmlDrawing" Target="../drawings/vmlDrawing25.vml"/><Relationship Id="rId4" Type="http://schemas.openxmlformats.org/officeDocument/2006/relationships/image" Target="../media/image124.emf"/></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93.bin"/><Relationship Id="rId2" Type="http://schemas.openxmlformats.org/officeDocument/2006/relationships/slideLayout" Target="../slideLayouts/slideLayout2.xml"/><Relationship Id="rId1" Type="http://schemas.openxmlformats.org/officeDocument/2006/relationships/vmlDrawing" Target="../drawings/vmlDrawing26.vml"/><Relationship Id="rId6" Type="http://schemas.openxmlformats.org/officeDocument/2006/relationships/image" Target="../media/image126.wmf"/><Relationship Id="rId5" Type="http://schemas.openxmlformats.org/officeDocument/2006/relationships/oleObject" Target="../embeddings/oleObject94.bin"/><Relationship Id="rId4" Type="http://schemas.openxmlformats.org/officeDocument/2006/relationships/image" Target="../media/image125.wmf"/></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8" Type="http://schemas.openxmlformats.org/officeDocument/2006/relationships/image" Target="../media/image129.emf"/><Relationship Id="rId3" Type="http://schemas.openxmlformats.org/officeDocument/2006/relationships/oleObject" Target="../embeddings/oleObject95.bin"/><Relationship Id="rId7" Type="http://schemas.openxmlformats.org/officeDocument/2006/relationships/oleObject" Target="../embeddings/oleObject97.bin"/><Relationship Id="rId2" Type="http://schemas.openxmlformats.org/officeDocument/2006/relationships/slideLayout" Target="../slideLayouts/slideLayout2.xml"/><Relationship Id="rId1" Type="http://schemas.openxmlformats.org/officeDocument/2006/relationships/vmlDrawing" Target="../drawings/vmlDrawing27.vml"/><Relationship Id="rId6" Type="http://schemas.openxmlformats.org/officeDocument/2006/relationships/image" Target="../media/image128.wmf"/><Relationship Id="rId5" Type="http://schemas.openxmlformats.org/officeDocument/2006/relationships/oleObject" Target="../embeddings/oleObject96.bin"/><Relationship Id="rId4" Type="http://schemas.openxmlformats.org/officeDocument/2006/relationships/image" Target="../media/image127.wmf"/></Relationships>
</file>

<file path=ppt/slides/_rels/slide53.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image" Target="../media/image130.jpe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8" Type="http://schemas.openxmlformats.org/officeDocument/2006/relationships/oleObject" Target="../embeddings/oleObject101.bin"/><Relationship Id="rId13" Type="http://schemas.openxmlformats.org/officeDocument/2006/relationships/image" Target="../media/image135.wmf"/><Relationship Id="rId3" Type="http://schemas.openxmlformats.org/officeDocument/2006/relationships/oleObject" Target="../embeddings/oleObject98.bin"/><Relationship Id="rId7" Type="http://schemas.openxmlformats.org/officeDocument/2006/relationships/oleObject" Target="../embeddings/oleObject100.bin"/><Relationship Id="rId12" Type="http://schemas.openxmlformats.org/officeDocument/2006/relationships/oleObject" Target="../embeddings/oleObject104.bin"/><Relationship Id="rId2" Type="http://schemas.openxmlformats.org/officeDocument/2006/relationships/slideLayout" Target="../slideLayouts/slideLayout2.xml"/><Relationship Id="rId1" Type="http://schemas.openxmlformats.org/officeDocument/2006/relationships/vmlDrawing" Target="../drawings/vmlDrawing28.vml"/><Relationship Id="rId6" Type="http://schemas.openxmlformats.org/officeDocument/2006/relationships/image" Target="../media/image133.wmf"/><Relationship Id="rId11" Type="http://schemas.openxmlformats.org/officeDocument/2006/relationships/image" Target="../media/image134.wmf"/><Relationship Id="rId5" Type="http://schemas.openxmlformats.org/officeDocument/2006/relationships/oleObject" Target="../embeddings/oleObject99.bin"/><Relationship Id="rId15" Type="http://schemas.openxmlformats.org/officeDocument/2006/relationships/image" Target="../media/image136.wmf"/><Relationship Id="rId10" Type="http://schemas.openxmlformats.org/officeDocument/2006/relationships/oleObject" Target="../embeddings/oleObject103.bin"/><Relationship Id="rId4" Type="http://schemas.openxmlformats.org/officeDocument/2006/relationships/image" Target="../media/image132.png"/><Relationship Id="rId9" Type="http://schemas.openxmlformats.org/officeDocument/2006/relationships/oleObject" Target="../embeddings/oleObject102.bin"/><Relationship Id="rId14" Type="http://schemas.openxmlformats.org/officeDocument/2006/relationships/oleObject" Target="../embeddings/oleObject105.bin"/></Relationships>
</file>

<file path=ppt/slides/_rels/slide55.xml.rels><?xml version="1.0" encoding="UTF-8" standalone="yes"?>
<Relationships xmlns="http://schemas.openxmlformats.org/package/2006/relationships"><Relationship Id="rId8" Type="http://schemas.openxmlformats.org/officeDocument/2006/relationships/image" Target="../media/image139.wmf"/><Relationship Id="rId3" Type="http://schemas.openxmlformats.org/officeDocument/2006/relationships/oleObject" Target="../embeddings/oleObject106.bin"/><Relationship Id="rId7" Type="http://schemas.openxmlformats.org/officeDocument/2006/relationships/oleObject" Target="../embeddings/oleObject108.bin"/><Relationship Id="rId2" Type="http://schemas.openxmlformats.org/officeDocument/2006/relationships/slideLayout" Target="../slideLayouts/slideLayout7.xml"/><Relationship Id="rId1" Type="http://schemas.openxmlformats.org/officeDocument/2006/relationships/vmlDrawing" Target="../drawings/vmlDrawing29.vml"/><Relationship Id="rId6" Type="http://schemas.openxmlformats.org/officeDocument/2006/relationships/image" Target="../media/image138.wmf"/><Relationship Id="rId5" Type="http://schemas.openxmlformats.org/officeDocument/2006/relationships/oleObject" Target="../embeddings/oleObject107.bin"/><Relationship Id="rId10" Type="http://schemas.openxmlformats.org/officeDocument/2006/relationships/image" Target="../media/image59.wmf"/><Relationship Id="rId4" Type="http://schemas.openxmlformats.org/officeDocument/2006/relationships/image" Target="../media/image137.wmf"/><Relationship Id="rId9" Type="http://schemas.openxmlformats.org/officeDocument/2006/relationships/oleObject" Target="../embeddings/oleObject109.bin"/></Relationships>
</file>

<file path=ppt/slides/_rels/slide56.xml.rels><?xml version="1.0" encoding="UTF-8" standalone="yes"?>
<Relationships xmlns="http://schemas.openxmlformats.org/package/2006/relationships"><Relationship Id="rId8" Type="http://schemas.openxmlformats.org/officeDocument/2006/relationships/image" Target="../media/image64.wmf"/><Relationship Id="rId3" Type="http://schemas.openxmlformats.org/officeDocument/2006/relationships/oleObject" Target="../embeddings/oleObject110.bin"/><Relationship Id="rId7" Type="http://schemas.openxmlformats.org/officeDocument/2006/relationships/oleObject" Target="../embeddings/oleObject112.bin"/><Relationship Id="rId12" Type="http://schemas.openxmlformats.org/officeDocument/2006/relationships/image" Target="../media/image69.wmf"/><Relationship Id="rId2" Type="http://schemas.openxmlformats.org/officeDocument/2006/relationships/slideLayout" Target="../slideLayouts/slideLayout7.xml"/><Relationship Id="rId1" Type="http://schemas.openxmlformats.org/officeDocument/2006/relationships/vmlDrawing" Target="../drawings/vmlDrawing30.vml"/><Relationship Id="rId6" Type="http://schemas.openxmlformats.org/officeDocument/2006/relationships/image" Target="../media/image63.wmf"/><Relationship Id="rId11" Type="http://schemas.openxmlformats.org/officeDocument/2006/relationships/oleObject" Target="../embeddings/oleObject114.bin"/><Relationship Id="rId5" Type="http://schemas.openxmlformats.org/officeDocument/2006/relationships/oleObject" Target="../embeddings/oleObject111.bin"/><Relationship Id="rId10" Type="http://schemas.openxmlformats.org/officeDocument/2006/relationships/image" Target="../media/image65.wmf"/><Relationship Id="rId4" Type="http://schemas.openxmlformats.org/officeDocument/2006/relationships/image" Target="../media/image60.wmf"/><Relationship Id="rId9" Type="http://schemas.openxmlformats.org/officeDocument/2006/relationships/oleObject" Target="../embeddings/oleObject113.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PP_228">
            <a:extLst>
              <a:ext uri="{FF2B5EF4-FFF2-40B4-BE49-F238E27FC236}">
                <a16:creationId xmlns:a16="http://schemas.microsoft.com/office/drawing/2014/main" id="{9E65BA32-26CB-4014-BE25-3C9C1C94BCEF}"/>
              </a:ext>
            </a:extLst>
          </p:cNvPr>
          <p:cNvPicPr>
            <a:picLocks noChangeAspect="1" noChangeArrowheads="1"/>
          </p:cNvPicPr>
          <p:nvPr>
            <p:ph/>
          </p:nvPr>
        </p:nvPicPr>
        <p:blipFill>
          <a:blip r:embed="rId2">
            <a:extLst>
              <a:ext uri="{28A0092B-C50C-407E-A947-70E740481C1C}">
                <a14:useLocalDpi xmlns:a14="http://schemas.microsoft.com/office/drawing/2010/main" val="0"/>
              </a:ext>
            </a:extLst>
          </a:blip>
          <a:srcRect/>
          <a:stretch>
            <a:fillRect/>
          </a:stretch>
        </p:blipFill>
        <p:spPr>
          <a:xfrm>
            <a:off x="3276600" y="0"/>
            <a:ext cx="5867400" cy="6858000"/>
          </a:xfrm>
          <a:noFill/>
        </p:spPr>
      </p:pic>
      <p:sp>
        <p:nvSpPr>
          <p:cNvPr id="3075" name="Rectangle 3">
            <a:extLst>
              <a:ext uri="{FF2B5EF4-FFF2-40B4-BE49-F238E27FC236}">
                <a16:creationId xmlns:a16="http://schemas.microsoft.com/office/drawing/2014/main" id="{62C6AD24-9FCF-4F1E-99E8-3F609EBA36E4}"/>
              </a:ext>
            </a:extLst>
          </p:cNvPr>
          <p:cNvSpPr>
            <a:spLocks noChangeArrowheads="1"/>
          </p:cNvSpPr>
          <p:nvPr/>
        </p:nvSpPr>
        <p:spPr bwMode="auto">
          <a:xfrm>
            <a:off x="395288" y="1052513"/>
            <a:ext cx="2663825"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4800" b="1">
                <a:ea typeface="隶书" panose="02010509060101010101" pitchFamily="49" charset="-122"/>
              </a:rPr>
              <a:t>  </a:t>
            </a:r>
            <a:r>
              <a:rPr kumimoji="1" lang="zh-CN" altLang="en-US" sz="4800" b="1">
                <a:ea typeface="隶书" panose="02010509060101010101" pitchFamily="49" charset="-122"/>
              </a:rPr>
              <a:t>第六篇</a:t>
            </a:r>
            <a:br>
              <a:rPr kumimoji="1" lang="zh-CN" altLang="en-US" sz="4800" b="1">
                <a:ea typeface="隶书" panose="02010509060101010101" pitchFamily="49" charset="-122"/>
              </a:rPr>
            </a:br>
            <a:r>
              <a:rPr kumimoji="1" lang="zh-CN" altLang="en-US" sz="4800">
                <a:ea typeface="隶书" panose="02010509060101010101" pitchFamily="49" charset="-122"/>
              </a:rPr>
              <a:t>量子物理</a:t>
            </a:r>
          </a:p>
        </p:txBody>
      </p:sp>
      <p:sp>
        <p:nvSpPr>
          <p:cNvPr id="142340" name="Text Box 4">
            <a:extLst>
              <a:ext uri="{FF2B5EF4-FFF2-40B4-BE49-F238E27FC236}">
                <a16:creationId xmlns:a16="http://schemas.microsoft.com/office/drawing/2014/main" id="{E8C945C4-F2E7-4706-A845-41F2FAD6BD45}"/>
              </a:ext>
            </a:extLst>
          </p:cNvPr>
          <p:cNvSpPr txBox="1">
            <a:spLocks noChangeArrowheads="1"/>
          </p:cNvSpPr>
          <p:nvPr/>
        </p:nvSpPr>
        <p:spPr bwMode="auto">
          <a:xfrm>
            <a:off x="71438" y="3786188"/>
            <a:ext cx="3214687" cy="175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3600" b="1" dirty="0">
                <a:solidFill>
                  <a:srgbClr val="FF0000"/>
                </a:solidFill>
                <a:latin typeface="隶书" panose="02010509060101010101" pitchFamily="49" charset="-122"/>
                <a:ea typeface="隶书" panose="02010509060101010101" pitchFamily="49" charset="-122"/>
              </a:rPr>
              <a:t>第</a:t>
            </a:r>
            <a:r>
              <a:rPr kumimoji="1" lang="en-US" altLang="zh-CN" sz="3600" b="1" dirty="0">
                <a:solidFill>
                  <a:srgbClr val="FF0000"/>
                </a:solidFill>
                <a:latin typeface="隶书" panose="02010509060101010101" pitchFamily="49" charset="-122"/>
                <a:ea typeface="隶书" panose="02010509060101010101" pitchFamily="49" charset="-122"/>
              </a:rPr>
              <a:t>17</a:t>
            </a:r>
            <a:r>
              <a:rPr kumimoji="1" lang="zh-CN" altLang="en-US" sz="3600" b="1" dirty="0">
                <a:solidFill>
                  <a:srgbClr val="FF0000"/>
                </a:solidFill>
                <a:latin typeface="隶书" panose="02010509060101010101" pitchFamily="49" charset="-122"/>
                <a:ea typeface="隶书" panose="02010509060101010101" pitchFamily="49" charset="-122"/>
              </a:rPr>
              <a:t>章   </a:t>
            </a:r>
          </a:p>
          <a:p>
            <a:pPr algn="ctr" eaLnBrk="1" hangingPunct="1">
              <a:spcBef>
                <a:spcPct val="0"/>
              </a:spcBef>
              <a:buFontTx/>
              <a:buNone/>
            </a:pPr>
            <a:r>
              <a:rPr kumimoji="1" lang="zh-CN" altLang="en-US" sz="3600" b="1" dirty="0">
                <a:solidFill>
                  <a:srgbClr val="FF0000"/>
                </a:solidFill>
                <a:latin typeface="隶书" panose="02010509060101010101" pitchFamily="49" charset="-122"/>
                <a:ea typeface="隶书" panose="02010509060101010101" pitchFamily="49" charset="-122"/>
              </a:rPr>
              <a:t> 原子核物理</a:t>
            </a:r>
            <a:endParaRPr kumimoji="1" lang="en-US" altLang="zh-CN" sz="3600" b="1" dirty="0">
              <a:solidFill>
                <a:srgbClr val="FF0000"/>
              </a:solidFill>
              <a:latin typeface="隶书" panose="02010509060101010101" pitchFamily="49" charset="-122"/>
              <a:ea typeface="隶书" panose="02010509060101010101" pitchFamily="49" charset="-122"/>
            </a:endParaRPr>
          </a:p>
          <a:p>
            <a:pPr algn="ctr" eaLnBrk="1" hangingPunct="1">
              <a:spcBef>
                <a:spcPct val="0"/>
              </a:spcBef>
              <a:buFontTx/>
              <a:buNone/>
            </a:pPr>
            <a:r>
              <a:rPr kumimoji="1" lang="zh-CN" altLang="en-US" sz="3600" b="1" dirty="0">
                <a:solidFill>
                  <a:srgbClr val="FF0000"/>
                </a:solidFill>
                <a:latin typeface="隶书" panose="02010509060101010101" pitchFamily="49" charset="-122"/>
                <a:ea typeface="隶书" panose="02010509060101010101" pitchFamily="49" charset="-122"/>
              </a:rPr>
              <a:t>简介</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9" presetClass="entr" presetSubtype="0" fill="hold" grpId="0" nodeType="afterEffect">
                                  <p:stCondLst>
                                    <p:cond delay="0"/>
                                  </p:stCondLst>
                                  <p:childTnLst>
                                    <p:set>
                                      <p:cBhvr>
                                        <p:cTn id="6" dur="1" fill="hold">
                                          <p:stCondLst>
                                            <p:cond delay="0"/>
                                          </p:stCondLst>
                                        </p:cTn>
                                        <p:tgtEl>
                                          <p:spTgt spid="142340"/>
                                        </p:tgtEl>
                                        <p:attrNameLst>
                                          <p:attrName>style.visibility</p:attrName>
                                        </p:attrNameLst>
                                      </p:cBhvr>
                                      <p:to>
                                        <p:strVal val="visible"/>
                                      </p:to>
                                    </p:set>
                                    <p:anim calcmode="lin" valueType="num">
                                      <p:cBhvr>
                                        <p:cTn id="7" dur="1000" fill="hold"/>
                                        <p:tgtEl>
                                          <p:spTgt spid="142340"/>
                                        </p:tgtEl>
                                        <p:attrNameLst>
                                          <p:attrName>ppt_x</p:attrName>
                                        </p:attrNameLst>
                                      </p:cBhvr>
                                      <p:tavLst>
                                        <p:tav tm="0">
                                          <p:val>
                                            <p:strVal val="#ppt_x-.2"/>
                                          </p:val>
                                        </p:tav>
                                        <p:tav tm="100000">
                                          <p:val>
                                            <p:strVal val="#ppt_x"/>
                                          </p:val>
                                        </p:tav>
                                      </p:tavLst>
                                    </p:anim>
                                    <p:anim calcmode="lin" valueType="num">
                                      <p:cBhvr>
                                        <p:cTn id="8" dur="1000" fill="hold"/>
                                        <p:tgtEl>
                                          <p:spTgt spid="142340"/>
                                        </p:tgtEl>
                                        <p:attrNameLst>
                                          <p:attrName>ppt_y</p:attrName>
                                        </p:attrNameLst>
                                      </p:cBhvr>
                                      <p:tavLst>
                                        <p:tav tm="0">
                                          <p:val>
                                            <p:strVal val="#ppt_y"/>
                                          </p:val>
                                        </p:tav>
                                        <p:tav tm="100000">
                                          <p:val>
                                            <p:strVal val="#ppt_y"/>
                                          </p:val>
                                        </p:tav>
                                      </p:tavLst>
                                    </p:anim>
                                    <p:animEffect transition="in" filter="wipe(right)" prLst="gradientSize: 0.1">
                                      <p:cBhvr>
                                        <p:cTn id="9" dur="1000"/>
                                        <p:tgtEl>
                                          <p:spTgt spid="1423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340"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7" name="Text Box 5">
            <a:extLst>
              <a:ext uri="{FF2B5EF4-FFF2-40B4-BE49-F238E27FC236}">
                <a16:creationId xmlns:a16="http://schemas.microsoft.com/office/drawing/2014/main" id="{CE3768FF-113B-4C5A-8EFE-E9FAC8F2DB48}"/>
              </a:ext>
            </a:extLst>
          </p:cNvPr>
          <p:cNvSpPr txBox="1">
            <a:spLocks noChangeArrowheads="1"/>
          </p:cNvSpPr>
          <p:nvPr/>
        </p:nvSpPr>
        <p:spPr bwMode="auto">
          <a:xfrm>
            <a:off x="1285875" y="2071688"/>
            <a:ext cx="6643688" cy="2678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kumimoji="1" lang="en-US" altLang="zh-CN" sz="2800" b="1">
              <a:latin typeface="Times New Roman" panose="02020603050405020304" pitchFamily="18" charset="0"/>
              <a:ea typeface="楷体_GB2312"/>
              <a:cs typeface="楷体_GB2312"/>
            </a:endParaRPr>
          </a:p>
          <a:p>
            <a:pPr eaLnBrk="1" hangingPunct="1">
              <a:spcBef>
                <a:spcPct val="0"/>
              </a:spcBef>
              <a:buFontTx/>
              <a:buNone/>
            </a:pPr>
            <a:r>
              <a:rPr kumimoji="1" lang="en-US" altLang="zh-CN" sz="2800" b="1">
                <a:latin typeface="Times New Roman" panose="02020603050405020304" pitchFamily="18" charset="0"/>
              </a:rPr>
              <a:t>      </a:t>
            </a:r>
            <a:r>
              <a:rPr kumimoji="1" lang="zh-CN" altLang="en-US" sz="2800" b="1">
                <a:latin typeface="Times New Roman" panose="02020603050405020304" pitchFamily="18" charset="0"/>
              </a:rPr>
              <a:t>第</a:t>
            </a:r>
            <a:r>
              <a:rPr kumimoji="1" lang="en-US" altLang="zh-CN" sz="2800" b="1">
                <a:latin typeface="Times New Roman" panose="02020603050405020304" pitchFamily="18" charset="0"/>
              </a:rPr>
              <a:t>1</a:t>
            </a:r>
            <a:r>
              <a:rPr kumimoji="1" lang="zh-CN" altLang="en-US" sz="2800" b="1">
                <a:latin typeface="Times New Roman" panose="02020603050405020304" pitchFamily="18" charset="0"/>
              </a:rPr>
              <a:t>节  原子核的结构和基本性质</a:t>
            </a:r>
          </a:p>
          <a:p>
            <a:pPr eaLnBrk="1" hangingPunct="1">
              <a:spcBef>
                <a:spcPct val="0"/>
              </a:spcBef>
              <a:buFontTx/>
              <a:buNone/>
            </a:pPr>
            <a:endParaRPr kumimoji="1" lang="zh-CN" altLang="en-US" sz="2800" b="1">
              <a:latin typeface="Times New Roman" panose="02020603050405020304" pitchFamily="18" charset="0"/>
            </a:endParaRPr>
          </a:p>
          <a:p>
            <a:pPr eaLnBrk="1" hangingPunct="1">
              <a:spcBef>
                <a:spcPct val="0"/>
              </a:spcBef>
              <a:buFontTx/>
              <a:buNone/>
            </a:pPr>
            <a:r>
              <a:rPr kumimoji="1" lang="zh-CN" altLang="en-US" sz="2800" b="1">
                <a:latin typeface="Times New Roman" panose="02020603050405020304" pitchFamily="18" charset="0"/>
              </a:rPr>
              <a:t>      第</a:t>
            </a:r>
            <a:r>
              <a:rPr kumimoji="1" lang="en-US" altLang="zh-CN" sz="2800" b="1">
                <a:latin typeface="Times New Roman" panose="02020603050405020304" pitchFamily="18" charset="0"/>
              </a:rPr>
              <a:t>2</a:t>
            </a:r>
            <a:r>
              <a:rPr kumimoji="1" lang="zh-CN" altLang="en-US" sz="2800" b="1">
                <a:latin typeface="Times New Roman" panose="02020603050405020304" pitchFamily="18" charset="0"/>
              </a:rPr>
              <a:t>节  原子核的衰变</a:t>
            </a:r>
            <a:endParaRPr kumimoji="1" lang="en-US" altLang="zh-CN" sz="2800" b="1">
              <a:latin typeface="Times New Roman" panose="02020603050405020304" pitchFamily="18" charset="0"/>
            </a:endParaRPr>
          </a:p>
          <a:p>
            <a:pPr eaLnBrk="1" hangingPunct="1">
              <a:spcBef>
                <a:spcPct val="0"/>
              </a:spcBef>
              <a:buFontTx/>
              <a:buNone/>
            </a:pPr>
            <a:endParaRPr kumimoji="1" lang="en-US" altLang="zh-CN" sz="2800" b="1">
              <a:latin typeface="Times New Roman" panose="02020603050405020304" pitchFamily="18" charset="0"/>
            </a:endParaRPr>
          </a:p>
          <a:p>
            <a:pPr eaLnBrk="1" hangingPunct="1">
              <a:spcBef>
                <a:spcPct val="0"/>
              </a:spcBef>
              <a:buFontTx/>
              <a:buNone/>
            </a:pPr>
            <a:r>
              <a:rPr kumimoji="1" lang="zh-CN" altLang="en-US" sz="2800" b="1">
                <a:latin typeface="Times New Roman" panose="02020603050405020304" pitchFamily="18" charset="0"/>
              </a:rPr>
              <a:t>      第</a:t>
            </a:r>
            <a:r>
              <a:rPr kumimoji="1" lang="en-US" altLang="zh-CN" sz="2800" b="1">
                <a:latin typeface="Times New Roman" panose="02020603050405020304" pitchFamily="18" charset="0"/>
              </a:rPr>
              <a:t>3</a:t>
            </a:r>
            <a:r>
              <a:rPr kumimoji="1" lang="zh-CN" altLang="en-US" sz="2800" b="1">
                <a:latin typeface="Times New Roman" panose="02020603050405020304" pitchFamily="18" charset="0"/>
              </a:rPr>
              <a:t>节  核反应和核能的利用</a:t>
            </a:r>
          </a:p>
        </p:txBody>
      </p:sp>
      <p:sp>
        <p:nvSpPr>
          <p:cNvPr id="4099" name="Rectangle 6">
            <a:extLst>
              <a:ext uri="{FF2B5EF4-FFF2-40B4-BE49-F238E27FC236}">
                <a16:creationId xmlns:a16="http://schemas.microsoft.com/office/drawing/2014/main" id="{E374BABD-C1AD-40E8-A74D-C472ED6C3889}"/>
              </a:ext>
            </a:extLst>
          </p:cNvPr>
          <p:cNvSpPr>
            <a:spLocks noChangeArrowheads="1"/>
          </p:cNvSpPr>
          <p:nvPr/>
        </p:nvSpPr>
        <p:spPr bwMode="auto">
          <a:xfrm>
            <a:off x="1714500" y="785813"/>
            <a:ext cx="580707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4000" b="1"/>
              <a:t>第</a:t>
            </a:r>
            <a:r>
              <a:rPr kumimoji="1" lang="en-US" altLang="zh-CN" sz="4000" b="1"/>
              <a:t>17</a:t>
            </a:r>
            <a:r>
              <a:rPr kumimoji="1" lang="zh-CN" altLang="en-US" sz="4000" b="1"/>
              <a:t>章  原子核物理简介</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36197"/>
                                        </p:tgtEl>
                                        <p:attrNameLst>
                                          <p:attrName>style.visibility</p:attrName>
                                        </p:attrNameLst>
                                      </p:cBhvr>
                                      <p:to>
                                        <p:strVal val="visible"/>
                                      </p:to>
                                    </p:set>
                                    <p:animEffect transition="in" filter="wipe(up)">
                                      <p:cBhvr>
                                        <p:cTn id="7" dur="3000"/>
                                        <p:tgtEl>
                                          <p:spTgt spid="1361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197" grpId="0"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3" name="Text Box 5">
            <a:extLst>
              <a:ext uri="{FF2B5EF4-FFF2-40B4-BE49-F238E27FC236}">
                <a16:creationId xmlns:a16="http://schemas.microsoft.com/office/drawing/2014/main" id="{F95A14C6-D1D9-4809-87AC-7505F35F7EBE}"/>
              </a:ext>
            </a:extLst>
          </p:cNvPr>
          <p:cNvSpPr txBox="1">
            <a:spLocks noChangeArrowheads="1"/>
          </p:cNvSpPr>
          <p:nvPr/>
        </p:nvSpPr>
        <p:spPr bwMode="auto">
          <a:xfrm>
            <a:off x="63500" y="1119188"/>
            <a:ext cx="43656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a:solidFill>
                  <a:schemeClr val="accent2"/>
                </a:solidFill>
                <a:latin typeface="Times New Roman" panose="02020603050405020304" pitchFamily="18" charset="0"/>
              </a:rPr>
              <a:t>1.1 </a:t>
            </a:r>
            <a:r>
              <a:rPr lang="zh-CN" altLang="en-US" sz="2800" b="1">
                <a:solidFill>
                  <a:srgbClr val="202AF4"/>
                </a:solidFill>
                <a:latin typeface="Times New Roman" panose="02020603050405020304" pitchFamily="18" charset="0"/>
                <a:cs typeface="Times New Roman" panose="02020603050405020304" pitchFamily="18" charset="0"/>
              </a:rPr>
              <a:t>原子核的组成和大小</a:t>
            </a:r>
          </a:p>
        </p:txBody>
      </p:sp>
      <p:sp>
        <p:nvSpPr>
          <p:cNvPr id="2067" name="Rectangle 19">
            <a:extLst>
              <a:ext uri="{FF2B5EF4-FFF2-40B4-BE49-F238E27FC236}">
                <a16:creationId xmlns:a16="http://schemas.microsoft.com/office/drawing/2014/main" id="{38D21E80-D86A-4DB8-BE1C-4F295FE60068}"/>
              </a:ext>
            </a:extLst>
          </p:cNvPr>
          <p:cNvSpPr>
            <a:spLocks noChangeArrowheads="1"/>
          </p:cNvSpPr>
          <p:nvPr/>
        </p:nvSpPr>
        <p:spPr bwMode="auto">
          <a:xfrm>
            <a:off x="1238250" y="328613"/>
            <a:ext cx="678656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b="1">
                <a:latin typeface="宋体" panose="02010600030101010101" pitchFamily="2" charset="-122"/>
              </a:rPr>
              <a:t>第</a:t>
            </a:r>
            <a:r>
              <a:rPr kumimoji="1" lang="en-US" altLang="zh-CN" b="1">
                <a:latin typeface="Times New Roman" panose="02020603050405020304" pitchFamily="18" charset="0"/>
              </a:rPr>
              <a:t>1</a:t>
            </a:r>
            <a:r>
              <a:rPr kumimoji="1" lang="zh-CN" altLang="en-US" b="1">
                <a:latin typeface="宋体" panose="02010600030101010101" pitchFamily="2" charset="-122"/>
              </a:rPr>
              <a:t>节 原子核的结构和基本性质</a:t>
            </a:r>
            <a:r>
              <a:rPr kumimoji="1" lang="zh-CN" altLang="en-US" b="1">
                <a:latin typeface="Times New Roman" panose="02020603050405020304" pitchFamily="18" charset="0"/>
                <a:ea typeface="楷体_GB2312"/>
                <a:cs typeface="楷体_GB2312"/>
              </a:rPr>
              <a:t>   </a:t>
            </a:r>
          </a:p>
        </p:txBody>
      </p:sp>
      <p:sp>
        <p:nvSpPr>
          <p:cNvPr id="5124" name="Text Box 20">
            <a:extLst>
              <a:ext uri="{FF2B5EF4-FFF2-40B4-BE49-F238E27FC236}">
                <a16:creationId xmlns:a16="http://schemas.microsoft.com/office/drawing/2014/main" id="{9E0C2B67-D5A2-49AF-B997-2533232F927D}"/>
              </a:ext>
            </a:extLst>
          </p:cNvPr>
          <p:cNvSpPr txBox="1">
            <a:spLocks noChangeArrowheads="1"/>
          </p:cNvSpPr>
          <p:nvPr/>
        </p:nvSpPr>
        <p:spPr bwMode="auto">
          <a:xfrm>
            <a:off x="8772525" y="6400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1">
                <a:latin typeface="Times New Roman" panose="02020603050405020304" pitchFamily="18" charset="0"/>
              </a:rPr>
              <a:t>1</a:t>
            </a:r>
            <a:endParaRPr lang="en-US" altLang="zh-CN" sz="1800"/>
          </a:p>
        </p:txBody>
      </p:sp>
      <p:sp>
        <p:nvSpPr>
          <p:cNvPr id="1030" name="矩形 11">
            <a:extLst>
              <a:ext uri="{FF2B5EF4-FFF2-40B4-BE49-F238E27FC236}">
                <a16:creationId xmlns:a16="http://schemas.microsoft.com/office/drawing/2014/main" id="{B8E6A761-825B-4F0D-B36D-155EE9306A1C}"/>
              </a:ext>
            </a:extLst>
          </p:cNvPr>
          <p:cNvSpPr>
            <a:spLocks noChangeArrowheads="1"/>
          </p:cNvSpPr>
          <p:nvPr/>
        </p:nvSpPr>
        <p:spPr bwMode="auto">
          <a:xfrm>
            <a:off x="1428750" y="2476500"/>
            <a:ext cx="1343025" cy="523875"/>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b="1">
                <a:latin typeface="Times New Roman" panose="02020603050405020304" pitchFamily="18" charset="0"/>
                <a:cs typeface="Times New Roman" panose="02020603050405020304" pitchFamily="18" charset="0"/>
              </a:rPr>
              <a:t>原子核</a:t>
            </a:r>
            <a:endParaRPr lang="zh-CN" altLang="en-US" sz="1800"/>
          </a:p>
        </p:txBody>
      </p:sp>
      <p:sp>
        <p:nvSpPr>
          <p:cNvPr id="1031" name="矩形 12">
            <a:extLst>
              <a:ext uri="{FF2B5EF4-FFF2-40B4-BE49-F238E27FC236}">
                <a16:creationId xmlns:a16="http://schemas.microsoft.com/office/drawing/2014/main" id="{AF21A747-2BEF-4FBB-A51F-5FFDFF269210}"/>
              </a:ext>
            </a:extLst>
          </p:cNvPr>
          <p:cNvSpPr>
            <a:spLocks noChangeArrowheads="1"/>
          </p:cNvSpPr>
          <p:nvPr/>
        </p:nvSpPr>
        <p:spPr bwMode="auto">
          <a:xfrm>
            <a:off x="3357563" y="2000250"/>
            <a:ext cx="1069975" cy="523875"/>
          </a:xfrm>
          <a:prstGeom prst="rect">
            <a:avLst/>
          </a:prstGeom>
          <a:noFill/>
          <a:ln w="28575">
            <a:solidFill>
              <a:srgbClr val="FFC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b="1">
                <a:latin typeface="Times New Roman" panose="02020603050405020304" pitchFamily="18" charset="0"/>
                <a:cs typeface="Times New Roman" panose="02020603050405020304" pitchFamily="18" charset="0"/>
              </a:rPr>
              <a:t>质子</a:t>
            </a:r>
            <a:endParaRPr lang="zh-CN" altLang="en-US" sz="1800"/>
          </a:p>
        </p:txBody>
      </p:sp>
      <p:sp>
        <p:nvSpPr>
          <p:cNvPr id="1032" name="矩形 13">
            <a:extLst>
              <a:ext uri="{FF2B5EF4-FFF2-40B4-BE49-F238E27FC236}">
                <a16:creationId xmlns:a16="http://schemas.microsoft.com/office/drawing/2014/main" id="{D38CABB6-0F05-4E1A-BDAE-B5D6455E515E}"/>
              </a:ext>
            </a:extLst>
          </p:cNvPr>
          <p:cNvSpPr>
            <a:spLocks noChangeArrowheads="1"/>
          </p:cNvSpPr>
          <p:nvPr/>
        </p:nvSpPr>
        <p:spPr bwMode="auto">
          <a:xfrm>
            <a:off x="3379788" y="2905125"/>
            <a:ext cx="976312" cy="523875"/>
          </a:xfrm>
          <a:prstGeom prst="rect">
            <a:avLst/>
          </a:prstGeom>
          <a:noFill/>
          <a:ln w="28575">
            <a:solidFill>
              <a:srgbClr val="FFC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b="1">
                <a:latin typeface="Times New Roman" panose="02020603050405020304" pitchFamily="18" charset="0"/>
                <a:cs typeface="Times New Roman" panose="02020603050405020304" pitchFamily="18" charset="0"/>
              </a:rPr>
              <a:t>中子</a:t>
            </a:r>
            <a:endParaRPr lang="zh-CN" altLang="en-US" sz="1800"/>
          </a:p>
        </p:txBody>
      </p:sp>
      <p:sp>
        <p:nvSpPr>
          <p:cNvPr id="1033" name="TextBox 14">
            <a:extLst>
              <a:ext uri="{FF2B5EF4-FFF2-40B4-BE49-F238E27FC236}">
                <a16:creationId xmlns:a16="http://schemas.microsoft.com/office/drawing/2014/main" id="{C3A8F1A9-E7EF-4D60-ABB6-FB3F63079300}"/>
              </a:ext>
            </a:extLst>
          </p:cNvPr>
          <p:cNvSpPr txBox="1">
            <a:spLocks noChangeArrowheads="1"/>
          </p:cNvSpPr>
          <p:nvPr/>
        </p:nvSpPr>
        <p:spPr bwMode="auto">
          <a:xfrm>
            <a:off x="2786063" y="2428875"/>
            <a:ext cx="5715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b="1">
                <a:latin typeface="Times New Roman" panose="02020603050405020304" pitchFamily="18" charset="0"/>
                <a:cs typeface="Times New Roman" panose="02020603050405020304" pitchFamily="18" charset="0"/>
              </a:rPr>
              <a:t>=</a:t>
            </a:r>
            <a:endParaRPr lang="zh-CN" altLang="en-US" sz="2800" b="1">
              <a:latin typeface="Times New Roman" panose="02020603050405020304" pitchFamily="18" charset="0"/>
              <a:cs typeface="Times New Roman" panose="02020603050405020304" pitchFamily="18" charset="0"/>
            </a:endParaRPr>
          </a:p>
        </p:txBody>
      </p:sp>
      <p:sp>
        <p:nvSpPr>
          <p:cNvPr id="17" name="右大括号 16">
            <a:extLst>
              <a:ext uri="{FF2B5EF4-FFF2-40B4-BE49-F238E27FC236}">
                <a16:creationId xmlns:a16="http://schemas.microsoft.com/office/drawing/2014/main" id="{BA4051D4-5A72-4939-AF70-EA17EC8EBDCD}"/>
              </a:ext>
            </a:extLst>
          </p:cNvPr>
          <p:cNvSpPr/>
          <p:nvPr/>
        </p:nvSpPr>
        <p:spPr>
          <a:xfrm>
            <a:off x="4643438" y="2071688"/>
            <a:ext cx="285750" cy="1285875"/>
          </a:xfrm>
          <a:prstGeom prst="rightBrace">
            <a:avLst/>
          </a:prstGeom>
          <a:ln w="38100"/>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zh-CN" altLang="en-US"/>
          </a:p>
        </p:txBody>
      </p:sp>
      <p:sp>
        <p:nvSpPr>
          <p:cNvPr id="1035" name="矩形 17">
            <a:extLst>
              <a:ext uri="{FF2B5EF4-FFF2-40B4-BE49-F238E27FC236}">
                <a16:creationId xmlns:a16="http://schemas.microsoft.com/office/drawing/2014/main" id="{A8B0B3CA-C0B2-4FA6-9729-BCC4435BAF2E}"/>
              </a:ext>
            </a:extLst>
          </p:cNvPr>
          <p:cNvSpPr>
            <a:spLocks noChangeArrowheads="1"/>
          </p:cNvSpPr>
          <p:nvPr/>
        </p:nvSpPr>
        <p:spPr bwMode="auto">
          <a:xfrm>
            <a:off x="5286375" y="2428875"/>
            <a:ext cx="1014413" cy="523875"/>
          </a:xfrm>
          <a:prstGeom prst="rect">
            <a:avLst/>
          </a:prstGeom>
          <a:noFill/>
          <a:ln w="28575">
            <a:solidFill>
              <a:srgbClr val="FFC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b="1">
                <a:latin typeface="Times New Roman" panose="02020603050405020304" pitchFamily="18" charset="0"/>
                <a:cs typeface="Times New Roman" panose="02020603050405020304" pitchFamily="18" charset="0"/>
              </a:rPr>
              <a:t>核子</a:t>
            </a:r>
            <a:endParaRPr lang="zh-CN" altLang="en-US" sz="1800"/>
          </a:p>
        </p:txBody>
      </p:sp>
      <p:sp>
        <p:nvSpPr>
          <p:cNvPr id="19" name="TextBox 18">
            <a:extLst>
              <a:ext uri="{FF2B5EF4-FFF2-40B4-BE49-F238E27FC236}">
                <a16:creationId xmlns:a16="http://schemas.microsoft.com/office/drawing/2014/main" id="{125D7F92-E367-44D3-9ED2-CB341A0BD73B}"/>
              </a:ext>
            </a:extLst>
          </p:cNvPr>
          <p:cNvSpPr txBox="1">
            <a:spLocks noChangeArrowheads="1"/>
          </p:cNvSpPr>
          <p:nvPr/>
        </p:nvSpPr>
        <p:spPr bwMode="auto">
          <a:xfrm>
            <a:off x="571500" y="3687763"/>
            <a:ext cx="7786688" cy="1373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 typeface="Wingdings" panose="05000000000000000000" pitchFamily="2" charset="2"/>
              <a:buChar char="Ø"/>
            </a:pPr>
            <a:r>
              <a:rPr lang="zh-CN" altLang="en-US" sz="2800" b="1">
                <a:latin typeface="Times New Roman" panose="02020603050405020304" pitchFamily="18" charset="0"/>
                <a:cs typeface="Times New Roman" panose="02020603050405020304" pitchFamily="18" charset="0"/>
              </a:rPr>
              <a:t>   </a:t>
            </a:r>
            <a:r>
              <a:rPr lang="zh-CN" altLang="en-US" sz="2800" b="1">
                <a:solidFill>
                  <a:srgbClr val="202AF4"/>
                </a:solidFill>
                <a:latin typeface="Times New Roman" panose="02020603050405020304" pitchFamily="18" charset="0"/>
                <a:cs typeface="Times New Roman" panose="02020603050405020304" pitchFamily="18" charset="0"/>
              </a:rPr>
              <a:t>核子数</a:t>
            </a:r>
            <a:r>
              <a:rPr lang="zh-CN" altLang="en-US" sz="2800" b="1">
                <a:latin typeface="Times New Roman" panose="02020603050405020304" pitchFamily="18" charset="0"/>
                <a:cs typeface="Times New Roman" panose="02020603050405020304" pitchFamily="18" charset="0"/>
              </a:rPr>
              <a:t>（</a:t>
            </a:r>
            <a:r>
              <a:rPr lang="zh-CN" altLang="en-US" sz="2800" b="1">
                <a:solidFill>
                  <a:srgbClr val="202AF4"/>
                </a:solidFill>
                <a:latin typeface="Times New Roman" panose="02020603050405020304" pitchFamily="18" charset="0"/>
                <a:cs typeface="Times New Roman" panose="02020603050405020304" pitchFamily="18" charset="0"/>
              </a:rPr>
              <a:t>质量数</a:t>
            </a:r>
            <a:r>
              <a:rPr lang="en-US" altLang="zh-CN" sz="2800" b="1">
                <a:solidFill>
                  <a:srgbClr val="202AF4"/>
                </a:solidFill>
                <a:latin typeface="Times New Roman" panose="02020603050405020304" pitchFamily="18" charset="0"/>
                <a:cs typeface="Times New Roman" panose="02020603050405020304" pitchFamily="18" charset="0"/>
              </a:rPr>
              <a:t>A</a:t>
            </a:r>
            <a:r>
              <a:rPr lang="zh-CN" altLang="en-US" sz="2800" b="1">
                <a:latin typeface="Times New Roman" panose="02020603050405020304" pitchFamily="18" charset="0"/>
                <a:cs typeface="Times New Roman" panose="02020603050405020304" pitchFamily="18" charset="0"/>
              </a:rPr>
              <a:t>），实验发现原子核的体积 总是正比于其质量数</a:t>
            </a:r>
            <a:r>
              <a:rPr lang="en-US" altLang="zh-CN" sz="2800" b="1">
                <a:latin typeface="Times New Roman" panose="02020603050405020304" pitchFamily="18" charset="0"/>
                <a:cs typeface="Times New Roman" panose="02020603050405020304" pitchFamily="18" charset="0"/>
              </a:rPr>
              <a:t>A </a:t>
            </a:r>
            <a:r>
              <a:rPr lang="zh-CN" altLang="en-US" sz="2800" b="1">
                <a:latin typeface="Times New Roman" panose="02020603050405020304" pitchFamily="18" charset="0"/>
                <a:cs typeface="Times New Roman" panose="02020603050405020304" pitchFamily="18" charset="0"/>
              </a:rPr>
              <a:t>。如果把原子核看成球体，其</a:t>
            </a:r>
            <a:r>
              <a:rPr lang="zh-CN" altLang="en-US" sz="2800" b="1">
                <a:solidFill>
                  <a:srgbClr val="202AF4"/>
                </a:solidFill>
                <a:latin typeface="Times New Roman" panose="02020603050405020304" pitchFamily="18" charset="0"/>
                <a:cs typeface="Times New Roman" panose="02020603050405020304" pitchFamily="18" charset="0"/>
              </a:rPr>
              <a:t>半径</a:t>
            </a:r>
            <a:r>
              <a:rPr lang="en-US" altLang="zh-CN" sz="2800" b="1">
                <a:solidFill>
                  <a:srgbClr val="202AF4"/>
                </a:solidFill>
                <a:latin typeface="Times New Roman" panose="02020603050405020304" pitchFamily="18" charset="0"/>
                <a:cs typeface="Times New Roman" panose="02020603050405020304" pitchFamily="18" charset="0"/>
              </a:rPr>
              <a:t>R</a:t>
            </a:r>
            <a:r>
              <a:rPr lang="zh-CN" altLang="en-US" sz="2800" b="1">
                <a:solidFill>
                  <a:srgbClr val="202AF4"/>
                </a:solidFill>
                <a:latin typeface="Times New Roman" panose="02020603050405020304" pitchFamily="18" charset="0"/>
                <a:cs typeface="Times New Roman" panose="02020603050405020304" pitchFamily="18" charset="0"/>
              </a:rPr>
              <a:t>和质量数</a:t>
            </a:r>
            <a:r>
              <a:rPr lang="en-US" altLang="zh-CN" sz="2800" b="1">
                <a:solidFill>
                  <a:srgbClr val="202AF4"/>
                </a:solidFill>
                <a:latin typeface="Times New Roman" panose="02020603050405020304" pitchFamily="18" charset="0"/>
                <a:cs typeface="Times New Roman" panose="02020603050405020304" pitchFamily="18" charset="0"/>
              </a:rPr>
              <a:t>A</a:t>
            </a:r>
            <a:r>
              <a:rPr lang="zh-CN" altLang="en-US" sz="2800" b="1">
                <a:latin typeface="Times New Roman" panose="02020603050405020304" pitchFamily="18" charset="0"/>
                <a:cs typeface="Times New Roman" panose="02020603050405020304" pitchFamily="18" charset="0"/>
              </a:rPr>
              <a:t>的关系为：</a:t>
            </a:r>
          </a:p>
        </p:txBody>
      </p:sp>
      <p:graphicFrame>
        <p:nvGraphicFramePr>
          <p:cNvPr id="16395" name="Object 11">
            <a:extLst>
              <a:ext uri="{FF2B5EF4-FFF2-40B4-BE49-F238E27FC236}">
                <a16:creationId xmlns:a16="http://schemas.microsoft.com/office/drawing/2014/main" id="{1FAFE36E-8B7F-48C1-803A-D30D37AFDD30}"/>
              </a:ext>
            </a:extLst>
          </p:cNvPr>
          <p:cNvGraphicFramePr>
            <a:graphicFrameLocks noChangeAspect="1"/>
          </p:cNvGraphicFramePr>
          <p:nvPr/>
        </p:nvGraphicFramePr>
        <p:xfrm>
          <a:off x="2803525" y="5260975"/>
          <a:ext cx="2286000" cy="688975"/>
        </p:xfrm>
        <a:graphic>
          <a:graphicData uri="http://schemas.openxmlformats.org/presentationml/2006/ole">
            <mc:AlternateContent xmlns:mc="http://schemas.openxmlformats.org/markup-compatibility/2006">
              <mc:Choice xmlns:v="urn:schemas-microsoft-com:vml" Requires="v">
                <p:oleObj spid="_x0000_s5137" name="Equation" r:id="rId4" imgW="799753" imgH="241195" progId="Equation.DSMT4">
                  <p:embed/>
                </p:oleObj>
              </mc:Choice>
              <mc:Fallback>
                <p:oleObj name="Equation" r:id="rId4" imgW="799753" imgH="241195" progId="Equation.DSMT4">
                  <p:embed/>
                  <p:pic>
                    <p:nvPicPr>
                      <p:cNvPr id="0" name="Object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03525" y="5260975"/>
                        <a:ext cx="2286000" cy="688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 name="TextBox 21">
            <a:extLst>
              <a:ext uri="{FF2B5EF4-FFF2-40B4-BE49-F238E27FC236}">
                <a16:creationId xmlns:a16="http://schemas.microsoft.com/office/drawing/2014/main" id="{F4E04731-7496-453E-97C8-8BEC326B58CA}"/>
              </a:ext>
            </a:extLst>
          </p:cNvPr>
          <p:cNvSpPr txBox="1"/>
          <p:nvPr/>
        </p:nvSpPr>
        <p:spPr>
          <a:xfrm>
            <a:off x="642938" y="6072188"/>
            <a:ext cx="6429375" cy="519112"/>
          </a:xfrm>
          <a:prstGeom prst="rect">
            <a:avLst/>
          </a:prstGeom>
          <a:noFill/>
        </p:spPr>
        <p:txBody>
          <a:bodyPr>
            <a:spAutoFit/>
          </a:bodyPr>
          <a:lstStyle/>
          <a:p>
            <a:pPr eaLnBrk="1" hangingPunct="1">
              <a:buFont typeface="Wingdings" pitchFamily="2" charset="2"/>
              <a:buChar char="Ø"/>
              <a:defRPr/>
            </a:pPr>
            <a:r>
              <a:rPr lang="zh-CN" altLang="en-US" sz="2800" b="1" dirty="0">
                <a:latin typeface="Times New Roman" pitchFamily="18" charset="0"/>
                <a:ea typeface="+mn-ea"/>
                <a:cs typeface="Times New Roman" pitchFamily="18" charset="0"/>
              </a:rPr>
              <a:t>  原子核密度：</a:t>
            </a:r>
            <a:r>
              <a:rPr lang="en-US" altLang="zh-CN" sz="2800" b="1" dirty="0">
                <a:solidFill>
                  <a:srgbClr val="FF0000"/>
                </a:solidFill>
                <a:latin typeface="Times New Roman" pitchFamily="18" charset="0"/>
                <a:ea typeface="+mn-ea"/>
                <a:cs typeface="Times New Roman" pitchFamily="18" charset="0"/>
              </a:rPr>
              <a:t>ρ</a:t>
            </a:r>
            <a:r>
              <a:rPr lang="zh-CN" altLang="en-US" sz="2800" b="1" dirty="0">
                <a:solidFill>
                  <a:srgbClr val="FF0000"/>
                </a:solidFill>
                <a:latin typeface="Times New Roman" pitchFamily="18" charset="0"/>
                <a:ea typeface="+mn-ea"/>
                <a:cs typeface="Times New Roman" pitchFamily="18" charset="0"/>
              </a:rPr>
              <a:t>＝</a:t>
            </a:r>
            <a:r>
              <a:rPr lang="en-US" altLang="zh-CN" sz="2800" b="1" dirty="0">
                <a:solidFill>
                  <a:srgbClr val="FF0000"/>
                </a:solidFill>
                <a:latin typeface="Times New Roman" pitchFamily="18" charset="0"/>
                <a:ea typeface="+mn-ea"/>
                <a:cs typeface="Times New Roman" pitchFamily="18" charset="0"/>
              </a:rPr>
              <a:t>2.29×10</a:t>
            </a:r>
            <a:r>
              <a:rPr lang="en-US" altLang="zh-CN" sz="2800" b="1" baseline="30000" dirty="0">
                <a:solidFill>
                  <a:srgbClr val="FF0000"/>
                </a:solidFill>
                <a:latin typeface="Times New Roman" pitchFamily="18" charset="0"/>
                <a:ea typeface="+mn-ea"/>
                <a:cs typeface="Times New Roman" pitchFamily="18" charset="0"/>
              </a:rPr>
              <a:t>17</a:t>
            </a:r>
            <a:r>
              <a:rPr lang="en-US" altLang="zh-CN" sz="2800" b="1" dirty="0">
                <a:solidFill>
                  <a:srgbClr val="FF0000"/>
                </a:solidFill>
                <a:latin typeface="Times New Roman" pitchFamily="18" charset="0"/>
                <a:ea typeface="+mn-ea"/>
                <a:cs typeface="Times New Roman" pitchFamily="18" charset="0"/>
              </a:rPr>
              <a:t> </a:t>
            </a:r>
            <a:r>
              <a:rPr lang="en-US" altLang="zh-CN" sz="2800" b="1" dirty="0" err="1">
                <a:solidFill>
                  <a:srgbClr val="FF0000"/>
                </a:solidFill>
                <a:latin typeface="Times New Roman" pitchFamily="18" charset="0"/>
                <a:ea typeface="+mn-ea"/>
                <a:cs typeface="Times New Roman" pitchFamily="18" charset="0"/>
              </a:rPr>
              <a:t>kg·m</a:t>
            </a:r>
            <a:r>
              <a:rPr lang="zh-CN" altLang="en-US" sz="2800" b="1" baseline="30000" dirty="0">
                <a:solidFill>
                  <a:srgbClr val="FF0000"/>
                </a:solidFill>
                <a:latin typeface="Times New Roman" pitchFamily="18" charset="0"/>
                <a:ea typeface="+mn-ea"/>
                <a:cs typeface="Times New Roman" pitchFamily="18" charset="0"/>
              </a:rPr>
              <a:t>－</a:t>
            </a:r>
            <a:r>
              <a:rPr lang="en-US" altLang="zh-CN" sz="2800" b="1" baseline="30000" dirty="0">
                <a:solidFill>
                  <a:srgbClr val="FF0000"/>
                </a:solidFill>
                <a:latin typeface="Times New Roman" pitchFamily="18" charset="0"/>
                <a:ea typeface="+mn-ea"/>
                <a:cs typeface="Times New Roman" pitchFamily="18" charset="0"/>
              </a:rPr>
              <a:t>3</a:t>
            </a:r>
            <a:endParaRPr lang="zh-CN" altLang="en-US" sz="2800" b="1" dirty="0">
              <a:solidFill>
                <a:srgbClr val="FF0000"/>
              </a:solidFill>
              <a:latin typeface="Times New Roman" pitchFamily="18" charset="0"/>
              <a:ea typeface="+mn-ea"/>
              <a:cs typeface="Times New Roman" pitchFamily="18" charset="0"/>
            </a:endParaRPr>
          </a:p>
        </p:txBody>
      </p:sp>
      <p:sp>
        <p:nvSpPr>
          <p:cNvPr id="1038" name="矩形 22">
            <a:extLst>
              <a:ext uri="{FF2B5EF4-FFF2-40B4-BE49-F238E27FC236}">
                <a16:creationId xmlns:a16="http://schemas.microsoft.com/office/drawing/2014/main" id="{B311C930-035A-4294-A007-304D86044906}"/>
              </a:ext>
            </a:extLst>
          </p:cNvPr>
          <p:cNvSpPr>
            <a:spLocks noChangeArrowheads="1"/>
          </p:cNvSpPr>
          <p:nvPr/>
        </p:nvSpPr>
        <p:spPr bwMode="auto">
          <a:xfrm>
            <a:off x="5500688" y="5300663"/>
            <a:ext cx="3224212" cy="528637"/>
          </a:xfrm>
          <a:prstGeom prst="rect">
            <a:avLst/>
          </a:prstGeom>
          <a:noFill/>
          <a:ln w="9525">
            <a:solidFill>
              <a:srgbClr val="FFC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b="1">
                <a:latin typeface="Times New Roman" panose="02020603050405020304" pitchFamily="18" charset="0"/>
                <a:cs typeface="Times New Roman" panose="02020603050405020304" pitchFamily="18" charset="0"/>
              </a:rPr>
              <a:t>R</a:t>
            </a:r>
            <a:r>
              <a:rPr lang="en-US" altLang="zh-CN" sz="2800" b="1" baseline="-30000">
                <a:latin typeface="Times New Roman" panose="02020603050405020304" pitchFamily="18" charset="0"/>
                <a:cs typeface="Times New Roman" panose="02020603050405020304" pitchFamily="18" charset="0"/>
              </a:rPr>
              <a:t>0</a:t>
            </a:r>
            <a:r>
              <a:rPr lang="zh-CN" altLang="en-US" sz="2800" b="1">
                <a:latin typeface="Times New Roman" panose="02020603050405020304" pitchFamily="18" charset="0"/>
                <a:cs typeface="Times New Roman" panose="02020603050405020304" pitchFamily="18" charset="0"/>
              </a:rPr>
              <a:t>＝</a:t>
            </a:r>
            <a:r>
              <a:rPr lang="en-US" altLang="zh-CN" sz="2800" b="1">
                <a:latin typeface="Times New Roman" panose="02020603050405020304" pitchFamily="18" charset="0"/>
                <a:cs typeface="Times New Roman" panose="02020603050405020304" pitchFamily="18" charset="0"/>
              </a:rPr>
              <a:t>1.20×10</a:t>
            </a:r>
            <a:r>
              <a:rPr lang="zh-CN" altLang="en-US" sz="2800" b="1" baseline="30000">
                <a:latin typeface="Times New Roman" panose="02020603050405020304" pitchFamily="18" charset="0"/>
                <a:cs typeface="Times New Roman" panose="02020603050405020304" pitchFamily="18" charset="0"/>
              </a:rPr>
              <a:t>－</a:t>
            </a:r>
            <a:r>
              <a:rPr lang="en-US" altLang="zh-CN" sz="2800" b="1" baseline="30000">
                <a:latin typeface="Times New Roman" panose="02020603050405020304" pitchFamily="18" charset="0"/>
                <a:cs typeface="Times New Roman" panose="02020603050405020304" pitchFamily="18" charset="0"/>
              </a:rPr>
              <a:t>15</a:t>
            </a:r>
            <a:r>
              <a:rPr lang="en-US" altLang="zh-CN" sz="2800" b="1">
                <a:latin typeface="Times New Roman" panose="02020603050405020304" pitchFamily="18" charset="0"/>
                <a:cs typeface="Times New Roman" panose="02020603050405020304" pitchFamily="18" charset="0"/>
              </a:rPr>
              <a:t>  m</a:t>
            </a:r>
            <a:endParaRPr lang="zh-CN" altLang="en-US" sz="18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2067"/>
                                        </p:tgtEl>
                                        <p:attrNameLst>
                                          <p:attrName>style.visibility</p:attrName>
                                        </p:attrNameLst>
                                      </p:cBhvr>
                                      <p:to>
                                        <p:strVal val="visible"/>
                                      </p:to>
                                    </p:set>
                                    <p:anim calcmode="lin" valueType="num">
                                      <p:cBhvr>
                                        <p:cTn id="7" dur="500" fill="hold"/>
                                        <p:tgtEl>
                                          <p:spTgt spid="2067"/>
                                        </p:tgtEl>
                                        <p:attrNameLst>
                                          <p:attrName>ppt_w</p:attrName>
                                        </p:attrNameLst>
                                      </p:cBhvr>
                                      <p:tavLst>
                                        <p:tav tm="0">
                                          <p:val>
                                            <p:fltVal val="0"/>
                                          </p:val>
                                        </p:tav>
                                        <p:tav tm="100000">
                                          <p:val>
                                            <p:strVal val="#ppt_w"/>
                                          </p:val>
                                        </p:tav>
                                      </p:tavLst>
                                    </p:anim>
                                    <p:anim calcmode="lin" valueType="num">
                                      <p:cBhvr>
                                        <p:cTn id="8" dur="500" fill="hold"/>
                                        <p:tgtEl>
                                          <p:spTgt spid="2067"/>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2053"/>
                                        </p:tgtEl>
                                        <p:attrNameLst>
                                          <p:attrName>style.visibility</p:attrName>
                                        </p:attrNameLst>
                                      </p:cBhvr>
                                      <p:to>
                                        <p:strVal val="visible"/>
                                      </p:to>
                                    </p:set>
                                    <p:animEffect transition="in" filter="wipe(left)">
                                      <p:cBhvr>
                                        <p:cTn id="13" dur="500"/>
                                        <p:tgtEl>
                                          <p:spTgt spid="2053"/>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1030"/>
                                        </p:tgtEl>
                                        <p:attrNameLst>
                                          <p:attrName>style.visibility</p:attrName>
                                        </p:attrNameLst>
                                      </p:cBhvr>
                                      <p:to>
                                        <p:strVal val="visible"/>
                                      </p:to>
                                    </p:set>
                                    <p:animEffect transition="in" filter="blinds(horizontal)">
                                      <p:cBhvr>
                                        <p:cTn id="18" dur="500"/>
                                        <p:tgtEl>
                                          <p:spTgt spid="1030"/>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1033"/>
                                        </p:tgtEl>
                                        <p:attrNameLst>
                                          <p:attrName>style.visibility</p:attrName>
                                        </p:attrNameLst>
                                      </p:cBhvr>
                                      <p:to>
                                        <p:strVal val="visible"/>
                                      </p:to>
                                    </p:set>
                                    <p:animEffect transition="in" filter="blinds(horizontal)">
                                      <p:cBhvr>
                                        <p:cTn id="23" dur="500"/>
                                        <p:tgtEl>
                                          <p:spTgt spid="1033"/>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1031"/>
                                        </p:tgtEl>
                                        <p:attrNameLst>
                                          <p:attrName>style.visibility</p:attrName>
                                        </p:attrNameLst>
                                      </p:cBhvr>
                                      <p:to>
                                        <p:strVal val="visible"/>
                                      </p:to>
                                    </p:set>
                                    <p:animEffect transition="in" filter="blinds(horizontal)">
                                      <p:cBhvr>
                                        <p:cTn id="26" dur="500"/>
                                        <p:tgtEl>
                                          <p:spTgt spid="1031"/>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1032"/>
                                        </p:tgtEl>
                                        <p:attrNameLst>
                                          <p:attrName>style.visibility</p:attrName>
                                        </p:attrNameLst>
                                      </p:cBhvr>
                                      <p:to>
                                        <p:strVal val="visible"/>
                                      </p:to>
                                    </p:set>
                                    <p:animEffect transition="in" filter="blinds(horizontal)">
                                      <p:cBhvr>
                                        <p:cTn id="31" dur="500"/>
                                        <p:tgtEl>
                                          <p:spTgt spid="1032"/>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17"/>
                                        </p:tgtEl>
                                        <p:attrNameLst>
                                          <p:attrName>style.visibility</p:attrName>
                                        </p:attrNameLst>
                                      </p:cBhvr>
                                      <p:to>
                                        <p:strVal val="visible"/>
                                      </p:to>
                                    </p:set>
                                    <p:anim calcmode="lin" valueType="num">
                                      <p:cBhvr additive="base">
                                        <p:cTn id="36" dur="500" fill="hold"/>
                                        <p:tgtEl>
                                          <p:spTgt spid="17"/>
                                        </p:tgtEl>
                                        <p:attrNameLst>
                                          <p:attrName>ppt_x</p:attrName>
                                        </p:attrNameLst>
                                      </p:cBhvr>
                                      <p:tavLst>
                                        <p:tav tm="0">
                                          <p:val>
                                            <p:strVal val="#ppt_x"/>
                                          </p:val>
                                        </p:tav>
                                        <p:tav tm="100000">
                                          <p:val>
                                            <p:strVal val="#ppt_x"/>
                                          </p:val>
                                        </p:tav>
                                      </p:tavLst>
                                    </p:anim>
                                    <p:anim calcmode="lin" valueType="num">
                                      <p:cBhvr additive="base">
                                        <p:cTn id="37" dur="500" fill="hold"/>
                                        <p:tgtEl>
                                          <p:spTgt spid="17"/>
                                        </p:tgtEl>
                                        <p:attrNameLst>
                                          <p:attrName>ppt_y</p:attrName>
                                        </p:attrNameLst>
                                      </p:cBhvr>
                                      <p:tavLst>
                                        <p:tav tm="0">
                                          <p:val>
                                            <p:strVal val="1+#ppt_h/2"/>
                                          </p:val>
                                        </p:tav>
                                        <p:tav tm="100000">
                                          <p:val>
                                            <p:strVal val="#ppt_y"/>
                                          </p:val>
                                        </p:tav>
                                      </p:tavLst>
                                    </p:anim>
                                  </p:childTnLst>
                                </p:cTn>
                              </p:par>
                              <p:par>
                                <p:cTn id="38" presetID="2" presetClass="entr" presetSubtype="4" fill="hold" grpId="0" nodeType="withEffect">
                                  <p:stCondLst>
                                    <p:cond delay="0"/>
                                  </p:stCondLst>
                                  <p:childTnLst>
                                    <p:set>
                                      <p:cBhvr>
                                        <p:cTn id="39" dur="1" fill="hold">
                                          <p:stCondLst>
                                            <p:cond delay="0"/>
                                          </p:stCondLst>
                                        </p:cTn>
                                        <p:tgtEl>
                                          <p:spTgt spid="1035"/>
                                        </p:tgtEl>
                                        <p:attrNameLst>
                                          <p:attrName>style.visibility</p:attrName>
                                        </p:attrNameLst>
                                      </p:cBhvr>
                                      <p:to>
                                        <p:strVal val="visible"/>
                                      </p:to>
                                    </p:set>
                                    <p:anim calcmode="lin" valueType="num">
                                      <p:cBhvr additive="base">
                                        <p:cTn id="40" dur="500" fill="hold"/>
                                        <p:tgtEl>
                                          <p:spTgt spid="1035"/>
                                        </p:tgtEl>
                                        <p:attrNameLst>
                                          <p:attrName>ppt_x</p:attrName>
                                        </p:attrNameLst>
                                      </p:cBhvr>
                                      <p:tavLst>
                                        <p:tav tm="0">
                                          <p:val>
                                            <p:strVal val="#ppt_x"/>
                                          </p:val>
                                        </p:tav>
                                        <p:tav tm="100000">
                                          <p:val>
                                            <p:strVal val="#ppt_x"/>
                                          </p:val>
                                        </p:tav>
                                      </p:tavLst>
                                    </p:anim>
                                    <p:anim calcmode="lin" valueType="num">
                                      <p:cBhvr additive="base">
                                        <p:cTn id="41" dur="500" fill="hold"/>
                                        <p:tgtEl>
                                          <p:spTgt spid="1035"/>
                                        </p:tgtEl>
                                        <p:attrNameLst>
                                          <p:attrName>ppt_y</p:attrName>
                                        </p:attrNameLst>
                                      </p:cBhvr>
                                      <p:tavLst>
                                        <p:tav tm="0">
                                          <p:val>
                                            <p:strVal val="1+#ppt_h/2"/>
                                          </p:val>
                                        </p:tav>
                                        <p:tav tm="100000">
                                          <p:val>
                                            <p:strVal val="#ppt_y"/>
                                          </p:val>
                                        </p:tav>
                                      </p:tavLst>
                                    </p:anim>
                                  </p:childTnLst>
                                </p:cTn>
                              </p:par>
                            </p:childTnLst>
                          </p:cTn>
                        </p:par>
                      </p:childTnLst>
                    </p:cTn>
                  </p:par>
                  <p:par>
                    <p:cTn id="42" fill="hold" nodeType="clickPar">
                      <p:stCondLst>
                        <p:cond delay="indefinite"/>
                      </p:stCondLst>
                      <p:childTnLst>
                        <p:par>
                          <p:cTn id="43" fill="hold" nodeType="withGroup">
                            <p:stCondLst>
                              <p:cond delay="0"/>
                            </p:stCondLst>
                            <p:childTnLst>
                              <p:par>
                                <p:cTn id="44" presetID="2" presetClass="entr" presetSubtype="4" fill="hold" grpId="0" nodeType="clickEffect">
                                  <p:stCondLst>
                                    <p:cond delay="0"/>
                                  </p:stCondLst>
                                  <p:childTnLst>
                                    <p:set>
                                      <p:cBhvr>
                                        <p:cTn id="45" dur="1" fill="hold">
                                          <p:stCondLst>
                                            <p:cond delay="0"/>
                                          </p:stCondLst>
                                        </p:cTn>
                                        <p:tgtEl>
                                          <p:spTgt spid="19"/>
                                        </p:tgtEl>
                                        <p:attrNameLst>
                                          <p:attrName>style.visibility</p:attrName>
                                        </p:attrNameLst>
                                      </p:cBhvr>
                                      <p:to>
                                        <p:strVal val="visible"/>
                                      </p:to>
                                    </p:set>
                                    <p:anim calcmode="lin" valueType="num">
                                      <p:cBhvr additive="base">
                                        <p:cTn id="46" dur="500" fill="hold"/>
                                        <p:tgtEl>
                                          <p:spTgt spid="19"/>
                                        </p:tgtEl>
                                        <p:attrNameLst>
                                          <p:attrName>ppt_x</p:attrName>
                                        </p:attrNameLst>
                                      </p:cBhvr>
                                      <p:tavLst>
                                        <p:tav tm="0">
                                          <p:val>
                                            <p:strVal val="#ppt_x"/>
                                          </p:val>
                                        </p:tav>
                                        <p:tav tm="100000">
                                          <p:val>
                                            <p:strVal val="#ppt_x"/>
                                          </p:val>
                                        </p:tav>
                                      </p:tavLst>
                                    </p:anim>
                                    <p:anim calcmode="lin" valueType="num">
                                      <p:cBhvr additive="base">
                                        <p:cTn id="47"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10" fill="hold" nodeType="clickEffect">
                                  <p:stCondLst>
                                    <p:cond delay="0"/>
                                  </p:stCondLst>
                                  <p:childTnLst>
                                    <p:set>
                                      <p:cBhvr>
                                        <p:cTn id="51" dur="1" fill="hold">
                                          <p:stCondLst>
                                            <p:cond delay="0"/>
                                          </p:stCondLst>
                                        </p:cTn>
                                        <p:tgtEl>
                                          <p:spTgt spid="16395"/>
                                        </p:tgtEl>
                                        <p:attrNameLst>
                                          <p:attrName>style.visibility</p:attrName>
                                        </p:attrNameLst>
                                      </p:cBhvr>
                                      <p:to>
                                        <p:strVal val="visible"/>
                                      </p:to>
                                    </p:set>
                                    <p:animEffect transition="in" filter="blinds(horizontal)">
                                      <p:cBhvr>
                                        <p:cTn id="52" dur="500"/>
                                        <p:tgtEl>
                                          <p:spTgt spid="16395"/>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1038"/>
                                        </p:tgtEl>
                                        <p:attrNameLst>
                                          <p:attrName>style.visibility</p:attrName>
                                        </p:attrNameLst>
                                      </p:cBhvr>
                                      <p:to>
                                        <p:strVal val="visible"/>
                                      </p:to>
                                    </p:set>
                                    <p:animEffect transition="in" filter="blinds(horizontal)">
                                      <p:cBhvr>
                                        <p:cTn id="57" dur="500"/>
                                        <p:tgtEl>
                                          <p:spTgt spid="1038"/>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22"/>
                                        </p:tgtEl>
                                        <p:attrNameLst>
                                          <p:attrName>style.visibility</p:attrName>
                                        </p:attrNameLst>
                                      </p:cBhvr>
                                      <p:to>
                                        <p:strVal val="visible"/>
                                      </p:to>
                                    </p:set>
                                    <p:animEffect transition="in" filter="blinds(horizontal)">
                                      <p:cBhvr>
                                        <p:cTn id="62"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3" grpId="0" autoUpdateAnimBg="0"/>
      <p:bldP spid="2067" grpId="0" autoUpdateAnimBg="0"/>
      <p:bldP spid="1030" grpId="0" animBg="1"/>
      <p:bldP spid="1031" grpId="0" animBg="1"/>
      <p:bldP spid="1032" grpId="0" animBg="1"/>
      <p:bldP spid="1033" grpId="0"/>
      <p:bldP spid="17" grpId="0" animBg="1"/>
      <p:bldP spid="1035" grpId="0" animBg="1"/>
      <p:bldP spid="19" grpId="0"/>
      <p:bldP spid="22" grpId="0"/>
      <p:bldP spid="103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20">
            <a:extLst>
              <a:ext uri="{FF2B5EF4-FFF2-40B4-BE49-F238E27FC236}">
                <a16:creationId xmlns:a16="http://schemas.microsoft.com/office/drawing/2014/main" id="{CEA8B951-F949-47A7-92C2-FE845FE1A196}"/>
              </a:ext>
            </a:extLst>
          </p:cNvPr>
          <p:cNvSpPr txBox="1">
            <a:spLocks noChangeArrowheads="1"/>
          </p:cNvSpPr>
          <p:nvPr/>
        </p:nvSpPr>
        <p:spPr bwMode="auto">
          <a:xfrm>
            <a:off x="8772525" y="6400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1">
                <a:latin typeface="Times New Roman" panose="02020603050405020304" pitchFamily="18" charset="0"/>
              </a:rPr>
              <a:t>2</a:t>
            </a:r>
            <a:endParaRPr lang="en-US" altLang="zh-CN" sz="1800"/>
          </a:p>
        </p:txBody>
      </p:sp>
      <p:sp>
        <p:nvSpPr>
          <p:cNvPr id="12" name="Text Box 5">
            <a:extLst>
              <a:ext uri="{FF2B5EF4-FFF2-40B4-BE49-F238E27FC236}">
                <a16:creationId xmlns:a16="http://schemas.microsoft.com/office/drawing/2014/main" id="{099A45CD-8411-4C10-A070-1D16C5274B70}"/>
              </a:ext>
            </a:extLst>
          </p:cNvPr>
          <p:cNvSpPr txBox="1">
            <a:spLocks noChangeArrowheads="1"/>
          </p:cNvSpPr>
          <p:nvPr/>
        </p:nvSpPr>
        <p:spPr bwMode="auto">
          <a:xfrm>
            <a:off x="142875" y="190500"/>
            <a:ext cx="43656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b="1">
                <a:solidFill>
                  <a:srgbClr val="202AF4"/>
                </a:solidFill>
                <a:latin typeface="Times New Roman" panose="02020603050405020304" pitchFamily="18" charset="0"/>
                <a:cs typeface="Times New Roman" panose="02020603050405020304" pitchFamily="18" charset="0"/>
              </a:rPr>
              <a:t>1.2 </a:t>
            </a:r>
            <a:r>
              <a:rPr lang="zh-CN" altLang="en-US" sz="2800" b="1">
                <a:solidFill>
                  <a:srgbClr val="202AF4"/>
                </a:solidFill>
                <a:latin typeface="Times New Roman" panose="02020603050405020304" pitchFamily="18" charset="0"/>
                <a:cs typeface="Times New Roman" panose="02020603050405020304" pitchFamily="18" charset="0"/>
              </a:rPr>
              <a:t>原子核的电荷与质量</a:t>
            </a:r>
          </a:p>
        </p:txBody>
      </p:sp>
      <p:sp>
        <p:nvSpPr>
          <p:cNvPr id="13" name="Rectangle 671">
            <a:extLst>
              <a:ext uri="{FF2B5EF4-FFF2-40B4-BE49-F238E27FC236}">
                <a16:creationId xmlns:a16="http://schemas.microsoft.com/office/drawing/2014/main" id="{E923292B-0BAC-4477-AC64-69767C0589D6}"/>
              </a:ext>
            </a:extLst>
          </p:cNvPr>
          <p:cNvSpPr>
            <a:spLocks noChangeArrowheads="1"/>
          </p:cNvSpPr>
          <p:nvPr/>
        </p:nvSpPr>
        <p:spPr bwMode="auto">
          <a:xfrm>
            <a:off x="714375" y="692150"/>
            <a:ext cx="6819900" cy="1384300"/>
          </a:xfrm>
          <a:prstGeom prst="rect">
            <a:avLst/>
          </a:prstGeom>
          <a:noFill/>
          <a:ln w="9525">
            <a:noFill/>
            <a:miter lim="800000"/>
            <a:headEnd/>
            <a:tailEnd/>
          </a:ln>
          <a:effectLst/>
        </p:spPr>
        <p:txBody>
          <a:bodyPr>
            <a:spAutoFit/>
          </a:bodyPr>
          <a:lstStyle/>
          <a:p>
            <a:pPr eaLnBrk="1" hangingPunct="1">
              <a:lnSpc>
                <a:spcPct val="150000"/>
              </a:lnSpc>
              <a:defRPr/>
            </a:pPr>
            <a:r>
              <a:rPr lang="zh-CN" altLang="en-US" sz="2800" b="1" dirty="0">
                <a:solidFill>
                  <a:srgbClr val="202AF4"/>
                </a:solidFill>
                <a:latin typeface="Times New Roman" panose="02020603050405020304" pitchFamily="18" charset="0"/>
                <a:cs typeface="Times New Roman" panose="02020603050405020304" pitchFamily="18" charset="0"/>
              </a:rPr>
              <a:t>质子</a:t>
            </a:r>
            <a:r>
              <a:rPr lang="en-US" altLang="zh-CN" sz="2800" b="1" dirty="0">
                <a:solidFill>
                  <a:srgbClr val="202AF4"/>
                </a:solidFill>
                <a:latin typeface="Times New Roman" panose="02020603050405020304" pitchFamily="18" charset="0"/>
                <a:cs typeface="Times New Roman" panose="02020603050405020304" pitchFamily="18" charset="0"/>
              </a:rPr>
              <a:t>(p)</a:t>
            </a:r>
            <a:r>
              <a:rPr lang="zh-CN" altLang="en-US" sz="2800" b="1" dirty="0">
                <a:latin typeface="Times New Roman" pitchFamily="18" charset="0"/>
                <a:ea typeface="+mn-ea"/>
                <a:cs typeface="Times New Roman" pitchFamily="18" charset="0"/>
              </a:rPr>
              <a:t>：就是氢核，带有正电荷＋</a:t>
            </a:r>
            <a:r>
              <a:rPr lang="en-US" altLang="zh-CN" sz="2800" b="1" dirty="0">
                <a:latin typeface="Times New Roman" pitchFamily="18" charset="0"/>
                <a:ea typeface="+mn-ea"/>
                <a:cs typeface="Times New Roman" pitchFamily="18" charset="0"/>
              </a:rPr>
              <a:t>e</a:t>
            </a:r>
            <a:r>
              <a:rPr lang="zh-CN" altLang="en-US" sz="2800" b="1" dirty="0">
                <a:latin typeface="Times New Roman" pitchFamily="18" charset="0"/>
                <a:ea typeface="+mn-ea"/>
                <a:cs typeface="Times New Roman" pitchFamily="18" charset="0"/>
              </a:rPr>
              <a:t>，</a:t>
            </a:r>
            <a:endParaRPr lang="en-US" altLang="zh-CN" sz="2800" b="1" dirty="0">
              <a:latin typeface="Times New Roman" pitchFamily="18" charset="0"/>
              <a:ea typeface="+mn-ea"/>
              <a:cs typeface="Times New Roman" pitchFamily="18" charset="0"/>
            </a:endParaRPr>
          </a:p>
          <a:p>
            <a:pPr algn="ctr" eaLnBrk="1" hangingPunct="1">
              <a:lnSpc>
                <a:spcPct val="150000"/>
              </a:lnSpc>
              <a:defRPr/>
            </a:pPr>
            <a:r>
              <a:rPr lang="en-US" altLang="zh-CN" sz="2800" b="1" dirty="0">
                <a:latin typeface="Times New Roman" pitchFamily="18" charset="0"/>
                <a:ea typeface="+mn-ea"/>
                <a:cs typeface="Times New Roman" pitchFamily="18" charset="0"/>
              </a:rPr>
              <a:t>m</a:t>
            </a:r>
            <a:r>
              <a:rPr lang="en-US" altLang="zh-CN" sz="2800" b="1" baseline="-30000" dirty="0">
                <a:latin typeface="Times New Roman" pitchFamily="18" charset="0"/>
                <a:ea typeface="+mn-ea"/>
                <a:cs typeface="Times New Roman" pitchFamily="18" charset="0"/>
              </a:rPr>
              <a:t>p</a:t>
            </a:r>
            <a:r>
              <a:rPr lang="zh-CN" altLang="en-US" sz="2800" b="1" dirty="0">
                <a:latin typeface="Times New Roman" pitchFamily="18" charset="0"/>
                <a:ea typeface="+mn-ea"/>
                <a:cs typeface="Times New Roman" pitchFamily="18" charset="0"/>
              </a:rPr>
              <a:t>＝</a:t>
            </a:r>
            <a:r>
              <a:rPr lang="en-US" altLang="zh-CN" sz="2800" b="1" dirty="0">
                <a:latin typeface="Times New Roman" pitchFamily="18" charset="0"/>
                <a:ea typeface="+mn-ea"/>
                <a:cs typeface="Times New Roman" pitchFamily="18" charset="0"/>
              </a:rPr>
              <a:t>1.007 276 u </a:t>
            </a:r>
          </a:p>
        </p:txBody>
      </p:sp>
      <p:sp>
        <p:nvSpPr>
          <p:cNvPr id="14" name="Text Box 673">
            <a:extLst>
              <a:ext uri="{FF2B5EF4-FFF2-40B4-BE49-F238E27FC236}">
                <a16:creationId xmlns:a16="http://schemas.microsoft.com/office/drawing/2014/main" id="{0255CC94-096E-406D-BAA2-DEB40AAF41E5}"/>
              </a:ext>
            </a:extLst>
          </p:cNvPr>
          <p:cNvSpPr txBox="1">
            <a:spLocks noChangeArrowheads="1"/>
          </p:cNvSpPr>
          <p:nvPr/>
        </p:nvSpPr>
        <p:spPr bwMode="auto">
          <a:xfrm>
            <a:off x="323850" y="5503863"/>
            <a:ext cx="82438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b="1">
                <a:solidFill>
                  <a:srgbClr val="202AF4"/>
                </a:solidFill>
                <a:latin typeface="Times New Roman" panose="02020603050405020304" pitchFamily="18" charset="0"/>
                <a:cs typeface="Times New Roman" panose="02020603050405020304" pitchFamily="18" charset="0"/>
              </a:rPr>
              <a:t>相同的质子数</a:t>
            </a:r>
            <a:r>
              <a:rPr lang="en-US" altLang="zh-CN" sz="2800" b="1" i="1">
                <a:solidFill>
                  <a:srgbClr val="202AF4"/>
                </a:solidFill>
                <a:latin typeface="Times New Roman" panose="02020603050405020304" pitchFamily="18" charset="0"/>
                <a:cs typeface="Times New Roman" panose="02020603050405020304" pitchFamily="18" charset="0"/>
              </a:rPr>
              <a:t>Z</a:t>
            </a:r>
            <a:r>
              <a:rPr lang="zh-CN" altLang="en-US" sz="2800" b="1">
                <a:solidFill>
                  <a:srgbClr val="202AF4"/>
                </a:solidFill>
                <a:latin typeface="Times New Roman" panose="02020603050405020304" pitchFamily="18" charset="0"/>
                <a:cs typeface="Times New Roman" panose="02020603050405020304" pitchFamily="18" charset="0"/>
              </a:rPr>
              <a:t>，中子数</a:t>
            </a:r>
            <a:r>
              <a:rPr lang="en-US" altLang="zh-CN" sz="2800" b="1" i="1">
                <a:solidFill>
                  <a:srgbClr val="202AF4"/>
                </a:solidFill>
                <a:latin typeface="Times New Roman" panose="02020603050405020304" pitchFamily="18" charset="0"/>
                <a:cs typeface="Times New Roman" panose="02020603050405020304" pitchFamily="18" charset="0"/>
              </a:rPr>
              <a:t>N</a:t>
            </a:r>
            <a:r>
              <a:rPr lang="zh-CN" altLang="en-US" sz="2800" b="1">
                <a:solidFill>
                  <a:srgbClr val="202AF4"/>
                </a:solidFill>
                <a:latin typeface="Times New Roman" panose="02020603050405020304" pitchFamily="18" charset="0"/>
                <a:cs typeface="Times New Roman" panose="02020603050405020304" pitchFamily="18" charset="0"/>
              </a:rPr>
              <a:t>不同</a:t>
            </a:r>
            <a:r>
              <a:rPr lang="zh-CN" altLang="en-US" sz="2800" b="1">
                <a:latin typeface="Times New Roman" panose="02020603050405020304" pitchFamily="18" charset="0"/>
                <a:cs typeface="Times New Roman" panose="02020603050405020304" pitchFamily="18" charset="0"/>
              </a:rPr>
              <a:t>的原子核称为</a:t>
            </a:r>
            <a:r>
              <a:rPr lang="zh-CN" altLang="en-US" sz="2800" b="1">
                <a:solidFill>
                  <a:srgbClr val="FF0000"/>
                </a:solidFill>
                <a:latin typeface="Times New Roman" panose="02020603050405020304" pitchFamily="18" charset="0"/>
                <a:cs typeface="Times New Roman" panose="02020603050405020304" pitchFamily="18" charset="0"/>
              </a:rPr>
              <a:t>同位素</a:t>
            </a:r>
            <a:r>
              <a:rPr lang="en-US" altLang="zh-CN" sz="2800" b="1">
                <a:solidFill>
                  <a:srgbClr val="FF0000"/>
                </a:solidFill>
                <a:latin typeface="Times New Roman" panose="02020603050405020304" pitchFamily="18" charset="0"/>
                <a:cs typeface="Times New Roman" panose="02020603050405020304" pitchFamily="18" charset="0"/>
              </a:rPr>
              <a:t> </a:t>
            </a:r>
          </a:p>
        </p:txBody>
      </p:sp>
      <p:sp>
        <p:nvSpPr>
          <p:cNvPr id="2057" name="矩形 14">
            <a:extLst>
              <a:ext uri="{FF2B5EF4-FFF2-40B4-BE49-F238E27FC236}">
                <a16:creationId xmlns:a16="http://schemas.microsoft.com/office/drawing/2014/main" id="{7039F897-D9F1-4D51-AF6E-FD14636EA49F}"/>
              </a:ext>
            </a:extLst>
          </p:cNvPr>
          <p:cNvSpPr>
            <a:spLocks noChangeArrowheads="1"/>
          </p:cNvSpPr>
          <p:nvPr/>
        </p:nvSpPr>
        <p:spPr bwMode="auto">
          <a:xfrm>
            <a:off x="684213" y="2060575"/>
            <a:ext cx="792956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b="1">
                <a:latin typeface="Times New Roman" panose="02020603050405020304" pitchFamily="18" charset="0"/>
                <a:ea typeface="楷体_GB2312"/>
                <a:cs typeface="Times New Roman" panose="02020603050405020304" pitchFamily="18" charset="0"/>
              </a:rPr>
              <a:t>(</a:t>
            </a:r>
            <a:r>
              <a:rPr lang="en-US" altLang="zh-CN" sz="2800" b="1">
                <a:solidFill>
                  <a:srgbClr val="202AF4"/>
                </a:solidFill>
                <a:latin typeface="Times New Roman" panose="02020603050405020304" pitchFamily="18" charset="0"/>
                <a:ea typeface="楷体_GB2312"/>
                <a:cs typeface="Times New Roman" panose="02020603050405020304" pitchFamily="18" charset="0"/>
              </a:rPr>
              <a:t>u</a:t>
            </a:r>
            <a:r>
              <a:rPr lang="zh-CN" altLang="en-US" sz="2800" b="1">
                <a:solidFill>
                  <a:srgbClr val="202AF4"/>
                </a:solidFill>
                <a:latin typeface="Times New Roman" panose="02020603050405020304" pitchFamily="18" charset="0"/>
                <a:ea typeface="楷体_GB2312"/>
                <a:cs typeface="Times New Roman" panose="02020603050405020304" pitchFamily="18" charset="0"/>
              </a:rPr>
              <a:t>为原子质量单位</a:t>
            </a:r>
            <a:r>
              <a:rPr lang="zh-CN" altLang="en-US" sz="2800" b="1">
                <a:latin typeface="Times New Roman" panose="02020603050405020304" pitchFamily="18" charset="0"/>
                <a:ea typeface="楷体_GB2312"/>
                <a:cs typeface="Times New Roman" panose="02020603050405020304" pitchFamily="18" charset="0"/>
              </a:rPr>
              <a:t>，</a:t>
            </a:r>
            <a:r>
              <a:rPr lang="en-US" altLang="zh-CN" sz="2800" b="1">
                <a:latin typeface="Times New Roman" panose="02020603050405020304" pitchFamily="18" charset="0"/>
                <a:ea typeface="楷体_GB2312"/>
                <a:cs typeface="Times New Roman" panose="02020603050405020304" pitchFamily="18" charset="0"/>
              </a:rPr>
              <a:t>1 u</a:t>
            </a:r>
            <a:r>
              <a:rPr lang="zh-CN" altLang="en-US" sz="2800" b="1">
                <a:latin typeface="Times New Roman" panose="02020603050405020304" pitchFamily="18" charset="0"/>
                <a:ea typeface="楷体_GB2312"/>
                <a:cs typeface="Times New Roman" panose="02020603050405020304" pitchFamily="18" charset="0"/>
              </a:rPr>
              <a:t>＝</a:t>
            </a:r>
            <a:r>
              <a:rPr lang="en-US" altLang="zh-CN" sz="2800" b="1">
                <a:latin typeface="Times New Roman" panose="02020603050405020304" pitchFamily="18" charset="0"/>
                <a:ea typeface="楷体_GB2312"/>
                <a:cs typeface="Times New Roman" panose="02020603050405020304" pitchFamily="18" charset="0"/>
              </a:rPr>
              <a:t>1.660 565 5×10</a:t>
            </a:r>
            <a:r>
              <a:rPr lang="zh-CN" altLang="en-US" sz="2800" b="1" baseline="30000">
                <a:latin typeface="Times New Roman" panose="02020603050405020304" pitchFamily="18" charset="0"/>
                <a:ea typeface="楷体_GB2312"/>
                <a:cs typeface="Times New Roman" panose="02020603050405020304" pitchFamily="18" charset="0"/>
              </a:rPr>
              <a:t>－</a:t>
            </a:r>
            <a:r>
              <a:rPr lang="en-US" altLang="zh-CN" sz="2800" b="1" baseline="30000">
                <a:latin typeface="Times New Roman" panose="02020603050405020304" pitchFamily="18" charset="0"/>
                <a:ea typeface="楷体_GB2312"/>
                <a:cs typeface="Times New Roman" panose="02020603050405020304" pitchFamily="18" charset="0"/>
              </a:rPr>
              <a:t>27</a:t>
            </a:r>
            <a:r>
              <a:rPr lang="en-US" altLang="zh-CN" sz="2800" b="1">
                <a:latin typeface="Times New Roman" panose="02020603050405020304" pitchFamily="18" charset="0"/>
                <a:ea typeface="楷体_GB2312"/>
                <a:cs typeface="Times New Roman" panose="02020603050405020304" pitchFamily="18" charset="0"/>
              </a:rPr>
              <a:t> kg).</a:t>
            </a:r>
            <a:endParaRPr lang="zh-CN" altLang="en-US" sz="2800" b="1">
              <a:ea typeface="楷体_GB2312"/>
              <a:cs typeface="Times New Roman" panose="02020603050405020304" pitchFamily="18" charset="0"/>
            </a:endParaRPr>
          </a:p>
        </p:txBody>
      </p:sp>
      <p:sp>
        <p:nvSpPr>
          <p:cNvPr id="18" name="矩形 17">
            <a:extLst>
              <a:ext uri="{FF2B5EF4-FFF2-40B4-BE49-F238E27FC236}">
                <a16:creationId xmlns:a16="http://schemas.microsoft.com/office/drawing/2014/main" id="{F1F5DFBB-5FAD-4D6A-A866-B6DB195A985A}"/>
              </a:ext>
            </a:extLst>
          </p:cNvPr>
          <p:cNvSpPr/>
          <p:nvPr/>
        </p:nvSpPr>
        <p:spPr>
          <a:xfrm>
            <a:off x="777875" y="2708275"/>
            <a:ext cx="6080125" cy="1384300"/>
          </a:xfrm>
          <a:prstGeom prst="rect">
            <a:avLst/>
          </a:prstGeom>
        </p:spPr>
        <p:txBody>
          <a:bodyPr>
            <a:spAutoFit/>
          </a:bodyPr>
          <a:lstStyle/>
          <a:p>
            <a:pPr eaLnBrk="1" hangingPunct="1">
              <a:lnSpc>
                <a:spcPct val="150000"/>
              </a:lnSpc>
              <a:defRPr/>
            </a:pPr>
            <a:r>
              <a:rPr lang="zh-CN" altLang="en-US" sz="2800" b="1" dirty="0">
                <a:solidFill>
                  <a:srgbClr val="202AF4"/>
                </a:solidFill>
                <a:latin typeface="Times New Roman" panose="02020603050405020304" pitchFamily="18" charset="0"/>
                <a:cs typeface="Times New Roman" panose="02020603050405020304" pitchFamily="18" charset="0"/>
              </a:rPr>
              <a:t>中子</a:t>
            </a:r>
            <a:r>
              <a:rPr lang="en-US" altLang="zh-CN" sz="2800" b="1" dirty="0">
                <a:solidFill>
                  <a:srgbClr val="202AF4"/>
                </a:solidFill>
                <a:latin typeface="Times New Roman" panose="02020603050405020304" pitchFamily="18" charset="0"/>
                <a:cs typeface="Times New Roman" panose="02020603050405020304" pitchFamily="18" charset="0"/>
              </a:rPr>
              <a:t>(n)</a:t>
            </a:r>
            <a:r>
              <a:rPr lang="zh-CN" altLang="en-US" sz="2800" b="1" dirty="0">
                <a:latin typeface="Times New Roman" pitchFamily="18" charset="0"/>
                <a:ea typeface="+mn-ea"/>
                <a:cs typeface="Times New Roman" pitchFamily="18" charset="0"/>
              </a:rPr>
              <a:t>：不带电，</a:t>
            </a:r>
            <a:endParaRPr lang="en-US" altLang="zh-CN" sz="2800" b="1" dirty="0">
              <a:latin typeface="Times New Roman" pitchFamily="18" charset="0"/>
              <a:ea typeface="+mn-ea"/>
              <a:cs typeface="Times New Roman" pitchFamily="18" charset="0"/>
            </a:endParaRPr>
          </a:p>
          <a:p>
            <a:pPr algn="ctr" eaLnBrk="1" hangingPunct="1">
              <a:lnSpc>
                <a:spcPct val="150000"/>
              </a:lnSpc>
              <a:defRPr/>
            </a:pPr>
            <a:r>
              <a:rPr lang="en-US" altLang="zh-CN" sz="2800" b="1" dirty="0" err="1">
                <a:latin typeface="Times New Roman" pitchFamily="18" charset="0"/>
                <a:ea typeface="+mn-ea"/>
                <a:cs typeface="Times New Roman" pitchFamily="18" charset="0"/>
              </a:rPr>
              <a:t>m</a:t>
            </a:r>
            <a:r>
              <a:rPr lang="en-US" altLang="zh-CN" sz="2800" b="1" baseline="-30000" dirty="0" err="1">
                <a:latin typeface="Times New Roman" pitchFamily="18" charset="0"/>
                <a:ea typeface="+mn-ea"/>
                <a:cs typeface="Times New Roman" pitchFamily="18" charset="0"/>
              </a:rPr>
              <a:t>n</a:t>
            </a:r>
            <a:r>
              <a:rPr lang="zh-CN" altLang="en-US" sz="2800" b="1" dirty="0">
                <a:latin typeface="Times New Roman" pitchFamily="18" charset="0"/>
                <a:ea typeface="+mn-ea"/>
                <a:cs typeface="Times New Roman" pitchFamily="18" charset="0"/>
              </a:rPr>
              <a:t>＝</a:t>
            </a:r>
            <a:r>
              <a:rPr lang="en-US" altLang="zh-CN" sz="2800" b="1" dirty="0">
                <a:latin typeface="Times New Roman" pitchFamily="18" charset="0"/>
                <a:ea typeface="+mn-ea"/>
                <a:cs typeface="Times New Roman" pitchFamily="18" charset="0"/>
              </a:rPr>
              <a:t>1.008 665 u</a:t>
            </a:r>
          </a:p>
        </p:txBody>
      </p:sp>
      <p:sp>
        <p:nvSpPr>
          <p:cNvPr id="20" name="左大括号 19">
            <a:extLst>
              <a:ext uri="{FF2B5EF4-FFF2-40B4-BE49-F238E27FC236}">
                <a16:creationId xmlns:a16="http://schemas.microsoft.com/office/drawing/2014/main" id="{F466DC38-F01E-4425-A95E-FD5590CBDD8E}"/>
              </a:ext>
            </a:extLst>
          </p:cNvPr>
          <p:cNvSpPr/>
          <p:nvPr/>
        </p:nvSpPr>
        <p:spPr>
          <a:xfrm>
            <a:off x="357188" y="979488"/>
            <a:ext cx="285750" cy="3025775"/>
          </a:xfrm>
          <a:prstGeom prst="leftBrace">
            <a:avLst/>
          </a:prstGeom>
          <a:ln w="38100">
            <a:solidFill>
              <a:srgbClr val="FFC000"/>
            </a:solidFill>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zh-CN" altLang="en-US"/>
          </a:p>
        </p:txBody>
      </p:sp>
      <p:graphicFrame>
        <p:nvGraphicFramePr>
          <p:cNvPr id="1036" name="Object 12">
            <a:extLst>
              <a:ext uri="{FF2B5EF4-FFF2-40B4-BE49-F238E27FC236}">
                <a16:creationId xmlns:a16="http://schemas.microsoft.com/office/drawing/2014/main" id="{0B3AB82C-CEA1-4461-A3E4-8E61C6DCF35D}"/>
              </a:ext>
            </a:extLst>
          </p:cNvPr>
          <p:cNvGraphicFramePr>
            <a:graphicFrameLocks noChangeAspect="1"/>
          </p:cNvGraphicFramePr>
          <p:nvPr/>
        </p:nvGraphicFramePr>
        <p:xfrm>
          <a:off x="2000250" y="4162425"/>
          <a:ext cx="1428750" cy="612775"/>
        </p:xfrm>
        <a:graphic>
          <a:graphicData uri="http://schemas.openxmlformats.org/presentationml/2006/ole">
            <mc:AlternateContent xmlns:mc="http://schemas.openxmlformats.org/markup-compatibility/2006">
              <mc:Choice xmlns:v="urn:schemas-microsoft-com:vml" Requires="v">
                <p:oleObj spid="_x0000_s7200" name="Equation" r:id="rId3" imgW="533169" imgH="228501" progId="Equation.DSMT4">
                  <p:embed/>
                </p:oleObj>
              </mc:Choice>
              <mc:Fallback>
                <p:oleObj name="Equation" r:id="rId3" imgW="533169" imgH="228501" progId="Equation.DSMT4">
                  <p:embed/>
                  <p:pic>
                    <p:nvPicPr>
                      <p:cNvPr id="0"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00250" y="4162425"/>
                        <a:ext cx="1428750" cy="612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 name="Object 3">
            <a:extLst>
              <a:ext uri="{FF2B5EF4-FFF2-40B4-BE49-F238E27FC236}">
                <a16:creationId xmlns:a16="http://schemas.microsoft.com/office/drawing/2014/main" id="{476DDBD8-71D4-4F26-87A4-D387FF70F329}"/>
              </a:ext>
            </a:extLst>
          </p:cNvPr>
          <p:cNvGraphicFramePr>
            <a:graphicFrameLocks noChangeAspect="1"/>
          </p:cNvGraphicFramePr>
          <p:nvPr/>
        </p:nvGraphicFramePr>
        <p:xfrm>
          <a:off x="3881438" y="4130675"/>
          <a:ext cx="2074862" cy="612775"/>
        </p:xfrm>
        <a:graphic>
          <a:graphicData uri="http://schemas.openxmlformats.org/presentationml/2006/ole">
            <mc:AlternateContent xmlns:mc="http://schemas.openxmlformats.org/markup-compatibility/2006">
              <mc:Choice xmlns:v="urn:schemas-microsoft-com:vml" Requires="v">
                <p:oleObj spid="_x0000_s7201" name="Equation" r:id="rId5" imgW="774364" imgH="228501" progId="Equation.DSMT4">
                  <p:embed/>
                </p:oleObj>
              </mc:Choice>
              <mc:Fallback>
                <p:oleObj name="Equation" r:id="rId5" imgW="774364" imgH="228501" progId="Equation.DSMT4">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81438" y="4130675"/>
                        <a:ext cx="2074862" cy="612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5" name="Group 37">
            <a:extLst>
              <a:ext uri="{FF2B5EF4-FFF2-40B4-BE49-F238E27FC236}">
                <a16:creationId xmlns:a16="http://schemas.microsoft.com/office/drawing/2014/main" id="{05594514-B7F3-47CD-9DE8-91B4599105FC}"/>
              </a:ext>
            </a:extLst>
          </p:cNvPr>
          <p:cNvGrpSpPr>
            <a:grpSpLocks/>
          </p:cNvGrpSpPr>
          <p:nvPr/>
        </p:nvGrpSpPr>
        <p:grpSpPr bwMode="auto">
          <a:xfrm>
            <a:off x="358775" y="4849813"/>
            <a:ext cx="8101013" cy="555625"/>
            <a:chOff x="657" y="3777"/>
            <a:chExt cx="5103" cy="350"/>
          </a:xfrm>
        </p:grpSpPr>
        <p:sp>
          <p:nvSpPr>
            <p:cNvPr id="7184" name="Text Box 38">
              <a:extLst>
                <a:ext uri="{FF2B5EF4-FFF2-40B4-BE49-F238E27FC236}">
                  <a16:creationId xmlns:a16="http://schemas.microsoft.com/office/drawing/2014/main" id="{E8B80BF4-FF10-4DE4-ACF8-6A58676AC5FE}"/>
                </a:ext>
              </a:extLst>
            </p:cNvPr>
            <p:cNvSpPr txBox="1">
              <a:spLocks noChangeArrowheads="1"/>
            </p:cNvSpPr>
            <p:nvPr/>
          </p:nvSpPr>
          <p:spPr bwMode="auto">
            <a:xfrm>
              <a:off x="657" y="3777"/>
              <a:ext cx="3221"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ea typeface="华文中宋" panose="02010600040101010101" pitchFamily="2" charset="-122"/>
                </a:rPr>
                <a:t>原子核的标示：</a:t>
              </a:r>
            </a:p>
          </p:txBody>
        </p:sp>
        <p:graphicFrame>
          <p:nvGraphicFramePr>
            <p:cNvPr id="7185" name="Object 39">
              <a:extLst>
                <a:ext uri="{FF2B5EF4-FFF2-40B4-BE49-F238E27FC236}">
                  <a16:creationId xmlns:a16="http://schemas.microsoft.com/office/drawing/2014/main" id="{82FB1EF2-857D-4A36-8049-3449779B81B9}"/>
                </a:ext>
              </a:extLst>
            </p:cNvPr>
            <p:cNvGraphicFramePr>
              <a:graphicFrameLocks noChangeAspect="1"/>
            </p:cNvGraphicFramePr>
            <p:nvPr/>
          </p:nvGraphicFramePr>
          <p:xfrm>
            <a:off x="2156" y="3805"/>
            <a:ext cx="1744" cy="322"/>
          </p:xfrm>
          <a:graphic>
            <a:graphicData uri="http://schemas.openxmlformats.org/presentationml/2006/ole">
              <mc:AlternateContent xmlns:mc="http://schemas.openxmlformats.org/markup-compatibility/2006">
                <mc:Choice xmlns:v="urn:schemas-microsoft-com:vml" Requires="v">
                  <p:oleObj spid="_x0000_s7202" name="Equation" r:id="rId7" imgW="1257300" imgH="241300" progId="Equation.DSMT4">
                    <p:embed/>
                  </p:oleObj>
                </mc:Choice>
                <mc:Fallback>
                  <p:oleObj name="Equation" r:id="rId7" imgW="1257300" imgH="241300" progId="Equation.DSMT4">
                    <p:embed/>
                    <p:pic>
                      <p:nvPicPr>
                        <p:cNvPr id="0" name="Object 3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56" y="3805"/>
                          <a:ext cx="1744" cy="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186" name="Text Box 40">
              <a:extLst>
                <a:ext uri="{FF2B5EF4-FFF2-40B4-BE49-F238E27FC236}">
                  <a16:creationId xmlns:a16="http://schemas.microsoft.com/office/drawing/2014/main" id="{618F7C49-6B5D-491A-9215-4DC87FBC88ED}"/>
                </a:ext>
              </a:extLst>
            </p:cNvPr>
            <p:cNvSpPr txBox="1">
              <a:spLocks noChangeArrowheads="1"/>
            </p:cNvSpPr>
            <p:nvPr/>
          </p:nvSpPr>
          <p:spPr bwMode="auto">
            <a:xfrm>
              <a:off x="3787" y="3777"/>
              <a:ext cx="1973"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ea typeface="华文中宋" panose="02010600040101010101" pitchFamily="2" charset="-122"/>
                </a:rPr>
                <a:t>  推广</a:t>
              </a:r>
              <a:r>
                <a:rPr lang="zh-CN" altLang="en-US" sz="2800"/>
                <a:t>：</a:t>
              </a:r>
            </a:p>
          </p:txBody>
        </p:sp>
        <p:graphicFrame>
          <p:nvGraphicFramePr>
            <p:cNvPr id="7187" name="Object 41">
              <a:extLst>
                <a:ext uri="{FF2B5EF4-FFF2-40B4-BE49-F238E27FC236}">
                  <a16:creationId xmlns:a16="http://schemas.microsoft.com/office/drawing/2014/main" id="{89AF8C60-A02C-4740-9D99-67BB6112C484}"/>
                </a:ext>
              </a:extLst>
            </p:cNvPr>
            <p:cNvGraphicFramePr>
              <a:graphicFrameLocks noChangeAspect="1"/>
            </p:cNvGraphicFramePr>
            <p:nvPr/>
          </p:nvGraphicFramePr>
          <p:xfrm>
            <a:off x="4534" y="3793"/>
            <a:ext cx="1067" cy="334"/>
          </p:xfrm>
          <a:graphic>
            <a:graphicData uri="http://schemas.openxmlformats.org/presentationml/2006/ole">
              <mc:AlternateContent xmlns:mc="http://schemas.openxmlformats.org/markup-compatibility/2006">
                <mc:Choice xmlns:v="urn:schemas-microsoft-com:vml" Requires="v">
                  <p:oleObj spid="_x0000_s7203" name="Equation" r:id="rId9" imgW="533169" imgH="241195" progId="Equation.DSMT4">
                    <p:embed/>
                  </p:oleObj>
                </mc:Choice>
                <mc:Fallback>
                  <p:oleObj name="Equation" r:id="rId9" imgW="533169" imgH="241195" progId="Equation.DSMT4">
                    <p:embed/>
                    <p:pic>
                      <p:nvPicPr>
                        <p:cNvPr id="0" name="Object 4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534" y="3793"/>
                          <a:ext cx="1067"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24" name="Object 14">
            <a:extLst>
              <a:ext uri="{FF2B5EF4-FFF2-40B4-BE49-F238E27FC236}">
                <a16:creationId xmlns:a16="http://schemas.microsoft.com/office/drawing/2014/main" id="{DA51EA1F-8ACA-4FBB-AEB2-4956ED2358B4}"/>
              </a:ext>
            </a:extLst>
          </p:cNvPr>
          <p:cNvGraphicFramePr>
            <a:graphicFrameLocks noChangeAspect="1"/>
          </p:cNvGraphicFramePr>
          <p:nvPr/>
        </p:nvGraphicFramePr>
        <p:xfrm>
          <a:off x="468313" y="6096000"/>
          <a:ext cx="1128712" cy="511175"/>
        </p:xfrm>
        <a:graphic>
          <a:graphicData uri="http://schemas.openxmlformats.org/presentationml/2006/ole">
            <mc:AlternateContent xmlns:mc="http://schemas.openxmlformats.org/markup-compatibility/2006">
              <mc:Choice xmlns:v="urn:schemas-microsoft-com:vml" Requires="v">
                <p:oleObj spid="_x0000_s7204" name="Equation" r:id="rId11" imgW="533169" imgH="241195" progId="Equation.DSMT4">
                  <p:embed/>
                </p:oleObj>
              </mc:Choice>
              <mc:Fallback>
                <p:oleObj name="Equation" r:id="rId11" imgW="533169" imgH="241195" progId="Equation.DSMT4">
                  <p:embed/>
                  <p:pic>
                    <p:nvPicPr>
                      <p:cNvPr id="0" name="Object 1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68313" y="6096000"/>
                        <a:ext cx="1128712"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4" name="组合 3">
            <a:extLst>
              <a:ext uri="{FF2B5EF4-FFF2-40B4-BE49-F238E27FC236}">
                <a16:creationId xmlns:a16="http://schemas.microsoft.com/office/drawing/2014/main" id="{F4E4B76B-FB6D-4198-9403-D13B8831BC3D}"/>
              </a:ext>
            </a:extLst>
          </p:cNvPr>
          <p:cNvGrpSpPr>
            <a:grpSpLocks/>
          </p:cNvGrpSpPr>
          <p:nvPr/>
        </p:nvGrpSpPr>
        <p:grpSpPr bwMode="auto">
          <a:xfrm>
            <a:off x="8226425" y="4711700"/>
            <a:ext cx="882650" cy="792163"/>
            <a:chOff x="6858000" y="3645024"/>
            <a:chExt cx="882352" cy="792038"/>
          </a:xfrm>
        </p:grpSpPr>
        <p:sp>
          <p:nvSpPr>
            <p:cNvPr id="3" name="矩形 2">
              <a:extLst>
                <a:ext uri="{FF2B5EF4-FFF2-40B4-BE49-F238E27FC236}">
                  <a16:creationId xmlns:a16="http://schemas.microsoft.com/office/drawing/2014/main" id="{E03FE986-5EEC-4B72-8186-C923CA7CD8AA}"/>
                </a:ext>
              </a:extLst>
            </p:cNvPr>
            <p:cNvSpPr/>
            <p:nvPr/>
          </p:nvSpPr>
          <p:spPr>
            <a:xfrm>
              <a:off x="6858000" y="3645024"/>
              <a:ext cx="882352" cy="792038"/>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aphicFrame>
          <p:nvGraphicFramePr>
            <p:cNvPr id="7183" name="对象 1">
              <a:extLst>
                <a:ext uri="{FF2B5EF4-FFF2-40B4-BE49-F238E27FC236}">
                  <a16:creationId xmlns:a16="http://schemas.microsoft.com/office/drawing/2014/main" id="{61EC1E1E-B515-41A6-8F64-C8AEA80C9AE2}"/>
                </a:ext>
              </a:extLst>
            </p:cNvPr>
            <p:cNvGraphicFramePr>
              <a:graphicFrameLocks noChangeAspect="1"/>
            </p:cNvGraphicFramePr>
            <p:nvPr/>
          </p:nvGraphicFramePr>
          <p:xfrm>
            <a:off x="6946228" y="3707648"/>
            <a:ext cx="738596" cy="668254"/>
          </p:xfrm>
          <a:graphic>
            <a:graphicData uri="http://schemas.openxmlformats.org/presentationml/2006/ole">
              <mc:AlternateContent xmlns:mc="http://schemas.openxmlformats.org/markup-compatibility/2006">
                <mc:Choice xmlns:v="urn:schemas-microsoft-com:vml" Requires="v">
                  <p:oleObj spid="_x0000_s7205" name="Equation" r:id="rId13" imgW="266469" imgH="241091" progId="Equation.DSMT4">
                    <p:embed/>
                  </p:oleObj>
                </mc:Choice>
                <mc:Fallback>
                  <p:oleObj name="Equation" r:id="rId13" imgW="266469" imgH="241091" progId="Equation.DSMT4">
                    <p:embed/>
                    <p:pic>
                      <p:nvPicPr>
                        <p:cNvPr id="0" name="对象 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946228" y="3707648"/>
                          <a:ext cx="738596" cy="6682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blinds(horizontal)">
                                      <p:cBhvr>
                                        <p:cTn id="12" dur="500"/>
                                        <p:tgtEl>
                                          <p:spTgt spid="2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checkerboard(across)">
                                      <p:cBhvr>
                                        <p:cTn id="17" dur="500"/>
                                        <p:tgtEl>
                                          <p:spTgt spid="1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057"/>
                                        </p:tgtEl>
                                        <p:attrNameLst>
                                          <p:attrName>style.visibility</p:attrName>
                                        </p:attrNameLst>
                                      </p:cBhvr>
                                      <p:to>
                                        <p:strVal val="visible"/>
                                      </p:to>
                                    </p:set>
                                    <p:animEffect transition="in" filter="blinds(horizontal)">
                                      <p:cBhvr>
                                        <p:cTn id="22" dur="500"/>
                                        <p:tgtEl>
                                          <p:spTgt spid="205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blinds(horizontal)">
                                      <p:cBhvr>
                                        <p:cTn id="27" dur="500"/>
                                        <p:tgtEl>
                                          <p:spTgt spid="1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2" presetClass="entr" presetSubtype="4" fill="hold" nodeType="clickEffect">
                                  <p:stCondLst>
                                    <p:cond delay="0"/>
                                  </p:stCondLst>
                                  <p:childTnLst>
                                    <p:set>
                                      <p:cBhvr>
                                        <p:cTn id="31" dur="1" fill="hold">
                                          <p:stCondLst>
                                            <p:cond delay="0"/>
                                          </p:stCondLst>
                                        </p:cTn>
                                        <p:tgtEl>
                                          <p:spTgt spid="1036"/>
                                        </p:tgtEl>
                                        <p:attrNameLst>
                                          <p:attrName>style.visibility</p:attrName>
                                        </p:attrNameLst>
                                      </p:cBhvr>
                                      <p:to>
                                        <p:strVal val="visible"/>
                                      </p:to>
                                    </p:set>
                                    <p:animEffect transition="in" filter="slide(fromBottom)">
                                      <p:cBhvr>
                                        <p:cTn id="32" dur="500"/>
                                        <p:tgtEl>
                                          <p:spTgt spid="103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2" presetClass="entr" presetSubtype="4" fill="hold" nodeType="click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slide(fromBottom)">
                                      <p:cBhvr>
                                        <p:cTn id="37" dur="500"/>
                                        <p:tgtEl>
                                          <p:spTgt spid="2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1" fill="hold" nodeType="click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wipe(up)">
                                      <p:cBhvr>
                                        <p:cTn id="42" dur="500"/>
                                        <p:tgtEl>
                                          <p:spTgt spid="15"/>
                                        </p:tgtEl>
                                      </p:cBhvr>
                                    </p:animEffect>
                                  </p:childTnLst>
                                </p:cTn>
                              </p:par>
                              <p:par>
                                <p:cTn id="43" presetID="1" presetClass="entr" presetSubtype="0" fill="hold" nodeType="withEffect">
                                  <p:stCondLst>
                                    <p:cond delay="0"/>
                                  </p:stCondLst>
                                  <p:childTnLst>
                                    <p:set>
                                      <p:cBhvr>
                                        <p:cTn id="44" dur="1" fill="hold">
                                          <p:stCondLst>
                                            <p:cond delay="0"/>
                                          </p:stCondLst>
                                        </p:cTn>
                                        <p:tgtEl>
                                          <p:spTgt spid="4"/>
                                        </p:tgtEl>
                                        <p:attrNameLst>
                                          <p:attrName>style.visibility</p:attrName>
                                        </p:attrNameLst>
                                      </p:cBhvr>
                                      <p:to>
                                        <p:strVal val="visible"/>
                                      </p:to>
                                    </p:set>
                                  </p:childTnLst>
                                </p:cTn>
                              </p:par>
                            </p:childTnLst>
                          </p:cTn>
                        </p:par>
                      </p:childTnLst>
                    </p:cTn>
                  </p:par>
                  <p:par>
                    <p:cTn id="45" fill="hold" nodeType="clickPar">
                      <p:stCondLst>
                        <p:cond delay="indefinite"/>
                      </p:stCondLst>
                      <p:childTnLst>
                        <p:par>
                          <p:cTn id="46" fill="hold" nodeType="withGroup">
                            <p:stCondLst>
                              <p:cond delay="0"/>
                            </p:stCondLst>
                            <p:childTnLst>
                              <p:par>
                                <p:cTn id="47" presetID="5" presetClass="entr" presetSubtype="10" fill="hold" grpId="0" nodeType="clickEffect">
                                  <p:stCondLst>
                                    <p:cond delay="0"/>
                                  </p:stCondLst>
                                  <p:childTnLst>
                                    <p:set>
                                      <p:cBhvr>
                                        <p:cTn id="48" dur="1" fill="hold">
                                          <p:stCondLst>
                                            <p:cond delay="0"/>
                                          </p:stCondLst>
                                        </p:cTn>
                                        <p:tgtEl>
                                          <p:spTgt spid="14"/>
                                        </p:tgtEl>
                                        <p:attrNameLst>
                                          <p:attrName>style.visibility</p:attrName>
                                        </p:attrNameLst>
                                      </p:cBhvr>
                                      <p:to>
                                        <p:strVal val="visible"/>
                                      </p:to>
                                    </p:set>
                                    <p:animEffect transition="in" filter="checkerboard(across)">
                                      <p:cBhvr>
                                        <p:cTn id="49" dur="500"/>
                                        <p:tgtEl>
                                          <p:spTgt spid="14"/>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12" presetClass="entr" presetSubtype="4" fill="hold" nodeType="clickEffect">
                                  <p:stCondLst>
                                    <p:cond delay="0"/>
                                  </p:stCondLst>
                                  <p:childTnLst>
                                    <p:set>
                                      <p:cBhvr>
                                        <p:cTn id="53" dur="1" fill="hold">
                                          <p:stCondLst>
                                            <p:cond delay="0"/>
                                          </p:stCondLst>
                                        </p:cTn>
                                        <p:tgtEl>
                                          <p:spTgt spid="24"/>
                                        </p:tgtEl>
                                        <p:attrNameLst>
                                          <p:attrName>style.visibility</p:attrName>
                                        </p:attrNameLst>
                                      </p:cBhvr>
                                      <p:to>
                                        <p:strVal val="visible"/>
                                      </p:to>
                                    </p:set>
                                    <p:animEffect transition="in" filter="slide(fromBottom)">
                                      <p:cBhvr>
                                        <p:cTn id="54"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utoUpdateAnimBg="0"/>
      <p:bldP spid="13" grpId="0" autoUpdateAnimBg="0"/>
      <p:bldP spid="14" grpId="0" autoUpdateAnimBg="0"/>
      <p:bldP spid="2057" grpId="0"/>
      <p:bldP spid="18" grpId="0"/>
      <p:bldP spid="20"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4">
            <a:extLst>
              <a:ext uri="{FF2B5EF4-FFF2-40B4-BE49-F238E27FC236}">
                <a16:creationId xmlns:a16="http://schemas.microsoft.com/office/drawing/2014/main" id="{56315C74-F1F0-4805-9F65-C8A522A32E67}"/>
              </a:ext>
            </a:extLst>
          </p:cNvPr>
          <p:cNvSpPr>
            <a:spLocks noChangeArrowheads="1"/>
          </p:cNvSpPr>
          <p:nvPr/>
        </p:nvSpPr>
        <p:spPr bwMode="auto">
          <a:xfrm>
            <a:off x="714375" y="819150"/>
            <a:ext cx="7748588"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zh-CN" sz="2800" b="1">
                <a:cs typeface="Times New Roman" panose="02020603050405020304" pitchFamily="18" charset="0"/>
              </a:rPr>
              <a:t>实验和理论都说明</a:t>
            </a:r>
            <a:r>
              <a:rPr lang="zh-CN" altLang="zh-CN" sz="2800" b="1">
                <a:solidFill>
                  <a:srgbClr val="202AF4"/>
                </a:solidFill>
                <a:latin typeface="Times New Roman" panose="02020603050405020304" pitchFamily="18" charset="0"/>
                <a:cs typeface="Times New Roman" panose="02020603050405020304" pitchFamily="18" charset="0"/>
              </a:rPr>
              <a:t>原子核也有自旋</a:t>
            </a:r>
            <a:r>
              <a:rPr lang="zh-CN" altLang="en-US" sz="2800" b="1">
                <a:cs typeface="Times New Roman" panose="02020603050405020304" pitchFamily="18" charset="0"/>
              </a:rPr>
              <a:t>。原子核的自旋角动量为：</a:t>
            </a:r>
          </a:p>
        </p:txBody>
      </p:sp>
      <p:graphicFrame>
        <p:nvGraphicFramePr>
          <p:cNvPr id="8195" name="Object 2">
            <a:extLst>
              <a:ext uri="{FF2B5EF4-FFF2-40B4-BE49-F238E27FC236}">
                <a16:creationId xmlns:a16="http://schemas.microsoft.com/office/drawing/2014/main" id="{F578D48A-C167-47E6-93B0-759B11F8F271}"/>
              </a:ext>
            </a:extLst>
          </p:cNvPr>
          <p:cNvGraphicFramePr>
            <a:graphicFrameLocks noChangeAspect="1"/>
          </p:cNvGraphicFramePr>
          <p:nvPr/>
        </p:nvGraphicFramePr>
        <p:xfrm>
          <a:off x="2857500" y="2071688"/>
          <a:ext cx="3011488" cy="725487"/>
        </p:xfrm>
        <a:graphic>
          <a:graphicData uri="http://schemas.openxmlformats.org/presentationml/2006/ole">
            <mc:AlternateContent xmlns:mc="http://schemas.openxmlformats.org/markup-compatibility/2006">
              <mc:Choice xmlns:v="urn:schemas-microsoft-com:vml" Requires="v">
                <p:oleObj spid="_x0000_s8211" name="Equation" r:id="rId3" imgW="1054100" imgH="254000" progId="Equation.DSMT4">
                  <p:embed/>
                </p:oleObj>
              </mc:Choice>
              <mc:Fallback>
                <p:oleObj name="Equation" r:id="rId3" imgW="1054100" imgH="254000" progId="Equation.DSMT4">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57500" y="2071688"/>
                        <a:ext cx="3011488" cy="7254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4629" name="Text Box 5">
            <a:extLst>
              <a:ext uri="{FF2B5EF4-FFF2-40B4-BE49-F238E27FC236}">
                <a16:creationId xmlns:a16="http://schemas.microsoft.com/office/drawing/2014/main" id="{B4963D93-AB8D-42DA-9DA2-7D6EE098F3D1}"/>
              </a:ext>
            </a:extLst>
          </p:cNvPr>
          <p:cNvSpPr txBox="1">
            <a:spLocks noChangeArrowheads="1"/>
          </p:cNvSpPr>
          <p:nvPr/>
        </p:nvSpPr>
        <p:spPr bwMode="auto">
          <a:xfrm>
            <a:off x="785813" y="3000375"/>
            <a:ext cx="6715125" cy="523875"/>
          </a:xfrm>
          <a:prstGeom prst="rect">
            <a:avLst/>
          </a:prstGeom>
          <a:noFill/>
          <a:ln w="9525">
            <a:noFill/>
            <a:miter lim="800000"/>
            <a:headEnd/>
            <a:tailEnd/>
          </a:ln>
          <a:effectLst/>
        </p:spPr>
        <p:txBody>
          <a:bodyPr>
            <a:spAutoFit/>
          </a:bodyPr>
          <a:lstStyle/>
          <a:p>
            <a:pPr eaLnBrk="1" hangingPunct="1">
              <a:defRPr/>
            </a:pPr>
            <a:r>
              <a:rPr lang="zh-CN" altLang="en-US" sz="2800" b="1" dirty="0">
                <a:latin typeface="Times New Roman" pitchFamily="18" charset="0"/>
                <a:ea typeface="+mn-ea"/>
                <a:cs typeface="Times New Roman" pitchFamily="18" charset="0"/>
              </a:rPr>
              <a:t>其中，</a:t>
            </a:r>
            <a:r>
              <a:rPr lang="en-US" altLang="zh-CN" sz="2800" b="1" i="1" dirty="0">
                <a:latin typeface="Times New Roman" pitchFamily="18" charset="0"/>
                <a:ea typeface="+mn-ea"/>
                <a:cs typeface="Times New Roman" pitchFamily="18" charset="0"/>
              </a:rPr>
              <a:t>J</a:t>
            </a:r>
            <a:r>
              <a:rPr lang="zh-CN" altLang="en-US" sz="2800" b="1" dirty="0">
                <a:latin typeface="Times New Roman" pitchFamily="18" charset="0"/>
                <a:ea typeface="+mn-ea"/>
                <a:cs typeface="Times New Roman" pitchFamily="18" charset="0"/>
              </a:rPr>
              <a:t>为核自旋量子数。简称</a:t>
            </a:r>
            <a:r>
              <a:rPr lang="zh-CN" altLang="en-US" sz="2800" b="1" dirty="0">
                <a:solidFill>
                  <a:srgbClr val="202AF4"/>
                </a:solidFill>
                <a:latin typeface="Times New Roman" panose="02020603050405020304" pitchFamily="18" charset="0"/>
                <a:cs typeface="Times New Roman" panose="02020603050405020304" pitchFamily="18" charset="0"/>
              </a:rPr>
              <a:t>核自旋</a:t>
            </a:r>
            <a:r>
              <a:rPr lang="zh-CN" altLang="en-US" sz="2800" b="1" dirty="0">
                <a:latin typeface="Times New Roman" pitchFamily="18" charset="0"/>
                <a:ea typeface="+mn-ea"/>
                <a:cs typeface="Times New Roman" pitchFamily="18" charset="0"/>
              </a:rPr>
              <a:t>。</a:t>
            </a:r>
            <a:endParaRPr lang="en-US" altLang="zh-CN" sz="2800" b="1" dirty="0">
              <a:latin typeface="Times New Roman" pitchFamily="18" charset="0"/>
              <a:ea typeface="+mn-ea"/>
              <a:cs typeface="Times New Roman" pitchFamily="18" charset="0"/>
            </a:endParaRPr>
          </a:p>
        </p:txBody>
      </p:sp>
      <p:sp>
        <p:nvSpPr>
          <p:cNvPr id="8197" name="Text Box 5">
            <a:extLst>
              <a:ext uri="{FF2B5EF4-FFF2-40B4-BE49-F238E27FC236}">
                <a16:creationId xmlns:a16="http://schemas.microsoft.com/office/drawing/2014/main" id="{42288788-7870-42EC-8BEA-373A1EAC8BDD}"/>
              </a:ext>
            </a:extLst>
          </p:cNvPr>
          <p:cNvSpPr txBox="1">
            <a:spLocks noChangeArrowheads="1"/>
          </p:cNvSpPr>
          <p:nvPr/>
        </p:nvSpPr>
        <p:spPr bwMode="auto">
          <a:xfrm>
            <a:off x="142875" y="190500"/>
            <a:ext cx="43656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b="1">
                <a:solidFill>
                  <a:srgbClr val="202AF4"/>
                </a:solidFill>
                <a:latin typeface="Times New Roman" panose="02020603050405020304" pitchFamily="18" charset="0"/>
                <a:cs typeface="Times New Roman" panose="02020603050405020304" pitchFamily="18" charset="0"/>
              </a:rPr>
              <a:t>1.3 </a:t>
            </a:r>
            <a:r>
              <a:rPr lang="zh-CN" altLang="en-US" sz="2800" b="1">
                <a:solidFill>
                  <a:srgbClr val="202AF4"/>
                </a:solidFill>
                <a:latin typeface="Times New Roman" panose="02020603050405020304" pitchFamily="18" charset="0"/>
                <a:cs typeface="Times New Roman" panose="02020603050405020304" pitchFamily="18" charset="0"/>
              </a:rPr>
              <a:t>原子核的自旋与磁矩</a:t>
            </a:r>
          </a:p>
        </p:txBody>
      </p:sp>
      <p:sp>
        <p:nvSpPr>
          <p:cNvPr id="8198" name="Text Box 20">
            <a:extLst>
              <a:ext uri="{FF2B5EF4-FFF2-40B4-BE49-F238E27FC236}">
                <a16:creationId xmlns:a16="http://schemas.microsoft.com/office/drawing/2014/main" id="{829A604B-8376-4FB8-BE0B-529AEC98AD99}"/>
              </a:ext>
            </a:extLst>
          </p:cNvPr>
          <p:cNvSpPr txBox="1">
            <a:spLocks noChangeArrowheads="1"/>
          </p:cNvSpPr>
          <p:nvPr/>
        </p:nvSpPr>
        <p:spPr bwMode="auto">
          <a:xfrm>
            <a:off x="8772525" y="6400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1">
                <a:latin typeface="Times New Roman" panose="02020603050405020304" pitchFamily="18" charset="0"/>
              </a:rPr>
              <a:t>3</a:t>
            </a:r>
            <a:endParaRPr lang="en-US" altLang="zh-CN" sz="1800"/>
          </a:p>
        </p:txBody>
      </p:sp>
      <p:grpSp>
        <p:nvGrpSpPr>
          <p:cNvPr id="8199" name="Group 14">
            <a:extLst>
              <a:ext uri="{FF2B5EF4-FFF2-40B4-BE49-F238E27FC236}">
                <a16:creationId xmlns:a16="http://schemas.microsoft.com/office/drawing/2014/main" id="{94D97508-6D55-4AE5-9D51-859DAD83F660}"/>
              </a:ext>
            </a:extLst>
          </p:cNvPr>
          <p:cNvGrpSpPr>
            <a:grpSpLocks/>
          </p:cNvGrpSpPr>
          <p:nvPr/>
        </p:nvGrpSpPr>
        <p:grpSpPr bwMode="auto">
          <a:xfrm>
            <a:off x="1714500" y="3857625"/>
            <a:ext cx="4071938" cy="1173163"/>
            <a:chOff x="1080" y="2430"/>
            <a:chExt cx="2565" cy="739"/>
          </a:xfrm>
        </p:grpSpPr>
        <p:graphicFrame>
          <p:nvGraphicFramePr>
            <p:cNvPr id="8203" name="Object 4">
              <a:extLst>
                <a:ext uri="{FF2B5EF4-FFF2-40B4-BE49-F238E27FC236}">
                  <a16:creationId xmlns:a16="http://schemas.microsoft.com/office/drawing/2014/main" id="{02B07AF1-EAFF-4551-B4CF-909C8426830C}"/>
                </a:ext>
              </a:extLst>
            </p:cNvPr>
            <p:cNvGraphicFramePr>
              <a:graphicFrameLocks noChangeAspect="1"/>
            </p:cNvGraphicFramePr>
            <p:nvPr/>
          </p:nvGraphicFramePr>
          <p:xfrm>
            <a:off x="1935" y="2430"/>
            <a:ext cx="1710" cy="739"/>
          </p:xfrm>
          <a:graphic>
            <a:graphicData uri="http://schemas.openxmlformats.org/presentationml/2006/ole">
              <mc:AlternateContent xmlns:mc="http://schemas.openxmlformats.org/markup-compatibility/2006">
                <mc:Choice xmlns:v="urn:schemas-microsoft-com:vml" Requires="v">
                  <p:oleObj spid="_x0000_s8212" name="Equation" r:id="rId5" imgW="1028254" imgH="444307" progId="Equation.DSMT4">
                    <p:embed/>
                  </p:oleObj>
                </mc:Choice>
                <mc:Fallback>
                  <p:oleObj name="Equation" r:id="rId5" imgW="1028254" imgH="444307"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35" y="2430"/>
                          <a:ext cx="1710" cy="7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204" name="TextBox 11">
              <a:extLst>
                <a:ext uri="{FF2B5EF4-FFF2-40B4-BE49-F238E27FC236}">
                  <a16:creationId xmlns:a16="http://schemas.microsoft.com/office/drawing/2014/main" id="{BF97949A-DA00-447E-A351-E3762E44AF5C}"/>
                </a:ext>
              </a:extLst>
            </p:cNvPr>
            <p:cNvSpPr txBox="1">
              <a:spLocks noChangeArrowheads="1"/>
            </p:cNvSpPr>
            <p:nvPr/>
          </p:nvSpPr>
          <p:spPr bwMode="auto">
            <a:xfrm>
              <a:off x="1080" y="2614"/>
              <a:ext cx="66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b="1"/>
                <a:t>磁矩：</a:t>
              </a:r>
            </a:p>
          </p:txBody>
        </p:sp>
      </p:grpSp>
      <p:sp>
        <p:nvSpPr>
          <p:cNvPr id="8200" name="TextBox 12">
            <a:extLst>
              <a:ext uri="{FF2B5EF4-FFF2-40B4-BE49-F238E27FC236}">
                <a16:creationId xmlns:a16="http://schemas.microsoft.com/office/drawing/2014/main" id="{D47E1FE7-9842-4609-8DD7-168FA6DEE4C6}"/>
              </a:ext>
            </a:extLst>
          </p:cNvPr>
          <p:cNvSpPr txBox="1">
            <a:spLocks noChangeArrowheads="1"/>
          </p:cNvSpPr>
          <p:nvPr/>
        </p:nvSpPr>
        <p:spPr bwMode="auto">
          <a:xfrm>
            <a:off x="357188" y="5286375"/>
            <a:ext cx="27146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b="1">
                <a:latin typeface="Times New Roman" panose="02020603050405020304" pitchFamily="18" charset="0"/>
                <a:cs typeface="Times New Roman" panose="02020603050405020304" pitchFamily="18" charset="0"/>
              </a:rPr>
              <a:t>其在</a:t>
            </a:r>
            <a:r>
              <a:rPr lang="en-US" altLang="zh-CN" sz="2800" b="1" i="1">
                <a:latin typeface="Times New Roman" panose="02020603050405020304" pitchFamily="18" charset="0"/>
                <a:cs typeface="Times New Roman" panose="02020603050405020304" pitchFamily="18" charset="0"/>
              </a:rPr>
              <a:t>z</a:t>
            </a:r>
            <a:r>
              <a:rPr lang="zh-CN" altLang="en-US" sz="2800" b="1">
                <a:latin typeface="Times New Roman" panose="02020603050405020304" pitchFamily="18" charset="0"/>
                <a:cs typeface="Times New Roman" panose="02020603050405020304" pitchFamily="18" charset="0"/>
              </a:rPr>
              <a:t>上的投影：</a:t>
            </a:r>
          </a:p>
        </p:txBody>
      </p:sp>
      <p:graphicFrame>
        <p:nvGraphicFramePr>
          <p:cNvPr id="8201" name="Object 5">
            <a:extLst>
              <a:ext uri="{FF2B5EF4-FFF2-40B4-BE49-F238E27FC236}">
                <a16:creationId xmlns:a16="http://schemas.microsoft.com/office/drawing/2014/main" id="{996E912B-D914-4D3A-897B-8AB85E09BBB3}"/>
              </a:ext>
            </a:extLst>
          </p:cNvPr>
          <p:cNvGraphicFramePr>
            <a:graphicFrameLocks noChangeAspect="1"/>
          </p:cNvGraphicFramePr>
          <p:nvPr/>
        </p:nvGraphicFramePr>
        <p:xfrm>
          <a:off x="3000375" y="5072063"/>
          <a:ext cx="4457700" cy="1173162"/>
        </p:xfrm>
        <a:graphic>
          <a:graphicData uri="http://schemas.openxmlformats.org/presentationml/2006/ole">
            <mc:AlternateContent xmlns:mc="http://schemas.openxmlformats.org/markup-compatibility/2006">
              <mc:Choice xmlns:v="urn:schemas-microsoft-com:vml" Requires="v">
                <p:oleObj spid="_x0000_s8213" name="Equation" r:id="rId7" imgW="1688367" imgH="444307" progId="Equation.DSMT4">
                  <p:embed/>
                </p:oleObj>
              </mc:Choice>
              <mc:Fallback>
                <p:oleObj name="Equation" r:id="rId7" imgW="1688367" imgH="444307" progId="Equation.DSMT4">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00375" y="5072063"/>
                        <a:ext cx="4457700" cy="11731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 name="圆角矩形 14">
            <a:extLst>
              <a:ext uri="{FF2B5EF4-FFF2-40B4-BE49-F238E27FC236}">
                <a16:creationId xmlns:a16="http://schemas.microsoft.com/office/drawing/2014/main" id="{5F6006FA-1757-4BCF-91B1-C63DA6B30F76}"/>
              </a:ext>
            </a:extLst>
          </p:cNvPr>
          <p:cNvSpPr/>
          <p:nvPr/>
        </p:nvSpPr>
        <p:spPr>
          <a:xfrm>
            <a:off x="4429125" y="5072063"/>
            <a:ext cx="1143000" cy="1214437"/>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solidFill>
                <a:schemeClr val="tx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7" name="Rectangle 3">
            <a:extLst>
              <a:ext uri="{FF2B5EF4-FFF2-40B4-BE49-F238E27FC236}">
                <a16:creationId xmlns:a16="http://schemas.microsoft.com/office/drawing/2014/main" id="{8A7475FA-CD36-4366-91D9-52AEC92AFB41}"/>
              </a:ext>
            </a:extLst>
          </p:cNvPr>
          <p:cNvSpPr>
            <a:spLocks noChangeArrowheads="1"/>
          </p:cNvSpPr>
          <p:nvPr/>
        </p:nvSpPr>
        <p:spPr bwMode="auto">
          <a:xfrm>
            <a:off x="500063" y="928688"/>
            <a:ext cx="8159750" cy="287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0"/>
              </a:spcBef>
              <a:buFontTx/>
              <a:buNone/>
            </a:pPr>
            <a:r>
              <a:rPr lang="zh-CN" altLang="en-US" sz="2800" b="1">
                <a:latin typeface="Times New Roman" panose="02020603050405020304" pitchFamily="18" charset="0"/>
                <a:cs typeface="Times New Roman" panose="02020603050405020304" pitchFamily="18" charset="0"/>
              </a:rPr>
              <a:t>组成原子核的质子之间存在着较强的</a:t>
            </a:r>
            <a:r>
              <a:rPr lang="zh-CN" altLang="en-US" sz="2800" b="1">
                <a:solidFill>
                  <a:srgbClr val="202AF4"/>
                </a:solidFill>
                <a:latin typeface="Times New Roman" panose="02020603050405020304" pitchFamily="18" charset="0"/>
                <a:cs typeface="Times New Roman" panose="02020603050405020304" pitchFamily="18" charset="0"/>
              </a:rPr>
              <a:t>库仑斥力</a:t>
            </a:r>
            <a:r>
              <a:rPr lang="zh-CN" altLang="en-US" sz="2800" b="1">
                <a:latin typeface="Times New Roman" panose="02020603050405020304" pitchFamily="18" charset="0"/>
                <a:cs typeface="Times New Roman" panose="02020603050405020304" pitchFamily="18" charset="0"/>
              </a:rPr>
              <a:t>，力图使原子核解体，而万有引力比电磁力小</a:t>
            </a:r>
            <a:r>
              <a:rPr lang="en-US" altLang="zh-CN" sz="2800" b="1">
                <a:latin typeface="Times New Roman" panose="02020603050405020304" pitchFamily="18" charset="0"/>
                <a:cs typeface="Times New Roman" panose="02020603050405020304" pitchFamily="18" charset="0"/>
              </a:rPr>
              <a:t>10</a:t>
            </a:r>
            <a:r>
              <a:rPr lang="en-US" altLang="zh-CN" sz="2800" b="1" baseline="30000">
                <a:latin typeface="Times New Roman" panose="02020603050405020304" pitchFamily="18" charset="0"/>
                <a:cs typeface="Times New Roman" panose="02020603050405020304" pitchFamily="18" charset="0"/>
              </a:rPr>
              <a:t>37</a:t>
            </a:r>
            <a:r>
              <a:rPr lang="zh-CN" altLang="en-US" sz="2800" b="1">
                <a:latin typeface="Times New Roman" panose="02020603050405020304" pitchFamily="18" charset="0"/>
                <a:cs typeface="Times New Roman" panose="02020603050405020304" pitchFamily="18" charset="0"/>
              </a:rPr>
              <a:t>倍，远不能抵消静电力的作用而把核子束缚在一起。</a:t>
            </a:r>
          </a:p>
          <a:p>
            <a:pPr eaLnBrk="1" hangingPunct="1">
              <a:lnSpc>
                <a:spcPct val="130000"/>
              </a:lnSpc>
              <a:spcBef>
                <a:spcPct val="0"/>
              </a:spcBef>
              <a:buFontTx/>
              <a:buNone/>
            </a:pPr>
            <a:r>
              <a:rPr lang="zh-CN" altLang="en-US" sz="2800" b="1">
                <a:latin typeface="Times New Roman" panose="02020603050405020304" pitchFamily="18" charset="0"/>
                <a:cs typeface="Times New Roman" panose="02020603050405020304" pitchFamily="18" charset="0"/>
              </a:rPr>
              <a:t>由此推测，核子之间必定存在着另一种相互作用力，称为</a:t>
            </a:r>
            <a:r>
              <a:rPr lang="zh-CN" altLang="en-US" sz="2800" b="1">
                <a:solidFill>
                  <a:srgbClr val="202AF4"/>
                </a:solidFill>
                <a:latin typeface="Times New Roman" panose="02020603050405020304" pitchFamily="18" charset="0"/>
                <a:cs typeface="Times New Roman" panose="02020603050405020304" pitchFamily="18" charset="0"/>
              </a:rPr>
              <a:t>核力</a:t>
            </a:r>
            <a:r>
              <a:rPr lang="zh-CN" altLang="en-US" sz="2800" b="1">
                <a:latin typeface="Times New Roman" panose="02020603050405020304" pitchFamily="18" charset="0"/>
                <a:cs typeface="Times New Roman" panose="02020603050405020304" pitchFamily="18" charset="0"/>
              </a:rPr>
              <a:t>：</a:t>
            </a:r>
          </a:p>
        </p:txBody>
      </p:sp>
      <p:sp>
        <p:nvSpPr>
          <p:cNvPr id="159753" name="Rectangle 9">
            <a:extLst>
              <a:ext uri="{FF2B5EF4-FFF2-40B4-BE49-F238E27FC236}">
                <a16:creationId xmlns:a16="http://schemas.microsoft.com/office/drawing/2014/main" id="{085EB87C-83A5-49C5-88B2-665A1D659CA8}"/>
              </a:ext>
            </a:extLst>
          </p:cNvPr>
          <p:cNvSpPr>
            <a:spLocks noChangeArrowheads="1"/>
          </p:cNvSpPr>
          <p:nvPr/>
        </p:nvSpPr>
        <p:spPr bwMode="auto">
          <a:xfrm>
            <a:off x="431800" y="3929063"/>
            <a:ext cx="8212138" cy="1212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0"/>
              </a:spcBef>
              <a:buClr>
                <a:schemeClr val="accent6"/>
              </a:buClr>
              <a:buFont typeface="Wingdings" panose="05000000000000000000" pitchFamily="2" charset="2"/>
              <a:buChar char="Ø"/>
              <a:defRPr/>
            </a:pPr>
            <a:r>
              <a:rPr lang="zh-CN" altLang="en-US" sz="2800" b="1" dirty="0">
                <a:latin typeface="Times New Roman" panose="02020603050405020304" pitchFamily="18" charset="0"/>
                <a:cs typeface="Times New Roman" panose="02020603050405020304" pitchFamily="18" charset="0"/>
              </a:rPr>
              <a:t>  </a:t>
            </a:r>
            <a:r>
              <a:rPr lang="zh-CN" altLang="en-US" sz="2800" b="1" dirty="0">
                <a:solidFill>
                  <a:srgbClr val="202AF4"/>
                </a:solidFill>
                <a:latin typeface="Times New Roman" panose="02020603050405020304" pitchFamily="18" charset="0"/>
                <a:cs typeface="Times New Roman" panose="02020603050405020304" pitchFamily="18" charset="0"/>
              </a:rPr>
              <a:t>核力</a:t>
            </a:r>
            <a:r>
              <a:rPr lang="zh-CN" altLang="en-US" sz="2800" b="1" dirty="0">
                <a:latin typeface="Times New Roman" panose="02020603050405020304" pitchFamily="18" charset="0"/>
                <a:cs typeface="Times New Roman" panose="02020603050405020304" pitchFamily="18" charset="0"/>
              </a:rPr>
              <a:t>是一种比电磁力强得多的强相互作用力，主要是</a:t>
            </a:r>
            <a:r>
              <a:rPr lang="zh-CN" altLang="en-US" sz="2800" b="1" dirty="0">
                <a:solidFill>
                  <a:srgbClr val="202AF4"/>
                </a:solidFill>
                <a:latin typeface="Times New Roman" panose="02020603050405020304" pitchFamily="18" charset="0"/>
                <a:cs typeface="Times New Roman" panose="02020603050405020304" pitchFamily="18" charset="0"/>
              </a:rPr>
              <a:t>吸引力</a:t>
            </a:r>
            <a:r>
              <a:rPr lang="en-US" altLang="zh-CN" sz="2800" b="1" dirty="0">
                <a:solidFill>
                  <a:schemeClr val="accent2"/>
                </a:solidFill>
                <a:latin typeface="Times New Roman" panose="02020603050405020304" pitchFamily="18" charset="0"/>
                <a:cs typeface="Times New Roman" panose="02020603050405020304" pitchFamily="18" charset="0"/>
              </a:rPr>
              <a:t>.</a:t>
            </a:r>
            <a:r>
              <a:rPr lang="en-US" altLang="zh-CN" sz="2800" b="1" dirty="0">
                <a:latin typeface="Times New Roman" panose="02020603050405020304" pitchFamily="18" charset="0"/>
                <a:cs typeface="Times New Roman" panose="02020603050405020304" pitchFamily="18" charset="0"/>
              </a:rPr>
              <a:t> </a:t>
            </a:r>
          </a:p>
        </p:txBody>
      </p:sp>
      <p:sp>
        <p:nvSpPr>
          <p:cNvPr id="159754" name="Rectangle 10">
            <a:extLst>
              <a:ext uri="{FF2B5EF4-FFF2-40B4-BE49-F238E27FC236}">
                <a16:creationId xmlns:a16="http://schemas.microsoft.com/office/drawing/2014/main" id="{445BB98F-C483-47EE-BD6E-193EA2416D93}"/>
              </a:ext>
            </a:extLst>
          </p:cNvPr>
          <p:cNvSpPr>
            <a:spLocks noChangeArrowheads="1"/>
          </p:cNvSpPr>
          <p:nvPr/>
        </p:nvSpPr>
        <p:spPr bwMode="auto">
          <a:xfrm>
            <a:off x="454025" y="5143500"/>
            <a:ext cx="8189913" cy="1212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0"/>
              </a:spcBef>
              <a:buClr>
                <a:schemeClr val="accent2"/>
              </a:buClr>
              <a:buFont typeface="Wingdings" panose="05000000000000000000" pitchFamily="2" charset="2"/>
              <a:buChar char="Ø"/>
            </a:pPr>
            <a:r>
              <a:rPr lang="zh-CN" altLang="en-US" sz="2800" b="1">
                <a:latin typeface="Times New Roman" panose="02020603050405020304" pitchFamily="18" charset="0"/>
                <a:cs typeface="Times New Roman" panose="02020603050405020304" pitchFamily="18" charset="0"/>
              </a:rPr>
              <a:t>  </a:t>
            </a:r>
            <a:r>
              <a:rPr lang="zh-CN" altLang="en-US" sz="2800" b="1">
                <a:solidFill>
                  <a:srgbClr val="202AF4"/>
                </a:solidFill>
                <a:latin typeface="Times New Roman" panose="02020603050405020304" pitchFamily="18" charset="0"/>
                <a:cs typeface="Times New Roman" panose="02020603050405020304" pitchFamily="18" charset="0"/>
              </a:rPr>
              <a:t>核力是短程力</a:t>
            </a:r>
            <a:r>
              <a:rPr lang="zh-CN" altLang="en-US" sz="2800" b="1">
                <a:latin typeface="Times New Roman" panose="02020603050405020304" pitchFamily="18" charset="0"/>
                <a:cs typeface="Times New Roman" panose="02020603050405020304" pitchFamily="18" charset="0"/>
              </a:rPr>
              <a:t>，只有当核子间距离</a:t>
            </a:r>
            <a:r>
              <a:rPr lang="zh-CN" altLang="en-US" sz="2800" b="1">
                <a:solidFill>
                  <a:srgbClr val="202AF4"/>
                </a:solidFill>
                <a:latin typeface="Times New Roman" panose="02020603050405020304" pitchFamily="18" charset="0"/>
                <a:cs typeface="Times New Roman" panose="02020603050405020304" pitchFamily="18" charset="0"/>
              </a:rPr>
              <a:t>小于</a:t>
            </a:r>
            <a:r>
              <a:rPr lang="en-US" altLang="zh-CN" sz="2800" b="1">
                <a:solidFill>
                  <a:schemeClr val="accent2"/>
                </a:solidFill>
                <a:latin typeface="Times New Roman" panose="02020603050405020304" pitchFamily="18" charset="0"/>
                <a:cs typeface="Times New Roman" panose="02020603050405020304" pitchFamily="18" charset="0"/>
              </a:rPr>
              <a:t>10</a:t>
            </a:r>
            <a:r>
              <a:rPr lang="zh-CN" altLang="en-US" sz="2800" b="1" baseline="30000">
                <a:solidFill>
                  <a:schemeClr val="accent2"/>
                </a:solidFill>
                <a:latin typeface="Times New Roman" panose="02020603050405020304" pitchFamily="18" charset="0"/>
                <a:cs typeface="Times New Roman" panose="02020603050405020304" pitchFamily="18" charset="0"/>
              </a:rPr>
              <a:t>－</a:t>
            </a:r>
            <a:r>
              <a:rPr lang="en-US" altLang="zh-CN" sz="2800" b="1" baseline="30000">
                <a:solidFill>
                  <a:schemeClr val="accent2"/>
                </a:solidFill>
                <a:latin typeface="Times New Roman" panose="02020603050405020304" pitchFamily="18" charset="0"/>
                <a:cs typeface="Times New Roman" panose="02020603050405020304" pitchFamily="18" charset="0"/>
              </a:rPr>
              <a:t>15 </a:t>
            </a:r>
            <a:r>
              <a:rPr lang="en-US" altLang="zh-CN" sz="2800" b="1">
                <a:solidFill>
                  <a:schemeClr val="accent2"/>
                </a:solidFill>
                <a:latin typeface="Times New Roman" panose="02020603050405020304" pitchFamily="18" charset="0"/>
                <a:cs typeface="Times New Roman" panose="02020603050405020304" pitchFamily="18" charset="0"/>
              </a:rPr>
              <a:t>m</a:t>
            </a:r>
            <a:r>
              <a:rPr lang="zh-CN" altLang="en-US" sz="2800" b="1">
                <a:latin typeface="Times New Roman" panose="02020603050405020304" pitchFamily="18" charset="0"/>
                <a:cs typeface="Times New Roman" panose="02020603050405020304" pitchFamily="18" charset="0"/>
              </a:rPr>
              <a:t>时才显示出来，大于</a:t>
            </a:r>
            <a:r>
              <a:rPr lang="en-US" altLang="zh-CN" sz="2800" b="1">
                <a:latin typeface="Times New Roman" panose="02020603050405020304" pitchFamily="18" charset="0"/>
                <a:cs typeface="Times New Roman" panose="02020603050405020304" pitchFamily="18" charset="0"/>
              </a:rPr>
              <a:t>10</a:t>
            </a:r>
            <a:r>
              <a:rPr lang="zh-CN" altLang="en-US" sz="2800" b="1" baseline="30000">
                <a:latin typeface="Times New Roman" panose="02020603050405020304" pitchFamily="18" charset="0"/>
                <a:cs typeface="Times New Roman" panose="02020603050405020304" pitchFamily="18" charset="0"/>
              </a:rPr>
              <a:t>－</a:t>
            </a:r>
            <a:r>
              <a:rPr lang="en-US" altLang="zh-CN" sz="2800" b="1" baseline="30000">
                <a:latin typeface="Times New Roman" panose="02020603050405020304" pitchFamily="18" charset="0"/>
                <a:cs typeface="Times New Roman" panose="02020603050405020304" pitchFamily="18" charset="0"/>
              </a:rPr>
              <a:t>15 </a:t>
            </a:r>
            <a:r>
              <a:rPr lang="en-US" altLang="zh-CN" sz="2800" b="1">
                <a:latin typeface="Times New Roman" panose="02020603050405020304" pitchFamily="18" charset="0"/>
                <a:cs typeface="Times New Roman" panose="02020603050405020304" pitchFamily="18" charset="0"/>
              </a:rPr>
              <a:t>m</a:t>
            </a:r>
            <a:r>
              <a:rPr lang="zh-CN" altLang="en-US" sz="2800" b="1">
                <a:latin typeface="Times New Roman" panose="02020603050405020304" pitchFamily="18" charset="0"/>
                <a:cs typeface="Times New Roman" panose="02020603050405020304" pitchFamily="18" charset="0"/>
              </a:rPr>
              <a:t>时核力远小于库仑力</a:t>
            </a:r>
            <a:r>
              <a:rPr lang="en-US" altLang="zh-CN" sz="2800" b="1">
                <a:latin typeface="Times New Roman" panose="02020603050405020304" pitchFamily="18" charset="0"/>
                <a:cs typeface="Times New Roman" panose="02020603050405020304" pitchFamily="18" charset="0"/>
              </a:rPr>
              <a:t>.</a:t>
            </a:r>
          </a:p>
        </p:txBody>
      </p:sp>
      <p:sp>
        <p:nvSpPr>
          <p:cNvPr id="8" name="Text Box 182">
            <a:extLst>
              <a:ext uri="{FF2B5EF4-FFF2-40B4-BE49-F238E27FC236}">
                <a16:creationId xmlns:a16="http://schemas.microsoft.com/office/drawing/2014/main" id="{8D7F5596-E98F-4EC4-ABC2-3F25BF511A81}"/>
              </a:ext>
            </a:extLst>
          </p:cNvPr>
          <p:cNvSpPr txBox="1">
            <a:spLocks noChangeArrowheads="1"/>
          </p:cNvSpPr>
          <p:nvPr/>
        </p:nvSpPr>
        <p:spPr bwMode="auto">
          <a:xfrm>
            <a:off x="71438" y="260350"/>
            <a:ext cx="469106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b="1">
                <a:solidFill>
                  <a:srgbClr val="202AF4"/>
                </a:solidFill>
                <a:latin typeface="Times New Roman" panose="02020603050405020304" pitchFamily="18" charset="0"/>
                <a:cs typeface="Times New Roman" panose="02020603050405020304" pitchFamily="18" charset="0"/>
              </a:rPr>
              <a:t>1.4 </a:t>
            </a:r>
            <a:r>
              <a:rPr lang="zh-CN" altLang="en-US" sz="2800" b="1">
                <a:solidFill>
                  <a:srgbClr val="202AF4"/>
                </a:solidFill>
                <a:latin typeface="Times New Roman" panose="02020603050405020304" pitchFamily="18" charset="0"/>
                <a:cs typeface="Times New Roman" panose="02020603050405020304" pitchFamily="18" charset="0"/>
              </a:rPr>
              <a:t>原子核的核力和结合能</a:t>
            </a:r>
          </a:p>
        </p:txBody>
      </p:sp>
      <p:sp>
        <p:nvSpPr>
          <p:cNvPr id="9222" name="Text Box 20">
            <a:extLst>
              <a:ext uri="{FF2B5EF4-FFF2-40B4-BE49-F238E27FC236}">
                <a16:creationId xmlns:a16="http://schemas.microsoft.com/office/drawing/2014/main" id="{B8A7B2DE-3901-4AE8-B53F-2340F7296601}"/>
              </a:ext>
            </a:extLst>
          </p:cNvPr>
          <p:cNvSpPr txBox="1">
            <a:spLocks noChangeArrowheads="1"/>
          </p:cNvSpPr>
          <p:nvPr/>
        </p:nvSpPr>
        <p:spPr bwMode="auto">
          <a:xfrm>
            <a:off x="8772525" y="6400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1">
                <a:latin typeface="Times New Roman" panose="02020603050405020304" pitchFamily="18" charset="0"/>
              </a:rPr>
              <a:t>5</a:t>
            </a:r>
            <a:endParaRPr lang="en-US" altLang="zh-CN" sz="18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slide(fromBottom)">
                                      <p:cBhvr>
                                        <p:cTn id="7" dur="500"/>
                                        <p:tgtEl>
                                          <p:spTgt spid="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59747">
                                            <p:txEl>
                                              <p:pRg st="0" end="0"/>
                                            </p:txEl>
                                          </p:spTgt>
                                        </p:tgtEl>
                                        <p:attrNameLst>
                                          <p:attrName>style.visibility</p:attrName>
                                        </p:attrNameLst>
                                      </p:cBhvr>
                                      <p:to>
                                        <p:strVal val="visible"/>
                                      </p:to>
                                    </p:set>
                                    <p:animEffect transition="in" filter="blinds(horizontal)">
                                      <p:cBhvr>
                                        <p:cTn id="12" dur="500"/>
                                        <p:tgtEl>
                                          <p:spTgt spid="159747">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nodeType="clickEffect">
                                  <p:stCondLst>
                                    <p:cond delay="0"/>
                                  </p:stCondLst>
                                  <p:childTnLst>
                                    <p:set>
                                      <p:cBhvr>
                                        <p:cTn id="16" dur="1" fill="hold">
                                          <p:stCondLst>
                                            <p:cond delay="0"/>
                                          </p:stCondLst>
                                        </p:cTn>
                                        <p:tgtEl>
                                          <p:spTgt spid="159747">
                                            <p:txEl>
                                              <p:pRg st="1" end="1"/>
                                            </p:txEl>
                                          </p:spTgt>
                                        </p:tgtEl>
                                        <p:attrNameLst>
                                          <p:attrName>style.visibility</p:attrName>
                                        </p:attrNameLst>
                                      </p:cBhvr>
                                      <p:to>
                                        <p:strVal val="visible"/>
                                      </p:to>
                                    </p:set>
                                    <p:anim calcmode="lin" valueType="num">
                                      <p:cBhvr additive="base">
                                        <p:cTn id="17" dur="500" fill="hold"/>
                                        <p:tgtEl>
                                          <p:spTgt spid="159747">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5974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5" presetClass="entr" presetSubtype="10" fill="hold" grpId="0" nodeType="clickEffect">
                                  <p:stCondLst>
                                    <p:cond delay="0"/>
                                  </p:stCondLst>
                                  <p:childTnLst>
                                    <p:set>
                                      <p:cBhvr>
                                        <p:cTn id="22" dur="1" fill="hold">
                                          <p:stCondLst>
                                            <p:cond delay="0"/>
                                          </p:stCondLst>
                                        </p:cTn>
                                        <p:tgtEl>
                                          <p:spTgt spid="159753"/>
                                        </p:tgtEl>
                                        <p:attrNameLst>
                                          <p:attrName>style.visibility</p:attrName>
                                        </p:attrNameLst>
                                      </p:cBhvr>
                                      <p:to>
                                        <p:strVal val="visible"/>
                                      </p:to>
                                    </p:set>
                                    <p:animEffect transition="in" filter="checkerboard(across)">
                                      <p:cBhvr>
                                        <p:cTn id="23" dur="500"/>
                                        <p:tgtEl>
                                          <p:spTgt spid="159753"/>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5" presetClass="entr" presetSubtype="10" fill="hold" grpId="0" nodeType="clickEffect">
                                  <p:stCondLst>
                                    <p:cond delay="0"/>
                                  </p:stCondLst>
                                  <p:childTnLst>
                                    <p:set>
                                      <p:cBhvr>
                                        <p:cTn id="27" dur="1" fill="hold">
                                          <p:stCondLst>
                                            <p:cond delay="0"/>
                                          </p:stCondLst>
                                        </p:cTn>
                                        <p:tgtEl>
                                          <p:spTgt spid="159754"/>
                                        </p:tgtEl>
                                        <p:attrNameLst>
                                          <p:attrName>style.visibility</p:attrName>
                                        </p:attrNameLst>
                                      </p:cBhvr>
                                      <p:to>
                                        <p:strVal val="visible"/>
                                      </p:to>
                                    </p:set>
                                    <p:animEffect transition="in" filter="checkerboard(across)">
                                      <p:cBhvr>
                                        <p:cTn id="28" dur="500"/>
                                        <p:tgtEl>
                                          <p:spTgt spid="1597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9753" grpId="0" autoUpdateAnimBg="0"/>
      <p:bldP spid="159754" grpId="0" autoUpdateAnimBg="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3" name="Rectangle 5">
            <a:extLst>
              <a:ext uri="{FF2B5EF4-FFF2-40B4-BE49-F238E27FC236}">
                <a16:creationId xmlns:a16="http://schemas.microsoft.com/office/drawing/2014/main" id="{E56770C6-6F50-4469-974F-6B5E9B3DC84E}"/>
              </a:ext>
            </a:extLst>
          </p:cNvPr>
          <p:cNvSpPr>
            <a:spLocks noChangeArrowheads="1"/>
          </p:cNvSpPr>
          <p:nvPr/>
        </p:nvSpPr>
        <p:spPr bwMode="auto">
          <a:xfrm>
            <a:off x="431800" y="307975"/>
            <a:ext cx="8189913" cy="175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0"/>
              </a:spcBef>
              <a:buClr>
                <a:schemeClr val="accent6"/>
              </a:buClr>
              <a:buFont typeface="Wingdings" panose="05000000000000000000" pitchFamily="2" charset="2"/>
              <a:buChar char="Ø"/>
              <a:defRPr/>
            </a:pPr>
            <a:r>
              <a:rPr lang="zh-CN" altLang="en-US" sz="2800" b="1" dirty="0">
                <a:solidFill>
                  <a:schemeClr val="accent2"/>
                </a:solidFill>
                <a:latin typeface="Times New Roman" panose="02020603050405020304" pitchFamily="18" charset="0"/>
                <a:cs typeface="Times New Roman" panose="02020603050405020304" pitchFamily="18" charset="0"/>
              </a:rPr>
              <a:t>  </a:t>
            </a:r>
            <a:r>
              <a:rPr lang="zh-CN" altLang="en-US" sz="2800" b="1" dirty="0">
                <a:solidFill>
                  <a:srgbClr val="202AF4"/>
                </a:solidFill>
                <a:latin typeface="Times New Roman" panose="02020603050405020304" pitchFamily="18" charset="0"/>
                <a:cs typeface="Times New Roman" panose="02020603050405020304" pitchFamily="18" charset="0"/>
              </a:rPr>
              <a:t>核力与核子的带电状况无关</a:t>
            </a:r>
            <a:r>
              <a:rPr lang="zh-CN" altLang="en-US" sz="2800" b="1" dirty="0">
                <a:latin typeface="Times New Roman" panose="02020603050405020304" pitchFamily="18" charset="0"/>
                <a:cs typeface="Times New Roman" panose="02020603050405020304" pitchFamily="18" charset="0"/>
              </a:rPr>
              <a:t>。大量实验表明，质子之间，中子之间，质子和中子之间所表现的核力作用大致相同。</a:t>
            </a:r>
            <a:endParaRPr lang="en-US" altLang="zh-CN" sz="2800" b="1" dirty="0">
              <a:latin typeface="Times New Roman" panose="02020603050405020304" pitchFamily="18" charset="0"/>
              <a:cs typeface="Times New Roman" panose="02020603050405020304" pitchFamily="18" charset="0"/>
            </a:endParaRPr>
          </a:p>
        </p:txBody>
      </p:sp>
      <p:sp>
        <p:nvSpPr>
          <p:cNvPr id="160774" name="Rectangle 6">
            <a:extLst>
              <a:ext uri="{FF2B5EF4-FFF2-40B4-BE49-F238E27FC236}">
                <a16:creationId xmlns:a16="http://schemas.microsoft.com/office/drawing/2014/main" id="{AFF78AC8-1B71-498A-B8FF-588655903095}"/>
              </a:ext>
            </a:extLst>
          </p:cNvPr>
          <p:cNvSpPr>
            <a:spLocks noChangeArrowheads="1"/>
          </p:cNvSpPr>
          <p:nvPr/>
        </p:nvSpPr>
        <p:spPr bwMode="auto">
          <a:xfrm>
            <a:off x="454025" y="2384425"/>
            <a:ext cx="8189913" cy="175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0"/>
              </a:spcBef>
              <a:buClr>
                <a:schemeClr val="accent6"/>
              </a:buClr>
              <a:buFont typeface="Wingdings" panose="05000000000000000000" pitchFamily="2" charset="2"/>
              <a:buChar char="Ø"/>
              <a:defRPr/>
            </a:pPr>
            <a:r>
              <a:rPr lang="zh-CN" altLang="en-US" sz="2800" b="1" dirty="0">
                <a:latin typeface="Times New Roman" panose="02020603050405020304" pitchFamily="18" charset="0"/>
                <a:cs typeface="Times New Roman" panose="02020603050405020304" pitchFamily="18" charset="0"/>
              </a:rPr>
              <a:t>  </a:t>
            </a:r>
            <a:r>
              <a:rPr lang="zh-CN" altLang="en-US" sz="2800" b="1" dirty="0">
                <a:solidFill>
                  <a:srgbClr val="202AF4"/>
                </a:solidFill>
                <a:latin typeface="Times New Roman" panose="02020603050405020304" pitchFamily="18" charset="0"/>
                <a:cs typeface="Times New Roman" panose="02020603050405020304" pitchFamily="18" charset="0"/>
              </a:rPr>
              <a:t>核力具有饱和性</a:t>
            </a:r>
            <a:r>
              <a:rPr lang="zh-CN" altLang="en-US" sz="2800" b="1" dirty="0">
                <a:latin typeface="Times New Roman" panose="02020603050405020304" pitchFamily="18" charset="0"/>
                <a:cs typeface="Times New Roman" panose="02020603050405020304" pitchFamily="18" charset="0"/>
              </a:rPr>
              <a:t>。即一个核子只能与附近的有限个数的核子发生核力作用，而不能与原子核内所有核子发生这种作用。</a:t>
            </a:r>
            <a:endParaRPr lang="en-US" altLang="zh-CN" sz="2800" b="1" dirty="0">
              <a:latin typeface="Times New Roman" panose="02020603050405020304" pitchFamily="18" charset="0"/>
              <a:cs typeface="Times New Roman" panose="02020603050405020304" pitchFamily="18" charset="0"/>
            </a:endParaRPr>
          </a:p>
        </p:txBody>
      </p:sp>
      <p:sp>
        <p:nvSpPr>
          <p:cNvPr id="10244" name="Text Box 20">
            <a:extLst>
              <a:ext uri="{FF2B5EF4-FFF2-40B4-BE49-F238E27FC236}">
                <a16:creationId xmlns:a16="http://schemas.microsoft.com/office/drawing/2014/main" id="{21207F56-9284-4EC6-8B57-10990CF9B2C1}"/>
              </a:ext>
            </a:extLst>
          </p:cNvPr>
          <p:cNvSpPr txBox="1">
            <a:spLocks noChangeArrowheads="1"/>
          </p:cNvSpPr>
          <p:nvPr/>
        </p:nvSpPr>
        <p:spPr bwMode="auto">
          <a:xfrm>
            <a:off x="8772525" y="6400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1">
                <a:latin typeface="Times New Roman" panose="02020603050405020304" pitchFamily="18" charset="0"/>
              </a:rPr>
              <a:t>6</a:t>
            </a:r>
            <a:endParaRPr lang="en-US" altLang="zh-CN" sz="18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60773"/>
                                        </p:tgtEl>
                                        <p:attrNameLst>
                                          <p:attrName>style.visibility</p:attrName>
                                        </p:attrNameLst>
                                      </p:cBhvr>
                                      <p:to>
                                        <p:strVal val="visible"/>
                                      </p:to>
                                    </p:set>
                                    <p:animEffect transition="in" filter="checkerboard(across)">
                                      <p:cBhvr>
                                        <p:cTn id="7" dur="500"/>
                                        <p:tgtEl>
                                          <p:spTgt spid="16077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60774"/>
                                        </p:tgtEl>
                                        <p:attrNameLst>
                                          <p:attrName>style.visibility</p:attrName>
                                        </p:attrNameLst>
                                      </p:cBhvr>
                                      <p:to>
                                        <p:strVal val="visible"/>
                                      </p:to>
                                    </p:set>
                                    <p:animEffect transition="in" filter="checkerboard(across)">
                                      <p:cBhvr>
                                        <p:cTn id="12" dur="500"/>
                                        <p:tgtEl>
                                          <p:spTgt spid="1607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773" grpId="0" autoUpdateAnimBg="0"/>
      <p:bldP spid="160774" grpId="0"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2">
            <a:extLst>
              <a:ext uri="{FF2B5EF4-FFF2-40B4-BE49-F238E27FC236}">
                <a16:creationId xmlns:a16="http://schemas.microsoft.com/office/drawing/2014/main" id="{B892B9C8-A2BF-49A3-9B73-87C6B59ADF01}"/>
              </a:ext>
            </a:extLst>
          </p:cNvPr>
          <p:cNvSpPr>
            <a:spLocks noChangeArrowheads="1"/>
          </p:cNvSpPr>
          <p:nvPr/>
        </p:nvSpPr>
        <p:spPr bwMode="auto">
          <a:xfrm>
            <a:off x="357188" y="285750"/>
            <a:ext cx="34940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 typeface="Wingdings" panose="05000000000000000000" pitchFamily="2" charset="2"/>
              <a:buChar char="Ø"/>
            </a:pPr>
            <a:r>
              <a:rPr lang="zh-CN" altLang="en-US" sz="2800" b="1">
                <a:solidFill>
                  <a:schemeClr val="accent2"/>
                </a:solidFill>
                <a:latin typeface="宋体" panose="02010600030101010101" pitchFamily="2" charset="-122"/>
              </a:rPr>
              <a:t> </a:t>
            </a:r>
            <a:r>
              <a:rPr lang="zh-CN" altLang="en-US" sz="2800" b="1">
                <a:solidFill>
                  <a:srgbClr val="202AF4"/>
                </a:solidFill>
                <a:latin typeface="Times New Roman" panose="02020603050405020304" pitchFamily="18" charset="0"/>
                <a:cs typeface="Times New Roman" panose="02020603050405020304" pitchFamily="18" charset="0"/>
              </a:rPr>
              <a:t>原子核的结合能</a:t>
            </a:r>
          </a:p>
        </p:txBody>
      </p:sp>
      <p:sp>
        <p:nvSpPr>
          <p:cNvPr id="161795" name="Rectangle 3">
            <a:extLst>
              <a:ext uri="{FF2B5EF4-FFF2-40B4-BE49-F238E27FC236}">
                <a16:creationId xmlns:a16="http://schemas.microsoft.com/office/drawing/2014/main" id="{29BAC339-FC87-4CC2-A85A-0035C13AB9C1}"/>
              </a:ext>
            </a:extLst>
          </p:cNvPr>
          <p:cNvSpPr>
            <a:spLocks noChangeArrowheads="1"/>
          </p:cNvSpPr>
          <p:nvPr/>
        </p:nvSpPr>
        <p:spPr bwMode="auto">
          <a:xfrm>
            <a:off x="790575" y="908050"/>
            <a:ext cx="8029575" cy="175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0"/>
              </a:spcBef>
              <a:buFontTx/>
              <a:buNone/>
            </a:pPr>
            <a:r>
              <a:rPr lang="zh-CN" altLang="en-US" sz="2800" b="1">
                <a:latin typeface="Times New Roman" panose="02020603050405020304" pitchFamily="18" charset="0"/>
                <a:cs typeface="Times New Roman" panose="02020603050405020304" pitchFamily="18" charset="0"/>
              </a:rPr>
              <a:t>实验发现，任何一个</a:t>
            </a:r>
            <a:r>
              <a:rPr lang="zh-CN" altLang="en-US" sz="2800" b="1">
                <a:solidFill>
                  <a:srgbClr val="202AF4"/>
                </a:solidFill>
                <a:latin typeface="Times New Roman" panose="02020603050405020304" pitchFamily="18" charset="0"/>
                <a:cs typeface="Times New Roman" panose="02020603050405020304" pitchFamily="18" charset="0"/>
              </a:rPr>
              <a:t>原子核的质量</a:t>
            </a:r>
            <a:r>
              <a:rPr lang="zh-CN" altLang="en-US" sz="2800" b="1">
                <a:latin typeface="Times New Roman" panose="02020603050405020304" pitchFamily="18" charset="0"/>
                <a:cs typeface="Times New Roman" panose="02020603050405020304" pitchFamily="18" charset="0"/>
              </a:rPr>
              <a:t>总是</a:t>
            </a:r>
            <a:r>
              <a:rPr lang="zh-CN" altLang="en-US" sz="2800" b="1">
                <a:solidFill>
                  <a:srgbClr val="202AF4"/>
                </a:solidFill>
                <a:latin typeface="Times New Roman" panose="02020603050405020304" pitchFamily="18" charset="0"/>
                <a:cs typeface="Times New Roman" panose="02020603050405020304" pitchFamily="18" charset="0"/>
              </a:rPr>
              <a:t>小于</a:t>
            </a:r>
            <a:r>
              <a:rPr lang="zh-CN" altLang="en-US" sz="2800" b="1">
                <a:latin typeface="Times New Roman" panose="02020603050405020304" pitchFamily="18" charset="0"/>
                <a:cs typeface="Times New Roman" panose="02020603050405020304" pitchFamily="18" charset="0"/>
              </a:rPr>
              <a:t>组成该原子核的</a:t>
            </a:r>
            <a:r>
              <a:rPr lang="zh-CN" altLang="en-US" sz="2800" b="1">
                <a:solidFill>
                  <a:srgbClr val="202AF4"/>
                </a:solidFill>
                <a:latin typeface="Times New Roman" panose="02020603050405020304" pitchFamily="18" charset="0"/>
                <a:cs typeface="Times New Roman" panose="02020603050405020304" pitchFamily="18" charset="0"/>
              </a:rPr>
              <a:t>核子质量之和</a:t>
            </a:r>
            <a:r>
              <a:rPr lang="zh-CN" altLang="en-US" sz="2800" b="1">
                <a:latin typeface="Times New Roman" panose="02020603050405020304" pitchFamily="18" charset="0"/>
                <a:cs typeface="Times New Roman" panose="02020603050405020304" pitchFamily="18" charset="0"/>
              </a:rPr>
              <a:t>，它们之间的差额称为原子核的</a:t>
            </a:r>
            <a:r>
              <a:rPr lang="zh-CN" altLang="en-US" sz="2800" b="1">
                <a:solidFill>
                  <a:srgbClr val="202AF4"/>
                </a:solidFill>
                <a:latin typeface="Times New Roman" panose="02020603050405020304" pitchFamily="18" charset="0"/>
                <a:cs typeface="Times New Roman" panose="02020603050405020304" pitchFamily="18" charset="0"/>
              </a:rPr>
              <a:t>质量亏损</a:t>
            </a:r>
            <a:r>
              <a:rPr lang="zh-CN" altLang="en-US" sz="2800" b="1">
                <a:latin typeface="Times New Roman" panose="02020603050405020304" pitchFamily="18" charset="0"/>
                <a:cs typeface="Times New Roman" panose="02020603050405020304" pitchFamily="18" charset="0"/>
              </a:rPr>
              <a:t>：</a:t>
            </a:r>
            <a:endParaRPr lang="en-US" altLang="zh-CN" sz="2800" b="1">
              <a:latin typeface="Times New Roman" panose="02020603050405020304" pitchFamily="18" charset="0"/>
              <a:cs typeface="Times New Roman" panose="02020603050405020304" pitchFamily="18" charset="0"/>
            </a:endParaRPr>
          </a:p>
        </p:txBody>
      </p:sp>
      <p:graphicFrame>
        <p:nvGraphicFramePr>
          <p:cNvPr id="161800" name="Object 2">
            <a:extLst>
              <a:ext uri="{FF2B5EF4-FFF2-40B4-BE49-F238E27FC236}">
                <a16:creationId xmlns:a16="http://schemas.microsoft.com/office/drawing/2014/main" id="{C0E6D208-CB6A-4AAD-994B-070602EA91E9}"/>
              </a:ext>
            </a:extLst>
          </p:cNvPr>
          <p:cNvGraphicFramePr>
            <a:graphicFrameLocks noChangeAspect="1"/>
          </p:cNvGraphicFramePr>
          <p:nvPr/>
        </p:nvGraphicFramePr>
        <p:xfrm>
          <a:off x="1663700" y="5216525"/>
          <a:ext cx="5429250" cy="660400"/>
        </p:xfrm>
        <a:graphic>
          <a:graphicData uri="http://schemas.openxmlformats.org/presentationml/2006/ole">
            <mc:AlternateContent xmlns:mc="http://schemas.openxmlformats.org/markup-compatibility/2006">
              <mc:Choice xmlns:v="urn:schemas-microsoft-com:vml" Requires="v">
                <p:oleObj spid="_x0000_s11277" name="Equation" r:id="rId3" imgW="1981200" imgH="241300" progId="Equation.DSMT4">
                  <p:embed/>
                </p:oleObj>
              </mc:Choice>
              <mc:Fallback>
                <p:oleObj name="Equation" r:id="rId3" imgW="1981200" imgH="241300" progId="Equation.DSMT4">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63700" y="5216525"/>
                        <a:ext cx="5429250" cy="660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 name="组合 9">
            <a:extLst>
              <a:ext uri="{FF2B5EF4-FFF2-40B4-BE49-F238E27FC236}">
                <a16:creationId xmlns:a16="http://schemas.microsoft.com/office/drawing/2014/main" id="{A685F82D-E8A9-4326-B63C-E292066AE78D}"/>
              </a:ext>
            </a:extLst>
          </p:cNvPr>
          <p:cNvGrpSpPr>
            <a:grpSpLocks/>
          </p:cNvGrpSpPr>
          <p:nvPr/>
        </p:nvGrpSpPr>
        <p:grpSpPr bwMode="auto">
          <a:xfrm>
            <a:off x="792163" y="3027363"/>
            <a:ext cx="8101012" cy="1758950"/>
            <a:chOff x="385763" y="2840038"/>
            <a:chExt cx="8101012" cy="1758950"/>
          </a:xfrm>
        </p:grpSpPr>
        <p:sp>
          <p:nvSpPr>
            <p:cNvPr id="161796" name="Rectangle 4">
              <a:extLst>
                <a:ext uri="{FF2B5EF4-FFF2-40B4-BE49-F238E27FC236}">
                  <a16:creationId xmlns:a16="http://schemas.microsoft.com/office/drawing/2014/main" id="{D31F042F-F608-43A5-9118-78728F617D28}"/>
                </a:ext>
              </a:extLst>
            </p:cNvPr>
            <p:cNvSpPr>
              <a:spLocks noChangeArrowheads="1"/>
            </p:cNvSpPr>
            <p:nvPr/>
          </p:nvSpPr>
          <p:spPr bwMode="auto">
            <a:xfrm>
              <a:off x="385763" y="2840038"/>
              <a:ext cx="8101012" cy="1758950"/>
            </a:xfrm>
            <a:prstGeom prst="rect">
              <a:avLst/>
            </a:prstGeom>
            <a:noFill/>
            <a:ln w="9525">
              <a:noFill/>
              <a:miter lim="800000"/>
              <a:headEnd/>
              <a:tailEnd/>
            </a:ln>
            <a:effectLst/>
          </p:spPr>
          <p:txBody>
            <a:bodyPr>
              <a:spAutoFit/>
            </a:bodyPr>
            <a:lstStyle/>
            <a:p>
              <a:pPr eaLnBrk="1" hangingPunct="1">
                <a:lnSpc>
                  <a:spcPct val="130000"/>
                </a:lnSpc>
                <a:defRPr/>
              </a:pPr>
              <a:r>
                <a:rPr lang="zh-CN" altLang="en-US" sz="2800" b="1" dirty="0">
                  <a:latin typeface="Times New Roman" pitchFamily="18" charset="0"/>
                  <a:ea typeface="+mn-ea"/>
                  <a:cs typeface="Times New Roman" pitchFamily="18" charset="0"/>
                </a:rPr>
                <a:t>设原子核</a:t>
              </a:r>
              <a:r>
                <a:rPr lang="zh-CN" altLang="en-US" sz="2800" b="1" i="1" dirty="0">
                  <a:latin typeface="Times New Roman" pitchFamily="18" charset="0"/>
                  <a:ea typeface="+mn-ea"/>
                  <a:cs typeface="Times New Roman" pitchFamily="18" charset="0"/>
                </a:rPr>
                <a:t>       </a:t>
              </a:r>
              <a:r>
                <a:rPr lang="zh-CN" altLang="en-US" sz="2800" b="1" dirty="0">
                  <a:latin typeface="Times New Roman" pitchFamily="18" charset="0"/>
                  <a:ea typeface="+mn-ea"/>
                  <a:cs typeface="Times New Roman" pitchFamily="18" charset="0"/>
                </a:rPr>
                <a:t>的质量为</a:t>
              </a:r>
              <a:r>
                <a:rPr lang="en-US" altLang="zh-CN" sz="2800" b="1" dirty="0">
                  <a:latin typeface="Times New Roman" pitchFamily="18" charset="0"/>
                  <a:ea typeface="+mn-ea"/>
                  <a:cs typeface="Times New Roman" pitchFamily="18" charset="0"/>
                </a:rPr>
                <a:t>M</a:t>
              </a:r>
              <a:r>
                <a:rPr lang="en-US" altLang="zh-CN" sz="2800" b="1" i="1" baseline="-30000" dirty="0">
                  <a:latin typeface="Times New Roman" pitchFamily="18" charset="0"/>
                  <a:ea typeface="+mn-ea"/>
                  <a:cs typeface="Times New Roman" pitchFamily="18" charset="0"/>
                </a:rPr>
                <a:t>X</a:t>
              </a:r>
              <a:r>
                <a:rPr lang="zh-CN" altLang="en-US" sz="2800" b="1" dirty="0">
                  <a:latin typeface="Times New Roman" pitchFamily="18" charset="0"/>
                  <a:ea typeface="+mn-ea"/>
                  <a:cs typeface="Times New Roman" pitchFamily="18" charset="0"/>
                </a:rPr>
                <a:t>，质子的质量为</a:t>
              </a:r>
              <a:r>
                <a:rPr lang="en-US" altLang="zh-CN" sz="2800" b="1" dirty="0">
                  <a:latin typeface="Times New Roman" pitchFamily="18" charset="0"/>
                  <a:ea typeface="+mn-ea"/>
                  <a:cs typeface="Times New Roman" pitchFamily="18" charset="0"/>
                </a:rPr>
                <a:t>m</a:t>
              </a:r>
              <a:r>
                <a:rPr lang="en-US" altLang="zh-CN" sz="2800" b="1" i="1" baseline="-30000" dirty="0">
                  <a:latin typeface="Times New Roman" pitchFamily="18" charset="0"/>
                  <a:ea typeface="+mn-ea"/>
                  <a:cs typeface="Times New Roman" pitchFamily="18" charset="0"/>
                </a:rPr>
                <a:t>p</a:t>
              </a:r>
              <a:r>
                <a:rPr lang="zh-CN" altLang="en-US" sz="2800" b="1" dirty="0">
                  <a:latin typeface="Times New Roman" pitchFamily="18" charset="0"/>
                  <a:ea typeface="+mn-ea"/>
                  <a:cs typeface="Times New Roman" pitchFamily="18" charset="0"/>
                </a:rPr>
                <a:t>，中子的质量为</a:t>
              </a:r>
              <a:r>
                <a:rPr lang="en-US" altLang="zh-CN" sz="2800" b="1" dirty="0" err="1">
                  <a:latin typeface="Times New Roman" pitchFamily="18" charset="0"/>
                  <a:ea typeface="+mn-ea"/>
                  <a:cs typeface="Times New Roman" pitchFamily="18" charset="0"/>
                </a:rPr>
                <a:t>m</a:t>
              </a:r>
              <a:r>
                <a:rPr lang="en-US" altLang="zh-CN" sz="2800" b="1" i="1" baseline="-30000" dirty="0" err="1">
                  <a:latin typeface="Times New Roman" pitchFamily="18" charset="0"/>
                  <a:ea typeface="+mn-ea"/>
                  <a:cs typeface="Times New Roman" pitchFamily="18" charset="0"/>
                </a:rPr>
                <a:t>n</a:t>
              </a:r>
              <a:r>
                <a:rPr lang="zh-CN" altLang="en-US" sz="2800" b="1" dirty="0">
                  <a:latin typeface="Times New Roman" pitchFamily="18" charset="0"/>
                  <a:ea typeface="+mn-ea"/>
                  <a:cs typeface="Times New Roman" pitchFamily="18" charset="0"/>
                </a:rPr>
                <a:t>，在这一原子核中共有</a:t>
              </a:r>
              <a:r>
                <a:rPr lang="en-US" altLang="zh-CN" sz="2800" b="1" dirty="0">
                  <a:latin typeface="Times New Roman" pitchFamily="18" charset="0"/>
                  <a:ea typeface="+mn-ea"/>
                  <a:cs typeface="Times New Roman" pitchFamily="18" charset="0"/>
                </a:rPr>
                <a:t>Z</a:t>
              </a:r>
              <a:r>
                <a:rPr lang="zh-CN" altLang="en-US" sz="2800" b="1" dirty="0">
                  <a:latin typeface="Times New Roman" pitchFamily="18" charset="0"/>
                  <a:ea typeface="+mn-ea"/>
                  <a:cs typeface="Times New Roman" pitchFamily="18" charset="0"/>
                </a:rPr>
                <a:t>个质子和</a:t>
              </a:r>
              <a:r>
                <a:rPr lang="en-US" altLang="zh-CN" sz="2800" b="1" dirty="0">
                  <a:latin typeface="Times New Roman" pitchFamily="18" charset="0"/>
                  <a:ea typeface="+mn-ea"/>
                  <a:cs typeface="Times New Roman" pitchFamily="18" charset="0"/>
                </a:rPr>
                <a:t>(A</a:t>
              </a:r>
              <a:r>
                <a:rPr lang="zh-CN" altLang="en-US" sz="2800" b="1" dirty="0">
                  <a:latin typeface="Times New Roman" pitchFamily="18" charset="0"/>
                  <a:ea typeface="+mn-ea"/>
                  <a:cs typeface="Times New Roman" pitchFamily="18" charset="0"/>
                </a:rPr>
                <a:t>－</a:t>
              </a:r>
              <a:r>
                <a:rPr lang="en-US" altLang="zh-CN" sz="2800" b="1" dirty="0">
                  <a:latin typeface="Times New Roman" pitchFamily="18" charset="0"/>
                  <a:ea typeface="+mn-ea"/>
                  <a:cs typeface="Times New Roman" pitchFamily="18" charset="0"/>
                </a:rPr>
                <a:t>Z)</a:t>
              </a:r>
              <a:r>
                <a:rPr lang="zh-CN" altLang="en-US" sz="2800" b="1" dirty="0">
                  <a:latin typeface="Times New Roman" pitchFamily="18" charset="0"/>
                  <a:ea typeface="+mn-ea"/>
                  <a:cs typeface="Times New Roman" pitchFamily="18" charset="0"/>
                </a:rPr>
                <a:t>个中子，质量亏损为：</a:t>
              </a:r>
            </a:p>
          </p:txBody>
        </p:sp>
        <p:graphicFrame>
          <p:nvGraphicFramePr>
            <p:cNvPr id="11272" name="Object 4">
              <a:extLst>
                <a:ext uri="{FF2B5EF4-FFF2-40B4-BE49-F238E27FC236}">
                  <a16:creationId xmlns:a16="http://schemas.microsoft.com/office/drawing/2014/main" id="{8A35436C-B749-4BBC-9F0F-B9DB6340C26B}"/>
                </a:ext>
              </a:extLst>
            </p:cNvPr>
            <p:cNvGraphicFramePr>
              <a:graphicFrameLocks noChangeAspect="1"/>
            </p:cNvGraphicFramePr>
            <p:nvPr/>
          </p:nvGraphicFramePr>
          <p:xfrm>
            <a:off x="1928794" y="2920560"/>
            <a:ext cx="574675" cy="519113"/>
          </p:xfrm>
          <a:graphic>
            <a:graphicData uri="http://schemas.openxmlformats.org/presentationml/2006/ole">
              <mc:AlternateContent xmlns:mc="http://schemas.openxmlformats.org/markup-compatibility/2006">
                <mc:Choice xmlns:v="urn:schemas-microsoft-com:vml" Requires="v">
                  <p:oleObj spid="_x0000_s11278" name="Equation" r:id="rId5" imgW="266469" imgH="241091" progId="Equation.DSMT4">
                    <p:embed/>
                  </p:oleObj>
                </mc:Choice>
                <mc:Fallback>
                  <p:oleObj name="Equation" r:id="rId5" imgW="266469" imgH="241091"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28794" y="2920560"/>
                          <a:ext cx="574675"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1270" name="Text Box 20">
            <a:extLst>
              <a:ext uri="{FF2B5EF4-FFF2-40B4-BE49-F238E27FC236}">
                <a16:creationId xmlns:a16="http://schemas.microsoft.com/office/drawing/2014/main" id="{12B529A1-F1D9-4E8E-994A-A353D578B300}"/>
              </a:ext>
            </a:extLst>
          </p:cNvPr>
          <p:cNvSpPr txBox="1">
            <a:spLocks noChangeArrowheads="1"/>
          </p:cNvSpPr>
          <p:nvPr/>
        </p:nvSpPr>
        <p:spPr bwMode="auto">
          <a:xfrm>
            <a:off x="8772525" y="6400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1">
                <a:latin typeface="Times New Roman" panose="02020603050405020304" pitchFamily="18" charset="0"/>
              </a:rPr>
              <a:t>7</a:t>
            </a:r>
            <a:endParaRPr lang="en-US" altLang="zh-CN" sz="18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 presetClass="entr" presetSubtype="10" fill="hold" grpId="0" nodeType="withEffect">
                                  <p:stCondLst>
                                    <p:cond delay="0"/>
                                  </p:stCondLst>
                                  <p:childTnLst>
                                    <p:set>
                                      <p:cBhvr>
                                        <p:cTn id="6" dur="1" fill="hold">
                                          <p:stCondLst>
                                            <p:cond delay="0"/>
                                          </p:stCondLst>
                                        </p:cTn>
                                        <p:tgtEl>
                                          <p:spTgt spid="161794"/>
                                        </p:tgtEl>
                                        <p:attrNameLst>
                                          <p:attrName>style.visibility</p:attrName>
                                        </p:attrNameLst>
                                      </p:cBhvr>
                                      <p:to>
                                        <p:strVal val="visible"/>
                                      </p:to>
                                    </p:set>
                                    <p:animEffect transition="in" filter="checkerboard(across)">
                                      <p:cBhvr>
                                        <p:cTn id="7" dur="500"/>
                                        <p:tgtEl>
                                          <p:spTgt spid="16179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61795"/>
                                        </p:tgtEl>
                                        <p:attrNameLst>
                                          <p:attrName>style.visibility</p:attrName>
                                        </p:attrNameLst>
                                      </p:cBhvr>
                                      <p:to>
                                        <p:strVal val="visible"/>
                                      </p:to>
                                    </p:set>
                                    <p:animEffect transition="in" filter="checkerboard(across)">
                                      <p:cBhvr>
                                        <p:cTn id="12" dur="500"/>
                                        <p:tgtEl>
                                          <p:spTgt spid="16179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500" fill="hold"/>
                                        <p:tgtEl>
                                          <p:spTgt spid="2"/>
                                        </p:tgtEl>
                                        <p:attrNameLst>
                                          <p:attrName>ppt_x</p:attrName>
                                        </p:attrNameLst>
                                      </p:cBhvr>
                                      <p:tavLst>
                                        <p:tav tm="0">
                                          <p:val>
                                            <p:strVal val="#ppt_x"/>
                                          </p:val>
                                        </p:tav>
                                        <p:tav tm="100000">
                                          <p:val>
                                            <p:strVal val="#ppt_x"/>
                                          </p:val>
                                        </p:tav>
                                      </p:tavLst>
                                    </p:anim>
                                    <p:anim calcmode="lin" valueType="num">
                                      <p:cBhvr additive="base">
                                        <p:cTn id="1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12" presetClass="entr" presetSubtype="4" fill="hold" nodeType="clickEffect">
                                  <p:stCondLst>
                                    <p:cond delay="0"/>
                                  </p:stCondLst>
                                  <p:childTnLst>
                                    <p:set>
                                      <p:cBhvr>
                                        <p:cTn id="22" dur="1" fill="hold">
                                          <p:stCondLst>
                                            <p:cond delay="0"/>
                                          </p:stCondLst>
                                        </p:cTn>
                                        <p:tgtEl>
                                          <p:spTgt spid="161800"/>
                                        </p:tgtEl>
                                        <p:attrNameLst>
                                          <p:attrName>style.visibility</p:attrName>
                                        </p:attrNameLst>
                                      </p:cBhvr>
                                      <p:to>
                                        <p:strVal val="visible"/>
                                      </p:to>
                                    </p:set>
                                    <p:animEffect transition="in" filter="slide(fromBottom)">
                                      <p:cBhvr>
                                        <p:cTn id="23" dur="500"/>
                                        <p:tgtEl>
                                          <p:spTgt spid="1618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794" grpId="0" autoUpdateAnimBg="0"/>
      <p:bldP spid="161795"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24" name="Rectangle 8">
            <a:extLst>
              <a:ext uri="{FF2B5EF4-FFF2-40B4-BE49-F238E27FC236}">
                <a16:creationId xmlns:a16="http://schemas.microsoft.com/office/drawing/2014/main" id="{B855FBBD-49E1-4A25-80D7-6E2741842D35}"/>
              </a:ext>
            </a:extLst>
          </p:cNvPr>
          <p:cNvSpPr>
            <a:spLocks noChangeArrowheads="1"/>
          </p:cNvSpPr>
          <p:nvPr/>
        </p:nvSpPr>
        <p:spPr bwMode="auto">
          <a:xfrm>
            <a:off x="358775" y="969963"/>
            <a:ext cx="8534400" cy="2314575"/>
          </a:xfrm>
          <a:prstGeom prst="rect">
            <a:avLst/>
          </a:prstGeom>
          <a:noFill/>
          <a:ln w="9525">
            <a:noFill/>
            <a:miter lim="800000"/>
            <a:headEnd/>
            <a:tailEnd/>
          </a:ln>
          <a:effectLst/>
        </p:spPr>
        <p:txBody>
          <a:bodyPr>
            <a:spAutoFit/>
          </a:bodyPr>
          <a:lstStyle/>
          <a:p>
            <a:pPr eaLnBrk="1" hangingPunct="1">
              <a:lnSpc>
                <a:spcPct val="130000"/>
              </a:lnSpc>
              <a:defRPr/>
            </a:pPr>
            <a:r>
              <a:rPr lang="zh-CN" altLang="en-US" sz="2800" b="1" dirty="0">
                <a:latin typeface="Times New Roman" pitchFamily="18" charset="0"/>
                <a:ea typeface="+mn-ea"/>
                <a:cs typeface="Times New Roman" pitchFamily="18" charset="0"/>
              </a:rPr>
              <a:t>由于质子质量</a:t>
            </a:r>
            <a:r>
              <a:rPr lang="en-US" altLang="zh-CN" sz="2800" b="1" dirty="0">
                <a:latin typeface="Times New Roman" pitchFamily="18" charset="0"/>
                <a:ea typeface="+mn-ea"/>
                <a:cs typeface="Times New Roman" pitchFamily="18" charset="0"/>
              </a:rPr>
              <a:t>m</a:t>
            </a:r>
            <a:r>
              <a:rPr lang="en-US" altLang="zh-CN" sz="2800" b="1" i="1" baseline="-30000" dirty="0">
                <a:latin typeface="Times New Roman" pitchFamily="18" charset="0"/>
                <a:ea typeface="+mn-ea"/>
                <a:cs typeface="Times New Roman" pitchFamily="18" charset="0"/>
              </a:rPr>
              <a:t>p</a:t>
            </a:r>
            <a:r>
              <a:rPr lang="zh-CN" altLang="en-US" sz="2800" b="1" dirty="0">
                <a:latin typeface="Times New Roman" pitchFamily="18" charset="0"/>
                <a:ea typeface="+mn-ea"/>
                <a:cs typeface="Times New Roman" pitchFamily="18" charset="0"/>
              </a:rPr>
              <a:t>等于氢原子质量</a:t>
            </a:r>
            <a:r>
              <a:rPr lang="en-US" altLang="zh-CN" sz="2800" b="1" dirty="0" err="1">
                <a:latin typeface="Times New Roman" pitchFamily="18" charset="0"/>
                <a:ea typeface="+mn-ea"/>
                <a:cs typeface="Times New Roman" pitchFamily="18" charset="0"/>
              </a:rPr>
              <a:t>m</a:t>
            </a:r>
            <a:r>
              <a:rPr lang="en-US" altLang="zh-CN" sz="2800" b="1" i="1" baseline="-30000" dirty="0" err="1">
                <a:latin typeface="Times New Roman" pitchFamily="18" charset="0"/>
                <a:ea typeface="+mn-ea"/>
                <a:cs typeface="Times New Roman" pitchFamily="18" charset="0"/>
              </a:rPr>
              <a:t>H</a:t>
            </a:r>
            <a:r>
              <a:rPr lang="zh-CN" altLang="en-US" sz="2800" b="1" dirty="0">
                <a:latin typeface="Times New Roman" pitchFamily="18" charset="0"/>
                <a:ea typeface="+mn-ea"/>
                <a:cs typeface="Times New Roman" pitchFamily="18" charset="0"/>
              </a:rPr>
              <a:t>减去</a:t>
            </a:r>
            <a:r>
              <a:rPr lang="en-US" altLang="zh-CN" sz="2800" b="1" dirty="0">
                <a:latin typeface="Times New Roman" pitchFamily="18" charset="0"/>
                <a:ea typeface="+mn-ea"/>
                <a:cs typeface="Times New Roman" pitchFamily="18" charset="0"/>
              </a:rPr>
              <a:t>1</a:t>
            </a:r>
            <a:r>
              <a:rPr lang="zh-CN" altLang="en-US" sz="2800" b="1" dirty="0">
                <a:latin typeface="Times New Roman" pitchFamily="18" charset="0"/>
                <a:ea typeface="+mn-ea"/>
                <a:cs typeface="Times New Roman" pitchFamily="18" charset="0"/>
              </a:rPr>
              <a:t>个核外电子的质量</a:t>
            </a:r>
            <a:r>
              <a:rPr lang="en-US" altLang="zh-CN" sz="2800" b="1" dirty="0">
                <a:latin typeface="Times New Roman" pitchFamily="18" charset="0"/>
                <a:ea typeface="+mn-ea"/>
                <a:cs typeface="Times New Roman" pitchFamily="18" charset="0"/>
              </a:rPr>
              <a:t>m</a:t>
            </a:r>
            <a:r>
              <a:rPr lang="en-US" altLang="zh-CN" sz="2800" b="1" i="1" baseline="-30000" dirty="0">
                <a:latin typeface="Times New Roman" pitchFamily="18" charset="0"/>
                <a:ea typeface="+mn-ea"/>
                <a:cs typeface="Times New Roman" pitchFamily="18" charset="0"/>
              </a:rPr>
              <a:t>e</a:t>
            </a:r>
            <a:r>
              <a:rPr lang="zh-CN" altLang="en-US" sz="2800" b="1" dirty="0">
                <a:latin typeface="Times New Roman" pitchFamily="18" charset="0"/>
                <a:ea typeface="+mn-ea"/>
                <a:cs typeface="Times New Roman" pitchFamily="18" charset="0"/>
              </a:rPr>
              <a:t>，即</a:t>
            </a:r>
            <a:r>
              <a:rPr lang="en-US" altLang="zh-CN" sz="2800" b="1" dirty="0">
                <a:solidFill>
                  <a:srgbClr val="202AF4"/>
                </a:solidFill>
                <a:latin typeface="Times New Roman" panose="02020603050405020304" pitchFamily="18" charset="0"/>
                <a:cs typeface="Times New Roman" panose="02020603050405020304" pitchFamily="18" charset="0"/>
              </a:rPr>
              <a:t>m</a:t>
            </a:r>
            <a:r>
              <a:rPr lang="en-US" altLang="zh-CN" sz="2800" b="1" baseline="-25000" dirty="0">
                <a:solidFill>
                  <a:srgbClr val="202AF4"/>
                </a:solidFill>
                <a:latin typeface="Times New Roman" panose="02020603050405020304" pitchFamily="18" charset="0"/>
                <a:cs typeface="Times New Roman" panose="02020603050405020304" pitchFamily="18" charset="0"/>
              </a:rPr>
              <a:t>p</a:t>
            </a:r>
            <a:r>
              <a:rPr lang="zh-CN" altLang="en-US" sz="2800" b="1" dirty="0">
                <a:solidFill>
                  <a:srgbClr val="202AF4"/>
                </a:solidFill>
                <a:latin typeface="Times New Roman" panose="02020603050405020304" pitchFamily="18" charset="0"/>
                <a:cs typeface="Times New Roman" panose="02020603050405020304" pitchFamily="18" charset="0"/>
              </a:rPr>
              <a:t>＝</a:t>
            </a:r>
            <a:r>
              <a:rPr lang="en-US" altLang="zh-CN" sz="2800" b="1" dirty="0" err="1">
                <a:solidFill>
                  <a:srgbClr val="202AF4"/>
                </a:solidFill>
                <a:latin typeface="Times New Roman" panose="02020603050405020304" pitchFamily="18" charset="0"/>
                <a:cs typeface="Times New Roman" panose="02020603050405020304" pitchFamily="18" charset="0"/>
              </a:rPr>
              <a:t>m</a:t>
            </a:r>
            <a:r>
              <a:rPr lang="en-US" altLang="zh-CN" sz="2800" b="1" baseline="-25000" dirty="0" err="1">
                <a:solidFill>
                  <a:srgbClr val="202AF4"/>
                </a:solidFill>
                <a:latin typeface="Times New Roman" panose="02020603050405020304" pitchFamily="18" charset="0"/>
                <a:cs typeface="Times New Roman" panose="02020603050405020304" pitchFamily="18" charset="0"/>
              </a:rPr>
              <a:t>H</a:t>
            </a:r>
            <a:r>
              <a:rPr lang="zh-CN" altLang="en-US" sz="2800" b="1" dirty="0">
                <a:solidFill>
                  <a:srgbClr val="202AF4"/>
                </a:solidFill>
                <a:latin typeface="Times New Roman" panose="02020603050405020304" pitchFamily="18" charset="0"/>
                <a:cs typeface="Times New Roman" panose="02020603050405020304" pitchFamily="18" charset="0"/>
              </a:rPr>
              <a:t>－</a:t>
            </a:r>
            <a:r>
              <a:rPr lang="en-US" altLang="zh-CN" sz="2800" b="1" dirty="0">
                <a:solidFill>
                  <a:srgbClr val="202AF4"/>
                </a:solidFill>
                <a:latin typeface="Times New Roman" panose="02020603050405020304" pitchFamily="18" charset="0"/>
                <a:cs typeface="Times New Roman" panose="02020603050405020304" pitchFamily="18" charset="0"/>
              </a:rPr>
              <a:t>m</a:t>
            </a:r>
            <a:r>
              <a:rPr lang="en-US" altLang="zh-CN" sz="2800" b="1" baseline="-25000" dirty="0">
                <a:solidFill>
                  <a:srgbClr val="202AF4"/>
                </a:solidFill>
                <a:latin typeface="Times New Roman" panose="02020603050405020304" pitchFamily="18" charset="0"/>
                <a:cs typeface="Times New Roman" panose="02020603050405020304" pitchFamily="18" charset="0"/>
              </a:rPr>
              <a:t>e</a:t>
            </a:r>
            <a:r>
              <a:rPr lang="zh-CN" altLang="en-US" sz="2800" b="1" dirty="0">
                <a:latin typeface="Times New Roman" pitchFamily="18" charset="0"/>
                <a:ea typeface="+mn-ea"/>
                <a:cs typeface="Times New Roman" pitchFamily="18" charset="0"/>
              </a:rPr>
              <a:t>；原子序数为</a:t>
            </a:r>
            <a:r>
              <a:rPr lang="en-US" altLang="zh-CN" sz="2800" b="1" dirty="0">
                <a:latin typeface="Times New Roman" pitchFamily="18" charset="0"/>
                <a:ea typeface="+mn-ea"/>
                <a:cs typeface="Times New Roman" pitchFamily="18" charset="0"/>
              </a:rPr>
              <a:t>Z</a:t>
            </a:r>
            <a:r>
              <a:rPr lang="zh-CN" altLang="en-US" sz="2800" b="1" dirty="0">
                <a:latin typeface="Times New Roman" pitchFamily="18" charset="0"/>
                <a:ea typeface="+mn-ea"/>
                <a:cs typeface="Times New Roman" pitchFamily="18" charset="0"/>
              </a:rPr>
              <a:t>的原子核的质量</a:t>
            </a:r>
            <a:r>
              <a:rPr lang="en-US" altLang="zh-CN" sz="2800" b="1" dirty="0" err="1">
                <a:latin typeface="Times New Roman" pitchFamily="18" charset="0"/>
                <a:ea typeface="+mn-ea"/>
                <a:cs typeface="Times New Roman" pitchFamily="18" charset="0"/>
              </a:rPr>
              <a:t>M</a:t>
            </a:r>
            <a:r>
              <a:rPr lang="en-US" altLang="zh-CN" sz="2800" b="1" baseline="-30000" dirty="0" err="1">
                <a:latin typeface="Times New Roman" pitchFamily="18" charset="0"/>
                <a:ea typeface="+mn-ea"/>
                <a:cs typeface="Times New Roman" pitchFamily="18" charset="0"/>
              </a:rPr>
              <a:t>x</a:t>
            </a:r>
            <a:r>
              <a:rPr lang="zh-CN" altLang="en-US" sz="2800" b="1" dirty="0">
                <a:latin typeface="Times New Roman" pitchFamily="18" charset="0"/>
                <a:ea typeface="+mn-ea"/>
                <a:cs typeface="Times New Roman" pitchFamily="18" charset="0"/>
              </a:rPr>
              <a:t>等于这种原子的质量</a:t>
            </a:r>
            <a:r>
              <a:rPr lang="en-US" altLang="zh-CN" sz="2800" b="1" dirty="0">
                <a:latin typeface="Times New Roman" pitchFamily="18" charset="0"/>
                <a:ea typeface="+mn-ea"/>
                <a:cs typeface="Times New Roman" pitchFamily="18" charset="0"/>
              </a:rPr>
              <a:t>M</a:t>
            </a:r>
            <a:r>
              <a:rPr lang="zh-CN" altLang="en-US" sz="2800" b="1" dirty="0">
                <a:latin typeface="Times New Roman" pitchFamily="18" charset="0"/>
                <a:ea typeface="+mn-ea"/>
                <a:cs typeface="Times New Roman" pitchFamily="18" charset="0"/>
              </a:rPr>
              <a:t>减去</a:t>
            </a:r>
            <a:r>
              <a:rPr lang="en-US" altLang="zh-CN" sz="2800" b="1" dirty="0">
                <a:latin typeface="Times New Roman" pitchFamily="18" charset="0"/>
                <a:ea typeface="+mn-ea"/>
                <a:cs typeface="Times New Roman" pitchFamily="18" charset="0"/>
              </a:rPr>
              <a:t>Z</a:t>
            </a:r>
            <a:r>
              <a:rPr lang="zh-CN" altLang="en-US" sz="2800" b="1" dirty="0">
                <a:latin typeface="Times New Roman" pitchFamily="18" charset="0"/>
                <a:ea typeface="+mn-ea"/>
                <a:cs typeface="Times New Roman" pitchFamily="18" charset="0"/>
              </a:rPr>
              <a:t>个核外电子的质量，即</a:t>
            </a:r>
            <a:r>
              <a:rPr lang="en-US" altLang="zh-CN" sz="2800" b="1" dirty="0" err="1">
                <a:solidFill>
                  <a:srgbClr val="202AF4"/>
                </a:solidFill>
                <a:latin typeface="Times New Roman" panose="02020603050405020304" pitchFamily="18" charset="0"/>
                <a:cs typeface="Times New Roman" panose="02020603050405020304" pitchFamily="18" charset="0"/>
              </a:rPr>
              <a:t>M</a:t>
            </a:r>
            <a:r>
              <a:rPr lang="en-US" altLang="zh-CN" sz="2800" b="1" baseline="-25000" dirty="0" err="1">
                <a:solidFill>
                  <a:srgbClr val="202AF4"/>
                </a:solidFill>
                <a:latin typeface="Times New Roman" panose="02020603050405020304" pitchFamily="18" charset="0"/>
                <a:cs typeface="Times New Roman" panose="02020603050405020304" pitchFamily="18" charset="0"/>
              </a:rPr>
              <a:t>x</a:t>
            </a:r>
            <a:r>
              <a:rPr lang="zh-CN" altLang="en-US" sz="2800" b="1" dirty="0">
                <a:solidFill>
                  <a:srgbClr val="202AF4"/>
                </a:solidFill>
                <a:latin typeface="Times New Roman" panose="02020603050405020304" pitchFamily="18" charset="0"/>
                <a:cs typeface="Times New Roman" panose="02020603050405020304" pitchFamily="18" charset="0"/>
              </a:rPr>
              <a:t>＝</a:t>
            </a:r>
            <a:r>
              <a:rPr lang="en-US" altLang="zh-CN" sz="2800" b="1" dirty="0">
                <a:solidFill>
                  <a:srgbClr val="202AF4"/>
                </a:solidFill>
                <a:latin typeface="Times New Roman" panose="02020603050405020304" pitchFamily="18" charset="0"/>
                <a:cs typeface="Times New Roman" panose="02020603050405020304" pitchFamily="18" charset="0"/>
              </a:rPr>
              <a:t>M</a:t>
            </a:r>
            <a:r>
              <a:rPr lang="zh-CN" altLang="en-US" sz="2800" b="1" dirty="0">
                <a:solidFill>
                  <a:srgbClr val="202AF4"/>
                </a:solidFill>
                <a:latin typeface="Times New Roman" panose="02020603050405020304" pitchFamily="18" charset="0"/>
                <a:cs typeface="Times New Roman" panose="02020603050405020304" pitchFamily="18" charset="0"/>
              </a:rPr>
              <a:t>－</a:t>
            </a:r>
            <a:r>
              <a:rPr lang="en-US" altLang="zh-CN" sz="2800" b="1" i="1" dirty="0" err="1">
                <a:solidFill>
                  <a:srgbClr val="202AF4"/>
                </a:solidFill>
                <a:latin typeface="Times New Roman" panose="02020603050405020304" pitchFamily="18" charset="0"/>
                <a:cs typeface="Times New Roman" panose="02020603050405020304" pitchFamily="18" charset="0"/>
              </a:rPr>
              <a:t>Z</a:t>
            </a:r>
            <a:r>
              <a:rPr lang="en-US" altLang="zh-CN" sz="2800" b="1" dirty="0" err="1">
                <a:solidFill>
                  <a:srgbClr val="202AF4"/>
                </a:solidFill>
                <a:latin typeface="Times New Roman" panose="02020603050405020304" pitchFamily="18" charset="0"/>
                <a:cs typeface="Times New Roman" panose="02020603050405020304" pitchFamily="18" charset="0"/>
              </a:rPr>
              <a:t>m</a:t>
            </a:r>
            <a:r>
              <a:rPr lang="en-US" altLang="zh-CN" sz="2800" b="1" baseline="-25000" dirty="0" err="1">
                <a:solidFill>
                  <a:srgbClr val="202AF4"/>
                </a:solidFill>
                <a:latin typeface="Times New Roman" panose="02020603050405020304" pitchFamily="18" charset="0"/>
                <a:cs typeface="Times New Roman" panose="02020603050405020304" pitchFamily="18" charset="0"/>
              </a:rPr>
              <a:t>e</a:t>
            </a:r>
            <a:r>
              <a:rPr lang="en-US" altLang="zh-CN" sz="2800" b="1" dirty="0">
                <a:solidFill>
                  <a:srgbClr val="202AF4"/>
                </a:solidFill>
                <a:latin typeface="Times New Roman" panose="02020603050405020304" pitchFamily="18" charset="0"/>
                <a:cs typeface="Times New Roman" panose="02020603050405020304" pitchFamily="18" charset="0"/>
              </a:rPr>
              <a:t> </a:t>
            </a:r>
          </a:p>
        </p:txBody>
      </p:sp>
      <p:graphicFrame>
        <p:nvGraphicFramePr>
          <p:cNvPr id="162825" name="Object 2">
            <a:extLst>
              <a:ext uri="{FF2B5EF4-FFF2-40B4-BE49-F238E27FC236}">
                <a16:creationId xmlns:a16="http://schemas.microsoft.com/office/drawing/2014/main" id="{2ED7D7AA-AE9F-4265-93B9-B1E5E803CC8C}"/>
              </a:ext>
            </a:extLst>
          </p:cNvPr>
          <p:cNvGraphicFramePr>
            <a:graphicFrameLocks noChangeAspect="1"/>
          </p:cNvGraphicFramePr>
          <p:nvPr/>
        </p:nvGraphicFramePr>
        <p:xfrm>
          <a:off x="1214438" y="3368675"/>
          <a:ext cx="7037387" cy="1139825"/>
        </p:xfrm>
        <a:graphic>
          <a:graphicData uri="http://schemas.openxmlformats.org/presentationml/2006/ole">
            <mc:AlternateContent xmlns:mc="http://schemas.openxmlformats.org/markup-compatibility/2006">
              <mc:Choice xmlns:v="urn:schemas-microsoft-com:vml" Requires="v">
                <p:oleObj spid="_x0000_s12301" name="Equation" r:id="rId3" imgW="2819400" imgH="457200" progId="Equation.DSMT4">
                  <p:embed/>
                </p:oleObj>
              </mc:Choice>
              <mc:Fallback>
                <p:oleObj name="Equation" r:id="rId3" imgW="2819400" imgH="457200" progId="Equation.DSMT4">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4438" y="3368675"/>
                        <a:ext cx="7037387" cy="1139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2826" name="Rectangle 10">
            <a:extLst>
              <a:ext uri="{FF2B5EF4-FFF2-40B4-BE49-F238E27FC236}">
                <a16:creationId xmlns:a16="http://schemas.microsoft.com/office/drawing/2014/main" id="{F354C246-DDD2-425A-83B5-89FFE6EC5AC2}"/>
              </a:ext>
            </a:extLst>
          </p:cNvPr>
          <p:cNvSpPr>
            <a:spLocks noChangeArrowheads="1"/>
          </p:cNvSpPr>
          <p:nvPr/>
        </p:nvSpPr>
        <p:spPr bwMode="auto">
          <a:xfrm>
            <a:off x="358775" y="4549775"/>
            <a:ext cx="8461375" cy="175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0"/>
              </a:spcBef>
              <a:buFontTx/>
              <a:buNone/>
            </a:pPr>
            <a:r>
              <a:rPr lang="zh-CN" altLang="en-US" sz="2800" b="1">
                <a:solidFill>
                  <a:srgbClr val="202AF4"/>
                </a:solidFill>
                <a:latin typeface="Times New Roman" panose="02020603050405020304" pitchFamily="18" charset="0"/>
                <a:cs typeface="Times New Roman" panose="02020603050405020304" pitchFamily="18" charset="0"/>
              </a:rPr>
              <a:t>造成质量亏损的原因</a:t>
            </a:r>
            <a:r>
              <a:rPr lang="zh-CN" altLang="en-US" sz="2800" b="1">
                <a:latin typeface="Times New Roman" panose="02020603050405020304" pitchFamily="18" charset="0"/>
                <a:ea typeface="楷体_GB2312"/>
                <a:cs typeface="Times New Roman" panose="02020603050405020304" pitchFamily="18" charset="0"/>
              </a:rPr>
              <a:t>是核子在结合成原子核时，由于它们之间核力的强烈作用，使</a:t>
            </a:r>
            <a:r>
              <a:rPr lang="zh-CN" altLang="en-US" sz="2800" b="1">
                <a:solidFill>
                  <a:srgbClr val="202AF4"/>
                </a:solidFill>
                <a:latin typeface="Times New Roman" panose="02020603050405020304" pitchFamily="18" charset="0"/>
                <a:cs typeface="Times New Roman" panose="02020603050405020304" pitchFamily="18" charset="0"/>
              </a:rPr>
              <a:t>体系能量降低</a:t>
            </a:r>
            <a:r>
              <a:rPr lang="zh-CN" altLang="en-US" sz="2800" b="1">
                <a:latin typeface="Times New Roman" panose="02020603050405020304" pitchFamily="18" charset="0"/>
                <a:ea typeface="楷体_GB2312"/>
                <a:cs typeface="楷体_GB2312"/>
              </a:rPr>
              <a:t>，从而释放出一定的能量，相应的质量也减少。</a:t>
            </a:r>
            <a:endParaRPr lang="en-US" altLang="zh-CN" sz="2800" b="1">
              <a:latin typeface="Times New Roman" panose="02020603050405020304" pitchFamily="18" charset="0"/>
              <a:ea typeface="楷体_GB2312"/>
              <a:cs typeface="楷体_GB2312"/>
            </a:endParaRPr>
          </a:p>
        </p:txBody>
      </p:sp>
      <p:sp>
        <p:nvSpPr>
          <p:cNvPr id="12293" name="Text Box 20">
            <a:extLst>
              <a:ext uri="{FF2B5EF4-FFF2-40B4-BE49-F238E27FC236}">
                <a16:creationId xmlns:a16="http://schemas.microsoft.com/office/drawing/2014/main" id="{28C06757-A5B3-4186-9071-BBB4F8381E53}"/>
              </a:ext>
            </a:extLst>
          </p:cNvPr>
          <p:cNvSpPr txBox="1">
            <a:spLocks noChangeArrowheads="1"/>
          </p:cNvSpPr>
          <p:nvPr/>
        </p:nvSpPr>
        <p:spPr bwMode="auto">
          <a:xfrm>
            <a:off x="8772525" y="6400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1">
                <a:latin typeface="Times New Roman" panose="02020603050405020304" pitchFamily="18" charset="0"/>
              </a:rPr>
              <a:t>8</a:t>
            </a:r>
            <a:endParaRPr lang="en-US" altLang="zh-CN" sz="1800"/>
          </a:p>
        </p:txBody>
      </p:sp>
      <p:grpSp>
        <p:nvGrpSpPr>
          <p:cNvPr id="12294" name="组合 1">
            <a:extLst>
              <a:ext uri="{FF2B5EF4-FFF2-40B4-BE49-F238E27FC236}">
                <a16:creationId xmlns:a16="http://schemas.microsoft.com/office/drawing/2014/main" id="{3D5D2BEA-6649-42CA-811A-654D16DAF7DF}"/>
              </a:ext>
            </a:extLst>
          </p:cNvPr>
          <p:cNvGrpSpPr>
            <a:grpSpLocks/>
          </p:cNvGrpSpPr>
          <p:nvPr/>
        </p:nvGrpSpPr>
        <p:grpSpPr bwMode="auto">
          <a:xfrm>
            <a:off x="2916238" y="250825"/>
            <a:ext cx="5724525" cy="801688"/>
            <a:chOff x="2915816" y="107487"/>
            <a:chExt cx="5725294" cy="801688"/>
          </a:xfrm>
        </p:grpSpPr>
        <p:graphicFrame>
          <p:nvGraphicFramePr>
            <p:cNvPr id="12295" name="Object 2">
              <a:extLst>
                <a:ext uri="{FF2B5EF4-FFF2-40B4-BE49-F238E27FC236}">
                  <a16:creationId xmlns:a16="http://schemas.microsoft.com/office/drawing/2014/main" id="{DE125647-BAD1-4938-90FF-C6783B44E069}"/>
                </a:ext>
              </a:extLst>
            </p:cNvPr>
            <p:cNvGraphicFramePr>
              <a:graphicFrameLocks noChangeAspect="1"/>
            </p:cNvGraphicFramePr>
            <p:nvPr/>
          </p:nvGraphicFramePr>
          <p:xfrm>
            <a:off x="2915816" y="134144"/>
            <a:ext cx="4925194" cy="599088"/>
          </p:xfrm>
          <a:graphic>
            <a:graphicData uri="http://schemas.openxmlformats.org/presentationml/2006/ole">
              <mc:AlternateContent xmlns:mc="http://schemas.openxmlformats.org/markup-compatibility/2006">
                <mc:Choice xmlns:v="urn:schemas-microsoft-com:vml" Requires="v">
                  <p:oleObj spid="_x0000_s12302" name="Equation" r:id="rId5" imgW="1981200" imgH="241300" progId="Equation.DSMT4">
                    <p:embed/>
                  </p:oleObj>
                </mc:Choice>
                <mc:Fallback>
                  <p:oleObj name="Equation" r:id="rId5" imgW="1981200" imgH="241300" progId="Equation.DSMT4">
                    <p:embed/>
                    <p:pic>
                      <p:nvPicPr>
                        <p:cNvPr id="0"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15816" y="134144"/>
                          <a:ext cx="4925194" cy="599088"/>
                        </a:xfrm>
                        <a:prstGeom prst="rect">
                          <a:avLst/>
                        </a:prstGeom>
                        <a:solidFill>
                          <a:srgbClr val="FFCCFF"/>
                        </a:solidFill>
                        <a:ln w="25400">
                          <a:solidFill>
                            <a:srgbClr val="FF0000"/>
                          </a:solidFill>
                          <a:miter lim="800000"/>
                          <a:headEnd/>
                          <a:tailEnd/>
                        </a:ln>
                      </p:spPr>
                    </p:pic>
                  </p:oleObj>
                </mc:Fallback>
              </mc:AlternateContent>
            </a:graphicData>
          </a:graphic>
        </p:graphicFrame>
        <p:pic>
          <p:nvPicPr>
            <p:cNvPr id="12296" name="Picture 17" descr="dove">
              <a:extLst>
                <a:ext uri="{FF2B5EF4-FFF2-40B4-BE49-F238E27FC236}">
                  <a16:creationId xmlns:a16="http://schemas.microsoft.com/office/drawing/2014/main" id="{135F046A-AAE3-41C1-9CCF-4BA79FFADF9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flipH="1">
              <a:off x="7841010" y="107487"/>
              <a:ext cx="800100" cy="801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Lst>
          </p:spPr>
        </p:pic>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62824"/>
                                        </p:tgtEl>
                                        <p:attrNameLst>
                                          <p:attrName>style.visibility</p:attrName>
                                        </p:attrNameLst>
                                      </p:cBhvr>
                                      <p:to>
                                        <p:strVal val="visible"/>
                                      </p:to>
                                    </p:set>
                                    <p:animEffect transition="in" filter="checkerboard(across)">
                                      <p:cBhvr>
                                        <p:cTn id="7" dur="500"/>
                                        <p:tgtEl>
                                          <p:spTgt spid="16282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nodeType="clickEffect">
                                  <p:stCondLst>
                                    <p:cond delay="0"/>
                                  </p:stCondLst>
                                  <p:childTnLst>
                                    <p:set>
                                      <p:cBhvr>
                                        <p:cTn id="11" dur="1" fill="hold">
                                          <p:stCondLst>
                                            <p:cond delay="0"/>
                                          </p:stCondLst>
                                        </p:cTn>
                                        <p:tgtEl>
                                          <p:spTgt spid="162825"/>
                                        </p:tgtEl>
                                        <p:attrNameLst>
                                          <p:attrName>style.visibility</p:attrName>
                                        </p:attrNameLst>
                                      </p:cBhvr>
                                      <p:to>
                                        <p:strVal val="visible"/>
                                      </p:to>
                                    </p:set>
                                    <p:animEffect transition="in" filter="slide(fromBottom)">
                                      <p:cBhvr>
                                        <p:cTn id="12" dur="500"/>
                                        <p:tgtEl>
                                          <p:spTgt spid="16282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162826"/>
                                        </p:tgtEl>
                                        <p:attrNameLst>
                                          <p:attrName>style.visibility</p:attrName>
                                        </p:attrNameLst>
                                      </p:cBhvr>
                                      <p:to>
                                        <p:strVal val="visible"/>
                                      </p:to>
                                    </p:set>
                                    <p:animEffect transition="in" filter="checkerboard(across)">
                                      <p:cBhvr>
                                        <p:cTn id="17" dur="500"/>
                                        <p:tgtEl>
                                          <p:spTgt spid="1628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2824" grpId="0" autoUpdateAnimBg="0"/>
      <p:bldP spid="162826"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2">
            <a:extLst>
              <a:ext uri="{FF2B5EF4-FFF2-40B4-BE49-F238E27FC236}">
                <a16:creationId xmlns:a16="http://schemas.microsoft.com/office/drawing/2014/main" id="{979DFF98-286F-4F94-83D3-4336240C6DA7}"/>
              </a:ext>
            </a:extLst>
          </p:cNvPr>
          <p:cNvSpPr>
            <a:spLocks noChangeArrowheads="1"/>
          </p:cNvSpPr>
          <p:nvPr/>
        </p:nvSpPr>
        <p:spPr bwMode="auto">
          <a:xfrm>
            <a:off x="358775" y="296863"/>
            <a:ext cx="7999413" cy="1212850"/>
          </a:xfrm>
          <a:prstGeom prst="rect">
            <a:avLst/>
          </a:prstGeom>
          <a:noFill/>
          <a:ln w="9525">
            <a:noFill/>
            <a:miter lim="800000"/>
            <a:headEnd/>
            <a:tailEnd/>
          </a:ln>
          <a:effectLst/>
        </p:spPr>
        <p:txBody>
          <a:bodyPr>
            <a:spAutoFit/>
          </a:bodyPr>
          <a:lstStyle/>
          <a:p>
            <a:pPr eaLnBrk="1" hangingPunct="1">
              <a:lnSpc>
                <a:spcPct val="130000"/>
              </a:lnSpc>
              <a:defRPr/>
            </a:pPr>
            <a:r>
              <a:rPr lang="zh-CN" altLang="en-US" sz="2800" b="1" dirty="0">
                <a:latin typeface="Times New Roman" pitchFamily="18" charset="0"/>
                <a:ea typeface="+mn-ea"/>
                <a:cs typeface="Times New Roman" pitchFamily="18" charset="0"/>
              </a:rPr>
              <a:t>根据相对论质能关系</a:t>
            </a:r>
            <a:r>
              <a:rPr lang="en-US" altLang="zh-CN" sz="2800" b="1" i="1" dirty="0">
                <a:solidFill>
                  <a:srgbClr val="FF0000"/>
                </a:solidFill>
                <a:latin typeface="Times New Roman" pitchFamily="18" charset="0"/>
                <a:ea typeface="+mn-ea"/>
                <a:cs typeface="Times New Roman" pitchFamily="18" charset="0"/>
              </a:rPr>
              <a:t>Δ</a:t>
            </a:r>
            <a:r>
              <a:rPr lang="en-US" altLang="zh-CN" sz="2800" b="1" dirty="0">
                <a:solidFill>
                  <a:srgbClr val="FF0000"/>
                </a:solidFill>
                <a:latin typeface="Times New Roman" pitchFamily="18" charset="0"/>
                <a:ea typeface="+mn-ea"/>
                <a:cs typeface="Times New Roman" pitchFamily="18" charset="0"/>
              </a:rPr>
              <a:t>E</a:t>
            </a:r>
            <a:r>
              <a:rPr lang="zh-CN" altLang="en-US" sz="2800" b="1" dirty="0">
                <a:solidFill>
                  <a:srgbClr val="FF0000"/>
                </a:solidFill>
                <a:latin typeface="Times New Roman" pitchFamily="18" charset="0"/>
                <a:ea typeface="+mn-ea"/>
                <a:cs typeface="Times New Roman" pitchFamily="18" charset="0"/>
              </a:rPr>
              <a:t>＝</a:t>
            </a:r>
            <a:r>
              <a:rPr lang="en-US" altLang="zh-CN" sz="2800" b="1" i="1" dirty="0">
                <a:solidFill>
                  <a:srgbClr val="FF0000"/>
                </a:solidFill>
                <a:latin typeface="Times New Roman" pitchFamily="18" charset="0"/>
                <a:ea typeface="+mn-ea"/>
                <a:cs typeface="Times New Roman" pitchFamily="18" charset="0"/>
              </a:rPr>
              <a:t>Δ</a:t>
            </a:r>
            <a:r>
              <a:rPr lang="en-US" altLang="zh-CN" sz="2800" b="1" dirty="0">
                <a:solidFill>
                  <a:srgbClr val="FF0000"/>
                </a:solidFill>
                <a:latin typeface="Times New Roman" pitchFamily="18" charset="0"/>
                <a:ea typeface="+mn-ea"/>
                <a:cs typeface="Times New Roman" pitchFamily="18" charset="0"/>
              </a:rPr>
              <a:t>mc</a:t>
            </a:r>
            <a:r>
              <a:rPr lang="en-US" altLang="zh-CN" sz="2800" b="1" baseline="30000" dirty="0">
                <a:solidFill>
                  <a:srgbClr val="FF0000"/>
                </a:solidFill>
                <a:latin typeface="Times New Roman" pitchFamily="18" charset="0"/>
                <a:ea typeface="+mn-ea"/>
                <a:cs typeface="Times New Roman" pitchFamily="18" charset="0"/>
              </a:rPr>
              <a:t>2</a:t>
            </a:r>
            <a:r>
              <a:rPr lang="zh-CN" altLang="en-US" sz="2800" b="1" dirty="0">
                <a:latin typeface="Times New Roman" pitchFamily="18" charset="0"/>
                <a:ea typeface="+mn-ea"/>
                <a:cs typeface="Times New Roman" pitchFamily="18" charset="0"/>
              </a:rPr>
              <a:t>，如果质量亏损</a:t>
            </a:r>
          </a:p>
          <a:p>
            <a:pPr eaLnBrk="1" hangingPunct="1">
              <a:lnSpc>
                <a:spcPct val="130000"/>
              </a:lnSpc>
              <a:defRPr/>
            </a:pPr>
            <a:r>
              <a:rPr lang="en-US" altLang="zh-CN" sz="2800" b="1" i="1" dirty="0" err="1">
                <a:solidFill>
                  <a:srgbClr val="FF0000"/>
                </a:solidFill>
                <a:latin typeface="Times New Roman" pitchFamily="18" charset="0"/>
                <a:ea typeface="+mn-ea"/>
                <a:cs typeface="Times New Roman" pitchFamily="18" charset="0"/>
              </a:rPr>
              <a:t>Δ</a:t>
            </a:r>
            <a:r>
              <a:rPr lang="en-US" altLang="zh-CN" sz="2800" b="1" dirty="0" err="1">
                <a:solidFill>
                  <a:srgbClr val="FF0000"/>
                </a:solidFill>
                <a:latin typeface="Times New Roman" pitchFamily="18" charset="0"/>
                <a:ea typeface="+mn-ea"/>
                <a:cs typeface="Times New Roman" pitchFamily="18" charset="0"/>
              </a:rPr>
              <a:t>m</a:t>
            </a:r>
            <a:r>
              <a:rPr lang="zh-CN" altLang="en-US" sz="2800" b="1" dirty="0">
                <a:solidFill>
                  <a:srgbClr val="FF0000"/>
                </a:solidFill>
                <a:latin typeface="Times New Roman" pitchFamily="18" charset="0"/>
                <a:ea typeface="+mn-ea"/>
                <a:cs typeface="Times New Roman" pitchFamily="18" charset="0"/>
              </a:rPr>
              <a:t>＝</a:t>
            </a:r>
            <a:r>
              <a:rPr lang="en-US" altLang="zh-CN" sz="2800" b="1" dirty="0">
                <a:solidFill>
                  <a:srgbClr val="FF0000"/>
                </a:solidFill>
                <a:latin typeface="Times New Roman" pitchFamily="18" charset="0"/>
                <a:ea typeface="+mn-ea"/>
                <a:cs typeface="Times New Roman" pitchFamily="18" charset="0"/>
              </a:rPr>
              <a:t>1</a:t>
            </a:r>
            <a:r>
              <a:rPr lang="en-US" altLang="zh-CN" sz="2800" b="1" i="1" dirty="0">
                <a:solidFill>
                  <a:srgbClr val="FF0000"/>
                </a:solidFill>
                <a:latin typeface="Times New Roman" pitchFamily="18" charset="0"/>
                <a:ea typeface="+mn-ea"/>
                <a:cs typeface="Times New Roman" pitchFamily="18" charset="0"/>
              </a:rPr>
              <a:t>u</a:t>
            </a:r>
            <a:r>
              <a:rPr lang="zh-CN" altLang="en-US" sz="2800" b="1" dirty="0">
                <a:latin typeface="Times New Roman" pitchFamily="18" charset="0"/>
                <a:ea typeface="+mn-ea"/>
                <a:cs typeface="Times New Roman" pitchFamily="18" charset="0"/>
              </a:rPr>
              <a:t>，则对应的能量改变为：</a:t>
            </a:r>
          </a:p>
        </p:txBody>
      </p:sp>
      <p:graphicFrame>
        <p:nvGraphicFramePr>
          <p:cNvPr id="163843" name="Object 2">
            <a:extLst>
              <a:ext uri="{FF2B5EF4-FFF2-40B4-BE49-F238E27FC236}">
                <a16:creationId xmlns:a16="http://schemas.microsoft.com/office/drawing/2014/main" id="{787FD7A2-836D-4678-AD34-4886CAA497BE}"/>
              </a:ext>
            </a:extLst>
          </p:cNvPr>
          <p:cNvGraphicFramePr>
            <a:graphicFrameLocks noChangeAspect="1"/>
          </p:cNvGraphicFramePr>
          <p:nvPr/>
        </p:nvGraphicFramePr>
        <p:xfrm>
          <a:off x="1549400" y="1635125"/>
          <a:ext cx="5903913" cy="1222375"/>
        </p:xfrm>
        <a:graphic>
          <a:graphicData uri="http://schemas.openxmlformats.org/presentationml/2006/ole">
            <mc:AlternateContent xmlns:mc="http://schemas.openxmlformats.org/markup-compatibility/2006">
              <mc:Choice xmlns:v="urn:schemas-microsoft-com:vml" Requires="v">
                <p:oleObj spid="_x0000_s13328" name="Equation" r:id="rId3" imgW="2324100" imgH="482600" progId="Equation.DSMT4">
                  <p:embed/>
                </p:oleObj>
              </mc:Choice>
              <mc:Fallback>
                <p:oleObj name="Equation" r:id="rId3" imgW="2324100" imgH="482600" progId="Equation.DSMT4">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49400" y="1635125"/>
                        <a:ext cx="5903913" cy="1222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 name="Group 8">
            <a:extLst>
              <a:ext uri="{FF2B5EF4-FFF2-40B4-BE49-F238E27FC236}">
                <a16:creationId xmlns:a16="http://schemas.microsoft.com/office/drawing/2014/main" id="{CA14ABDF-A8DF-423B-A43F-CFA5B734E47F}"/>
              </a:ext>
            </a:extLst>
          </p:cNvPr>
          <p:cNvGrpSpPr>
            <a:grpSpLocks/>
          </p:cNvGrpSpPr>
          <p:nvPr/>
        </p:nvGrpSpPr>
        <p:grpSpPr bwMode="auto">
          <a:xfrm>
            <a:off x="385763" y="3011488"/>
            <a:ext cx="8372475" cy="1212850"/>
            <a:chOff x="243" y="1789"/>
            <a:chExt cx="5274" cy="764"/>
          </a:xfrm>
        </p:grpSpPr>
        <p:sp>
          <p:nvSpPr>
            <p:cNvPr id="163846" name="Rectangle 6">
              <a:extLst>
                <a:ext uri="{FF2B5EF4-FFF2-40B4-BE49-F238E27FC236}">
                  <a16:creationId xmlns:a16="http://schemas.microsoft.com/office/drawing/2014/main" id="{C7BFC72E-9408-4087-BBC2-92660223A00F}"/>
                </a:ext>
              </a:extLst>
            </p:cNvPr>
            <p:cNvSpPr>
              <a:spLocks noChangeArrowheads="1"/>
            </p:cNvSpPr>
            <p:nvPr/>
          </p:nvSpPr>
          <p:spPr bwMode="auto">
            <a:xfrm>
              <a:off x="243" y="1789"/>
              <a:ext cx="5274" cy="764"/>
            </a:xfrm>
            <a:prstGeom prst="rect">
              <a:avLst/>
            </a:prstGeom>
            <a:noFill/>
            <a:ln w="9525">
              <a:noFill/>
              <a:miter lim="800000"/>
              <a:headEnd/>
              <a:tailEnd/>
            </a:ln>
            <a:effectLst/>
          </p:spPr>
          <p:txBody>
            <a:bodyPr>
              <a:spAutoFit/>
            </a:bodyPr>
            <a:lstStyle/>
            <a:p>
              <a:pPr eaLnBrk="1" hangingPunct="1">
                <a:lnSpc>
                  <a:spcPct val="130000"/>
                </a:lnSpc>
                <a:defRPr/>
              </a:pPr>
              <a:r>
                <a:rPr lang="zh-CN" altLang="en-US" sz="2800" b="1" dirty="0">
                  <a:latin typeface="Times New Roman" pitchFamily="18" charset="0"/>
                  <a:ea typeface="+mn-ea"/>
                  <a:cs typeface="Times New Roman" pitchFamily="18" charset="0"/>
                </a:rPr>
                <a:t>因此，由</a:t>
              </a:r>
              <a:r>
                <a:rPr lang="en-US" altLang="zh-CN" sz="2800" b="1" dirty="0">
                  <a:solidFill>
                    <a:srgbClr val="202AF4"/>
                  </a:solidFill>
                  <a:latin typeface="Times New Roman" panose="02020603050405020304" pitchFamily="18" charset="0"/>
                  <a:cs typeface="Times New Roman" panose="02020603050405020304" pitchFamily="18" charset="0"/>
                </a:rPr>
                <a:t>Z</a:t>
              </a:r>
              <a:r>
                <a:rPr lang="zh-CN" altLang="en-US" sz="2800" b="1" dirty="0">
                  <a:solidFill>
                    <a:srgbClr val="202AF4"/>
                  </a:solidFill>
                  <a:latin typeface="Times New Roman" panose="02020603050405020304" pitchFamily="18" charset="0"/>
                  <a:cs typeface="Times New Roman" panose="02020603050405020304" pitchFamily="18" charset="0"/>
                </a:rPr>
                <a:t>个质子和</a:t>
              </a:r>
              <a:r>
                <a:rPr lang="en-US" altLang="zh-CN" sz="2800" b="1" dirty="0">
                  <a:solidFill>
                    <a:srgbClr val="202AF4"/>
                  </a:solidFill>
                  <a:latin typeface="Times New Roman" panose="02020603050405020304" pitchFamily="18" charset="0"/>
                  <a:cs typeface="Times New Roman" panose="02020603050405020304" pitchFamily="18" charset="0"/>
                </a:rPr>
                <a:t>(A</a:t>
              </a:r>
              <a:r>
                <a:rPr lang="zh-CN" altLang="en-US" sz="2800" b="1" dirty="0">
                  <a:solidFill>
                    <a:srgbClr val="202AF4"/>
                  </a:solidFill>
                  <a:latin typeface="Times New Roman" panose="02020603050405020304" pitchFamily="18" charset="0"/>
                  <a:cs typeface="Times New Roman" panose="02020603050405020304" pitchFamily="18" charset="0"/>
                </a:rPr>
                <a:t>－</a:t>
              </a:r>
              <a:r>
                <a:rPr lang="en-US" altLang="zh-CN" sz="2800" b="1" dirty="0">
                  <a:solidFill>
                    <a:srgbClr val="202AF4"/>
                  </a:solidFill>
                  <a:latin typeface="Times New Roman" panose="02020603050405020304" pitchFamily="18" charset="0"/>
                  <a:cs typeface="Times New Roman" panose="02020603050405020304" pitchFamily="18" charset="0"/>
                </a:rPr>
                <a:t>Z)</a:t>
              </a:r>
              <a:r>
                <a:rPr lang="zh-CN" altLang="en-US" sz="2800" b="1" dirty="0">
                  <a:solidFill>
                    <a:srgbClr val="202AF4"/>
                  </a:solidFill>
                  <a:latin typeface="Times New Roman" panose="02020603050405020304" pitchFamily="18" charset="0"/>
                  <a:cs typeface="Times New Roman" panose="02020603050405020304" pitchFamily="18" charset="0"/>
                </a:rPr>
                <a:t>个中子</a:t>
              </a:r>
              <a:r>
                <a:rPr lang="zh-CN" altLang="en-US" sz="2800" b="1" dirty="0">
                  <a:latin typeface="Times New Roman" pitchFamily="18" charset="0"/>
                  <a:ea typeface="+mn-ea"/>
                  <a:cs typeface="Times New Roman" pitchFamily="18" charset="0"/>
                </a:rPr>
                <a:t>结合成</a:t>
              </a:r>
              <a:r>
                <a:rPr lang="zh-CN" altLang="en-US" sz="2800" b="1" i="1" dirty="0">
                  <a:latin typeface="Times New Roman" pitchFamily="18" charset="0"/>
                  <a:ea typeface="+mn-ea"/>
                  <a:cs typeface="Times New Roman" pitchFamily="18" charset="0"/>
                </a:rPr>
                <a:t>       </a:t>
              </a:r>
              <a:r>
                <a:rPr lang="zh-CN" altLang="en-US" sz="2800" b="1" dirty="0">
                  <a:latin typeface="Times New Roman" pitchFamily="18" charset="0"/>
                  <a:ea typeface="+mn-ea"/>
                  <a:cs typeface="Times New Roman" pitchFamily="18" charset="0"/>
                </a:rPr>
                <a:t>核时，释放出的能量为</a:t>
              </a:r>
            </a:p>
          </p:txBody>
        </p:sp>
        <p:graphicFrame>
          <p:nvGraphicFramePr>
            <p:cNvPr id="13321" name="Object 4">
              <a:extLst>
                <a:ext uri="{FF2B5EF4-FFF2-40B4-BE49-F238E27FC236}">
                  <a16:creationId xmlns:a16="http://schemas.microsoft.com/office/drawing/2014/main" id="{384294C3-1942-4039-A695-B8BF7DFA5C27}"/>
                </a:ext>
              </a:extLst>
            </p:cNvPr>
            <p:cNvGraphicFramePr>
              <a:graphicFrameLocks noChangeAspect="1"/>
            </p:cNvGraphicFramePr>
            <p:nvPr/>
          </p:nvGraphicFramePr>
          <p:xfrm>
            <a:off x="4320" y="1851"/>
            <a:ext cx="363" cy="327"/>
          </p:xfrm>
          <a:graphic>
            <a:graphicData uri="http://schemas.openxmlformats.org/presentationml/2006/ole">
              <mc:AlternateContent xmlns:mc="http://schemas.openxmlformats.org/markup-compatibility/2006">
                <mc:Choice xmlns:v="urn:schemas-microsoft-com:vml" Requires="v">
                  <p:oleObj spid="_x0000_s13329" name="Equation" r:id="rId5" imgW="266469" imgH="241091" progId="Equation.DSMT4">
                    <p:embed/>
                  </p:oleObj>
                </mc:Choice>
                <mc:Fallback>
                  <p:oleObj name="Equation" r:id="rId5" imgW="266469" imgH="241091"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20" y="1851"/>
                          <a:ext cx="363"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163849" name="Object 3">
            <a:extLst>
              <a:ext uri="{FF2B5EF4-FFF2-40B4-BE49-F238E27FC236}">
                <a16:creationId xmlns:a16="http://schemas.microsoft.com/office/drawing/2014/main" id="{5BF9EE14-B109-47DB-B1A3-9FF3406C757D}"/>
              </a:ext>
            </a:extLst>
          </p:cNvPr>
          <p:cNvGraphicFramePr>
            <a:graphicFrameLocks noChangeAspect="1"/>
          </p:cNvGraphicFramePr>
          <p:nvPr/>
        </p:nvGraphicFramePr>
        <p:xfrm>
          <a:off x="642938" y="4429125"/>
          <a:ext cx="7921625" cy="571500"/>
        </p:xfrm>
        <a:graphic>
          <a:graphicData uri="http://schemas.openxmlformats.org/presentationml/2006/ole">
            <mc:AlternateContent xmlns:mc="http://schemas.openxmlformats.org/markup-compatibility/2006">
              <mc:Choice xmlns:v="urn:schemas-microsoft-com:vml" Requires="v">
                <p:oleObj spid="_x0000_s13330" name="Equation" r:id="rId7" imgW="3327400" imgH="241300" progId="Equation.DSMT4">
                  <p:embed/>
                </p:oleObj>
              </mc:Choice>
              <mc:Fallback>
                <p:oleObj name="Equation" r:id="rId7" imgW="3327400" imgH="241300" progId="Equation.DSMT4">
                  <p:embed/>
                  <p:pic>
                    <p:nvPicPr>
                      <p:cNvPr id="0" name="Object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42938" y="4429125"/>
                        <a:ext cx="7921625" cy="571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3851" name="Rectangle 11">
            <a:extLst>
              <a:ext uri="{FF2B5EF4-FFF2-40B4-BE49-F238E27FC236}">
                <a16:creationId xmlns:a16="http://schemas.microsoft.com/office/drawing/2014/main" id="{6B071E2D-4C73-479C-886A-E383688E58A5}"/>
              </a:ext>
            </a:extLst>
          </p:cNvPr>
          <p:cNvSpPr>
            <a:spLocks noChangeArrowheads="1"/>
          </p:cNvSpPr>
          <p:nvPr/>
        </p:nvSpPr>
        <p:spPr bwMode="auto">
          <a:xfrm>
            <a:off x="500063" y="5214938"/>
            <a:ext cx="8001000" cy="1152525"/>
          </a:xfrm>
          <a:prstGeom prst="rect">
            <a:avLst/>
          </a:prstGeom>
          <a:noFill/>
          <a:ln w="9525">
            <a:noFill/>
            <a:miter lim="800000"/>
            <a:headEnd/>
            <a:tailEnd/>
          </a:ln>
          <a:effectLst/>
        </p:spPr>
        <p:txBody>
          <a:bodyPr>
            <a:spAutoFit/>
          </a:bodyPr>
          <a:lstStyle/>
          <a:p>
            <a:pPr eaLnBrk="1" hangingPunct="1">
              <a:lnSpc>
                <a:spcPct val="130000"/>
              </a:lnSpc>
              <a:defRPr/>
            </a:pPr>
            <a:r>
              <a:rPr lang="zh-CN" altLang="en-US" sz="2800" b="1" dirty="0">
                <a:latin typeface="Times New Roman" pitchFamily="18" charset="0"/>
                <a:ea typeface="+mn-ea"/>
                <a:cs typeface="Times New Roman" pitchFamily="18" charset="0"/>
              </a:rPr>
              <a:t>式中质量以</a:t>
            </a:r>
            <a:r>
              <a:rPr lang="en-US" altLang="zh-CN" sz="2800" b="1" i="1" dirty="0">
                <a:latin typeface="Times New Roman" pitchFamily="18" charset="0"/>
                <a:ea typeface="+mn-ea"/>
                <a:cs typeface="Times New Roman" pitchFamily="18" charset="0"/>
              </a:rPr>
              <a:t>u</a:t>
            </a:r>
            <a:r>
              <a:rPr lang="zh-CN" altLang="en-US" sz="2800" b="1" dirty="0">
                <a:latin typeface="Times New Roman" pitchFamily="18" charset="0"/>
                <a:ea typeface="+mn-ea"/>
                <a:cs typeface="Times New Roman" pitchFamily="18" charset="0"/>
              </a:rPr>
              <a:t>为单位。这种由质子和中子形成原子核时所放出的能量叫做原子核的</a:t>
            </a:r>
            <a:r>
              <a:rPr lang="zh-CN" altLang="en-US" sz="2800" b="1" dirty="0">
                <a:solidFill>
                  <a:srgbClr val="202AF4"/>
                </a:solidFill>
                <a:latin typeface="Times New Roman" panose="02020603050405020304" pitchFamily="18" charset="0"/>
                <a:cs typeface="Times New Roman" panose="02020603050405020304" pitchFamily="18" charset="0"/>
              </a:rPr>
              <a:t>结合能</a:t>
            </a:r>
            <a:endParaRPr lang="en-US" altLang="zh-CN" sz="2800" b="1" dirty="0">
              <a:solidFill>
                <a:srgbClr val="202AF4"/>
              </a:solidFill>
              <a:latin typeface="Times New Roman" panose="02020603050405020304" pitchFamily="18" charset="0"/>
              <a:cs typeface="Times New Roman" panose="02020603050405020304" pitchFamily="18" charset="0"/>
            </a:endParaRPr>
          </a:p>
        </p:txBody>
      </p:sp>
      <p:sp>
        <p:nvSpPr>
          <p:cNvPr id="13319" name="Text Box 20">
            <a:extLst>
              <a:ext uri="{FF2B5EF4-FFF2-40B4-BE49-F238E27FC236}">
                <a16:creationId xmlns:a16="http://schemas.microsoft.com/office/drawing/2014/main" id="{1CB90E41-5841-4681-B1FA-B4E99445E653}"/>
              </a:ext>
            </a:extLst>
          </p:cNvPr>
          <p:cNvSpPr txBox="1">
            <a:spLocks noChangeArrowheads="1"/>
          </p:cNvSpPr>
          <p:nvPr/>
        </p:nvSpPr>
        <p:spPr bwMode="auto">
          <a:xfrm>
            <a:off x="8772525" y="6400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1">
                <a:latin typeface="Times New Roman" panose="02020603050405020304" pitchFamily="18" charset="0"/>
              </a:rPr>
              <a:t>9</a:t>
            </a:r>
            <a:endParaRPr lang="en-US" altLang="zh-CN" sz="18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 presetClass="entr" presetSubtype="10" fill="hold" grpId="0" nodeType="withEffect">
                                  <p:stCondLst>
                                    <p:cond delay="0"/>
                                  </p:stCondLst>
                                  <p:childTnLst>
                                    <p:set>
                                      <p:cBhvr>
                                        <p:cTn id="6" dur="1" fill="hold">
                                          <p:stCondLst>
                                            <p:cond delay="0"/>
                                          </p:stCondLst>
                                        </p:cTn>
                                        <p:tgtEl>
                                          <p:spTgt spid="163842"/>
                                        </p:tgtEl>
                                        <p:attrNameLst>
                                          <p:attrName>style.visibility</p:attrName>
                                        </p:attrNameLst>
                                      </p:cBhvr>
                                      <p:to>
                                        <p:strVal val="visible"/>
                                      </p:to>
                                    </p:set>
                                    <p:animEffect transition="in" filter="checkerboard(across)">
                                      <p:cBhvr>
                                        <p:cTn id="7" dur="500"/>
                                        <p:tgtEl>
                                          <p:spTgt spid="16384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nodeType="clickEffect">
                                  <p:stCondLst>
                                    <p:cond delay="0"/>
                                  </p:stCondLst>
                                  <p:childTnLst>
                                    <p:set>
                                      <p:cBhvr>
                                        <p:cTn id="11" dur="1" fill="hold">
                                          <p:stCondLst>
                                            <p:cond delay="0"/>
                                          </p:stCondLst>
                                        </p:cTn>
                                        <p:tgtEl>
                                          <p:spTgt spid="163843"/>
                                        </p:tgtEl>
                                        <p:attrNameLst>
                                          <p:attrName>style.visibility</p:attrName>
                                        </p:attrNameLst>
                                      </p:cBhvr>
                                      <p:to>
                                        <p:strVal val="visible"/>
                                      </p:to>
                                    </p:set>
                                    <p:animEffect transition="in" filter="slide(fromBottom)">
                                      <p:cBhvr>
                                        <p:cTn id="12" dur="500"/>
                                        <p:tgtEl>
                                          <p:spTgt spid="16384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9"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p:cTn id="17" dur="1000" fill="hold"/>
                                        <p:tgtEl>
                                          <p:spTgt spid="2"/>
                                        </p:tgtEl>
                                        <p:attrNameLst>
                                          <p:attrName>ppt_x</p:attrName>
                                        </p:attrNameLst>
                                      </p:cBhvr>
                                      <p:tavLst>
                                        <p:tav tm="0">
                                          <p:val>
                                            <p:strVal val="#ppt_x-.2"/>
                                          </p:val>
                                        </p:tav>
                                        <p:tav tm="100000">
                                          <p:val>
                                            <p:strVal val="#ppt_x"/>
                                          </p:val>
                                        </p:tav>
                                      </p:tavLst>
                                    </p:anim>
                                    <p:anim calcmode="lin" valueType="num">
                                      <p:cBhvr>
                                        <p:cTn id="18" dur="1000" fill="hold"/>
                                        <p:tgtEl>
                                          <p:spTgt spid="2"/>
                                        </p:tgtEl>
                                        <p:attrNameLst>
                                          <p:attrName>ppt_y</p:attrName>
                                        </p:attrNameLst>
                                      </p:cBhvr>
                                      <p:tavLst>
                                        <p:tav tm="0">
                                          <p:val>
                                            <p:strVal val="#ppt_y"/>
                                          </p:val>
                                        </p:tav>
                                        <p:tav tm="100000">
                                          <p:val>
                                            <p:strVal val="#ppt_y"/>
                                          </p:val>
                                        </p:tav>
                                      </p:tavLst>
                                    </p:anim>
                                    <p:animEffect transition="in" filter="wipe(right)" prLst="gradientSize: 0.1">
                                      <p:cBhvr>
                                        <p:cTn id="19" dur="1000"/>
                                        <p:tgtEl>
                                          <p:spTgt spid="2"/>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12" presetClass="entr" presetSubtype="4" fill="hold" nodeType="clickEffect">
                                  <p:stCondLst>
                                    <p:cond delay="0"/>
                                  </p:stCondLst>
                                  <p:childTnLst>
                                    <p:set>
                                      <p:cBhvr>
                                        <p:cTn id="23" dur="1" fill="hold">
                                          <p:stCondLst>
                                            <p:cond delay="0"/>
                                          </p:stCondLst>
                                        </p:cTn>
                                        <p:tgtEl>
                                          <p:spTgt spid="163849"/>
                                        </p:tgtEl>
                                        <p:attrNameLst>
                                          <p:attrName>style.visibility</p:attrName>
                                        </p:attrNameLst>
                                      </p:cBhvr>
                                      <p:to>
                                        <p:strVal val="visible"/>
                                      </p:to>
                                    </p:set>
                                    <p:animEffect transition="in" filter="slide(fromBottom)">
                                      <p:cBhvr>
                                        <p:cTn id="24" dur="500"/>
                                        <p:tgtEl>
                                          <p:spTgt spid="163849"/>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17" presetClass="entr" presetSubtype="10" fill="hold" grpId="0" nodeType="clickEffect">
                                  <p:stCondLst>
                                    <p:cond delay="0"/>
                                  </p:stCondLst>
                                  <p:childTnLst>
                                    <p:set>
                                      <p:cBhvr>
                                        <p:cTn id="28" dur="1" fill="hold">
                                          <p:stCondLst>
                                            <p:cond delay="0"/>
                                          </p:stCondLst>
                                        </p:cTn>
                                        <p:tgtEl>
                                          <p:spTgt spid="163851"/>
                                        </p:tgtEl>
                                        <p:attrNameLst>
                                          <p:attrName>style.visibility</p:attrName>
                                        </p:attrNameLst>
                                      </p:cBhvr>
                                      <p:to>
                                        <p:strVal val="visible"/>
                                      </p:to>
                                    </p:set>
                                    <p:anim calcmode="lin" valueType="num">
                                      <p:cBhvr>
                                        <p:cTn id="29" dur="500" fill="hold"/>
                                        <p:tgtEl>
                                          <p:spTgt spid="163851"/>
                                        </p:tgtEl>
                                        <p:attrNameLst>
                                          <p:attrName>ppt_w</p:attrName>
                                        </p:attrNameLst>
                                      </p:cBhvr>
                                      <p:tavLst>
                                        <p:tav tm="0">
                                          <p:val>
                                            <p:fltVal val="0"/>
                                          </p:val>
                                        </p:tav>
                                        <p:tav tm="100000">
                                          <p:val>
                                            <p:strVal val="#ppt_w"/>
                                          </p:val>
                                        </p:tav>
                                      </p:tavLst>
                                    </p:anim>
                                    <p:anim calcmode="lin" valueType="num">
                                      <p:cBhvr>
                                        <p:cTn id="30" dur="500" fill="hold"/>
                                        <p:tgtEl>
                                          <p:spTgt spid="163851"/>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42" grpId="0" autoUpdateAnimBg="0"/>
      <p:bldP spid="16385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4871" name="Object 2">
            <a:extLst>
              <a:ext uri="{FF2B5EF4-FFF2-40B4-BE49-F238E27FC236}">
                <a16:creationId xmlns:a16="http://schemas.microsoft.com/office/drawing/2014/main" id="{D19BA3A7-9C28-4DE3-B680-728EF250824D}"/>
              </a:ext>
            </a:extLst>
          </p:cNvPr>
          <p:cNvGraphicFramePr>
            <a:graphicFrameLocks noChangeAspect="1"/>
          </p:cNvGraphicFramePr>
          <p:nvPr/>
        </p:nvGraphicFramePr>
        <p:xfrm>
          <a:off x="2928938" y="3860800"/>
          <a:ext cx="3106737" cy="1085850"/>
        </p:xfrm>
        <a:graphic>
          <a:graphicData uri="http://schemas.openxmlformats.org/presentationml/2006/ole">
            <mc:AlternateContent xmlns:mc="http://schemas.openxmlformats.org/markup-compatibility/2006">
              <mc:Choice xmlns:v="urn:schemas-microsoft-com:vml" Requires="v">
                <p:oleObj spid="_x0000_s14364" name="Equation" r:id="rId3" imgW="1193800" imgH="419100" progId="Equation.DSMT4">
                  <p:embed/>
                </p:oleObj>
              </mc:Choice>
              <mc:Fallback>
                <p:oleObj name="Equation" r:id="rId3" imgW="1193800" imgH="419100" progId="Equation.DSMT4">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28938" y="3860800"/>
                        <a:ext cx="3106737" cy="1085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4872" name="Rectangle 8">
            <a:extLst>
              <a:ext uri="{FF2B5EF4-FFF2-40B4-BE49-F238E27FC236}">
                <a16:creationId xmlns:a16="http://schemas.microsoft.com/office/drawing/2014/main" id="{556D1187-85AF-4820-8B5A-9590EE1C7BC4}"/>
              </a:ext>
            </a:extLst>
          </p:cNvPr>
          <p:cNvSpPr>
            <a:spLocks noChangeArrowheads="1"/>
          </p:cNvSpPr>
          <p:nvPr/>
        </p:nvSpPr>
        <p:spPr bwMode="auto">
          <a:xfrm>
            <a:off x="357188" y="4910138"/>
            <a:ext cx="8372475" cy="175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0"/>
              </a:spcBef>
              <a:buFontTx/>
              <a:buNone/>
            </a:pPr>
            <a:r>
              <a:rPr lang="zh-CN" altLang="en-US" sz="2800" b="1">
                <a:latin typeface="宋体" panose="02010600030101010101" pitchFamily="2" charset="-122"/>
                <a:cs typeface="Times New Roman" panose="02020603050405020304" pitchFamily="18" charset="0"/>
              </a:rPr>
              <a:t>不同的原子核平均结合能不相同，核子的平均结合能大小反映了原子核的稳定程度。</a:t>
            </a:r>
            <a:endParaRPr lang="en-US" altLang="zh-CN" sz="2800" b="1">
              <a:latin typeface="宋体" panose="02010600030101010101" pitchFamily="2" charset="-122"/>
              <a:cs typeface="Times New Roman" panose="02020603050405020304" pitchFamily="18" charset="0"/>
            </a:endParaRPr>
          </a:p>
          <a:p>
            <a:pPr eaLnBrk="1" hangingPunct="1">
              <a:lnSpc>
                <a:spcPct val="130000"/>
              </a:lnSpc>
              <a:spcBef>
                <a:spcPct val="0"/>
              </a:spcBef>
              <a:buFontTx/>
              <a:buNone/>
            </a:pPr>
            <a:endParaRPr lang="en-US" altLang="zh-CN" sz="2800" b="1">
              <a:latin typeface="宋体" panose="02010600030101010101" pitchFamily="2" charset="-122"/>
              <a:cs typeface="Times New Roman" panose="02020603050405020304" pitchFamily="18" charset="0"/>
            </a:endParaRPr>
          </a:p>
        </p:txBody>
      </p:sp>
      <p:grpSp>
        <p:nvGrpSpPr>
          <p:cNvPr id="2" name="Group 11">
            <a:extLst>
              <a:ext uri="{FF2B5EF4-FFF2-40B4-BE49-F238E27FC236}">
                <a16:creationId xmlns:a16="http://schemas.microsoft.com/office/drawing/2014/main" id="{0D4A270C-4C3A-495C-89DB-F3064FBF573A}"/>
              </a:ext>
            </a:extLst>
          </p:cNvPr>
          <p:cNvGrpSpPr>
            <a:grpSpLocks/>
          </p:cNvGrpSpPr>
          <p:nvPr/>
        </p:nvGrpSpPr>
        <p:grpSpPr bwMode="auto">
          <a:xfrm>
            <a:off x="357188" y="2709863"/>
            <a:ext cx="8534400" cy="1212850"/>
            <a:chOff x="158" y="147"/>
            <a:chExt cx="5376" cy="764"/>
          </a:xfrm>
        </p:grpSpPr>
        <p:sp>
          <p:nvSpPr>
            <p:cNvPr id="14352" name="Rectangle 2">
              <a:extLst>
                <a:ext uri="{FF2B5EF4-FFF2-40B4-BE49-F238E27FC236}">
                  <a16:creationId xmlns:a16="http://schemas.microsoft.com/office/drawing/2014/main" id="{22FF0E30-6E95-41DD-B3A0-AC2109E6D667}"/>
                </a:ext>
              </a:extLst>
            </p:cNvPr>
            <p:cNvSpPr>
              <a:spLocks noChangeArrowheads="1"/>
            </p:cNvSpPr>
            <p:nvPr/>
          </p:nvSpPr>
          <p:spPr bwMode="auto">
            <a:xfrm>
              <a:off x="158" y="147"/>
              <a:ext cx="5376" cy="7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spcBef>
                  <a:spcPct val="0"/>
                </a:spcBef>
                <a:buFontTx/>
                <a:buNone/>
              </a:pPr>
              <a:r>
                <a:rPr lang="zh-CN" altLang="en-US" sz="2800" b="1">
                  <a:latin typeface="Times New Roman" panose="02020603050405020304" pitchFamily="18" charset="0"/>
                  <a:cs typeface="Times New Roman" panose="02020603050405020304" pitchFamily="18" charset="0"/>
                </a:rPr>
                <a:t>原子核的</a:t>
              </a:r>
              <a:r>
                <a:rPr lang="zh-CN" altLang="en-US" sz="2800" b="1">
                  <a:solidFill>
                    <a:srgbClr val="202AF4"/>
                  </a:solidFill>
                  <a:latin typeface="Times New Roman" panose="02020603050405020304" pitchFamily="18" charset="0"/>
                  <a:cs typeface="Times New Roman" panose="02020603050405020304" pitchFamily="18" charset="0"/>
                </a:rPr>
                <a:t>结合能</a:t>
              </a:r>
              <a:r>
                <a:rPr lang="zh-CN" altLang="en-US" sz="2800" b="1">
                  <a:latin typeface="Times New Roman" panose="02020603050405020304" pitchFamily="18" charset="0"/>
                  <a:cs typeface="Times New Roman" panose="02020603050405020304" pitchFamily="18" charset="0"/>
                </a:rPr>
                <a:t>与原子核内所包含的</a:t>
              </a:r>
              <a:r>
                <a:rPr lang="zh-CN" altLang="en-US" sz="2800" b="1">
                  <a:solidFill>
                    <a:srgbClr val="202AF4"/>
                  </a:solidFill>
                  <a:latin typeface="Times New Roman" panose="02020603050405020304" pitchFamily="18" charset="0"/>
                  <a:cs typeface="Times New Roman" panose="02020603050405020304" pitchFamily="18" charset="0"/>
                </a:rPr>
                <a:t>总核子数</a:t>
              </a:r>
              <a:r>
                <a:rPr lang="en-US" altLang="zh-CN" sz="2800" b="1">
                  <a:solidFill>
                    <a:srgbClr val="202AF4"/>
                  </a:solidFill>
                  <a:latin typeface="Times New Roman" panose="02020603050405020304" pitchFamily="18" charset="0"/>
                  <a:cs typeface="Times New Roman" panose="02020603050405020304" pitchFamily="18" charset="0"/>
                </a:rPr>
                <a:t>A</a:t>
              </a:r>
              <a:r>
                <a:rPr lang="zh-CN" altLang="en-US" sz="2800" b="1">
                  <a:solidFill>
                    <a:srgbClr val="202AF4"/>
                  </a:solidFill>
                  <a:latin typeface="Times New Roman" panose="02020603050405020304" pitchFamily="18" charset="0"/>
                  <a:cs typeface="Times New Roman" panose="02020603050405020304" pitchFamily="18" charset="0"/>
                </a:rPr>
                <a:t>的比值</a:t>
              </a:r>
              <a:r>
                <a:rPr lang="zh-CN" altLang="en-US" sz="2800" b="1">
                  <a:latin typeface="Times New Roman" panose="02020603050405020304" pitchFamily="18" charset="0"/>
                  <a:cs typeface="Times New Roman" panose="02020603050405020304" pitchFamily="18" charset="0"/>
                </a:rPr>
                <a:t>称为平均结合能</a:t>
              </a:r>
              <a:r>
                <a:rPr lang="en-US" altLang="zh-CN" sz="2800" b="1">
                  <a:latin typeface="Times New Roman" panose="02020603050405020304" pitchFamily="18" charset="0"/>
                  <a:cs typeface="Times New Roman" panose="02020603050405020304" pitchFamily="18" charset="0"/>
                </a:rPr>
                <a:t>(</a:t>
              </a:r>
              <a:r>
                <a:rPr lang="zh-CN" altLang="en-US" sz="2800" b="1">
                  <a:latin typeface="Times New Roman" panose="02020603050405020304" pitchFamily="18" charset="0"/>
                  <a:cs typeface="Times New Roman" panose="02020603050405020304" pitchFamily="18" charset="0"/>
                </a:rPr>
                <a:t>或比结合能</a:t>
              </a:r>
              <a:r>
                <a:rPr lang="en-US" altLang="zh-CN" sz="2800" b="1">
                  <a:latin typeface="Times New Roman" panose="02020603050405020304" pitchFamily="18" charset="0"/>
                  <a:cs typeface="Times New Roman" panose="02020603050405020304" pitchFamily="18" charset="0"/>
                </a:rPr>
                <a:t>)</a:t>
              </a:r>
              <a:r>
                <a:rPr lang="zh-CN" altLang="en-US" sz="2800" b="1">
                  <a:latin typeface="Times New Roman" panose="02020603050405020304" pitchFamily="18" charset="0"/>
                  <a:cs typeface="Times New Roman" panose="02020603050405020304" pitchFamily="18" charset="0"/>
                </a:rPr>
                <a:t>，用      表示，即</a:t>
              </a:r>
            </a:p>
          </p:txBody>
        </p:sp>
        <p:graphicFrame>
          <p:nvGraphicFramePr>
            <p:cNvPr id="14353" name="Object 3">
              <a:extLst>
                <a:ext uri="{FF2B5EF4-FFF2-40B4-BE49-F238E27FC236}">
                  <a16:creationId xmlns:a16="http://schemas.microsoft.com/office/drawing/2014/main" id="{175B872C-B53E-44A7-ABD7-9B3D950B433E}"/>
                </a:ext>
              </a:extLst>
            </p:cNvPr>
            <p:cNvGraphicFramePr>
              <a:graphicFrameLocks noChangeAspect="1"/>
            </p:cNvGraphicFramePr>
            <p:nvPr/>
          </p:nvGraphicFramePr>
          <p:xfrm>
            <a:off x="3778" y="542"/>
            <a:ext cx="307" cy="305"/>
          </p:xfrm>
          <a:graphic>
            <a:graphicData uri="http://schemas.openxmlformats.org/presentationml/2006/ole">
              <mc:AlternateContent xmlns:mc="http://schemas.openxmlformats.org/markup-compatibility/2006">
                <mc:Choice xmlns:v="urn:schemas-microsoft-com:vml" Requires="v">
                  <p:oleObj spid="_x0000_s14365" name="Equation" r:id="rId5" imgW="215619" imgH="215619" progId="Equation.DSMT4">
                    <p:embed/>
                  </p:oleObj>
                </mc:Choice>
                <mc:Fallback>
                  <p:oleObj name="Equation" r:id="rId5" imgW="215619" imgH="215619" progId="Equation.DSMT4">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78" y="542"/>
                          <a:ext cx="307" cy="3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4341" name="Text Box 29">
            <a:extLst>
              <a:ext uri="{FF2B5EF4-FFF2-40B4-BE49-F238E27FC236}">
                <a16:creationId xmlns:a16="http://schemas.microsoft.com/office/drawing/2014/main" id="{DD65FDE0-5F3F-4ABA-B4AF-F7E29C135734}"/>
              </a:ext>
            </a:extLst>
          </p:cNvPr>
          <p:cNvSpPr txBox="1">
            <a:spLocks noChangeArrowheads="1"/>
          </p:cNvSpPr>
          <p:nvPr/>
        </p:nvSpPr>
        <p:spPr bwMode="auto">
          <a:xfrm>
            <a:off x="8629650" y="635635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1">
                <a:latin typeface="Times New Roman" panose="02020603050405020304" pitchFamily="18" charset="0"/>
              </a:rPr>
              <a:t>10</a:t>
            </a:r>
            <a:endParaRPr lang="en-US" altLang="zh-CN" sz="1800"/>
          </a:p>
        </p:txBody>
      </p:sp>
      <p:sp>
        <p:nvSpPr>
          <p:cNvPr id="8201" name="Rectangle 9">
            <a:extLst>
              <a:ext uri="{FF2B5EF4-FFF2-40B4-BE49-F238E27FC236}">
                <a16:creationId xmlns:a16="http://schemas.microsoft.com/office/drawing/2014/main" id="{38B0D02E-5036-400E-B815-DD99D9651DE7}"/>
              </a:ext>
            </a:extLst>
          </p:cNvPr>
          <p:cNvSpPr>
            <a:spLocks noChangeArrowheads="1"/>
          </p:cNvSpPr>
          <p:nvPr/>
        </p:nvSpPr>
        <p:spPr bwMode="auto">
          <a:xfrm>
            <a:off x="395288" y="6092825"/>
            <a:ext cx="697071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lang="zh-CN" altLang="en-US" sz="2800" b="1" dirty="0">
                <a:ea typeface="楷体_GB2312" pitchFamily="49" charset="-122"/>
              </a:rPr>
              <a:t>核子的</a:t>
            </a:r>
            <a:r>
              <a:rPr lang="zh-CN" altLang="en-US" sz="2800" b="1" dirty="0">
                <a:solidFill>
                  <a:srgbClr val="202AF4"/>
                </a:solidFill>
                <a:latin typeface="Times New Roman" panose="02020603050405020304" pitchFamily="18" charset="0"/>
                <a:cs typeface="Times New Roman" panose="02020603050405020304" pitchFamily="18" charset="0"/>
              </a:rPr>
              <a:t>平均结合能越大，原子核就越稳定</a:t>
            </a:r>
            <a:r>
              <a:rPr lang="zh-CN" altLang="en-US" sz="2800" b="1" dirty="0">
                <a:solidFill>
                  <a:schemeClr val="accent6"/>
                </a:solidFill>
                <a:ea typeface="楷体_GB2312" pitchFamily="49" charset="-122"/>
              </a:rPr>
              <a:t>。</a:t>
            </a:r>
          </a:p>
        </p:txBody>
      </p:sp>
      <p:grpSp>
        <p:nvGrpSpPr>
          <p:cNvPr id="9" name="Group 37">
            <a:extLst>
              <a:ext uri="{FF2B5EF4-FFF2-40B4-BE49-F238E27FC236}">
                <a16:creationId xmlns:a16="http://schemas.microsoft.com/office/drawing/2014/main" id="{57EC22EB-76F6-4CCF-AB47-5F707BB4A57C}"/>
              </a:ext>
            </a:extLst>
          </p:cNvPr>
          <p:cNvGrpSpPr>
            <a:grpSpLocks/>
          </p:cNvGrpSpPr>
          <p:nvPr/>
        </p:nvGrpSpPr>
        <p:grpSpPr bwMode="auto">
          <a:xfrm>
            <a:off x="0" y="200025"/>
            <a:ext cx="7307263" cy="1357313"/>
            <a:chOff x="612" y="2688"/>
            <a:chExt cx="4603" cy="855"/>
          </a:xfrm>
        </p:grpSpPr>
        <p:sp>
          <p:nvSpPr>
            <p:cNvPr id="10" name="Text Box 38">
              <a:extLst>
                <a:ext uri="{FF2B5EF4-FFF2-40B4-BE49-F238E27FC236}">
                  <a16:creationId xmlns:a16="http://schemas.microsoft.com/office/drawing/2014/main" id="{0F50AAE1-97AA-4C97-8BBA-43D908F07851}"/>
                </a:ext>
              </a:extLst>
            </p:cNvPr>
            <p:cNvSpPr txBox="1">
              <a:spLocks noChangeArrowheads="1"/>
            </p:cNvSpPr>
            <p:nvPr/>
          </p:nvSpPr>
          <p:spPr bwMode="auto">
            <a:xfrm>
              <a:off x="612" y="2688"/>
              <a:ext cx="4536"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lang="zh-CN" altLang="en-US" sz="2800" b="1" dirty="0">
                  <a:solidFill>
                    <a:srgbClr val="FF0000"/>
                  </a:solidFill>
                  <a:latin typeface="Times New Roman" panose="02020603050405020304" pitchFamily="18" charset="0"/>
                  <a:ea typeface="+mn-ea"/>
                  <a:cs typeface="Times New Roman" panose="02020603050405020304" pitchFamily="18" charset="0"/>
                </a:rPr>
                <a:t>例</a:t>
              </a:r>
              <a:r>
                <a:rPr lang="en-US" altLang="zh-CN" sz="2800" b="1" dirty="0">
                  <a:solidFill>
                    <a:srgbClr val="FF0000"/>
                  </a:solidFill>
                  <a:latin typeface="Times New Roman" panose="02020603050405020304" pitchFamily="18" charset="0"/>
                  <a:ea typeface="+mn-ea"/>
                  <a:cs typeface="Times New Roman" panose="02020603050405020304" pitchFamily="18" charset="0"/>
                </a:rPr>
                <a:t>: </a:t>
              </a:r>
              <a:r>
                <a:rPr lang="en-US" altLang="zh-CN" sz="2800" b="1" dirty="0">
                  <a:latin typeface="Times New Roman" panose="02020603050405020304" pitchFamily="18" charset="0"/>
                  <a:ea typeface="+mn-ea"/>
                  <a:cs typeface="Times New Roman" panose="02020603050405020304" pitchFamily="18" charset="0"/>
                </a:rPr>
                <a:t>He</a:t>
              </a:r>
              <a:r>
                <a:rPr lang="zh-CN" altLang="en-US" sz="2800" b="1" dirty="0">
                  <a:latin typeface="Times New Roman" panose="02020603050405020304" pitchFamily="18" charset="0"/>
                  <a:ea typeface="+mn-ea"/>
                  <a:cs typeface="Times New Roman" panose="02020603050405020304" pitchFamily="18" charset="0"/>
                </a:rPr>
                <a:t>原子核的质量亏损与结合能分别为</a:t>
              </a:r>
            </a:p>
          </p:txBody>
        </p:sp>
        <p:graphicFrame>
          <p:nvGraphicFramePr>
            <p:cNvPr id="14350" name="Object 39">
              <a:extLst>
                <a:ext uri="{FF2B5EF4-FFF2-40B4-BE49-F238E27FC236}">
                  <a16:creationId xmlns:a16="http://schemas.microsoft.com/office/drawing/2014/main" id="{DF971DA6-5FCE-41A6-A42B-D4388EF28E8B}"/>
                </a:ext>
              </a:extLst>
            </p:cNvPr>
            <p:cNvGraphicFramePr>
              <a:graphicFrameLocks/>
            </p:cNvGraphicFramePr>
            <p:nvPr/>
          </p:nvGraphicFramePr>
          <p:xfrm>
            <a:off x="1066" y="2984"/>
            <a:ext cx="3242" cy="241"/>
          </p:xfrm>
          <a:graphic>
            <a:graphicData uri="http://schemas.openxmlformats.org/presentationml/2006/ole">
              <mc:AlternateContent xmlns:mc="http://schemas.openxmlformats.org/markup-compatibility/2006">
                <mc:Choice xmlns:v="urn:schemas-microsoft-com:vml" Requires="v">
                  <p:oleObj spid="_x0000_s14366" name="Equation" r:id="rId7" imgW="2654300" imgH="177800" progId="Equation.DSMT4">
                    <p:embed/>
                  </p:oleObj>
                </mc:Choice>
                <mc:Fallback>
                  <p:oleObj name="Equation" r:id="rId7" imgW="2654300" imgH="177800" progId="Equation.DSMT4">
                    <p:embed/>
                    <p:pic>
                      <p:nvPicPr>
                        <p:cNvPr id="0" name="Object 39"/>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66" y="2984"/>
                          <a:ext cx="3242"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351" name="Object 40">
              <a:extLst>
                <a:ext uri="{FF2B5EF4-FFF2-40B4-BE49-F238E27FC236}">
                  <a16:creationId xmlns:a16="http://schemas.microsoft.com/office/drawing/2014/main" id="{B9926C8F-356D-4716-91D3-C439795F8FAA}"/>
                </a:ext>
              </a:extLst>
            </p:cNvPr>
            <p:cNvGraphicFramePr>
              <a:graphicFrameLocks noChangeAspect="1"/>
            </p:cNvGraphicFramePr>
            <p:nvPr/>
          </p:nvGraphicFramePr>
          <p:xfrm>
            <a:off x="1042" y="3249"/>
            <a:ext cx="4173" cy="294"/>
          </p:xfrm>
          <a:graphic>
            <a:graphicData uri="http://schemas.openxmlformats.org/presentationml/2006/ole">
              <mc:AlternateContent xmlns:mc="http://schemas.openxmlformats.org/markup-compatibility/2006">
                <mc:Choice xmlns:v="urn:schemas-microsoft-com:vml" Requires="v">
                  <p:oleObj spid="_x0000_s14367" name="Equation" r:id="rId9" imgW="2743200" imgH="203200" progId="Equation.DSMT4">
                    <p:embed/>
                  </p:oleObj>
                </mc:Choice>
                <mc:Fallback>
                  <p:oleObj name="Equation" r:id="rId9" imgW="2743200" imgH="203200" progId="Equation.DSMT4">
                    <p:embed/>
                    <p:pic>
                      <p:nvPicPr>
                        <p:cNvPr id="0" name="Object 4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42" y="3249"/>
                          <a:ext cx="4173"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13" name="Group 44">
            <a:extLst>
              <a:ext uri="{FF2B5EF4-FFF2-40B4-BE49-F238E27FC236}">
                <a16:creationId xmlns:a16="http://schemas.microsoft.com/office/drawing/2014/main" id="{8CEF8210-2D2E-4491-AD69-9379C4FEE8B8}"/>
              </a:ext>
            </a:extLst>
          </p:cNvPr>
          <p:cNvGrpSpPr>
            <a:grpSpLocks/>
          </p:cNvGrpSpPr>
          <p:nvPr/>
        </p:nvGrpSpPr>
        <p:grpSpPr bwMode="auto">
          <a:xfrm>
            <a:off x="392113" y="1506538"/>
            <a:ext cx="8859837" cy="1201737"/>
            <a:chOff x="583" y="3501"/>
            <a:chExt cx="5581" cy="757"/>
          </a:xfrm>
        </p:grpSpPr>
        <p:sp>
          <p:nvSpPr>
            <p:cNvPr id="14" name="Text Box 45">
              <a:extLst>
                <a:ext uri="{FF2B5EF4-FFF2-40B4-BE49-F238E27FC236}">
                  <a16:creationId xmlns:a16="http://schemas.microsoft.com/office/drawing/2014/main" id="{818AF774-0167-42D4-B408-F4D916CCEFC5}"/>
                </a:ext>
              </a:extLst>
            </p:cNvPr>
            <p:cNvSpPr txBox="1">
              <a:spLocks noChangeArrowheads="1"/>
            </p:cNvSpPr>
            <p:nvPr/>
          </p:nvSpPr>
          <p:spPr bwMode="auto">
            <a:xfrm>
              <a:off x="649" y="3501"/>
              <a:ext cx="3837"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sz="2800" dirty="0">
                  <a:latin typeface="Times New Roman" panose="02020603050405020304" pitchFamily="18" charset="0"/>
                  <a:ea typeface="+mn-ea"/>
                  <a:cs typeface="Times New Roman" panose="02020603050405020304" pitchFamily="18" charset="0"/>
                </a:rPr>
                <a:t>形成</a:t>
              </a:r>
              <a:r>
                <a:rPr lang="en-US" altLang="zh-CN" sz="2800" dirty="0">
                  <a:solidFill>
                    <a:srgbClr val="FF0000"/>
                  </a:solidFill>
                  <a:latin typeface="Times New Roman" panose="02020603050405020304" pitchFamily="18" charset="0"/>
                  <a:ea typeface="+mn-ea"/>
                  <a:cs typeface="Times New Roman" panose="02020603050405020304" pitchFamily="18" charset="0"/>
                </a:rPr>
                <a:t>1 </a:t>
              </a:r>
              <a:r>
                <a:rPr lang="en-US" altLang="zh-CN" sz="2800" dirty="0" err="1">
                  <a:solidFill>
                    <a:srgbClr val="FF0000"/>
                  </a:solidFill>
                  <a:latin typeface="Times New Roman" panose="02020603050405020304" pitchFamily="18" charset="0"/>
                  <a:ea typeface="+mn-ea"/>
                  <a:cs typeface="Times New Roman" panose="02020603050405020304" pitchFamily="18" charset="0"/>
                </a:rPr>
                <a:t>mol</a:t>
              </a:r>
              <a:r>
                <a:rPr lang="zh-CN" altLang="en-US" sz="2800" dirty="0">
                  <a:solidFill>
                    <a:srgbClr val="FF0000"/>
                  </a:solidFill>
                  <a:latin typeface="Times New Roman" panose="02020603050405020304" pitchFamily="18" charset="0"/>
                  <a:ea typeface="+mn-ea"/>
                  <a:cs typeface="Times New Roman" panose="02020603050405020304" pitchFamily="18" charset="0"/>
                </a:rPr>
                <a:t>的</a:t>
              </a:r>
              <a:r>
                <a:rPr lang="en-US" altLang="zh-CN" sz="2800" dirty="0">
                  <a:solidFill>
                    <a:srgbClr val="FF0000"/>
                  </a:solidFill>
                  <a:latin typeface="Times New Roman" panose="02020603050405020304" pitchFamily="18" charset="0"/>
                  <a:ea typeface="+mn-ea"/>
                  <a:cs typeface="Times New Roman" panose="02020603050405020304" pitchFamily="18" charset="0"/>
                </a:rPr>
                <a:t>He</a:t>
              </a:r>
              <a:r>
                <a:rPr lang="zh-CN" altLang="en-US" sz="2800" dirty="0">
                  <a:solidFill>
                    <a:srgbClr val="FF0000"/>
                  </a:solidFill>
                  <a:latin typeface="Times New Roman" panose="02020603050405020304" pitchFamily="18" charset="0"/>
                  <a:ea typeface="+mn-ea"/>
                  <a:cs typeface="Times New Roman" panose="02020603050405020304" pitchFamily="18" charset="0"/>
                </a:rPr>
                <a:t>原子核</a:t>
              </a:r>
              <a:r>
                <a:rPr lang="zh-CN" altLang="en-US" sz="2800" dirty="0">
                  <a:latin typeface="Times New Roman" panose="02020603050405020304" pitchFamily="18" charset="0"/>
                  <a:ea typeface="+mn-ea"/>
                  <a:cs typeface="Times New Roman" panose="02020603050405020304" pitchFamily="18" charset="0"/>
                </a:rPr>
                <a:t>所放出的能量为</a:t>
              </a:r>
            </a:p>
          </p:txBody>
        </p:sp>
        <p:grpSp>
          <p:nvGrpSpPr>
            <p:cNvPr id="14346" name="Group 46">
              <a:extLst>
                <a:ext uri="{FF2B5EF4-FFF2-40B4-BE49-F238E27FC236}">
                  <a16:creationId xmlns:a16="http://schemas.microsoft.com/office/drawing/2014/main" id="{373B89D0-9308-4E02-8C7B-683B231ED31C}"/>
                </a:ext>
              </a:extLst>
            </p:cNvPr>
            <p:cNvGrpSpPr>
              <a:grpSpLocks/>
            </p:cNvGrpSpPr>
            <p:nvPr/>
          </p:nvGrpSpPr>
          <p:grpSpPr bwMode="auto">
            <a:xfrm>
              <a:off x="583" y="3887"/>
              <a:ext cx="5581" cy="371"/>
              <a:chOff x="583" y="3887"/>
              <a:chExt cx="5581" cy="371"/>
            </a:xfrm>
          </p:grpSpPr>
          <p:graphicFrame>
            <p:nvGraphicFramePr>
              <p:cNvPr id="14347" name="Object 47">
                <a:extLst>
                  <a:ext uri="{FF2B5EF4-FFF2-40B4-BE49-F238E27FC236}">
                    <a16:creationId xmlns:a16="http://schemas.microsoft.com/office/drawing/2014/main" id="{6D8AB913-200F-408C-9D24-B6213B3B7F5F}"/>
                  </a:ext>
                </a:extLst>
              </p:cNvPr>
              <p:cNvGraphicFramePr>
                <a:graphicFrameLocks noChangeAspect="1"/>
              </p:cNvGraphicFramePr>
              <p:nvPr/>
            </p:nvGraphicFramePr>
            <p:xfrm>
              <a:off x="583" y="3923"/>
              <a:ext cx="3535" cy="335"/>
            </p:xfrm>
            <a:graphic>
              <a:graphicData uri="http://schemas.openxmlformats.org/presentationml/2006/ole">
                <mc:AlternateContent xmlns:mc="http://schemas.openxmlformats.org/markup-compatibility/2006">
                  <mc:Choice xmlns:v="urn:schemas-microsoft-com:vml" Requires="v">
                    <p:oleObj spid="_x0000_s14368" name="Equation" r:id="rId11" imgW="2260600" imgH="241300" progId="Equation.DSMT4">
                      <p:embed/>
                    </p:oleObj>
                  </mc:Choice>
                  <mc:Fallback>
                    <p:oleObj name="Equation" r:id="rId11" imgW="2260600" imgH="241300" progId="Equation.DSMT4">
                      <p:embed/>
                      <p:pic>
                        <p:nvPicPr>
                          <p:cNvPr id="0" name="Object 4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83" y="3923"/>
                            <a:ext cx="3535" cy="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 name="Text Box 48">
                <a:extLst>
                  <a:ext uri="{FF2B5EF4-FFF2-40B4-BE49-F238E27FC236}">
                    <a16:creationId xmlns:a16="http://schemas.microsoft.com/office/drawing/2014/main" id="{2203EC4A-C054-402E-A344-522818E8B821}"/>
                  </a:ext>
                </a:extLst>
              </p:cNvPr>
              <p:cNvSpPr txBox="1">
                <a:spLocks noChangeArrowheads="1"/>
              </p:cNvSpPr>
              <p:nvPr/>
            </p:nvSpPr>
            <p:spPr bwMode="auto">
              <a:xfrm>
                <a:off x="4024" y="3887"/>
                <a:ext cx="2140"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2800" dirty="0">
                    <a:latin typeface="Times New Roman" panose="02020603050405020304" pitchFamily="18" charset="0"/>
                    <a:ea typeface="+mn-ea"/>
                    <a:cs typeface="Times New Roman" panose="02020603050405020304" pitchFamily="18" charset="0"/>
                  </a:rPr>
                  <a:t>(</a:t>
                </a:r>
                <a:r>
                  <a:rPr lang="zh-CN" altLang="en-US" sz="2800" dirty="0">
                    <a:latin typeface="Times New Roman" panose="02020603050405020304" pitchFamily="18" charset="0"/>
                    <a:ea typeface="+mn-ea"/>
                    <a:cs typeface="Times New Roman" panose="02020603050405020304" pitchFamily="18" charset="0"/>
                  </a:rPr>
                  <a:t>相当于燃烧</a:t>
                </a:r>
                <a:r>
                  <a:rPr lang="en-US" altLang="zh-CN" sz="2800" dirty="0">
                    <a:latin typeface="Times New Roman" panose="02020603050405020304" pitchFamily="18" charset="0"/>
                    <a:ea typeface="+mn-ea"/>
                    <a:cs typeface="Times New Roman" panose="02020603050405020304" pitchFamily="18" charset="0"/>
                  </a:rPr>
                  <a:t>100 t</a:t>
                </a:r>
                <a:r>
                  <a:rPr lang="zh-CN" altLang="en-US" sz="2800" dirty="0">
                    <a:latin typeface="Times New Roman" panose="02020603050405020304" pitchFamily="18" charset="0"/>
                    <a:ea typeface="+mn-ea"/>
                    <a:cs typeface="Times New Roman" panose="02020603050405020304" pitchFamily="18" charset="0"/>
                  </a:rPr>
                  <a:t>煤</a:t>
                </a:r>
                <a:r>
                  <a:rPr lang="en-US" altLang="zh-CN" sz="2800" dirty="0">
                    <a:latin typeface="Times New Roman" panose="02020603050405020304" pitchFamily="18" charset="0"/>
                    <a:ea typeface="+mn-ea"/>
                    <a:cs typeface="Times New Roman" panose="02020603050405020304" pitchFamily="18" charset="0"/>
                  </a:rPr>
                  <a:t>)</a:t>
                </a:r>
                <a:r>
                  <a:rPr lang="zh-CN" altLang="en-US" sz="2800" dirty="0">
                    <a:latin typeface="Times New Roman" panose="02020603050405020304" pitchFamily="18" charset="0"/>
                    <a:ea typeface="+mn-ea"/>
                    <a:cs typeface="Times New Roman" panose="02020603050405020304" pitchFamily="18" charset="0"/>
                  </a:rPr>
                  <a:t> </a:t>
                </a:r>
              </a:p>
            </p:txBody>
          </p:sp>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up)">
                                      <p:cBhvr>
                                        <p:cTn id="7" dur="500"/>
                                        <p:tgtEl>
                                          <p:spTgt spid="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up)">
                                      <p:cBhvr>
                                        <p:cTn id="12" dur="500"/>
                                        <p:tgtEl>
                                          <p:spTgt spid="1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checkerboard(across)">
                                      <p:cBhvr>
                                        <p:cTn id="17" dur="500"/>
                                        <p:tgtEl>
                                          <p:spTgt spid="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2" presetClass="entr" presetSubtype="4" fill="hold" nodeType="clickEffect">
                                  <p:stCondLst>
                                    <p:cond delay="0"/>
                                  </p:stCondLst>
                                  <p:childTnLst>
                                    <p:set>
                                      <p:cBhvr>
                                        <p:cTn id="21" dur="1" fill="hold">
                                          <p:stCondLst>
                                            <p:cond delay="0"/>
                                          </p:stCondLst>
                                        </p:cTn>
                                        <p:tgtEl>
                                          <p:spTgt spid="164871"/>
                                        </p:tgtEl>
                                        <p:attrNameLst>
                                          <p:attrName>style.visibility</p:attrName>
                                        </p:attrNameLst>
                                      </p:cBhvr>
                                      <p:to>
                                        <p:strVal val="visible"/>
                                      </p:to>
                                    </p:set>
                                    <p:animEffect transition="in" filter="slide(fromBottom)">
                                      <p:cBhvr>
                                        <p:cTn id="22" dur="500"/>
                                        <p:tgtEl>
                                          <p:spTgt spid="16487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7" presetClass="entr" presetSubtype="10" fill="hold" grpId="0" nodeType="clickEffect">
                                  <p:stCondLst>
                                    <p:cond delay="0"/>
                                  </p:stCondLst>
                                  <p:childTnLst>
                                    <p:set>
                                      <p:cBhvr>
                                        <p:cTn id="26" dur="1" fill="hold">
                                          <p:stCondLst>
                                            <p:cond delay="0"/>
                                          </p:stCondLst>
                                        </p:cTn>
                                        <p:tgtEl>
                                          <p:spTgt spid="164872"/>
                                        </p:tgtEl>
                                        <p:attrNameLst>
                                          <p:attrName>style.visibility</p:attrName>
                                        </p:attrNameLst>
                                      </p:cBhvr>
                                      <p:to>
                                        <p:strVal val="visible"/>
                                      </p:to>
                                    </p:set>
                                    <p:anim calcmode="lin" valueType="num">
                                      <p:cBhvr>
                                        <p:cTn id="27" dur="500" fill="hold"/>
                                        <p:tgtEl>
                                          <p:spTgt spid="164872"/>
                                        </p:tgtEl>
                                        <p:attrNameLst>
                                          <p:attrName>ppt_w</p:attrName>
                                        </p:attrNameLst>
                                      </p:cBhvr>
                                      <p:tavLst>
                                        <p:tav tm="0">
                                          <p:val>
                                            <p:fltVal val="0"/>
                                          </p:val>
                                        </p:tav>
                                        <p:tav tm="100000">
                                          <p:val>
                                            <p:strVal val="#ppt_w"/>
                                          </p:val>
                                        </p:tav>
                                      </p:tavLst>
                                    </p:anim>
                                    <p:anim calcmode="lin" valueType="num">
                                      <p:cBhvr>
                                        <p:cTn id="28" dur="500" fill="hold"/>
                                        <p:tgtEl>
                                          <p:spTgt spid="164872"/>
                                        </p:tgtEl>
                                        <p:attrNameLst>
                                          <p:attrName>ppt_h</p:attrName>
                                        </p:attrNameLst>
                                      </p:cBhvr>
                                      <p:tavLst>
                                        <p:tav tm="0">
                                          <p:val>
                                            <p:strVal val="#ppt_h"/>
                                          </p:val>
                                        </p:tav>
                                        <p:tav tm="100000">
                                          <p:val>
                                            <p:strVal val="#ppt_h"/>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8201"/>
                                        </p:tgtEl>
                                        <p:attrNameLst>
                                          <p:attrName>style.visibility</p:attrName>
                                        </p:attrNameLst>
                                      </p:cBhvr>
                                      <p:to>
                                        <p:strVal val="visible"/>
                                      </p:to>
                                    </p:set>
                                    <p:anim calcmode="lin" valueType="num">
                                      <p:cBhvr additive="base">
                                        <p:cTn id="33" dur="500" fill="hold"/>
                                        <p:tgtEl>
                                          <p:spTgt spid="8201"/>
                                        </p:tgtEl>
                                        <p:attrNameLst>
                                          <p:attrName>ppt_x</p:attrName>
                                        </p:attrNameLst>
                                      </p:cBhvr>
                                      <p:tavLst>
                                        <p:tav tm="0">
                                          <p:val>
                                            <p:strVal val="#ppt_x"/>
                                          </p:val>
                                        </p:tav>
                                        <p:tav tm="100000">
                                          <p:val>
                                            <p:strVal val="#ppt_x"/>
                                          </p:val>
                                        </p:tav>
                                      </p:tavLst>
                                    </p:anim>
                                    <p:anim calcmode="lin" valueType="num">
                                      <p:cBhvr additive="base">
                                        <p:cTn id="34" dur="500" fill="hold"/>
                                        <p:tgtEl>
                                          <p:spTgt spid="820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872" grpId="0"/>
      <p:bldP spid="820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21" name="Text Box 5">
            <a:extLst>
              <a:ext uri="{FF2B5EF4-FFF2-40B4-BE49-F238E27FC236}">
                <a16:creationId xmlns:a16="http://schemas.microsoft.com/office/drawing/2014/main" id="{10D1B6AF-350F-4668-BC0D-1DFB2EA21725}"/>
              </a:ext>
            </a:extLst>
          </p:cNvPr>
          <p:cNvSpPr txBox="1">
            <a:spLocks noChangeArrowheads="1"/>
          </p:cNvSpPr>
          <p:nvPr/>
        </p:nvSpPr>
        <p:spPr bwMode="auto">
          <a:xfrm>
            <a:off x="71438" y="1143000"/>
            <a:ext cx="49688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b="1">
                <a:solidFill>
                  <a:srgbClr val="202AF4"/>
                </a:solidFill>
                <a:latin typeface="Times New Roman" panose="02020603050405020304" pitchFamily="18" charset="0"/>
                <a:cs typeface="Times New Roman" panose="02020603050405020304" pitchFamily="18" charset="0"/>
              </a:rPr>
              <a:t>2.1 </a:t>
            </a:r>
            <a:r>
              <a:rPr lang="zh-CN" altLang="en-US" sz="2800" b="1">
                <a:solidFill>
                  <a:srgbClr val="202AF4"/>
                </a:solidFill>
                <a:latin typeface="Times New Roman" panose="02020603050405020304" pitchFamily="18" charset="0"/>
                <a:cs typeface="Times New Roman" panose="02020603050405020304" pitchFamily="18" charset="0"/>
              </a:rPr>
              <a:t>原子核的稳定性</a:t>
            </a:r>
          </a:p>
        </p:txBody>
      </p:sp>
      <p:sp>
        <p:nvSpPr>
          <p:cNvPr id="137235" name="Rectangle 19">
            <a:extLst>
              <a:ext uri="{FF2B5EF4-FFF2-40B4-BE49-F238E27FC236}">
                <a16:creationId xmlns:a16="http://schemas.microsoft.com/office/drawing/2014/main" id="{B3BE6F83-24B5-4039-9C4A-7C47A1358B7A}"/>
              </a:ext>
            </a:extLst>
          </p:cNvPr>
          <p:cNvSpPr>
            <a:spLocks noChangeArrowheads="1"/>
          </p:cNvSpPr>
          <p:nvPr/>
        </p:nvSpPr>
        <p:spPr bwMode="auto">
          <a:xfrm>
            <a:off x="2268538" y="346075"/>
            <a:ext cx="460851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solidFill>
                  <a:schemeClr val="tx2"/>
                </a:solidFill>
                <a:latin typeface="宋体" panose="02010600030101010101" pitchFamily="2" charset="-122"/>
              </a:rPr>
              <a:t> </a:t>
            </a:r>
            <a:r>
              <a:rPr kumimoji="1" lang="zh-CN" altLang="en-US" b="1">
                <a:solidFill>
                  <a:schemeClr val="tx2"/>
                </a:solidFill>
                <a:latin typeface="宋体" panose="02010600030101010101" pitchFamily="2" charset="-122"/>
              </a:rPr>
              <a:t>第</a:t>
            </a:r>
            <a:r>
              <a:rPr kumimoji="1" lang="en-US" altLang="zh-CN" b="1">
                <a:solidFill>
                  <a:schemeClr val="tx2"/>
                </a:solidFill>
                <a:latin typeface="Times New Roman" panose="02020603050405020304" pitchFamily="18" charset="0"/>
              </a:rPr>
              <a:t>2</a:t>
            </a:r>
            <a:r>
              <a:rPr kumimoji="1" lang="zh-CN" altLang="en-US" b="1">
                <a:solidFill>
                  <a:schemeClr val="tx2"/>
                </a:solidFill>
                <a:latin typeface="宋体" panose="02010600030101010101" pitchFamily="2" charset="-122"/>
              </a:rPr>
              <a:t>节 原子核的衰变</a:t>
            </a:r>
            <a:r>
              <a:rPr kumimoji="1" lang="zh-CN" altLang="en-US" b="1">
                <a:solidFill>
                  <a:schemeClr val="tx2"/>
                </a:solidFill>
                <a:latin typeface="Times New Roman" panose="02020603050405020304" pitchFamily="18" charset="0"/>
                <a:ea typeface="楷体_GB2312"/>
                <a:cs typeface="楷体_GB2312"/>
              </a:rPr>
              <a:t> </a:t>
            </a:r>
          </a:p>
        </p:txBody>
      </p:sp>
      <p:sp>
        <p:nvSpPr>
          <p:cNvPr id="12" name="Rectangle 4">
            <a:extLst>
              <a:ext uri="{FF2B5EF4-FFF2-40B4-BE49-F238E27FC236}">
                <a16:creationId xmlns:a16="http://schemas.microsoft.com/office/drawing/2014/main" id="{255825F6-8E45-45D0-B914-5D9115313F39}"/>
              </a:ext>
            </a:extLst>
          </p:cNvPr>
          <p:cNvSpPr>
            <a:spLocks noChangeArrowheads="1"/>
          </p:cNvSpPr>
          <p:nvPr/>
        </p:nvSpPr>
        <p:spPr bwMode="auto">
          <a:xfrm>
            <a:off x="714375" y="1828800"/>
            <a:ext cx="7870825"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
                <a:schemeClr val="accent2"/>
              </a:buClr>
              <a:buFont typeface="Wingdings" panose="05000000000000000000" pitchFamily="2" charset="2"/>
              <a:buChar char="Ø"/>
            </a:pPr>
            <a:r>
              <a:rPr lang="zh-CN" altLang="en-US" sz="2800" b="1">
                <a:solidFill>
                  <a:schemeClr val="tx2"/>
                </a:solidFill>
                <a:cs typeface="Times New Roman" panose="02020603050405020304" pitchFamily="18" charset="0"/>
              </a:rPr>
              <a:t>  原子核的稳定性，是指原子核不会自发地改变其质子数、中子数和它的基本性质。</a:t>
            </a:r>
            <a:endParaRPr lang="en-US" altLang="zh-CN" sz="2800" b="1">
              <a:solidFill>
                <a:schemeClr val="tx2"/>
              </a:solidFill>
              <a:cs typeface="Times New Roman" panose="02020603050405020304" pitchFamily="18" charset="0"/>
            </a:endParaRPr>
          </a:p>
          <a:p>
            <a:pPr eaLnBrk="1" hangingPunct="1">
              <a:spcBef>
                <a:spcPct val="0"/>
              </a:spcBef>
              <a:buClr>
                <a:schemeClr val="accent2"/>
              </a:buClr>
              <a:buFont typeface="Wingdings" panose="05000000000000000000" pitchFamily="2" charset="2"/>
              <a:buChar char="Ø"/>
            </a:pPr>
            <a:r>
              <a:rPr lang="zh-CN" altLang="en-US" sz="2800" b="1">
                <a:solidFill>
                  <a:schemeClr val="tx2"/>
                </a:solidFill>
                <a:cs typeface="Times New Roman" panose="02020603050405020304" pitchFamily="18" charset="0"/>
              </a:rPr>
              <a:t>  按原子核的稳定性可分为稳定原子核和不稳定</a:t>
            </a:r>
            <a:r>
              <a:rPr lang="en-US" altLang="zh-CN" sz="2800" b="1">
                <a:solidFill>
                  <a:schemeClr val="tx2"/>
                </a:solidFill>
                <a:cs typeface="Times New Roman" panose="02020603050405020304" pitchFamily="18" charset="0"/>
              </a:rPr>
              <a:t>(</a:t>
            </a:r>
            <a:r>
              <a:rPr lang="zh-CN" altLang="en-US" sz="2800" b="1">
                <a:solidFill>
                  <a:schemeClr val="tx2"/>
                </a:solidFill>
                <a:cs typeface="Times New Roman" panose="02020603050405020304" pitchFamily="18" charset="0"/>
              </a:rPr>
              <a:t>或放射性</a:t>
            </a:r>
            <a:r>
              <a:rPr lang="en-US" altLang="zh-CN" sz="2800" b="1">
                <a:solidFill>
                  <a:schemeClr val="tx2"/>
                </a:solidFill>
                <a:cs typeface="Times New Roman" panose="02020603050405020304" pitchFamily="18" charset="0"/>
              </a:rPr>
              <a:t>)</a:t>
            </a:r>
            <a:r>
              <a:rPr lang="zh-CN" altLang="en-US" sz="2800" b="1">
                <a:solidFill>
                  <a:schemeClr val="tx2"/>
                </a:solidFill>
                <a:cs typeface="Times New Roman" panose="02020603050405020304" pitchFamily="18" charset="0"/>
              </a:rPr>
              <a:t>原子核两类</a:t>
            </a:r>
            <a:r>
              <a:rPr lang="en-US" altLang="zh-CN" sz="2800" b="1">
                <a:solidFill>
                  <a:schemeClr val="tx2"/>
                </a:solidFill>
                <a:cs typeface="Times New Roman" panose="02020603050405020304" pitchFamily="18" charset="0"/>
              </a:rPr>
              <a:t>. </a:t>
            </a:r>
          </a:p>
        </p:txBody>
      </p:sp>
      <p:sp>
        <p:nvSpPr>
          <p:cNvPr id="13" name="Text Box 5">
            <a:extLst>
              <a:ext uri="{FF2B5EF4-FFF2-40B4-BE49-F238E27FC236}">
                <a16:creationId xmlns:a16="http://schemas.microsoft.com/office/drawing/2014/main" id="{FC03792D-5823-4751-91E0-79510A970426}"/>
              </a:ext>
            </a:extLst>
          </p:cNvPr>
          <p:cNvSpPr txBox="1">
            <a:spLocks noChangeArrowheads="1"/>
          </p:cNvSpPr>
          <p:nvPr/>
        </p:nvSpPr>
        <p:spPr bwMode="auto">
          <a:xfrm>
            <a:off x="500063" y="3857625"/>
            <a:ext cx="51308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b="1">
                <a:solidFill>
                  <a:schemeClr val="tx2"/>
                </a:solidFill>
                <a:latin typeface="黑体" panose="02010609060101010101" pitchFamily="49" charset="-122"/>
                <a:cs typeface="Times New Roman" panose="02020603050405020304" pitchFamily="18" charset="0"/>
              </a:rPr>
              <a:t>预测核的稳定性的</a:t>
            </a:r>
            <a:r>
              <a:rPr lang="zh-CN" altLang="en-US" sz="2800" b="1">
                <a:solidFill>
                  <a:srgbClr val="202AF4"/>
                </a:solidFill>
                <a:latin typeface="Times New Roman" panose="02020603050405020304" pitchFamily="18" charset="0"/>
                <a:cs typeface="Times New Roman" panose="02020603050405020304" pitchFamily="18" charset="0"/>
              </a:rPr>
              <a:t>经验规则</a:t>
            </a:r>
            <a:r>
              <a:rPr lang="zh-CN" altLang="en-US" sz="2800" b="1">
                <a:solidFill>
                  <a:schemeClr val="tx2"/>
                </a:solidFill>
                <a:latin typeface="黑体" panose="02010609060101010101" pitchFamily="49" charset="-122"/>
                <a:cs typeface="Times New Roman" panose="02020603050405020304" pitchFamily="18" charset="0"/>
              </a:rPr>
              <a:t>：</a:t>
            </a:r>
          </a:p>
        </p:txBody>
      </p:sp>
      <p:sp>
        <p:nvSpPr>
          <p:cNvPr id="14" name="Text Box 6">
            <a:extLst>
              <a:ext uri="{FF2B5EF4-FFF2-40B4-BE49-F238E27FC236}">
                <a16:creationId xmlns:a16="http://schemas.microsoft.com/office/drawing/2014/main" id="{E5421B27-380B-4BAA-8E6D-8F2CDCDE576E}"/>
              </a:ext>
            </a:extLst>
          </p:cNvPr>
          <p:cNvSpPr txBox="1">
            <a:spLocks noChangeArrowheads="1"/>
          </p:cNvSpPr>
          <p:nvPr/>
        </p:nvSpPr>
        <p:spPr bwMode="auto">
          <a:xfrm>
            <a:off x="544513" y="4630738"/>
            <a:ext cx="827563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b="1">
                <a:solidFill>
                  <a:schemeClr val="tx2"/>
                </a:solidFill>
                <a:latin typeface="Times New Roman" panose="02020603050405020304" pitchFamily="18" charset="0"/>
                <a:cs typeface="Times New Roman" panose="02020603050405020304" pitchFamily="18" charset="0"/>
              </a:rPr>
              <a:t>1. </a:t>
            </a:r>
            <a:r>
              <a:rPr lang="zh-CN" altLang="en-US" sz="2800" b="1">
                <a:solidFill>
                  <a:schemeClr val="tx2"/>
                </a:solidFill>
                <a:latin typeface="Times New Roman" panose="02020603050405020304" pitchFamily="18" charset="0"/>
                <a:cs typeface="Times New Roman" panose="02020603050405020304" pitchFamily="18" charset="0"/>
              </a:rPr>
              <a:t>原子核中的</a:t>
            </a:r>
            <a:r>
              <a:rPr lang="zh-CN" altLang="en-US" sz="2800" b="1">
                <a:solidFill>
                  <a:srgbClr val="FF0000"/>
                </a:solidFill>
                <a:latin typeface="Times New Roman" panose="02020603050405020304" pitchFamily="18" charset="0"/>
                <a:cs typeface="Times New Roman" panose="02020603050405020304" pitchFamily="18" charset="0"/>
              </a:rPr>
              <a:t>质子数</a:t>
            </a:r>
            <a:r>
              <a:rPr lang="en-US" altLang="zh-CN" sz="2800" b="1">
                <a:solidFill>
                  <a:srgbClr val="FF0000"/>
                </a:solidFill>
                <a:latin typeface="Times New Roman" panose="02020603050405020304" pitchFamily="18" charset="0"/>
                <a:cs typeface="Times New Roman" panose="02020603050405020304" pitchFamily="18" charset="0"/>
              </a:rPr>
              <a:t>Z≥84</a:t>
            </a:r>
            <a:r>
              <a:rPr lang="zh-CN" altLang="en-US" sz="2800" b="1">
                <a:solidFill>
                  <a:schemeClr val="tx2"/>
                </a:solidFill>
                <a:latin typeface="Times New Roman" panose="02020603050405020304" pitchFamily="18" charset="0"/>
                <a:cs typeface="Times New Roman" panose="02020603050405020304" pitchFamily="18" charset="0"/>
              </a:rPr>
              <a:t>的原子核是不稳定的。</a:t>
            </a:r>
            <a:r>
              <a:rPr lang="en-US" altLang="zh-CN" sz="2800" b="1">
                <a:solidFill>
                  <a:schemeClr val="tx2"/>
                </a:solidFill>
                <a:latin typeface="Times New Roman" panose="02020603050405020304" pitchFamily="18" charset="0"/>
                <a:cs typeface="Times New Roman" panose="02020603050405020304" pitchFamily="18" charset="0"/>
              </a:rPr>
              <a:t> </a:t>
            </a:r>
          </a:p>
        </p:txBody>
      </p:sp>
      <p:sp>
        <p:nvSpPr>
          <p:cNvPr id="18439" name="Text Box 29">
            <a:extLst>
              <a:ext uri="{FF2B5EF4-FFF2-40B4-BE49-F238E27FC236}">
                <a16:creationId xmlns:a16="http://schemas.microsoft.com/office/drawing/2014/main" id="{164D3993-D989-46D9-936B-D90558D457F9}"/>
              </a:ext>
            </a:extLst>
          </p:cNvPr>
          <p:cNvSpPr txBox="1">
            <a:spLocks noChangeArrowheads="1"/>
          </p:cNvSpPr>
          <p:nvPr/>
        </p:nvSpPr>
        <p:spPr bwMode="auto">
          <a:xfrm>
            <a:off x="8629650" y="635635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1">
                <a:solidFill>
                  <a:schemeClr val="tx2"/>
                </a:solidFill>
                <a:latin typeface="Times New Roman" panose="02020603050405020304" pitchFamily="18" charset="0"/>
              </a:rPr>
              <a:t>11</a:t>
            </a:r>
            <a:endParaRPr lang="en-US" altLang="zh-CN" sz="1800">
              <a:solidFill>
                <a:schemeClr val="tx2"/>
              </a:solidFill>
            </a:endParaRPr>
          </a:p>
        </p:txBody>
      </p:sp>
      <p:sp>
        <p:nvSpPr>
          <p:cNvPr id="8" name="Text Box 6">
            <a:extLst>
              <a:ext uri="{FF2B5EF4-FFF2-40B4-BE49-F238E27FC236}">
                <a16:creationId xmlns:a16="http://schemas.microsoft.com/office/drawing/2014/main" id="{08DB3C31-39A6-4902-BDA4-04CB22B4F0EC}"/>
              </a:ext>
            </a:extLst>
          </p:cNvPr>
          <p:cNvSpPr txBox="1">
            <a:spLocks noChangeArrowheads="1"/>
          </p:cNvSpPr>
          <p:nvPr/>
        </p:nvSpPr>
        <p:spPr bwMode="auto">
          <a:xfrm>
            <a:off x="544513" y="5407025"/>
            <a:ext cx="8348662"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b="1">
                <a:solidFill>
                  <a:schemeClr val="tx2"/>
                </a:solidFill>
                <a:latin typeface="Times New Roman" panose="02020603050405020304" pitchFamily="18" charset="0"/>
                <a:cs typeface="Times New Roman" panose="02020603050405020304" pitchFamily="18" charset="0"/>
              </a:rPr>
              <a:t>2. </a:t>
            </a:r>
            <a:r>
              <a:rPr lang="zh-CN" altLang="en-US" sz="2800" b="1">
                <a:solidFill>
                  <a:srgbClr val="FF0000"/>
                </a:solidFill>
                <a:latin typeface="Times New Roman" panose="02020603050405020304" pitchFamily="18" charset="0"/>
                <a:cs typeface="Times New Roman" panose="02020603050405020304" pitchFamily="18" charset="0"/>
              </a:rPr>
              <a:t>质子数</a:t>
            </a:r>
            <a:r>
              <a:rPr lang="en-US" altLang="zh-CN" sz="2800" b="1">
                <a:solidFill>
                  <a:srgbClr val="FF0000"/>
                </a:solidFill>
                <a:latin typeface="Times New Roman" panose="02020603050405020304" pitchFamily="18" charset="0"/>
                <a:cs typeface="Times New Roman" panose="02020603050405020304" pitchFamily="18" charset="0"/>
              </a:rPr>
              <a:t>Z&lt;84 </a:t>
            </a:r>
            <a:r>
              <a:rPr lang="zh-CN" altLang="en-US" sz="2800" b="1">
                <a:solidFill>
                  <a:schemeClr val="tx2"/>
                </a:solidFill>
                <a:latin typeface="Times New Roman" panose="02020603050405020304" pitchFamily="18" charset="0"/>
                <a:cs typeface="Times New Roman" panose="02020603050405020304" pitchFamily="18" charset="0"/>
              </a:rPr>
              <a:t>的原子核，质子数和中子数</a:t>
            </a:r>
            <a:r>
              <a:rPr lang="zh-CN" altLang="en-US" sz="2800" b="1">
                <a:solidFill>
                  <a:srgbClr val="FF0000"/>
                </a:solidFill>
                <a:latin typeface="Times New Roman" panose="02020603050405020304" pitchFamily="18" charset="0"/>
                <a:cs typeface="Times New Roman" panose="02020603050405020304" pitchFamily="18" charset="0"/>
              </a:rPr>
              <a:t>均为偶数</a:t>
            </a:r>
            <a:r>
              <a:rPr lang="zh-CN" altLang="en-US" sz="2800" b="1">
                <a:solidFill>
                  <a:schemeClr val="tx2"/>
                </a:solidFill>
                <a:latin typeface="Times New Roman" panose="02020603050405020304" pitchFamily="18" charset="0"/>
                <a:cs typeface="Times New Roman" panose="02020603050405020304" pitchFamily="18" charset="0"/>
              </a:rPr>
              <a:t>时，其核稳定。</a:t>
            </a:r>
            <a:endParaRPr lang="en-US" altLang="zh-CN" sz="2800" b="1">
              <a:solidFill>
                <a:schemeClr val="tx2"/>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withEffect">
                                  <p:stCondLst>
                                    <p:cond delay="0"/>
                                  </p:stCondLst>
                                  <p:childTnLst>
                                    <p:set>
                                      <p:cBhvr>
                                        <p:cTn id="6" dur="1" fill="hold">
                                          <p:stCondLst>
                                            <p:cond delay="0"/>
                                          </p:stCondLst>
                                        </p:cTn>
                                        <p:tgtEl>
                                          <p:spTgt spid="137235"/>
                                        </p:tgtEl>
                                        <p:attrNameLst>
                                          <p:attrName>style.visibility</p:attrName>
                                        </p:attrNameLst>
                                      </p:cBhvr>
                                      <p:to>
                                        <p:strVal val="visible"/>
                                      </p:to>
                                    </p:set>
                                    <p:anim calcmode="lin" valueType="num">
                                      <p:cBhvr>
                                        <p:cTn id="7" dur="500" fill="hold"/>
                                        <p:tgtEl>
                                          <p:spTgt spid="137235"/>
                                        </p:tgtEl>
                                        <p:attrNameLst>
                                          <p:attrName>ppt_w</p:attrName>
                                        </p:attrNameLst>
                                      </p:cBhvr>
                                      <p:tavLst>
                                        <p:tav tm="0">
                                          <p:val>
                                            <p:fltVal val="0"/>
                                          </p:val>
                                        </p:tav>
                                        <p:tav tm="100000">
                                          <p:val>
                                            <p:strVal val="#ppt_w"/>
                                          </p:val>
                                        </p:tav>
                                      </p:tavLst>
                                    </p:anim>
                                    <p:anim calcmode="lin" valueType="num">
                                      <p:cBhvr>
                                        <p:cTn id="8" dur="500" fill="hold"/>
                                        <p:tgtEl>
                                          <p:spTgt spid="137235"/>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137221"/>
                                        </p:tgtEl>
                                        <p:attrNameLst>
                                          <p:attrName>style.visibility</p:attrName>
                                        </p:attrNameLst>
                                      </p:cBhvr>
                                      <p:to>
                                        <p:strVal val="visible"/>
                                      </p:to>
                                    </p:set>
                                    <p:animEffect transition="in" filter="slide(fromBottom)">
                                      <p:cBhvr>
                                        <p:cTn id="13" dur="500"/>
                                        <p:tgtEl>
                                          <p:spTgt spid="137221"/>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nodeType="clickEffect">
                                  <p:stCondLst>
                                    <p:cond delay="0"/>
                                  </p:stCondLst>
                                  <p:childTnLst>
                                    <p:set>
                                      <p:cBhvr>
                                        <p:cTn id="17" dur="1" fill="hold">
                                          <p:stCondLst>
                                            <p:cond delay="0"/>
                                          </p:stCondLst>
                                        </p:cTn>
                                        <p:tgtEl>
                                          <p:spTgt spid="12">
                                            <p:txEl>
                                              <p:pRg st="0" end="0"/>
                                            </p:txEl>
                                          </p:spTgt>
                                        </p:tgtEl>
                                        <p:attrNameLst>
                                          <p:attrName>style.visibility</p:attrName>
                                        </p:attrNameLst>
                                      </p:cBhvr>
                                      <p:to>
                                        <p:strVal val="visible"/>
                                      </p:to>
                                    </p:set>
                                    <p:animEffect transition="in" filter="blinds(horizontal)">
                                      <p:cBhvr>
                                        <p:cTn id="18" dur="500"/>
                                        <p:tgtEl>
                                          <p:spTgt spid="12">
                                            <p:txEl>
                                              <p:pRg st="0" end="0"/>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nodeType="clickEffect">
                                  <p:stCondLst>
                                    <p:cond delay="0"/>
                                  </p:stCondLst>
                                  <p:childTnLst>
                                    <p:set>
                                      <p:cBhvr>
                                        <p:cTn id="22" dur="1" fill="hold">
                                          <p:stCondLst>
                                            <p:cond delay="0"/>
                                          </p:stCondLst>
                                        </p:cTn>
                                        <p:tgtEl>
                                          <p:spTgt spid="12">
                                            <p:txEl>
                                              <p:pRg st="1" end="1"/>
                                            </p:txEl>
                                          </p:spTgt>
                                        </p:tgtEl>
                                        <p:attrNameLst>
                                          <p:attrName>style.visibility</p:attrName>
                                        </p:attrNameLst>
                                      </p:cBhvr>
                                      <p:to>
                                        <p:strVal val="visible"/>
                                      </p:to>
                                    </p:set>
                                    <p:animEffect transition="in" filter="blinds(horizontal)">
                                      <p:cBhvr>
                                        <p:cTn id="23" dur="500"/>
                                        <p:tgtEl>
                                          <p:spTgt spid="12">
                                            <p:txEl>
                                              <p:pRg st="1" end="1"/>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5" presetClass="entr" presetSubtype="10" fill="hold" grpId="0" nodeType="click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checkerboard(across)">
                                      <p:cBhvr>
                                        <p:cTn id="28" dur="500"/>
                                        <p:tgtEl>
                                          <p:spTgt spid="13"/>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5" presetClass="entr" presetSubtype="10" fill="hold" grpId="0" nodeType="click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checkerboard(across)">
                                      <p:cBhvr>
                                        <p:cTn id="33" dur="500"/>
                                        <p:tgtEl>
                                          <p:spTgt spid="14"/>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5" presetClass="entr" presetSubtype="10" fill="hold" grpId="0" nodeType="clickEffect">
                                  <p:stCondLst>
                                    <p:cond delay="0"/>
                                  </p:stCondLst>
                                  <p:childTnLst>
                                    <p:set>
                                      <p:cBhvr>
                                        <p:cTn id="37" dur="1" fill="hold">
                                          <p:stCondLst>
                                            <p:cond delay="0"/>
                                          </p:stCondLst>
                                        </p:cTn>
                                        <p:tgtEl>
                                          <p:spTgt spid="8"/>
                                        </p:tgtEl>
                                        <p:attrNameLst>
                                          <p:attrName>style.visibility</p:attrName>
                                        </p:attrNameLst>
                                      </p:cBhvr>
                                      <p:to>
                                        <p:strVal val="visible"/>
                                      </p:to>
                                    </p:set>
                                    <p:animEffect transition="in" filter="checkerboard(across)">
                                      <p:cBhvr>
                                        <p:cTn id="38"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221" grpId="0"/>
      <p:bldP spid="137235" grpId="0"/>
      <p:bldP spid="13" grpId="0" autoUpdateAnimBg="0"/>
      <p:bldP spid="14" grpId="0" autoUpdateAnimBg="0"/>
      <p:bldP spid="8" grpId="0"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9" name="Text Box 7">
            <a:extLst>
              <a:ext uri="{FF2B5EF4-FFF2-40B4-BE49-F238E27FC236}">
                <a16:creationId xmlns:a16="http://schemas.microsoft.com/office/drawing/2014/main" id="{F7A7358C-C906-491C-854D-F813B13FF2DB}"/>
              </a:ext>
            </a:extLst>
          </p:cNvPr>
          <p:cNvSpPr txBox="1">
            <a:spLocks noChangeArrowheads="1"/>
          </p:cNvSpPr>
          <p:nvPr/>
        </p:nvSpPr>
        <p:spPr bwMode="auto">
          <a:xfrm>
            <a:off x="500063" y="908050"/>
            <a:ext cx="8147050" cy="1298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40000"/>
              </a:lnSpc>
              <a:spcBef>
                <a:spcPct val="0"/>
              </a:spcBef>
              <a:buFontTx/>
              <a:buNone/>
            </a:pPr>
            <a:r>
              <a:rPr lang="en-US" altLang="zh-CN" sz="2800" b="1">
                <a:cs typeface="Times New Roman" panose="02020603050405020304" pitchFamily="18" charset="0"/>
              </a:rPr>
              <a:t>3. </a:t>
            </a:r>
            <a:r>
              <a:rPr lang="zh-CN" altLang="en-US" sz="2800" b="1">
                <a:solidFill>
                  <a:srgbClr val="FF0000"/>
                </a:solidFill>
                <a:latin typeface="Times New Roman" panose="02020603050405020304" pitchFamily="18" charset="0"/>
                <a:cs typeface="Times New Roman" panose="02020603050405020304" pitchFamily="18" charset="0"/>
              </a:rPr>
              <a:t>质子数或中子数等于</a:t>
            </a:r>
            <a:r>
              <a:rPr lang="en-US" altLang="zh-CN" sz="2800" b="1">
                <a:solidFill>
                  <a:srgbClr val="FF0000"/>
                </a:solidFill>
                <a:latin typeface="Times New Roman" panose="02020603050405020304" pitchFamily="18" charset="0"/>
                <a:cs typeface="Times New Roman" panose="02020603050405020304" pitchFamily="18" charset="0"/>
              </a:rPr>
              <a:t>2, 8, 20, 28, 50, 82, 126</a:t>
            </a:r>
            <a:r>
              <a:rPr lang="zh-CN" altLang="en-US" sz="2800" b="1">
                <a:cs typeface="Times New Roman" panose="02020603050405020304" pitchFamily="18" charset="0"/>
              </a:rPr>
              <a:t>的原                                               子核特别稳定。这些数称为</a:t>
            </a:r>
            <a:r>
              <a:rPr lang="zh-CN" altLang="en-US" sz="2800" b="1">
                <a:solidFill>
                  <a:srgbClr val="FF0000"/>
                </a:solidFill>
                <a:latin typeface="Times New Roman" panose="02020603050405020304" pitchFamily="18" charset="0"/>
                <a:cs typeface="Times New Roman" panose="02020603050405020304" pitchFamily="18" charset="0"/>
              </a:rPr>
              <a:t>幻数</a:t>
            </a:r>
            <a:r>
              <a:rPr lang="en-US" altLang="zh-CN" sz="2800" b="1">
                <a:cs typeface="Times New Roman" panose="02020603050405020304" pitchFamily="18" charset="0"/>
              </a:rPr>
              <a:t>. </a:t>
            </a:r>
          </a:p>
        </p:txBody>
      </p:sp>
      <p:grpSp>
        <p:nvGrpSpPr>
          <p:cNvPr id="2" name="Group 13">
            <a:extLst>
              <a:ext uri="{FF2B5EF4-FFF2-40B4-BE49-F238E27FC236}">
                <a16:creationId xmlns:a16="http://schemas.microsoft.com/office/drawing/2014/main" id="{F7479F06-234D-4136-8EC4-59A9393A9E14}"/>
              </a:ext>
            </a:extLst>
          </p:cNvPr>
          <p:cNvGrpSpPr>
            <a:grpSpLocks/>
          </p:cNvGrpSpPr>
          <p:nvPr/>
        </p:nvGrpSpPr>
        <p:grpSpPr bwMode="auto">
          <a:xfrm>
            <a:off x="482600" y="2276475"/>
            <a:ext cx="8147050" cy="2530475"/>
            <a:chOff x="300" y="2047"/>
            <a:chExt cx="5132" cy="1594"/>
          </a:xfrm>
        </p:grpSpPr>
        <p:sp>
          <p:nvSpPr>
            <p:cNvPr id="19461" name="Text Box 9">
              <a:extLst>
                <a:ext uri="{FF2B5EF4-FFF2-40B4-BE49-F238E27FC236}">
                  <a16:creationId xmlns:a16="http://schemas.microsoft.com/office/drawing/2014/main" id="{DFFC158C-971D-47E7-B12C-DD9DF9F2448A}"/>
                </a:ext>
              </a:extLst>
            </p:cNvPr>
            <p:cNvSpPr txBox="1">
              <a:spLocks noChangeArrowheads="1"/>
            </p:cNvSpPr>
            <p:nvPr/>
          </p:nvSpPr>
          <p:spPr bwMode="auto">
            <a:xfrm>
              <a:off x="300" y="2075"/>
              <a:ext cx="5132" cy="1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40000"/>
                </a:lnSpc>
                <a:spcBef>
                  <a:spcPct val="0"/>
                </a:spcBef>
                <a:buFontTx/>
                <a:buNone/>
              </a:pPr>
              <a:r>
                <a:rPr lang="en-US" altLang="zh-CN" sz="2800" b="1">
                  <a:latin typeface="Times New Roman" panose="02020603050405020304" pitchFamily="18" charset="0"/>
                  <a:cs typeface="Times New Roman" panose="02020603050405020304" pitchFamily="18" charset="0"/>
                </a:rPr>
                <a:t>4. </a:t>
              </a:r>
              <a:r>
                <a:rPr lang="zh-CN" altLang="en-US" sz="2800" b="1">
                  <a:latin typeface="Times New Roman" panose="02020603050405020304" pitchFamily="18" charset="0"/>
                  <a:cs typeface="Times New Roman" panose="02020603050405020304" pitchFamily="18" charset="0"/>
                </a:rPr>
                <a:t>中子数和质子数之比</a:t>
              </a:r>
              <a:r>
                <a:rPr lang="en-US" altLang="zh-CN" sz="2800" b="1">
                  <a:latin typeface="Times New Roman" panose="02020603050405020304" pitchFamily="18" charset="0"/>
                  <a:cs typeface="Times New Roman" panose="02020603050405020304" pitchFamily="18" charset="0"/>
                </a:rPr>
                <a:t>n/p</a:t>
              </a:r>
              <a:r>
                <a:rPr lang="zh-CN" altLang="en-US" sz="2800" b="1">
                  <a:latin typeface="Times New Roman" panose="02020603050405020304" pitchFamily="18" charset="0"/>
                  <a:cs typeface="Times New Roman" panose="02020603050405020304" pitchFamily="18" charset="0"/>
                </a:rPr>
                <a:t>，在</a:t>
              </a:r>
              <a:r>
                <a:rPr lang="en-US" altLang="zh-CN" sz="2800" b="1">
                  <a:solidFill>
                    <a:srgbClr val="FF0000"/>
                  </a:solidFill>
                  <a:latin typeface="Times New Roman" panose="02020603050405020304" pitchFamily="18" charset="0"/>
                  <a:cs typeface="Times New Roman" panose="02020603050405020304" pitchFamily="18" charset="0"/>
                </a:rPr>
                <a:t>Z</a:t>
              </a:r>
              <a:r>
                <a:rPr lang="zh-CN" altLang="en-US" sz="2800" b="1">
                  <a:solidFill>
                    <a:srgbClr val="FF0000"/>
                  </a:solidFill>
                  <a:latin typeface="Times New Roman" panose="02020603050405020304" pitchFamily="18" charset="0"/>
                  <a:cs typeface="Times New Roman" panose="02020603050405020304" pitchFamily="18" charset="0"/>
                </a:rPr>
                <a:t>＜</a:t>
              </a:r>
              <a:r>
                <a:rPr lang="en-US" altLang="zh-CN" sz="2800" b="1">
                  <a:solidFill>
                    <a:srgbClr val="FF0000"/>
                  </a:solidFill>
                  <a:latin typeface="Times New Roman" panose="02020603050405020304" pitchFamily="18" charset="0"/>
                  <a:cs typeface="Times New Roman" panose="02020603050405020304" pitchFamily="18" charset="0"/>
                </a:rPr>
                <a:t>20</a:t>
              </a:r>
              <a:r>
                <a:rPr lang="zh-CN" altLang="en-US" sz="2800" b="1">
                  <a:solidFill>
                    <a:srgbClr val="FF0000"/>
                  </a:solidFill>
                  <a:latin typeface="Times New Roman" panose="02020603050405020304" pitchFamily="18" charset="0"/>
                  <a:cs typeface="Times New Roman" panose="02020603050405020304" pitchFamily="18" charset="0"/>
                </a:rPr>
                <a:t>时         </a:t>
              </a:r>
              <a:r>
                <a:rPr lang="zh-CN" altLang="en-US" sz="2800" b="1">
                  <a:latin typeface="Times New Roman" panose="02020603050405020304" pitchFamily="18" charset="0"/>
                  <a:cs typeface="Times New Roman" panose="02020603050405020304" pitchFamily="18" charset="0"/>
                </a:rPr>
                <a:t>，原</a:t>
              </a:r>
            </a:p>
            <a:p>
              <a:pPr eaLnBrk="1" hangingPunct="1">
                <a:lnSpc>
                  <a:spcPct val="140000"/>
                </a:lnSpc>
                <a:spcBef>
                  <a:spcPct val="0"/>
                </a:spcBef>
                <a:buFontTx/>
                <a:buNone/>
              </a:pPr>
              <a:r>
                <a:rPr lang="zh-CN" altLang="en-US" sz="2800" b="1">
                  <a:latin typeface="Times New Roman" panose="02020603050405020304" pitchFamily="18" charset="0"/>
                  <a:cs typeface="Times New Roman" panose="02020603050405020304" pitchFamily="18" charset="0"/>
                </a:rPr>
                <a:t>   子核稳定。随着原子序数增加，     值增大。</a:t>
              </a:r>
              <a:r>
                <a:rPr lang="en-US" altLang="zh-CN" sz="2800" b="1">
                  <a:latin typeface="Times New Roman" panose="02020603050405020304" pitchFamily="18" charset="0"/>
                  <a:cs typeface="Times New Roman" panose="02020603050405020304" pitchFamily="18" charset="0"/>
                </a:rPr>
                <a:t>Z</a:t>
              </a:r>
              <a:r>
                <a:rPr lang="zh-CN" altLang="en-US" sz="2800" b="1">
                  <a:latin typeface="Times New Roman" panose="02020603050405020304" pitchFamily="18" charset="0"/>
                  <a:cs typeface="Times New Roman" panose="02020603050405020304" pitchFamily="18" charset="0"/>
                </a:rPr>
                <a:t>在</a:t>
              </a:r>
              <a:endParaRPr lang="en-US" altLang="zh-CN" sz="2800" b="1">
                <a:latin typeface="Times New Roman" panose="02020603050405020304" pitchFamily="18" charset="0"/>
                <a:cs typeface="Times New Roman" panose="02020603050405020304" pitchFamily="18" charset="0"/>
              </a:endParaRPr>
            </a:p>
            <a:p>
              <a:pPr eaLnBrk="1" hangingPunct="1">
                <a:lnSpc>
                  <a:spcPct val="140000"/>
                </a:lnSpc>
                <a:spcBef>
                  <a:spcPct val="0"/>
                </a:spcBef>
                <a:buFontTx/>
                <a:buNone/>
              </a:pPr>
              <a:r>
                <a:rPr lang="en-US" altLang="zh-CN" sz="2800" b="1">
                  <a:latin typeface="Times New Roman" panose="02020603050405020304" pitchFamily="18" charset="0"/>
                  <a:cs typeface="Times New Roman" panose="02020603050405020304" pitchFamily="18" charset="0"/>
                </a:rPr>
                <a:t>  </a:t>
              </a:r>
              <a:r>
                <a:rPr lang="zh-CN" altLang="en-US" sz="2800" b="1">
                  <a:latin typeface="Times New Roman" panose="02020603050405020304" pitchFamily="18" charset="0"/>
                  <a:cs typeface="Times New Roman" panose="02020603050405020304" pitchFamily="18" charset="0"/>
                </a:rPr>
                <a:t> 中等数值时     约为</a:t>
              </a:r>
              <a:r>
                <a:rPr lang="en-US" altLang="zh-CN" sz="2800" b="1">
                  <a:latin typeface="Times New Roman" panose="02020603050405020304" pitchFamily="18" charset="0"/>
                  <a:cs typeface="Times New Roman" panose="02020603050405020304" pitchFamily="18" charset="0"/>
                </a:rPr>
                <a:t>1.4</a:t>
              </a:r>
              <a:r>
                <a:rPr lang="zh-CN" altLang="en-US" sz="2800" b="1">
                  <a:latin typeface="Times New Roman" panose="02020603050405020304" pitchFamily="18" charset="0"/>
                  <a:cs typeface="Times New Roman" panose="02020603050405020304" pitchFamily="18" charset="0"/>
                </a:rPr>
                <a:t>；</a:t>
              </a:r>
              <a:r>
                <a:rPr lang="en-US" altLang="zh-CN" sz="2800" b="1">
                  <a:latin typeface="Times New Roman" panose="02020603050405020304" pitchFamily="18" charset="0"/>
                  <a:cs typeface="Times New Roman" panose="02020603050405020304" pitchFamily="18" charset="0"/>
                </a:rPr>
                <a:t>Z</a:t>
              </a:r>
              <a:r>
                <a:rPr lang="zh-CN" altLang="en-US" sz="2800" b="1">
                  <a:latin typeface="Times New Roman" panose="02020603050405020304" pitchFamily="18" charset="0"/>
                  <a:cs typeface="Times New Roman" panose="02020603050405020304" pitchFamily="18" charset="0"/>
                </a:rPr>
                <a:t>在</a:t>
              </a:r>
              <a:r>
                <a:rPr lang="en-US" altLang="zh-CN" sz="2800" b="1">
                  <a:latin typeface="Times New Roman" panose="02020603050405020304" pitchFamily="18" charset="0"/>
                  <a:cs typeface="Times New Roman" panose="02020603050405020304" pitchFamily="18" charset="0"/>
                </a:rPr>
                <a:t>90</a:t>
              </a:r>
              <a:r>
                <a:rPr lang="zh-CN" altLang="en-US" sz="2800" b="1">
                  <a:latin typeface="Times New Roman" panose="02020603050405020304" pitchFamily="18" charset="0"/>
                  <a:cs typeface="Times New Roman" panose="02020603050405020304" pitchFamily="18" charset="0"/>
                </a:rPr>
                <a:t>左右约为</a:t>
              </a:r>
              <a:r>
                <a:rPr lang="en-US" altLang="zh-CN" sz="2800" b="1">
                  <a:latin typeface="Times New Roman" panose="02020603050405020304" pitchFamily="18" charset="0"/>
                  <a:cs typeface="Times New Roman" panose="02020603050405020304" pitchFamily="18" charset="0"/>
                </a:rPr>
                <a:t>1.6</a:t>
              </a:r>
              <a:r>
                <a:rPr lang="zh-CN" altLang="en-US" sz="2800" b="1">
                  <a:latin typeface="Times New Roman" panose="02020603050405020304" pitchFamily="18" charset="0"/>
                  <a:cs typeface="Times New Roman" panose="02020603050405020304" pitchFamily="18" charset="0"/>
                </a:rPr>
                <a:t>，</a:t>
              </a:r>
              <a:r>
                <a:rPr lang="zh-CN" altLang="en-US" sz="2800" b="1">
                  <a:solidFill>
                    <a:srgbClr val="FF0000"/>
                  </a:solidFill>
                  <a:latin typeface="Times New Roman" panose="02020603050405020304" pitchFamily="18" charset="0"/>
                  <a:cs typeface="Times New Roman" panose="02020603050405020304" pitchFamily="18" charset="0"/>
                </a:rPr>
                <a:t>比值</a:t>
              </a:r>
              <a:endParaRPr lang="en-US" altLang="zh-CN" sz="2800" b="1">
                <a:solidFill>
                  <a:srgbClr val="FF0000"/>
                </a:solidFill>
                <a:latin typeface="Times New Roman" panose="02020603050405020304" pitchFamily="18" charset="0"/>
                <a:cs typeface="Times New Roman" panose="02020603050405020304" pitchFamily="18" charset="0"/>
              </a:endParaRPr>
            </a:p>
            <a:p>
              <a:pPr eaLnBrk="1" hangingPunct="1">
                <a:lnSpc>
                  <a:spcPct val="140000"/>
                </a:lnSpc>
                <a:spcBef>
                  <a:spcPct val="0"/>
                </a:spcBef>
                <a:buFontTx/>
                <a:buNone/>
              </a:pPr>
              <a:r>
                <a:rPr lang="en-US" altLang="zh-CN" sz="2800" b="1">
                  <a:solidFill>
                    <a:srgbClr val="FF0000"/>
                  </a:solidFill>
                  <a:latin typeface="Times New Roman" panose="02020603050405020304" pitchFamily="18" charset="0"/>
                  <a:cs typeface="Times New Roman" panose="02020603050405020304" pitchFamily="18" charset="0"/>
                </a:rPr>
                <a:t>   </a:t>
              </a:r>
              <a:r>
                <a:rPr lang="zh-CN" altLang="en-US" sz="2800" b="1">
                  <a:solidFill>
                    <a:srgbClr val="FF0000"/>
                  </a:solidFill>
                  <a:latin typeface="Times New Roman" panose="02020603050405020304" pitchFamily="18" charset="0"/>
                  <a:cs typeface="Times New Roman" panose="02020603050405020304" pitchFamily="18" charset="0"/>
                </a:rPr>
                <a:t>越大，稳定性越差</a:t>
              </a:r>
              <a:r>
                <a:rPr lang="en-US" altLang="zh-CN" sz="2800" b="1">
                  <a:solidFill>
                    <a:srgbClr val="FF0000"/>
                  </a:solidFill>
                  <a:latin typeface="Times New Roman" panose="02020603050405020304" pitchFamily="18" charset="0"/>
                  <a:cs typeface="Times New Roman" panose="02020603050405020304" pitchFamily="18" charset="0"/>
                </a:rPr>
                <a:t>.</a:t>
              </a:r>
              <a:endParaRPr lang="en-US" altLang="zh-CN" sz="2800" b="1">
                <a:latin typeface="Times New Roman" panose="02020603050405020304" pitchFamily="18" charset="0"/>
                <a:cs typeface="Times New Roman" panose="02020603050405020304" pitchFamily="18" charset="0"/>
              </a:endParaRPr>
            </a:p>
          </p:txBody>
        </p:sp>
        <p:graphicFrame>
          <p:nvGraphicFramePr>
            <p:cNvPr id="19462" name="Object 2">
              <a:extLst>
                <a:ext uri="{FF2B5EF4-FFF2-40B4-BE49-F238E27FC236}">
                  <a16:creationId xmlns:a16="http://schemas.microsoft.com/office/drawing/2014/main" id="{B4C2FE39-47C9-4C30-9981-A535A2C5E817}"/>
                </a:ext>
              </a:extLst>
            </p:cNvPr>
            <p:cNvGraphicFramePr>
              <a:graphicFrameLocks noChangeAspect="1"/>
            </p:cNvGraphicFramePr>
            <p:nvPr/>
          </p:nvGraphicFramePr>
          <p:xfrm>
            <a:off x="4197" y="2047"/>
            <a:ext cx="535" cy="567"/>
          </p:xfrm>
          <a:graphic>
            <a:graphicData uri="http://schemas.openxmlformats.org/presentationml/2006/ole">
              <mc:AlternateContent xmlns:mc="http://schemas.openxmlformats.org/markup-compatibility/2006">
                <mc:Choice xmlns:v="urn:schemas-microsoft-com:vml" Requires="v">
                  <p:oleObj spid="_x0000_s19471" name="Equation" r:id="rId3" imgW="393529" imgH="418918" progId="Equation.DSMT4">
                    <p:embed/>
                  </p:oleObj>
                </mc:Choice>
                <mc:Fallback>
                  <p:oleObj name="Equation" r:id="rId3" imgW="393529" imgH="418918" progId="Equation.DSMT4">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97" y="2047"/>
                          <a:ext cx="535" cy="5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463" name="Object 3">
              <a:extLst>
                <a:ext uri="{FF2B5EF4-FFF2-40B4-BE49-F238E27FC236}">
                  <a16:creationId xmlns:a16="http://schemas.microsoft.com/office/drawing/2014/main" id="{E3DEEF28-BF8F-4DB4-9676-DAC33D8BC85B}"/>
                </a:ext>
              </a:extLst>
            </p:cNvPr>
            <p:cNvGraphicFramePr>
              <a:graphicFrameLocks noChangeAspect="1"/>
            </p:cNvGraphicFramePr>
            <p:nvPr/>
          </p:nvGraphicFramePr>
          <p:xfrm>
            <a:off x="3631" y="2415"/>
            <a:ext cx="224" cy="567"/>
          </p:xfrm>
          <a:graphic>
            <a:graphicData uri="http://schemas.openxmlformats.org/presentationml/2006/ole">
              <mc:AlternateContent xmlns:mc="http://schemas.openxmlformats.org/markup-compatibility/2006">
                <mc:Choice xmlns:v="urn:schemas-microsoft-com:vml" Requires="v">
                  <p:oleObj spid="_x0000_s19472" name="Equation" r:id="rId5" imgW="165028" imgH="418918" progId="Equation.DSMT4">
                    <p:embed/>
                  </p:oleObj>
                </mc:Choice>
                <mc:Fallback>
                  <p:oleObj name="Equation" r:id="rId5" imgW="165028" imgH="418918" progId="Equation.DSMT4">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31" y="2415"/>
                          <a:ext cx="224" cy="5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464" name="Object 4">
              <a:extLst>
                <a:ext uri="{FF2B5EF4-FFF2-40B4-BE49-F238E27FC236}">
                  <a16:creationId xmlns:a16="http://schemas.microsoft.com/office/drawing/2014/main" id="{0C3C2666-2405-4DD6-96B8-99A5156B173F}"/>
                </a:ext>
              </a:extLst>
            </p:cNvPr>
            <p:cNvGraphicFramePr>
              <a:graphicFrameLocks noChangeAspect="1"/>
            </p:cNvGraphicFramePr>
            <p:nvPr/>
          </p:nvGraphicFramePr>
          <p:xfrm>
            <a:off x="1710" y="2812"/>
            <a:ext cx="201" cy="510"/>
          </p:xfrm>
          <a:graphic>
            <a:graphicData uri="http://schemas.openxmlformats.org/presentationml/2006/ole">
              <mc:AlternateContent xmlns:mc="http://schemas.openxmlformats.org/markup-compatibility/2006">
                <mc:Choice xmlns:v="urn:schemas-microsoft-com:vml" Requires="v">
                  <p:oleObj spid="_x0000_s19473" name="Equation" r:id="rId7" imgW="165028" imgH="418918" progId="Equation.DSMT4">
                    <p:embed/>
                  </p:oleObj>
                </mc:Choice>
                <mc:Fallback>
                  <p:oleObj name="Equation" r:id="rId7" imgW="165028" imgH="418918" progId="Equation.DSMT4">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10" y="2812"/>
                          <a:ext cx="201" cy="5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9460" name="Text Box 29">
            <a:extLst>
              <a:ext uri="{FF2B5EF4-FFF2-40B4-BE49-F238E27FC236}">
                <a16:creationId xmlns:a16="http://schemas.microsoft.com/office/drawing/2014/main" id="{43196DDB-21AE-4477-B5DA-EC51EF0B9628}"/>
              </a:ext>
            </a:extLst>
          </p:cNvPr>
          <p:cNvSpPr txBox="1">
            <a:spLocks noChangeArrowheads="1"/>
          </p:cNvSpPr>
          <p:nvPr/>
        </p:nvSpPr>
        <p:spPr bwMode="auto">
          <a:xfrm>
            <a:off x="8629650" y="635635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1">
                <a:latin typeface="Times New Roman" panose="02020603050405020304" pitchFamily="18" charset="0"/>
              </a:rPr>
              <a:t>12</a:t>
            </a:r>
            <a:endParaRPr lang="en-US" altLang="zh-CN" sz="18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66919"/>
                                        </p:tgtEl>
                                        <p:attrNameLst>
                                          <p:attrName>style.visibility</p:attrName>
                                        </p:attrNameLst>
                                      </p:cBhvr>
                                      <p:to>
                                        <p:strVal val="visible"/>
                                      </p:to>
                                    </p:set>
                                    <p:animEffect transition="in" filter="checkerboard(across)">
                                      <p:cBhvr>
                                        <p:cTn id="7" dur="500"/>
                                        <p:tgtEl>
                                          <p:spTgt spid="16691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1" presetClass="entr" presetSubtype="4"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heel(4)">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6919"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40" name="Rectangle 4">
            <a:extLst>
              <a:ext uri="{FF2B5EF4-FFF2-40B4-BE49-F238E27FC236}">
                <a16:creationId xmlns:a16="http://schemas.microsoft.com/office/drawing/2014/main" id="{EF0A313D-C0CE-4202-BA3C-7E21B2248AA3}"/>
              </a:ext>
            </a:extLst>
          </p:cNvPr>
          <p:cNvSpPr>
            <a:spLocks noChangeArrowheads="1"/>
          </p:cNvSpPr>
          <p:nvPr/>
        </p:nvSpPr>
        <p:spPr bwMode="auto">
          <a:xfrm>
            <a:off x="538163" y="4205288"/>
            <a:ext cx="7799387"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zh-CN" sz="2800" b="1">
                <a:solidFill>
                  <a:schemeClr val="tx2"/>
                </a:solidFill>
                <a:latin typeface="Times New Roman" panose="02020603050405020304" pitchFamily="18" charset="0"/>
                <a:cs typeface="Times New Roman" panose="02020603050405020304" pitchFamily="18" charset="0"/>
              </a:rPr>
              <a:t>不稳定的原子核都会自发地转变成另一种核而同时放出射线，这种变化叫</a:t>
            </a:r>
            <a:r>
              <a:rPr lang="zh-CN" altLang="zh-CN" sz="2800" b="1">
                <a:solidFill>
                  <a:srgbClr val="FF0000"/>
                </a:solidFill>
                <a:latin typeface="Times New Roman" panose="02020603050405020304" pitchFamily="18" charset="0"/>
                <a:cs typeface="Times New Roman" panose="02020603050405020304" pitchFamily="18" charset="0"/>
              </a:rPr>
              <a:t>放射性衰变</a:t>
            </a:r>
            <a:r>
              <a:rPr lang="zh-CN" altLang="en-US" sz="2800" b="1">
                <a:solidFill>
                  <a:schemeClr val="tx2"/>
                </a:solidFill>
                <a:latin typeface="Times New Roman" panose="02020603050405020304" pitchFamily="18" charset="0"/>
                <a:cs typeface="Times New Roman" panose="02020603050405020304" pitchFamily="18" charset="0"/>
              </a:rPr>
              <a:t>。</a:t>
            </a:r>
            <a:endParaRPr lang="en-US" altLang="zh-CN" sz="2800" b="1">
              <a:solidFill>
                <a:schemeClr val="tx2"/>
              </a:solidFill>
              <a:latin typeface="Times New Roman" panose="02020603050405020304" pitchFamily="18" charset="0"/>
              <a:cs typeface="Times New Roman" panose="02020603050405020304" pitchFamily="18" charset="0"/>
            </a:endParaRPr>
          </a:p>
        </p:txBody>
      </p:sp>
      <p:sp>
        <p:nvSpPr>
          <p:cNvPr id="5" name="Text Box 5">
            <a:extLst>
              <a:ext uri="{FF2B5EF4-FFF2-40B4-BE49-F238E27FC236}">
                <a16:creationId xmlns:a16="http://schemas.microsoft.com/office/drawing/2014/main" id="{6B12B8A0-B8EC-4D74-9CAF-9F4BFBDE4260}"/>
              </a:ext>
            </a:extLst>
          </p:cNvPr>
          <p:cNvSpPr txBox="1">
            <a:spLocks noChangeArrowheads="1"/>
          </p:cNvSpPr>
          <p:nvPr/>
        </p:nvSpPr>
        <p:spPr bwMode="auto">
          <a:xfrm>
            <a:off x="71438" y="214313"/>
            <a:ext cx="4968875" cy="523875"/>
          </a:xfrm>
          <a:prstGeom prst="rect">
            <a:avLst/>
          </a:prstGeom>
          <a:noFill/>
          <a:ln w="9525">
            <a:noFill/>
            <a:miter lim="800000"/>
            <a:headEnd/>
            <a:tailEnd/>
          </a:ln>
        </p:spPr>
        <p:txBody>
          <a:bodyPr>
            <a:spAutoFit/>
          </a:bodyPr>
          <a:lstStyle/>
          <a:p>
            <a:pPr eaLnBrk="1" hangingPunct="1">
              <a:defRPr/>
            </a:pPr>
            <a:r>
              <a:rPr kumimoji="1" lang="en-US" altLang="zh-CN" sz="2800" b="1" dirty="0">
                <a:solidFill>
                  <a:schemeClr val="accent2"/>
                </a:solidFill>
                <a:latin typeface="Times New Roman" pitchFamily="18" charset="0"/>
                <a:ea typeface="+mn-ea"/>
                <a:cs typeface="Times New Roman" pitchFamily="18" charset="0"/>
              </a:rPr>
              <a:t>2.2 </a:t>
            </a:r>
            <a:r>
              <a:rPr lang="zh-CN" altLang="en-US" sz="2800" b="1" dirty="0">
                <a:solidFill>
                  <a:srgbClr val="202AF4"/>
                </a:solidFill>
                <a:latin typeface="Times New Roman" panose="02020603050405020304" pitchFamily="18" charset="0"/>
                <a:cs typeface="Times New Roman" panose="02020603050405020304" pitchFamily="18" charset="0"/>
              </a:rPr>
              <a:t>天然放射现象</a:t>
            </a:r>
          </a:p>
        </p:txBody>
      </p:sp>
      <p:sp>
        <p:nvSpPr>
          <p:cNvPr id="20484" name="Text Box 29">
            <a:extLst>
              <a:ext uri="{FF2B5EF4-FFF2-40B4-BE49-F238E27FC236}">
                <a16:creationId xmlns:a16="http://schemas.microsoft.com/office/drawing/2014/main" id="{929458A8-FC38-42B3-82F7-6CB4F1008181}"/>
              </a:ext>
            </a:extLst>
          </p:cNvPr>
          <p:cNvSpPr txBox="1">
            <a:spLocks noChangeArrowheads="1"/>
          </p:cNvSpPr>
          <p:nvPr/>
        </p:nvSpPr>
        <p:spPr bwMode="auto">
          <a:xfrm>
            <a:off x="8629650" y="635635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1">
                <a:solidFill>
                  <a:schemeClr val="tx2"/>
                </a:solidFill>
                <a:latin typeface="Times New Roman" panose="02020603050405020304" pitchFamily="18" charset="0"/>
              </a:rPr>
              <a:t>13</a:t>
            </a:r>
            <a:endParaRPr lang="en-US" altLang="zh-CN" sz="1800">
              <a:solidFill>
                <a:schemeClr val="tx2"/>
              </a:solidFill>
            </a:endParaRPr>
          </a:p>
        </p:txBody>
      </p:sp>
      <p:sp>
        <p:nvSpPr>
          <p:cNvPr id="8" name="Text Box 9">
            <a:extLst>
              <a:ext uri="{FF2B5EF4-FFF2-40B4-BE49-F238E27FC236}">
                <a16:creationId xmlns:a16="http://schemas.microsoft.com/office/drawing/2014/main" id="{24FB6DE6-DCB3-410C-9295-839F17E80048}"/>
              </a:ext>
            </a:extLst>
          </p:cNvPr>
          <p:cNvSpPr txBox="1">
            <a:spLocks noChangeArrowheads="1"/>
          </p:cNvSpPr>
          <p:nvPr/>
        </p:nvSpPr>
        <p:spPr bwMode="auto">
          <a:xfrm>
            <a:off x="541338" y="692150"/>
            <a:ext cx="5470525" cy="354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800" b="1">
                <a:solidFill>
                  <a:schemeClr val="tx2"/>
                </a:solidFill>
                <a:latin typeface="Times New Roman" panose="02020603050405020304" pitchFamily="18" charset="0"/>
                <a:cs typeface="Times New Roman" panose="02020603050405020304" pitchFamily="18" charset="0"/>
              </a:rPr>
              <a:t>1896</a:t>
            </a:r>
            <a:r>
              <a:rPr lang="zh-CN" altLang="en-US" sz="2800" b="1">
                <a:solidFill>
                  <a:schemeClr val="tx2"/>
                </a:solidFill>
                <a:latin typeface="Times New Roman" panose="02020603050405020304" pitchFamily="18" charset="0"/>
                <a:cs typeface="Times New Roman" panose="02020603050405020304" pitchFamily="18" charset="0"/>
              </a:rPr>
              <a:t>年，法国物理学家贝克勒尔发现，铀和含铀的矿物能够发出看不见的射线。这种射线可以穿透黑纸使照相底片感光，</a:t>
            </a:r>
            <a:r>
              <a:rPr lang="zh-CN" altLang="en-US" sz="2800" b="1">
                <a:solidFill>
                  <a:srgbClr val="FF0000"/>
                </a:solidFill>
                <a:latin typeface="Times New Roman" panose="02020603050405020304" pitchFamily="18" charset="0"/>
                <a:cs typeface="Times New Roman" panose="02020603050405020304" pitchFamily="18" charset="0"/>
              </a:rPr>
              <a:t>物质发射射线的性质称为放射性</a:t>
            </a:r>
            <a:r>
              <a:rPr lang="zh-CN" altLang="en-US" sz="2800" b="1">
                <a:solidFill>
                  <a:schemeClr val="tx2"/>
                </a:solidFill>
                <a:latin typeface="Times New Roman" panose="02020603050405020304" pitchFamily="18" charset="0"/>
                <a:cs typeface="Times New Roman" panose="02020603050405020304" pitchFamily="18" charset="0"/>
              </a:rPr>
              <a:t>。</a:t>
            </a:r>
            <a:r>
              <a:rPr lang="zh-CN" altLang="en-US" sz="2800" b="1">
                <a:solidFill>
                  <a:srgbClr val="FF0000"/>
                </a:solidFill>
                <a:latin typeface="Times New Roman" panose="02020603050405020304" pitchFamily="18" charset="0"/>
                <a:cs typeface="Times New Roman" panose="02020603050405020304" pitchFamily="18" charset="0"/>
              </a:rPr>
              <a:t>具有放射性的元素称为放射性元素</a:t>
            </a:r>
            <a:r>
              <a:rPr lang="zh-CN" altLang="en-US" sz="2800" b="1">
                <a:solidFill>
                  <a:schemeClr val="tx2"/>
                </a:solidFill>
                <a:latin typeface="Times New Roman" panose="02020603050405020304" pitchFamily="18" charset="0"/>
                <a:cs typeface="Times New Roman" panose="02020603050405020304" pitchFamily="18" charset="0"/>
              </a:rPr>
              <a:t>。元素这种自发的放出射线的现象叫做</a:t>
            </a:r>
            <a:r>
              <a:rPr lang="zh-CN" altLang="en-US" sz="2800" b="1">
                <a:solidFill>
                  <a:srgbClr val="FF0000"/>
                </a:solidFill>
                <a:latin typeface="Times New Roman" panose="02020603050405020304" pitchFamily="18" charset="0"/>
                <a:cs typeface="Times New Roman" panose="02020603050405020304" pitchFamily="18" charset="0"/>
              </a:rPr>
              <a:t>天然放射现象</a:t>
            </a:r>
            <a:r>
              <a:rPr lang="zh-CN" altLang="en-US" sz="2800" b="1">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a:t>
            </a:r>
          </a:p>
        </p:txBody>
      </p:sp>
      <p:pic>
        <p:nvPicPr>
          <p:cNvPr id="9" name="Picture 5" descr="放大了1000倍的铀矿石">
            <a:extLst>
              <a:ext uri="{FF2B5EF4-FFF2-40B4-BE49-F238E27FC236}">
                <a16:creationId xmlns:a16="http://schemas.microsoft.com/office/drawing/2014/main" id="{1E018E66-CC4D-485C-A35B-6138893B15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48388" y="214313"/>
            <a:ext cx="2781300" cy="2786062"/>
          </a:xfrm>
          <a:prstGeom prst="rect">
            <a:avLst/>
          </a:prstGeom>
          <a:noFill/>
          <a:ln w="57150">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sp>
        <p:nvSpPr>
          <p:cNvPr id="10" name="Text Box 6">
            <a:extLst>
              <a:ext uri="{FF2B5EF4-FFF2-40B4-BE49-F238E27FC236}">
                <a16:creationId xmlns:a16="http://schemas.microsoft.com/office/drawing/2014/main" id="{630FDC60-D16D-40A9-92CC-C50F0BB74EE5}"/>
              </a:ext>
            </a:extLst>
          </p:cNvPr>
          <p:cNvSpPr txBox="1">
            <a:spLocks noChangeArrowheads="1"/>
          </p:cNvSpPr>
          <p:nvPr/>
        </p:nvSpPr>
        <p:spPr bwMode="auto">
          <a:xfrm>
            <a:off x="6224588" y="2571750"/>
            <a:ext cx="2705100" cy="369888"/>
          </a:xfrm>
          <a:prstGeom prst="rect">
            <a:avLst/>
          </a:prstGeom>
          <a:solidFill>
            <a:schemeClr val="bg2"/>
          </a:solidFill>
          <a:ln w="38100">
            <a:solidFill>
              <a:schemeClr val="folHlink"/>
            </a:solidFill>
            <a:miter lim="800000"/>
            <a:headEnd/>
            <a:tailEnd/>
          </a:ln>
          <a:effectLst/>
        </p:spPr>
        <p:txBody>
          <a:bodyPr>
            <a:spAutoFit/>
          </a:bodyPr>
          <a:lstStyle/>
          <a:p>
            <a:pPr eaLnBrk="1" hangingPunct="1">
              <a:spcBef>
                <a:spcPct val="50000"/>
              </a:spcBef>
              <a:defRPr/>
            </a:pPr>
            <a:r>
              <a:rPr lang="zh-CN" altLang="en-US" b="1" dirty="0">
                <a:solidFill>
                  <a:schemeClr val="tx2"/>
                </a:solidFill>
                <a:latin typeface="+mn-ea"/>
                <a:ea typeface="+mn-ea"/>
              </a:rPr>
              <a:t>放大了</a:t>
            </a:r>
            <a:r>
              <a:rPr lang="en-US" altLang="zh-CN" b="1" dirty="0">
                <a:solidFill>
                  <a:schemeClr val="tx2"/>
                </a:solidFill>
                <a:latin typeface="+mn-ea"/>
                <a:ea typeface="+mn-ea"/>
              </a:rPr>
              <a:t>1000</a:t>
            </a:r>
            <a:r>
              <a:rPr lang="zh-CN" altLang="en-US" b="1" dirty="0">
                <a:solidFill>
                  <a:schemeClr val="tx2"/>
                </a:solidFill>
                <a:latin typeface="+mn-ea"/>
                <a:ea typeface="+mn-ea"/>
              </a:rPr>
              <a:t>倍的铀矿石</a:t>
            </a:r>
          </a:p>
        </p:txBody>
      </p:sp>
      <p:sp>
        <p:nvSpPr>
          <p:cNvPr id="11" name="Text Box 4">
            <a:extLst>
              <a:ext uri="{FF2B5EF4-FFF2-40B4-BE49-F238E27FC236}">
                <a16:creationId xmlns:a16="http://schemas.microsoft.com/office/drawing/2014/main" id="{9EBB0D86-E7A5-4992-96ED-300AEBB0AED4}"/>
              </a:ext>
            </a:extLst>
          </p:cNvPr>
          <p:cNvSpPr txBox="1">
            <a:spLocks noChangeArrowheads="1"/>
          </p:cNvSpPr>
          <p:nvPr/>
        </p:nvSpPr>
        <p:spPr bwMode="auto">
          <a:xfrm>
            <a:off x="539750" y="5224463"/>
            <a:ext cx="8143875" cy="1373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800" b="1">
                <a:solidFill>
                  <a:schemeClr val="tx2"/>
                </a:solidFill>
                <a:latin typeface="Times New Roman" panose="02020603050405020304" pitchFamily="18" charset="0"/>
                <a:cs typeface="Times New Roman" panose="02020603050405020304" pitchFamily="18" charset="0"/>
              </a:rPr>
              <a:t>放射性不是少数几种元素才有的，研究发现，</a:t>
            </a:r>
            <a:r>
              <a:rPr lang="zh-CN" altLang="en-US" sz="2800" b="1">
                <a:solidFill>
                  <a:srgbClr val="FF0000"/>
                </a:solidFill>
                <a:latin typeface="Times New Roman" panose="02020603050405020304" pitchFamily="18" charset="0"/>
                <a:cs typeface="Times New Roman" panose="02020603050405020304" pitchFamily="18" charset="0"/>
              </a:rPr>
              <a:t>原子序数大于</a:t>
            </a:r>
            <a:r>
              <a:rPr lang="en-US" altLang="zh-CN" sz="2800" b="1">
                <a:solidFill>
                  <a:srgbClr val="FF0000"/>
                </a:solidFill>
                <a:latin typeface="Times New Roman" panose="02020603050405020304" pitchFamily="18" charset="0"/>
                <a:cs typeface="Times New Roman" panose="02020603050405020304" pitchFamily="18" charset="0"/>
              </a:rPr>
              <a:t>82</a:t>
            </a:r>
            <a:r>
              <a:rPr lang="zh-CN" altLang="en-US" sz="2800" b="1">
                <a:solidFill>
                  <a:srgbClr val="FF0000"/>
                </a:solidFill>
                <a:latin typeface="Times New Roman" panose="02020603050405020304" pitchFamily="18" charset="0"/>
                <a:cs typeface="Times New Roman" panose="02020603050405020304" pitchFamily="18" charset="0"/>
              </a:rPr>
              <a:t>的所有元素</a:t>
            </a:r>
            <a:r>
              <a:rPr lang="zh-CN" altLang="en-US" sz="2800" b="1">
                <a:solidFill>
                  <a:schemeClr val="tx2"/>
                </a:solidFill>
                <a:latin typeface="Times New Roman" panose="02020603050405020304" pitchFamily="18" charset="0"/>
                <a:cs typeface="Times New Roman" panose="02020603050405020304" pitchFamily="18" charset="0"/>
              </a:rPr>
              <a:t>，都能自发的放出射线，原子序数小于</a:t>
            </a:r>
            <a:r>
              <a:rPr lang="en-US" altLang="zh-CN" sz="2800" b="1">
                <a:solidFill>
                  <a:schemeClr val="tx2"/>
                </a:solidFill>
                <a:latin typeface="Times New Roman" panose="02020603050405020304" pitchFamily="18" charset="0"/>
                <a:cs typeface="Times New Roman" panose="02020603050405020304" pitchFamily="18" charset="0"/>
              </a:rPr>
              <a:t>83</a:t>
            </a:r>
            <a:r>
              <a:rPr lang="zh-CN" altLang="en-US" sz="2800" b="1">
                <a:solidFill>
                  <a:schemeClr val="tx2"/>
                </a:solidFill>
                <a:latin typeface="Times New Roman" panose="02020603050405020304" pitchFamily="18" charset="0"/>
                <a:cs typeface="Times New Roman" panose="02020603050405020304" pitchFamily="18" charset="0"/>
              </a:rPr>
              <a:t>的元素，有的也具有放射性。</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4"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lide(fromBottom)">
                                      <p:cBhvr>
                                        <p:cTn id="7" dur="500"/>
                                        <p:tgtEl>
                                          <p:spTgt spid="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dissolve">
                                      <p:cBhvr>
                                        <p:cTn id="12" dur="500"/>
                                        <p:tgtEl>
                                          <p:spTgt spid="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167940"/>
                                        </p:tgtEl>
                                        <p:attrNameLst>
                                          <p:attrName>style.visibility</p:attrName>
                                        </p:attrNameLst>
                                      </p:cBhvr>
                                      <p:to>
                                        <p:strVal val="visible"/>
                                      </p:to>
                                    </p:set>
                                    <p:animEffect transition="in" filter="checkerboard(across)">
                                      <p:cBhvr>
                                        <p:cTn id="17" dur="500"/>
                                        <p:tgtEl>
                                          <p:spTgt spid="16794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dissolve">
                                      <p:cBhvr>
                                        <p:cTn id="22" dur="500"/>
                                        <p:tgtEl>
                                          <p:spTgt spid="1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2" presetClass="entr" presetSubtype="8"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slide(fromLeft)">
                                      <p:cBhvr>
                                        <p:cTn id="27" dur="500"/>
                                        <p:tgtEl>
                                          <p:spTgt spid="9"/>
                                        </p:tgtEl>
                                      </p:cBhvr>
                                    </p:animEffect>
                                  </p:childTnLst>
                                </p:cTn>
                              </p:par>
                            </p:childTnLst>
                          </p:cTn>
                        </p:par>
                        <p:par>
                          <p:cTn id="28" fill="hold" nodeType="afterGroup">
                            <p:stCondLst>
                              <p:cond delay="500"/>
                            </p:stCondLst>
                            <p:childTnLst>
                              <p:par>
                                <p:cTn id="29" presetID="4" presetClass="entr" presetSubtype="16" fill="hold" grpId="0" nodeType="after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box(in)">
                                      <p:cBhvr>
                                        <p:cTn id="3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7940" grpId="0" autoUpdateAnimBg="0"/>
      <p:bldP spid="5" grpId="0"/>
      <p:bldP spid="8" grpId="0" autoUpdateAnimBg="0"/>
      <p:bldP spid="10" grpId="0" animBg="1" autoUpdateAnimBg="0"/>
      <p:bldP spid="11" grpId="0"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8" name="Picture 4" descr="三种射线的偏转">
            <a:extLst>
              <a:ext uri="{FF2B5EF4-FFF2-40B4-BE49-F238E27FC236}">
                <a16:creationId xmlns:a16="http://schemas.microsoft.com/office/drawing/2014/main" id="{82ADABBD-C264-45D7-A475-C1D6EA10B0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57288" y="1357313"/>
            <a:ext cx="7053262" cy="3429000"/>
          </a:xfrm>
          <a:prstGeom prst="rect">
            <a:avLst/>
          </a:prstGeom>
          <a:solidFill>
            <a:schemeClr val="bg1"/>
          </a:solidFill>
          <a:ln w="76200">
            <a:solidFill>
              <a:schemeClr val="folHlink"/>
            </a:solidFill>
            <a:miter lim="800000"/>
            <a:headEnd/>
            <a:tailEnd/>
          </a:ln>
        </p:spPr>
      </p:pic>
      <p:sp>
        <p:nvSpPr>
          <p:cNvPr id="6149" name="Text Box 5">
            <a:extLst>
              <a:ext uri="{FF2B5EF4-FFF2-40B4-BE49-F238E27FC236}">
                <a16:creationId xmlns:a16="http://schemas.microsoft.com/office/drawing/2014/main" id="{89E01DCA-3A91-4648-BB1E-B489995FCE6B}"/>
              </a:ext>
            </a:extLst>
          </p:cNvPr>
          <p:cNvSpPr txBox="1">
            <a:spLocks noChangeArrowheads="1"/>
          </p:cNvSpPr>
          <p:nvPr/>
        </p:nvSpPr>
        <p:spPr bwMode="auto">
          <a:xfrm>
            <a:off x="857250" y="285750"/>
            <a:ext cx="6019800" cy="519113"/>
          </a:xfrm>
          <a:prstGeom prst="rect">
            <a:avLst/>
          </a:prstGeom>
          <a:noFill/>
          <a:ln w="9525">
            <a:noFill/>
            <a:miter lim="800000"/>
            <a:headEnd/>
            <a:tailEnd/>
          </a:ln>
          <a:effectLst/>
        </p:spPr>
        <p:txBody>
          <a:bodyPr>
            <a:spAutoFit/>
          </a:bodyPr>
          <a:lstStyle/>
          <a:p>
            <a:pPr eaLnBrk="1" hangingPunct="1">
              <a:spcBef>
                <a:spcPct val="50000"/>
              </a:spcBef>
              <a:defRPr/>
            </a:pPr>
            <a:r>
              <a:rPr lang="zh-CN" altLang="en-US" sz="2800" b="1" dirty="0">
                <a:latin typeface="+mn-ea"/>
                <a:ea typeface="+mn-ea"/>
              </a:rPr>
              <a:t>放射性物质发出的射线有三种：</a:t>
            </a:r>
          </a:p>
        </p:txBody>
      </p:sp>
      <p:sp>
        <p:nvSpPr>
          <p:cNvPr id="28676" name="矩形 8">
            <a:extLst>
              <a:ext uri="{FF2B5EF4-FFF2-40B4-BE49-F238E27FC236}">
                <a16:creationId xmlns:a16="http://schemas.microsoft.com/office/drawing/2014/main" id="{A2FCB296-9184-45CA-9EB1-F30B5EEDE121}"/>
              </a:ext>
            </a:extLst>
          </p:cNvPr>
          <p:cNvSpPr>
            <a:spLocks noChangeArrowheads="1"/>
          </p:cNvSpPr>
          <p:nvPr/>
        </p:nvSpPr>
        <p:spPr bwMode="auto">
          <a:xfrm>
            <a:off x="1000125" y="5260975"/>
            <a:ext cx="7243763"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b="1">
                <a:latin typeface="Times New Roman" panose="02020603050405020304" pitchFamily="18" charset="0"/>
                <a:cs typeface="Times New Roman" panose="02020603050405020304" pitchFamily="18" charset="0"/>
              </a:rPr>
              <a:t>实验发现原子核在衰变过程中放出的射线有三种：</a:t>
            </a:r>
            <a:r>
              <a:rPr lang="en-US" altLang="zh-CN" sz="2800" b="1">
                <a:solidFill>
                  <a:srgbClr val="FF0000"/>
                </a:solidFill>
                <a:latin typeface="Times New Roman" panose="02020603050405020304" pitchFamily="18" charset="0"/>
                <a:cs typeface="Times New Roman" panose="02020603050405020304" pitchFamily="18" charset="0"/>
              </a:rPr>
              <a:t>α</a:t>
            </a:r>
            <a:r>
              <a:rPr lang="zh-CN" altLang="en-US" sz="2800" b="1">
                <a:solidFill>
                  <a:srgbClr val="FF0000"/>
                </a:solidFill>
                <a:latin typeface="Times New Roman" panose="02020603050405020304" pitchFamily="18" charset="0"/>
                <a:cs typeface="Times New Roman" panose="02020603050405020304" pitchFamily="18" charset="0"/>
              </a:rPr>
              <a:t>射线、</a:t>
            </a:r>
            <a:r>
              <a:rPr lang="en-US" altLang="zh-CN" sz="2800" b="1">
                <a:solidFill>
                  <a:srgbClr val="FF0000"/>
                </a:solidFill>
                <a:latin typeface="Times New Roman" panose="02020603050405020304" pitchFamily="18" charset="0"/>
                <a:cs typeface="Times New Roman" panose="02020603050405020304" pitchFamily="18" charset="0"/>
              </a:rPr>
              <a:t>β</a:t>
            </a:r>
            <a:r>
              <a:rPr lang="zh-CN" altLang="en-US" sz="2800" b="1">
                <a:solidFill>
                  <a:srgbClr val="FF0000"/>
                </a:solidFill>
                <a:latin typeface="Times New Roman" panose="02020603050405020304" pitchFamily="18" charset="0"/>
                <a:cs typeface="Times New Roman" panose="02020603050405020304" pitchFamily="18" charset="0"/>
              </a:rPr>
              <a:t>射线和</a:t>
            </a:r>
            <a:r>
              <a:rPr lang="en-US" altLang="zh-CN" sz="2800" b="1">
                <a:solidFill>
                  <a:srgbClr val="FF0000"/>
                </a:solidFill>
                <a:latin typeface="Times New Roman" panose="02020603050405020304" pitchFamily="18" charset="0"/>
                <a:cs typeface="Times New Roman" panose="02020603050405020304" pitchFamily="18" charset="0"/>
              </a:rPr>
              <a:t>γ</a:t>
            </a:r>
            <a:r>
              <a:rPr lang="zh-CN" altLang="en-US" sz="2800" b="1">
                <a:solidFill>
                  <a:srgbClr val="FF0000"/>
                </a:solidFill>
                <a:latin typeface="Times New Roman" panose="02020603050405020304" pitchFamily="18" charset="0"/>
                <a:cs typeface="Times New Roman" panose="02020603050405020304" pitchFamily="18" charset="0"/>
              </a:rPr>
              <a:t>射线。</a:t>
            </a:r>
            <a:endParaRPr lang="en-US" altLang="zh-CN" sz="2800" b="1">
              <a:solidFill>
                <a:srgbClr val="FF0000"/>
              </a:solidFill>
              <a:latin typeface="Times New Roman" panose="02020603050405020304" pitchFamily="18" charset="0"/>
              <a:cs typeface="Times New Roman" panose="02020603050405020304" pitchFamily="18" charset="0"/>
            </a:endParaRPr>
          </a:p>
        </p:txBody>
      </p:sp>
      <p:sp>
        <p:nvSpPr>
          <p:cNvPr id="21509" name="Text Box 29">
            <a:extLst>
              <a:ext uri="{FF2B5EF4-FFF2-40B4-BE49-F238E27FC236}">
                <a16:creationId xmlns:a16="http://schemas.microsoft.com/office/drawing/2014/main" id="{932C40F1-F803-4B20-ADA7-25AF0070180E}"/>
              </a:ext>
            </a:extLst>
          </p:cNvPr>
          <p:cNvSpPr txBox="1">
            <a:spLocks noChangeArrowheads="1"/>
          </p:cNvSpPr>
          <p:nvPr/>
        </p:nvSpPr>
        <p:spPr bwMode="auto">
          <a:xfrm>
            <a:off x="8629650" y="635635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1">
                <a:latin typeface="Times New Roman" panose="02020603050405020304" pitchFamily="18" charset="0"/>
              </a:rPr>
              <a:t>14</a:t>
            </a:r>
            <a:endParaRPr lang="en-US" altLang="zh-CN" sz="1800"/>
          </a:p>
        </p:txBody>
      </p:sp>
    </p:spTree>
  </p:cSld>
  <p:clrMapOvr>
    <a:masterClrMapping/>
  </p:clrMapOvr>
  <p:transition advClick="0">
    <p:fade thruBlk="1"/>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p:stCondLst>
                                    <p:cond delay="0"/>
                                  </p:stCondLst>
                                  <p:childTnLst>
                                    <p:set>
                                      <p:cBhvr>
                                        <p:cTn id="6" dur="1" fill="hold">
                                          <p:stCondLst>
                                            <p:cond delay="0"/>
                                          </p:stCondLst>
                                        </p:cTn>
                                        <p:tgtEl>
                                          <p:spTgt spid="6149"/>
                                        </p:tgtEl>
                                        <p:attrNameLst>
                                          <p:attrName>style.visibility</p:attrName>
                                        </p:attrNameLst>
                                      </p:cBhvr>
                                      <p:to>
                                        <p:strVal val="visible"/>
                                      </p:to>
                                    </p:set>
                                    <p:animEffect transition="in" filter="dissolve">
                                      <p:cBhvr>
                                        <p:cTn id="7" dur="500"/>
                                        <p:tgtEl>
                                          <p:spTgt spid="6149"/>
                                        </p:tgtEl>
                                      </p:cBhvr>
                                    </p:animEffect>
                                  </p:childTnLst>
                                </p:cTn>
                              </p:par>
                            </p:childTnLst>
                          </p:cTn>
                        </p:par>
                        <p:par>
                          <p:cTn id="8" fill="hold" nodeType="afterGroup">
                            <p:stCondLst>
                              <p:cond delay="500"/>
                            </p:stCondLst>
                            <p:childTnLst>
                              <p:par>
                                <p:cTn id="9" presetID="4" presetClass="entr" presetSubtype="16" fill="hold" nodeType="afterEffect">
                                  <p:stCondLst>
                                    <p:cond delay="0"/>
                                  </p:stCondLst>
                                  <p:childTnLst>
                                    <p:set>
                                      <p:cBhvr>
                                        <p:cTn id="10" dur="1" fill="hold">
                                          <p:stCondLst>
                                            <p:cond delay="0"/>
                                          </p:stCondLst>
                                        </p:cTn>
                                        <p:tgtEl>
                                          <p:spTgt spid="6148"/>
                                        </p:tgtEl>
                                        <p:attrNameLst>
                                          <p:attrName>style.visibility</p:attrName>
                                        </p:attrNameLst>
                                      </p:cBhvr>
                                      <p:to>
                                        <p:strVal val="visible"/>
                                      </p:to>
                                    </p:set>
                                    <p:animEffect transition="in" filter="box(in)">
                                      <p:cBhvr>
                                        <p:cTn id="11" dur="500"/>
                                        <p:tgtEl>
                                          <p:spTgt spid="6148"/>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28676"/>
                                        </p:tgtEl>
                                        <p:attrNameLst>
                                          <p:attrName>style.visibility</p:attrName>
                                        </p:attrNameLst>
                                      </p:cBhvr>
                                      <p:to>
                                        <p:strVal val="visible"/>
                                      </p:to>
                                    </p:set>
                                    <p:animEffect transition="in" filter="blinds(horizontal)">
                                      <p:cBhvr>
                                        <p:cTn id="16" dur="500"/>
                                        <p:tgtEl>
                                          <p:spTgt spid="286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9" grpId="0" autoUpdateAnimBg="0"/>
      <p:bldP spid="2867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530" name="组合 54">
            <a:extLst>
              <a:ext uri="{FF2B5EF4-FFF2-40B4-BE49-F238E27FC236}">
                <a16:creationId xmlns:a16="http://schemas.microsoft.com/office/drawing/2014/main" id="{4E17D52A-E2BE-46A8-9C12-16A23EC49916}"/>
              </a:ext>
            </a:extLst>
          </p:cNvPr>
          <p:cNvGrpSpPr>
            <a:grpSpLocks/>
          </p:cNvGrpSpPr>
          <p:nvPr/>
        </p:nvGrpSpPr>
        <p:grpSpPr bwMode="auto">
          <a:xfrm>
            <a:off x="857250" y="1857375"/>
            <a:ext cx="7696200" cy="3624263"/>
            <a:chOff x="1143000" y="2057400"/>
            <a:chExt cx="7696200" cy="3624263"/>
          </a:xfrm>
        </p:grpSpPr>
        <p:grpSp>
          <p:nvGrpSpPr>
            <p:cNvPr id="22540" name="Group 168">
              <a:extLst>
                <a:ext uri="{FF2B5EF4-FFF2-40B4-BE49-F238E27FC236}">
                  <a16:creationId xmlns:a16="http://schemas.microsoft.com/office/drawing/2014/main" id="{7AE4B5C2-4B56-4243-8545-684D222CDC6B}"/>
                </a:ext>
              </a:extLst>
            </p:cNvPr>
            <p:cNvGrpSpPr>
              <a:grpSpLocks/>
            </p:cNvGrpSpPr>
            <p:nvPr/>
          </p:nvGrpSpPr>
          <p:grpSpPr bwMode="auto">
            <a:xfrm>
              <a:off x="1143000" y="2057400"/>
              <a:ext cx="7696200" cy="3624263"/>
              <a:chOff x="720" y="1077"/>
              <a:chExt cx="4848" cy="2283"/>
            </a:xfrm>
          </p:grpSpPr>
          <p:sp>
            <p:nvSpPr>
              <p:cNvPr id="22545" name="Rectangle 27">
                <a:extLst>
                  <a:ext uri="{FF2B5EF4-FFF2-40B4-BE49-F238E27FC236}">
                    <a16:creationId xmlns:a16="http://schemas.microsoft.com/office/drawing/2014/main" id="{B33AC493-76CE-4DCF-8971-B4C4BB5CF516}"/>
                  </a:ext>
                </a:extLst>
              </p:cNvPr>
              <p:cNvSpPr>
                <a:spLocks noChangeArrowheads="1"/>
              </p:cNvSpPr>
              <p:nvPr/>
            </p:nvSpPr>
            <p:spPr bwMode="auto">
              <a:xfrm>
                <a:off x="4464" y="2711"/>
                <a:ext cx="1104" cy="64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1800"/>
              </a:p>
            </p:txBody>
          </p:sp>
          <p:sp>
            <p:nvSpPr>
              <p:cNvPr id="22546" name="Rectangle 26">
                <a:extLst>
                  <a:ext uri="{FF2B5EF4-FFF2-40B4-BE49-F238E27FC236}">
                    <a16:creationId xmlns:a16="http://schemas.microsoft.com/office/drawing/2014/main" id="{226963DF-4846-4980-A41C-065DD29AF104}"/>
                  </a:ext>
                </a:extLst>
              </p:cNvPr>
              <p:cNvSpPr>
                <a:spLocks noChangeArrowheads="1"/>
              </p:cNvSpPr>
              <p:nvPr/>
            </p:nvSpPr>
            <p:spPr bwMode="auto">
              <a:xfrm>
                <a:off x="3312" y="2711"/>
                <a:ext cx="1152" cy="64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1800"/>
              </a:p>
            </p:txBody>
          </p:sp>
          <p:sp>
            <p:nvSpPr>
              <p:cNvPr id="22547" name="Rectangle 25">
                <a:extLst>
                  <a:ext uri="{FF2B5EF4-FFF2-40B4-BE49-F238E27FC236}">
                    <a16:creationId xmlns:a16="http://schemas.microsoft.com/office/drawing/2014/main" id="{6775D551-4113-4B92-9D44-468AD00C47CE}"/>
                  </a:ext>
                </a:extLst>
              </p:cNvPr>
              <p:cNvSpPr>
                <a:spLocks noChangeArrowheads="1"/>
              </p:cNvSpPr>
              <p:nvPr/>
            </p:nvSpPr>
            <p:spPr bwMode="auto">
              <a:xfrm>
                <a:off x="2352" y="2711"/>
                <a:ext cx="960" cy="64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1800"/>
              </a:p>
            </p:txBody>
          </p:sp>
          <p:sp>
            <p:nvSpPr>
              <p:cNvPr id="22548" name="Rectangle 24">
                <a:extLst>
                  <a:ext uri="{FF2B5EF4-FFF2-40B4-BE49-F238E27FC236}">
                    <a16:creationId xmlns:a16="http://schemas.microsoft.com/office/drawing/2014/main" id="{12B1ED1C-19F1-4F3A-9FB6-D4C0AF57DF08}"/>
                  </a:ext>
                </a:extLst>
              </p:cNvPr>
              <p:cNvSpPr>
                <a:spLocks noChangeArrowheads="1"/>
              </p:cNvSpPr>
              <p:nvPr/>
            </p:nvSpPr>
            <p:spPr bwMode="auto">
              <a:xfrm>
                <a:off x="1392" y="2711"/>
                <a:ext cx="960" cy="64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1800"/>
              </a:p>
            </p:txBody>
          </p:sp>
          <p:sp>
            <p:nvSpPr>
              <p:cNvPr id="22549" name="Rectangle 23">
                <a:extLst>
                  <a:ext uri="{FF2B5EF4-FFF2-40B4-BE49-F238E27FC236}">
                    <a16:creationId xmlns:a16="http://schemas.microsoft.com/office/drawing/2014/main" id="{9210F703-E3C7-4CA9-897B-E9C526F2DB4B}"/>
                  </a:ext>
                </a:extLst>
              </p:cNvPr>
              <p:cNvSpPr>
                <a:spLocks noChangeArrowheads="1"/>
              </p:cNvSpPr>
              <p:nvPr/>
            </p:nvSpPr>
            <p:spPr bwMode="auto">
              <a:xfrm>
                <a:off x="720" y="2711"/>
                <a:ext cx="672" cy="64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en-US" altLang="zh-CN" sz="1800">
                  <a:ea typeface="华文楷体" panose="02010600040101010101" pitchFamily="2" charset="-122"/>
                </a:endParaRPr>
              </a:p>
              <a:p>
                <a:pPr algn="ctr" eaLnBrk="1" hangingPunct="1">
                  <a:spcBef>
                    <a:spcPct val="0"/>
                  </a:spcBef>
                  <a:buFontTx/>
                  <a:buNone/>
                </a:pPr>
                <a:r>
                  <a:rPr lang="zh-CN" altLang="en-US" sz="1800">
                    <a:ea typeface="华文楷体" panose="02010600040101010101" pitchFamily="2" charset="-122"/>
                  </a:rPr>
                  <a:t>射线</a:t>
                </a:r>
              </a:p>
            </p:txBody>
          </p:sp>
          <p:sp>
            <p:nvSpPr>
              <p:cNvPr id="22550" name="Rectangle 22">
                <a:extLst>
                  <a:ext uri="{FF2B5EF4-FFF2-40B4-BE49-F238E27FC236}">
                    <a16:creationId xmlns:a16="http://schemas.microsoft.com/office/drawing/2014/main" id="{355A1C3B-09A7-4D07-B9D3-D36BC9FE8DED}"/>
                  </a:ext>
                </a:extLst>
              </p:cNvPr>
              <p:cNvSpPr>
                <a:spLocks noChangeArrowheads="1"/>
              </p:cNvSpPr>
              <p:nvPr/>
            </p:nvSpPr>
            <p:spPr bwMode="auto">
              <a:xfrm>
                <a:off x="4464" y="2062"/>
                <a:ext cx="1104" cy="64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1800"/>
              </a:p>
            </p:txBody>
          </p:sp>
          <p:sp>
            <p:nvSpPr>
              <p:cNvPr id="22551" name="Rectangle 21">
                <a:extLst>
                  <a:ext uri="{FF2B5EF4-FFF2-40B4-BE49-F238E27FC236}">
                    <a16:creationId xmlns:a16="http://schemas.microsoft.com/office/drawing/2014/main" id="{7DC71305-672D-49AA-9F41-92982FFFD886}"/>
                  </a:ext>
                </a:extLst>
              </p:cNvPr>
              <p:cNvSpPr>
                <a:spLocks noChangeArrowheads="1"/>
              </p:cNvSpPr>
              <p:nvPr/>
            </p:nvSpPr>
            <p:spPr bwMode="auto">
              <a:xfrm>
                <a:off x="3312" y="2062"/>
                <a:ext cx="1152" cy="64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1800"/>
              </a:p>
            </p:txBody>
          </p:sp>
          <p:sp>
            <p:nvSpPr>
              <p:cNvPr id="22552" name="Rectangle 20">
                <a:extLst>
                  <a:ext uri="{FF2B5EF4-FFF2-40B4-BE49-F238E27FC236}">
                    <a16:creationId xmlns:a16="http://schemas.microsoft.com/office/drawing/2014/main" id="{8DAFDFE0-946A-49A3-A6E3-4D3BB9198B21}"/>
                  </a:ext>
                </a:extLst>
              </p:cNvPr>
              <p:cNvSpPr>
                <a:spLocks noChangeArrowheads="1"/>
              </p:cNvSpPr>
              <p:nvPr/>
            </p:nvSpPr>
            <p:spPr bwMode="auto">
              <a:xfrm>
                <a:off x="2352" y="2062"/>
                <a:ext cx="960" cy="64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1800"/>
              </a:p>
            </p:txBody>
          </p:sp>
          <p:sp>
            <p:nvSpPr>
              <p:cNvPr id="22553" name="Rectangle 19">
                <a:extLst>
                  <a:ext uri="{FF2B5EF4-FFF2-40B4-BE49-F238E27FC236}">
                    <a16:creationId xmlns:a16="http://schemas.microsoft.com/office/drawing/2014/main" id="{0E988AF8-C0B7-437B-B00D-9FB17A9680ED}"/>
                  </a:ext>
                </a:extLst>
              </p:cNvPr>
              <p:cNvSpPr>
                <a:spLocks noChangeArrowheads="1"/>
              </p:cNvSpPr>
              <p:nvPr/>
            </p:nvSpPr>
            <p:spPr bwMode="auto">
              <a:xfrm>
                <a:off x="1392" y="2062"/>
                <a:ext cx="960" cy="64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1800"/>
              </a:p>
            </p:txBody>
          </p:sp>
          <p:sp>
            <p:nvSpPr>
              <p:cNvPr id="22554" name="Rectangle 18">
                <a:extLst>
                  <a:ext uri="{FF2B5EF4-FFF2-40B4-BE49-F238E27FC236}">
                    <a16:creationId xmlns:a16="http://schemas.microsoft.com/office/drawing/2014/main" id="{D18A9788-7909-4EAE-B927-352E9F061065}"/>
                  </a:ext>
                </a:extLst>
              </p:cNvPr>
              <p:cNvSpPr>
                <a:spLocks noChangeArrowheads="1"/>
              </p:cNvSpPr>
              <p:nvPr/>
            </p:nvSpPr>
            <p:spPr bwMode="auto">
              <a:xfrm>
                <a:off x="720" y="2062"/>
                <a:ext cx="672" cy="64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en-US" altLang="zh-CN" sz="1800">
                  <a:ea typeface="华文楷体" panose="02010600040101010101" pitchFamily="2" charset="-122"/>
                </a:endParaRPr>
              </a:p>
              <a:p>
                <a:pPr algn="ctr" eaLnBrk="1" hangingPunct="1">
                  <a:spcBef>
                    <a:spcPct val="0"/>
                  </a:spcBef>
                  <a:buFontTx/>
                  <a:buNone/>
                </a:pPr>
                <a:r>
                  <a:rPr lang="zh-CN" altLang="en-US" sz="1800">
                    <a:ea typeface="华文楷体" panose="02010600040101010101" pitchFamily="2" charset="-122"/>
                  </a:rPr>
                  <a:t>射线</a:t>
                </a:r>
              </a:p>
            </p:txBody>
          </p:sp>
          <p:sp>
            <p:nvSpPr>
              <p:cNvPr id="22555" name="Rectangle 17">
                <a:extLst>
                  <a:ext uri="{FF2B5EF4-FFF2-40B4-BE49-F238E27FC236}">
                    <a16:creationId xmlns:a16="http://schemas.microsoft.com/office/drawing/2014/main" id="{F2FBAC45-EF5C-4E32-BC90-E78EF54378A9}"/>
                  </a:ext>
                </a:extLst>
              </p:cNvPr>
              <p:cNvSpPr>
                <a:spLocks noChangeArrowheads="1"/>
              </p:cNvSpPr>
              <p:nvPr/>
            </p:nvSpPr>
            <p:spPr bwMode="auto">
              <a:xfrm>
                <a:off x="4464" y="1413"/>
                <a:ext cx="1104" cy="64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1800"/>
              </a:p>
            </p:txBody>
          </p:sp>
          <p:sp>
            <p:nvSpPr>
              <p:cNvPr id="22556" name="Rectangle 16">
                <a:extLst>
                  <a:ext uri="{FF2B5EF4-FFF2-40B4-BE49-F238E27FC236}">
                    <a16:creationId xmlns:a16="http://schemas.microsoft.com/office/drawing/2014/main" id="{557E36D1-2657-4C47-B404-65FD0A70FEAC}"/>
                  </a:ext>
                </a:extLst>
              </p:cNvPr>
              <p:cNvSpPr>
                <a:spLocks noChangeArrowheads="1"/>
              </p:cNvSpPr>
              <p:nvPr/>
            </p:nvSpPr>
            <p:spPr bwMode="auto">
              <a:xfrm>
                <a:off x="3312" y="1413"/>
                <a:ext cx="1152" cy="64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1800"/>
              </a:p>
            </p:txBody>
          </p:sp>
          <p:sp>
            <p:nvSpPr>
              <p:cNvPr id="22557" name="Rectangle 15">
                <a:extLst>
                  <a:ext uri="{FF2B5EF4-FFF2-40B4-BE49-F238E27FC236}">
                    <a16:creationId xmlns:a16="http://schemas.microsoft.com/office/drawing/2014/main" id="{49A793EA-7638-4A67-900C-7A8BB8015D96}"/>
                  </a:ext>
                </a:extLst>
              </p:cNvPr>
              <p:cNvSpPr>
                <a:spLocks noChangeArrowheads="1"/>
              </p:cNvSpPr>
              <p:nvPr/>
            </p:nvSpPr>
            <p:spPr bwMode="auto">
              <a:xfrm>
                <a:off x="2352" y="1413"/>
                <a:ext cx="960" cy="64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1800"/>
              </a:p>
            </p:txBody>
          </p:sp>
          <p:sp>
            <p:nvSpPr>
              <p:cNvPr id="22558" name="Rectangle 14">
                <a:extLst>
                  <a:ext uri="{FF2B5EF4-FFF2-40B4-BE49-F238E27FC236}">
                    <a16:creationId xmlns:a16="http://schemas.microsoft.com/office/drawing/2014/main" id="{C3DA6208-C3A3-4AA3-A66B-7B2DEA952391}"/>
                  </a:ext>
                </a:extLst>
              </p:cNvPr>
              <p:cNvSpPr>
                <a:spLocks noChangeArrowheads="1"/>
              </p:cNvSpPr>
              <p:nvPr/>
            </p:nvSpPr>
            <p:spPr bwMode="auto">
              <a:xfrm>
                <a:off x="1392" y="1413"/>
                <a:ext cx="960" cy="64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1800"/>
              </a:p>
            </p:txBody>
          </p:sp>
          <p:sp>
            <p:nvSpPr>
              <p:cNvPr id="22559" name="Rectangle 13">
                <a:extLst>
                  <a:ext uri="{FF2B5EF4-FFF2-40B4-BE49-F238E27FC236}">
                    <a16:creationId xmlns:a16="http://schemas.microsoft.com/office/drawing/2014/main" id="{0A7E2169-6B80-4CE4-A298-B80A727028AF}"/>
                  </a:ext>
                </a:extLst>
              </p:cNvPr>
              <p:cNvSpPr>
                <a:spLocks noChangeArrowheads="1"/>
              </p:cNvSpPr>
              <p:nvPr/>
            </p:nvSpPr>
            <p:spPr bwMode="auto">
              <a:xfrm>
                <a:off x="720" y="1413"/>
                <a:ext cx="672" cy="64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en-US" altLang="zh-CN" sz="1800">
                  <a:ea typeface="华文楷体" panose="02010600040101010101" pitchFamily="2" charset="-122"/>
                </a:endParaRPr>
              </a:p>
              <a:p>
                <a:pPr algn="ctr" eaLnBrk="1" hangingPunct="1">
                  <a:spcBef>
                    <a:spcPct val="0"/>
                  </a:spcBef>
                  <a:buFontTx/>
                  <a:buNone/>
                </a:pPr>
                <a:r>
                  <a:rPr lang="zh-CN" altLang="en-US" sz="1800">
                    <a:ea typeface="华文楷体" panose="02010600040101010101" pitchFamily="2" charset="-122"/>
                  </a:rPr>
                  <a:t>射线</a:t>
                </a:r>
              </a:p>
            </p:txBody>
          </p:sp>
          <p:sp>
            <p:nvSpPr>
              <p:cNvPr id="9228" name="Rectangle 12">
                <a:extLst>
                  <a:ext uri="{FF2B5EF4-FFF2-40B4-BE49-F238E27FC236}">
                    <a16:creationId xmlns:a16="http://schemas.microsoft.com/office/drawing/2014/main" id="{E95DD711-0098-43AC-B545-53A7682BCCEA}"/>
                  </a:ext>
                </a:extLst>
              </p:cNvPr>
              <p:cNvSpPr>
                <a:spLocks noChangeArrowheads="1"/>
              </p:cNvSpPr>
              <p:nvPr/>
            </p:nvSpPr>
            <p:spPr bwMode="auto">
              <a:xfrm>
                <a:off x="4464" y="1077"/>
                <a:ext cx="1104" cy="336"/>
              </a:xfrm>
              <a:prstGeom prst="rect">
                <a:avLst/>
              </a:prstGeom>
              <a:solidFill>
                <a:schemeClr val="bg1"/>
              </a:solidFill>
              <a:ln w="9525">
                <a:noFill/>
                <a:miter lim="800000"/>
                <a:headEnd/>
                <a:tailEnd/>
              </a:ln>
              <a:effectLst/>
            </p:spPr>
            <p:txBody>
              <a:bodyPr anchor="ctr"/>
              <a:lstStyle/>
              <a:p>
                <a:pPr algn="ctr" eaLnBrk="1" hangingPunct="1">
                  <a:defRPr/>
                </a:pPr>
                <a:r>
                  <a:rPr lang="zh-CN" altLang="en-US" sz="2400" b="1" dirty="0">
                    <a:latin typeface="+mn-ea"/>
                    <a:ea typeface="+mn-ea"/>
                  </a:rPr>
                  <a:t>电离能力</a:t>
                </a:r>
              </a:p>
            </p:txBody>
          </p:sp>
          <p:sp>
            <p:nvSpPr>
              <p:cNvPr id="9227" name="Rectangle 11">
                <a:extLst>
                  <a:ext uri="{FF2B5EF4-FFF2-40B4-BE49-F238E27FC236}">
                    <a16:creationId xmlns:a16="http://schemas.microsoft.com/office/drawing/2014/main" id="{79ECA5A7-40DC-4141-A2CE-E56BC47F60E5}"/>
                  </a:ext>
                </a:extLst>
              </p:cNvPr>
              <p:cNvSpPr>
                <a:spLocks noChangeArrowheads="1"/>
              </p:cNvSpPr>
              <p:nvPr/>
            </p:nvSpPr>
            <p:spPr bwMode="auto">
              <a:xfrm>
                <a:off x="3312" y="1077"/>
                <a:ext cx="1152" cy="336"/>
              </a:xfrm>
              <a:prstGeom prst="rect">
                <a:avLst/>
              </a:prstGeom>
              <a:solidFill>
                <a:schemeClr val="bg1"/>
              </a:solidFill>
              <a:ln w="9525">
                <a:noFill/>
                <a:miter lim="800000"/>
                <a:headEnd/>
                <a:tailEnd/>
              </a:ln>
              <a:effectLst/>
            </p:spPr>
            <p:txBody>
              <a:bodyPr anchor="ctr"/>
              <a:lstStyle/>
              <a:p>
                <a:pPr algn="ctr" eaLnBrk="1" hangingPunct="1">
                  <a:defRPr/>
                </a:pPr>
                <a:r>
                  <a:rPr lang="zh-CN" altLang="en-US" sz="2400" b="1" dirty="0">
                    <a:latin typeface="+mn-ea"/>
                    <a:ea typeface="+mn-ea"/>
                  </a:rPr>
                  <a:t>贯穿能力</a:t>
                </a:r>
              </a:p>
            </p:txBody>
          </p:sp>
          <p:sp>
            <p:nvSpPr>
              <p:cNvPr id="9226" name="Rectangle 10">
                <a:extLst>
                  <a:ext uri="{FF2B5EF4-FFF2-40B4-BE49-F238E27FC236}">
                    <a16:creationId xmlns:a16="http://schemas.microsoft.com/office/drawing/2014/main" id="{D9032583-333C-4623-AC77-2B2BF7DB9A31}"/>
                  </a:ext>
                </a:extLst>
              </p:cNvPr>
              <p:cNvSpPr>
                <a:spLocks noChangeArrowheads="1"/>
              </p:cNvSpPr>
              <p:nvPr/>
            </p:nvSpPr>
            <p:spPr bwMode="auto">
              <a:xfrm>
                <a:off x="2352" y="1077"/>
                <a:ext cx="960" cy="336"/>
              </a:xfrm>
              <a:prstGeom prst="rect">
                <a:avLst/>
              </a:prstGeom>
              <a:solidFill>
                <a:schemeClr val="bg1"/>
              </a:solidFill>
              <a:ln w="9525">
                <a:noFill/>
                <a:miter lim="800000"/>
                <a:headEnd/>
                <a:tailEnd/>
              </a:ln>
              <a:effectLst/>
            </p:spPr>
            <p:txBody>
              <a:bodyPr anchor="ctr"/>
              <a:lstStyle/>
              <a:p>
                <a:pPr algn="ctr" eaLnBrk="1" hangingPunct="1">
                  <a:defRPr/>
                </a:pPr>
                <a:r>
                  <a:rPr lang="zh-CN" altLang="en-US" sz="2400" b="1" dirty="0">
                    <a:latin typeface="+mn-ea"/>
                    <a:ea typeface="+mn-ea"/>
                  </a:rPr>
                  <a:t>速度</a:t>
                </a:r>
              </a:p>
            </p:txBody>
          </p:sp>
          <p:sp>
            <p:nvSpPr>
              <p:cNvPr id="9225" name="Rectangle 9">
                <a:extLst>
                  <a:ext uri="{FF2B5EF4-FFF2-40B4-BE49-F238E27FC236}">
                    <a16:creationId xmlns:a16="http://schemas.microsoft.com/office/drawing/2014/main" id="{E0B8D289-F3DA-46C8-BB61-8CC62BFD9DC1}"/>
                  </a:ext>
                </a:extLst>
              </p:cNvPr>
              <p:cNvSpPr>
                <a:spLocks noChangeArrowheads="1"/>
              </p:cNvSpPr>
              <p:nvPr/>
            </p:nvSpPr>
            <p:spPr bwMode="auto">
              <a:xfrm>
                <a:off x="1392" y="1077"/>
                <a:ext cx="960" cy="336"/>
              </a:xfrm>
              <a:prstGeom prst="rect">
                <a:avLst/>
              </a:prstGeom>
              <a:solidFill>
                <a:schemeClr val="bg1"/>
              </a:solidFill>
              <a:ln w="9525">
                <a:noFill/>
                <a:miter lim="800000"/>
                <a:headEnd/>
                <a:tailEnd/>
              </a:ln>
              <a:effectLst/>
            </p:spPr>
            <p:txBody>
              <a:bodyPr anchor="ctr"/>
              <a:lstStyle/>
              <a:p>
                <a:pPr algn="ctr" eaLnBrk="1" hangingPunct="1">
                  <a:defRPr/>
                </a:pPr>
                <a:r>
                  <a:rPr lang="zh-CN" altLang="en-US" sz="2400" b="1" dirty="0">
                    <a:latin typeface="+mn-ea"/>
                    <a:ea typeface="+mn-ea"/>
                  </a:rPr>
                  <a:t>成分</a:t>
                </a:r>
              </a:p>
            </p:txBody>
          </p:sp>
          <p:sp>
            <p:nvSpPr>
              <p:cNvPr id="22564" name="Rectangle 8">
                <a:extLst>
                  <a:ext uri="{FF2B5EF4-FFF2-40B4-BE49-F238E27FC236}">
                    <a16:creationId xmlns:a16="http://schemas.microsoft.com/office/drawing/2014/main" id="{91713AB5-7D4E-4F89-8CB7-E93EDBA93846}"/>
                  </a:ext>
                </a:extLst>
              </p:cNvPr>
              <p:cNvSpPr>
                <a:spLocks noChangeArrowheads="1"/>
              </p:cNvSpPr>
              <p:nvPr/>
            </p:nvSpPr>
            <p:spPr bwMode="auto">
              <a:xfrm>
                <a:off x="720" y="1077"/>
                <a:ext cx="672" cy="33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1800"/>
              </a:p>
            </p:txBody>
          </p:sp>
          <p:sp>
            <p:nvSpPr>
              <p:cNvPr id="22565" name="Line 29">
                <a:extLst>
                  <a:ext uri="{FF2B5EF4-FFF2-40B4-BE49-F238E27FC236}">
                    <a16:creationId xmlns:a16="http://schemas.microsoft.com/office/drawing/2014/main" id="{28B77ED3-24D1-4C5D-98D6-2336D030235A}"/>
                  </a:ext>
                </a:extLst>
              </p:cNvPr>
              <p:cNvSpPr>
                <a:spLocks noChangeShapeType="1"/>
              </p:cNvSpPr>
              <p:nvPr/>
            </p:nvSpPr>
            <p:spPr bwMode="auto">
              <a:xfrm>
                <a:off x="720" y="1413"/>
                <a:ext cx="4848" cy="0"/>
              </a:xfrm>
              <a:prstGeom prst="line">
                <a:avLst/>
              </a:prstGeom>
              <a:noFill/>
              <a:ln w="19050">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66" name="Line 30">
                <a:extLst>
                  <a:ext uri="{FF2B5EF4-FFF2-40B4-BE49-F238E27FC236}">
                    <a16:creationId xmlns:a16="http://schemas.microsoft.com/office/drawing/2014/main" id="{759AD752-9658-4C46-BDB8-EE8132B95E34}"/>
                  </a:ext>
                </a:extLst>
              </p:cNvPr>
              <p:cNvSpPr>
                <a:spLocks noChangeShapeType="1"/>
              </p:cNvSpPr>
              <p:nvPr/>
            </p:nvSpPr>
            <p:spPr bwMode="auto">
              <a:xfrm>
                <a:off x="720" y="2062"/>
                <a:ext cx="4848" cy="0"/>
              </a:xfrm>
              <a:prstGeom prst="line">
                <a:avLst/>
              </a:prstGeom>
              <a:noFill/>
              <a:ln w="19050">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67" name="Line 31">
                <a:extLst>
                  <a:ext uri="{FF2B5EF4-FFF2-40B4-BE49-F238E27FC236}">
                    <a16:creationId xmlns:a16="http://schemas.microsoft.com/office/drawing/2014/main" id="{C114E258-D516-4076-AAEC-860FAED64C3F}"/>
                  </a:ext>
                </a:extLst>
              </p:cNvPr>
              <p:cNvSpPr>
                <a:spLocks noChangeShapeType="1"/>
              </p:cNvSpPr>
              <p:nvPr/>
            </p:nvSpPr>
            <p:spPr bwMode="auto">
              <a:xfrm>
                <a:off x="720" y="2711"/>
                <a:ext cx="4848" cy="0"/>
              </a:xfrm>
              <a:prstGeom prst="line">
                <a:avLst/>
              </a:prstGeom>
              <a:noFill/>
              <a:ln w="19050">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68" name="Line 34">
                <a:extLst>
                  <a:ext uri="{FF2B5EF4-FFF2-40B4-BE49-F238E27FC236}">
                    <a16:creationId xmlns:a16="http://schemas.microsoft.com/office/drawing/2014/main" id="{C9FD0D6A-BE9E-4AEE-A900-78BEBC5C3E89}"/>
                  </a:ext>
                </a:extLst>
              </p:cNvPr>
              <p:cNvSpPr>
                <a:spLocks noChangeShapeType="1"/>
              </p:cNvSpPr>
              <p:nvPr/>
            </p:nvSpPr>
            <p:spPr bwMode="auto">
              <a:xfrm>
                <a:off x="1392" y="1077"/>
                <a:ext cx="0" cy="2283"/>
              </a:xfrm>
              <a:prstGeom prst="line">
                <a:avLst/>
              </a:prstGeom>
              <a:noFill/>
              <a:ln w="19050">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69" name="Line 35">
                <a:extLst>
                  <a:ext uri="{FF2B5EF4-FFF2-40B4-BE49-F238E27FC236}">
                    <a16:creationId xmlns:a16="http://schemas.microsoft.com/office/drawing/2014/main" id="{7A24C1AC-1550-43A5-9077-7F99705A565B}"/>
                  </a:ext>
                </a:extLst>
              </p:cNvPr>
              <p:cNvSpPr>
                <a:spLocks noChangeShapeType="1"/>
              </p:cNvSpPr>
              <p:nvPr/>
            </p:nvSpPr>
            <p:spPr bwMode="auto">
              <a:xfrm>
                <a:off x="2352" y="1077"/>
                <a:ext cx="0" cy="2283"/>
              </a:xfrm>
              <a:prstGeom prst="line">
                <a:avLst/>
              </a:prstGeom>
              <a:noFill/>
              <a:ln w="19050">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70" name="Line 36">
                <a:extLst>
                  <a:ext uri="{FF2B5EF4-FFF2-40B4-BE49-F238E27FC236}">
                    <a16:creationId xmlns:a16="http://schemas.microsoft.com/office/drawing/2014/main" id="{1BFA105D-3D60-4773-8C1F-4A469C411985}"/>
                  </a:ext>
                </a:extLst>
              </p:cNvPr>
              <p:cNvSpPr>
                <a:spLocks noChangeShapeType="1"/>
              </p:cNvSpPr>
              <p:nvPr/>
            </p:nvSpPr>
            <p:spPr bwMode="auto">
              <a:xfrm>
                <a:off x="3312" y="1077"/>
                <a:ext cx="0" cy="2283"/>
              </a:xfrm>
              <a:prstGeom prst="line">
                <a:avLst/>
              </a:prstGeom>
              <a:noFill/>
              <a:ln w="19050">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71" name="Line 37">
                <a:extLst>
                  <a:ext uri="{FF2B5EF4-FFF2-40B4-BE49-F238E27FC236}">
                    <a16:creationId xmlns:a16="http://schemas.microsoft.com/office/drawing/2014/main" id="{274880B8-6AEF-49E6-94A5-0BC325C05E2A}"/>
                  </a:ext>
                </a:extLst>
              </p:cNvPr>
              <p:cNvSpPr>
                <a:spLocks noChangeShapeType="1"/>
              </p:cNvSpPr>
              <p:nvPr/>
            </p:nvSpPr>
            <p:spPr bwMode="auto">
              <a:xfrm>
                <a:off x="4464" y="1077"/>
                <a:ext cx="0" cy="2283"/>
              </a:xfrm>
              <a:prstGeom prst="line">
                <a:avLst/>
              </a:prstGeom>
              <a:noFill/>
              <a:ln w="19050">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72" name="Line 33">
                <a:extLst>
                  <a:ext uri="{FF2B5EF4-FFF2-40B4-BE49-F238E27FC236}">
                    <a16:creationId xmlns:a16="http://schemas.microsoft.com/office/drawing/2014/main" id="{63F7175D-9343-4630-A5A6-0831A26701F9}"/>
                  </a:ext>
                </a:extLst>
              </p:cNvPr>
              <p:cNvSpPr>
                <a:spLocks noChangeShapeType="1"/>
              </p:cNvSpPr>
              <p:nvPr/>
            </p:nvSpPr>
            <p:spPr bwMode="auto">
              <a:xfrm>
                <a:off x="720" y="1077"/>
                <a:ext cx="0" cy="2283"/>
              </a:xfrm>
              <a:prstGeom prst="line">
                <a:avLst/>
              </a:prstGeom>
              <a:noFill/>
              <a:ln w="19050" cap="sq">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73" name="Line 28">
                <a:extLst>
                  <a:ext uri="{FF2B5EF4-FFF2-40B4-BE49-F238E27FC236}">
                    <a16:creationId xmlns:a16="http://schemas.microsoft.com/office/drawing/2014/main" id="{1BC6F393-EC81-432F-9E29-935B4385C23A}"/>
                  </a:ext>
                </a:extLst>
              </p:cNvPr>
              <p:cNvSpPr>
                <a:spLocks noChangeShapeType="1"/>
              </p:cNvSpPr>
              <p:nvPr/>
            </p:nvSpPr>
            <p:spPr bwMode="auto">
              <a:xfrm>
                <a:off x="720" y="1077"/>
                <a:ext cx="4848" cy="0"/>
              </a:xfrm>
              <a:prstGeom prst="line">
                <a:avLst/>
              </a:prstGeom>
              <a:noFill/>
              <a:ln w="19050" cap="sq">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74" name="Line 38">
                <a:extLst>
                  <a:ext uri="{FF2B5EF4-FFF2-40B4-BE49-F238E27FC236}">
                    <a16:creationId xmlns:a16="http://schemas.microsoft.com/office/drawing/2014/main" id="{9CD40BAF-F4C0-4C77-971A-DB1CDF52D9E0}"/>
                  </a:ext>
                </a:extLst>
              </p:cNvPr>
              <p:cNvSpPr>
                <a:spLocks noChangeShapeType="1"/>
              </p:cNvSpPr>
              <p:nvPr/>
            </p:nvSpPr>
            <p:spPr bwMode="auto">
              <a:xfrm>
                <a:off x="5568" y="1077"/>
                <a:ext cx="0" cy="2283"/>
              </a:xfrm>
              <a:prstGeom prst="line">
                <a:avLst/>
              </a:prstGeom>
              <a:noFill/>
              <a:ln w="19050" cap="sq">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75" name="Line 32">
                <a:extLst>
                  <a:ext uri="{FF2B5EF4-FFF2-40B4-BE49-F238E27FC236}">
                    <a16:creationId xmlns:a16="http://schemas.microsoft.com/office/drawing/2014/main" id="{3DC27FA0-6274-43B6-9BB6-88C6ED953651}"/>
                  </a:ext>
                </a:extLst>
              </p:cNvPr>
              <p:cNvSpPr>
                <a:spLocks noChangeShapeType="1"/>
              </p:cNvSpPr>
              <p:nvPr/>
            </p:nvSpPr>
            <p:spPr bwMode="auto">
              <a:xfrm>
                <a:off x="720" y="3360"/>
                <a:ext cx="4848" cy="0"/>
              </a:xfrm>
              <a:prstGeom prst="line">
                <a:avLst/>
              </a:prstGeom>
              <a:noFill/>
              <a:ln w="19050" cap="sq">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22576" name="Object 2">
                <a:extLst>
                  <a:ext uri="{FF2B5EF4-FFF2-40B4-BE49-F238E27FC236}">
                    <a16:creationId xmlns:a16="http://schemas.microsoft.com/office/drawing/2014/main" id="{12B12A4A-1123-4D9D-94FF-130AF2BDEDE5}"/>
                  </a:ext>
                </a:extLst>
              </p:cNvPr>
              <p:cNvGraphicFramePr>
                <a:graphicFrameLocks noChangeAspect="1"/>
              </p:cNvGraphicFramePr>
              <p:nvPr/>
            </p:nvGraphicFramePr>
            <p:xfrm>
              <a:off x="912" y="1464"/>
              <a:ext cx="288" cy="264"/>
            </p:xfrm>
            <a:graphic>
              <a:graphicData uri="http://schemas.openxmlformats.org/presentationml/2006/ole">
                <mc:AlternateContent xmlns:mc="http://schemas.openxmlformats.org/markup-compatibility/2006">
                  <mc:Choice xmlns:v="urn:schemas-microsoft-com:vml" Requires="v">
                    <p:oleObj spid="_x0000_s22585" name="Equation" r:id="rId3" imgW="152334" imgH="139639" progId="Equation.3">
                      <p:embed/>
                    </p:oleObj>
                  </mc:Choice>
                  <mc:Fallback>
                    <p:oleObj name="Equation" r:id="rId3" imgW="152334" imgH="139639"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2" y="1464"/>
                            <a:ext cx="288" cy="2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577" name="Object 3">
                <a:extLst>
                  <a:ext uri="{FF2B5EF4-FFF2-40B4-BE49-F238E27FC236}">
                    <a16:creationId xmlns:a16="http://schemas.microsoft.com/office/drawing/2014/main" id="{C9CFC3C2-7EB8-43E6-9DC7-5CF33712FA41}"/>
                  </a:ext>
                </a:extLst>
              </p:cNvPr>
              <p:cNvGraphicFramePr>
                <a:graphicFrameLocks noChangeAspect="1"/>
              </p:cNvGraphicFramePr>
              <p:nvPr/>
            </p:nvGraphicFramePr>
            <p:xfrm>
              <a:off x="888" y="2112"/>
              <a:ext cx="312" cy="384"/>
            </p:xfrm>
            <a:graphic>
              <a:graphicData uri="http://schemas.openxmlformats.org/presentationml/2006/ole">
                <mc:AlternateContent xmlns:mc="http://schemas.openxmlformats.org/markup-compatibility/2006">
                  <mc:Choice xmlns:v="urn:schemas-microsoft-com:vml" Requires="v">
                    <p:oleObj spid="_x0000_s22586" name="Equation" r:id="rId5" imgW="164957" imgH="203024" progId="Equation.3">
                      <p:embed/>
                    </p:oleObj>
                  </mc:Choice>
                  <mc:Fallback>
                    <p:oleObj name="Equation" r:id="rId5" imgW="164957" imgH="203024"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88" y="2112"/>
                            <a:ext cx="312"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578" name="Object 4">
                <a:extLst>
                  <a:ext uri="{FF2B5EF4-FFF2-40B4-BE49-F238E27FC236}">
                    <a16:creationId xmlns:a16="http://schemas.microsoft.com/office/drawing/2014/main" id="{1449880B-172C-4C32-8175-A073BAB32800}"/>
                  </a:ext>
                </a:extLst>
              </p:cNvPr>
              <p:cNvGraphicFramePr>
                <a:graphicFrameLocks noChangeAspect="1"/>
              </p:cNvGraphicFramePr>
              <p:nvPr/>
            </p:nvGraphicFramePr>
            <p:xfrm>
              <a:off x="912" y="2760"/>
              <a:ext cx="240" cy="312"/>
            </p:xfrm>
            <a:graphic>
              <a:graphicData uri="http://schemas.openxmlformats.org/presentationml/2006/ole">
                <mc:AlternateContent xmlns:mc="http://schemas.openxmlformats.org/markup-compatibility/2006">
                  <mc:Choice xmlns:v="urn:schemas-microsoft-com:vml" Requires="v">
                    <p:oleObj spid="_x0000_s22587" name="Equation" r:id="rId7" imgW="126780" imgH="164814" progId="Equation.3">
                      <p:embed/>
                    </p:oleObj>
                  </mc:Choice>
                  <mc:Fallback>
                    <p:oleObj name="Equation" r:id="rId7" imgW="126780" imgH="164814"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12" y="2760"/>
                            <a:ext cx="240" cy="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22541" name="Text Box 169">
              <a:extLst>
                <a:ext uri="{FF2B5EF4-FFF2-40B4-BE49-F238E27FC236}">
                  <a16:creationId xmlns:a16="http://schemas.microsoft.com/office/drawing/2014/main" id="{C11EB4A3-CD78-4684-992F-5CFF53FCAC9F}"/>
                </a:ext>
              </a:extLst>
            </p:cNvPr>
            <p:cNvSpPr txBox="1">
              <a:spLocks noChangeArrowheads="1"/>
            </p:cNvSpPr>
            <p:nvPr/>
          </p:nvSpPr>
          <p:spPr bwMode="auto">
            <a:xfrm>
              <a:off x="2209800" y="2938463"/>
              <a:ext cx="14478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zh-CN" altLang="en-US" sz="1800" b="1">
                  <a:ea typeface="华文楷体" panose="02010600040101010101" pitchFamily="2" charset="-122"/>
                </a:rPr>
                <a:t>氦原子核</a:t>
              </a:r>
            </a:p>
          </p:txBody>
        </p:sp>
        <p:sp>
          <p:nvSpPr>
            <p:cNvPr id="22542" name="Text Box 172">
              <a:extLst>
                <a:ext uri="{FF2B5EF4-FFF2-40B4-BE49-F238E27FC236}">
                  <a16:creationId xmlns:a16="http://schemas.microsoft.com/office/drawing/2014/main" id="{F054DBD4-1F4D-4162-A097-FC10C82BD794}"/>
                </a:ext>
              </a:extLst>
            </p:cNvPr>
            <p:cNvSpPr txBox="1">
              <a:spLocks noChangeArrowheads="1"/>
            </p:cNvSpPr>
            <p:nvPr/>
          </p:nvSpPr>
          <p:spPr bwMode="auto">
            <a:xfrm>
              <a:off x="3733800" y="2938463"/>
              <a:ext cx="14478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en-US" altLang="zh-CN" sz="1800" b="1">
                  <a:ea typeface="华文楷体" panose="02010600040101010101" pitchFamily="2" charset="-122"/>
                </a:rPr>
                <a:t>1/10</a:t>
              </a:r>
              <a:r>
                <a:rPr lang="zh-CN" altLang="en-US" sz="1800" b="1">
                  <a:ea typeface="华文楷体" panose="02010600040101010101" pitchFamily="2" charset="-122"/>
                </a:rPr>
                <a:t>光速</a:t>
              </a:r>
            </a:p>
          </p:txBody>
        </p:sp>
        <p:sp>
          <p:nvSpPr>
            <p:cNvPr id="22543" name="Text Box 175">
              <a:extLst>
                <a:ext uri="{FF2B5EF4-FFF2-40B4-BE49-F238E27FC236}">
                  <a16:creationId xmlns:a16="http://schemas.microsoft.com/office/drawing/2014/main" id="{BB45EB06-FBE8-4096-A8FA-7FADD43DCFF3}"/>
                </a:ext>
              </a:extLst>
            </p:cNvPr>
            <p:cNvSpPr txBox="1">
              <a:spLocks noChangeArrowheads="1"/>
            </p:cNvSpPr>
            <p:nvPr/>
          </p:nvSpPr>
          <p:spPr bwMode="auto">
            <a:xfrm>
              <a:off x="5410200" y="2938463"/>
              <a:ext cx="14478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zh-CN" altLang="en-US" sz="1800" b="1">
                  <a:ea typeface="华文楷体" panose="02010600040101010101" pitchFamily="2" charset="-122"/>
                </a:rPr>
                <a:t>弱</a:t>
              </a:r>
            </a:p>
          </p:txBody>
        </p:sp>
        <p:sp>
          <p:nvSpPr>
            <p:cNvPr id="22544" name="Text Box 178">
              <a:extLst>
                <a:ext uri="{FF2B5EF4-FFF2-40B4-BE49-F238E27FC236}">
                  <a16:creationId xmlns:a16="http://schemas.microsoft.com/office/drawing/2014/main" id="{B4D5333B-45BA-4960-83DD-44B5FCC93C62}"/>
                </a:ext>
              </a:extLst>
            </p:cNvPr>
            <p:cNvSpPr txBox="1">
              <a:spLocks noChangeArrowheads="1"/>
            </p:cNvSpPr>
            <p:nvPr/>
          </p:nvSpPr>
          <p:spPr bwMode="auto">
            <a:xfrm>
              <a:off x="7239000" y="2938463"/>
              <a:ext cx="14478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zh-CN" altLang="en-US" sz="1800" b="1">
                  <a:ea typeface="华文楷体" panose="02010600040101010101" pitchFamily="2" charset="-122"/>
                </a:rPr>
                <a:t>很容易</a:t>
              </a:r>
            </a:p>
          </p:txBody>
        </p:sp>
      </p:grpSp>
      <p:sp>
        <p:nvSpPr>
          <p:cNvPr id="22531" name="Text Box 170">
            <a:extLst>
              <a:ext uri="{FF2B5EF4-FFF2-40B4-BE49-F238E27FC236}">
                <a16:creationId xmlns:a16="http://schemas.microsoft.com/office/drawing/2014/main" id="{6E24663A-C5AD-462B-8073-95B1A2D14530}"/>
              </a:ext>
            </a:extLst>
          </p:cNvPr>
          <p:cNvSpPr txBox="1">
            <a:spLocks noChangeArrowheads="1"/>
          </p:cNvSpPr>
          <p:nvPr/>
        </p:nvSpPr>
        <p:spPr bwMode="auto">
          <a:xfrm>
            <a:off x="1960563" y="3460750"/>
            <a:ext cx="1447800" cy="78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zh-CN" altLang="en-US" sz="1800" b="1">
                <a:ea typeface="华文楷体" panose="02010600040101010101" pitchFamily="2" charset="-122"/>
              </a:rPr>
              <a:t>高速</a:t>
            </a:r>
          </a:p>
          <a:p>
            <a:pPr algn="ctr" eaLnBrk="1" hangingPunct="1">
              <a:spcBef>
                <a:spcPct val="50000"/>
              </a:spcBef>
              <a:buFontTx/>
              <a:buNone/>
            </a:pPr>
            <a:r>
              <a:rPr lang="zh-CN" altLang="en-US" sz="1800" b="1">
                <a:ea typeface="华文楷体" panose="02010600040101010101" pitchFamily="2" charset="-122"/>
              </a:rPr>
              <a:t>电子流</a:t>
            </a:r>
          </a:p>
        </p:txBody>
      </p:sp>
      <p:sp>
        <p:nvSpPr>
          <p:cNvPr id="22532" name="Text Box 171">
            <a:extLst>
              <a:ext uri="{FF2B5EF4-FFF2-40B4-BE49-F238E27FC236}">
                <a16:creationId xmlns:a16="http://schemas.microsoft.com/office/drawing/2014/main" id="{522C4F93-A435-491F-B2D2-0E04A173C462}"/>
              </a:ext>
            </a:extLst>
          </p:cNvPr>
          <p:cNvSpPr txBox="1">
            <a:spLocks noChangeArrowheads="1"/>
          </p:cNvSpPr>
          <p:nvPr/>
        </p:nvSpPr>
        <p:spPr bwMode="auto">
          <a:xfrm>
            <a:off x="1928813" y="4573588"/>
            <a:ext cx="1447800" cy="78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zh-CN" altLang="en-US" sz="1800" b="1">
                <a:ea typeface="华文楷体" panose="02010600040101010101" pitchFamily="2" charset="-122"/>
              </a:rPr>
              <a:t>高能量</a:t>
            </a:r>
          </a:p>
          <a:p>
            <a:pPr algn="ctr" eaLnBrk="1" hangingPunct="1">
              <a:spcBef>
                <a:spcPct val="50000"/>
              </a:spcBef>
              <a:buFontTx/>
              <a:buNone/>
            </a:pPr>
            <a:r>
              <a:rPr lang="zh-CN" altLang="en-US" sz="1800" b="1">
                <a:ea typeface="华文楷体" panose="02010600040101010101" pitchFamily="2" charset="-122"/>
              </a:rPr>
              <a:t>电磁波</a:t>
            </a:r>
          </a:p>
        </p:txBody>
      </p:sp>
      <p:sp>
        <p:nvSpPr>
          <p:cNvPr id="22533" name="Text Box 173">
            <a:extLst>
              <a:ext uri="{FF2B5EF4-FFF2-40B4-BE49-F238E27FC236}">
                <a16:creationId xmlns:a16="http://schemas.microsoft.com/office/drawing/2014/main" id="{CCC4BC07-FF68-480B-A3F3-59A9CD66A85B}"/>
              </a:ext>
            </a:extLst>
          </p:cNvPr>
          <p:cNvSpPr txBox="1">
            <a:spLocks noChangeArrowheads="1"/>
          </p:cNvSpPr>
          <p:nvPr/>
        </p:nvSpPr>
        <p:spPr bwMode="auto">
          <a:xfrm>
            <a:off x="3571875" y="3786188"/>
            <a:ext cx="14478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zh-CN" altLang="en-US" sz="1800" b="1">
                <a:ea typeface="华文楷体" panose="02010600040101010101" pitchFamily="2" charset="-122"/>
              </a:rPr>
              <a:t>接近光速</a:t>
            </a:r>
          </a:p>
        </p:txBody>
      </p:sp>
      <p:sp>
        <p:nvSpPr>
          <p:cNvPr id="22534" name="Text Box 174">
            <a:extLst>
              <a:ext uri="{FF2B5EF4-FFF2-40B4-BE49-F238E27FC236}">
                <a16:creationId xmlns:a16="http://schemas.microsoft.com/office/drawing/2014/main" id="{05BE7758-1D0F-45C7-A4AF-5ADF8EFA7314}"/>
              </a:ext>
            </a:extLst>
          </p:cNvPr>
          <p:cNvSpPr txBox="1">
            <a:spLocks noChangeArrowheads="1"/>
          </p:cNvSpPr>
          <p:nvPr/>
        </p:nvSpPr>
        <p:spPr bwMode="auto">
          <a:xfrm>
            <a:off x="3484563" y="4770438"/>
            <a:ext cx="14478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zh-CN" altLang="en-US" sz="1800" b="1">
                <a:ea typeface="华文楷体" panose="02010600040101010101" pitchFamily="2" charset="-122"/>
              </a:rPr>
              <a:t>光速</a:t>
            </a:r>
          </a:p>
        </p:txBody>
      </p:sp>
      <p:sp>
        <p:nvSpPr>
          <p:cNvPr id="22535" name="Text Box 176">
            <a:extLst>
              <a:ext uri="{FF2B5EF4-FFF2-40B4-BE49-F238E27FC236}">
                <a16:creationId xmlns:a16="http://schemas.microsoft.com/office/drawing/2014/main" id="{F9EC5C35-9BB2-46D8-A7ED-4361475CF068}"/>
              </a:ext>
            </a:extLst>
          </p:cNvPr>
          <p:cNvSpPr txBox="1">
            <a:spLocks noChangeArrowheads="1"/>
          </p:cNvSpPr>
          <p:nvPr/>
        </p:nvSpPr>
        <p:spPr bwMode="auto">
          <a:xfrm>
            <a:off x="5214938" y="3786188"/>
            <a:ext cx="14478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zh-CN" altLang="en-US" sz="1800" b="1">
                <a:ea typeface="华文楷体" panose="02010600040101010101" pitchFamily="2" charset="-122"/>
              </a:rPr>
              <a:t>较强</a:t>
            </a:r>
          </a:p>
        </p:txBody>
      </p:sp>
      <p:sp>
        <p:nvSpPr>
          <p:cNvPr id="22536" name="Text Box 177">
            <a:extLst>
              <a:ext uri="{FF2B5EF4-FFF2-40B4-BE49-F238E27FC236}">
                <a16:creationId xmlns:a16="http://schemas.microsoft.com/office/drawing/2014/main" id="{C08F161A-C0D3-4753-B00D-E4259B9140B4}"/>
              </a:ext>
            </a:extLst>
          </p:cNvPr>
          <p:cNvSpPr txBox="1">
            <a:spLocks noChangeArrowheads="1"/>
          </p:cNvSpPr>
          <p:nvPr/>
        </p:nvSpPr>
        <p:spPr bwMode="auto">
          <a:xfrm>
            <a:off x="5214938" y="4786313"/>
            <a:ext cx="14478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zh-CN" altLang="en-US" sz="1800" b="1">
                <a:ea typeface="华文楷体" panose="02010600040101010101" pitchFamily="2" charset="-122"/>
              </a:rPr>
              <a:t>很强</a:t>
            </a:r>
          </a:p>
        </p:txBody>
      </p:sp>
      <p:sp>
        <p:nvSpPr>
          <p:cNvPr id="22537" name="Text Box 179">
            <a:extLst>
              <a:ext uri="{FF2B5EF4-FFF2-40B4-BE49-F238E27FC236}">
                <a16:creationId xmlns:a16="http://schemas.microsoft.com/office/drawing/2014/main" id="{DACB11BF-06AF-4E1C-A0CE-DF520E1057F8}"/>
              </a:ext>
            </a:extLst>
          </p:cNvPr>
          <p:cNvSpPr txBox="1">
            <a:spLocks noChangeArrowheads="1"/>
          </p:cNvSpPr>
          <p:nvPr/>
        </p:nvSpPr>
        <p:spPr bwMode="auto">
          <a:xfrm>
            <a:off x="7000875" y="3714750"/>
            <a:ext cx="1447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zh-CN" altLang="en-US" sz="1800" b="1">
                <a:ea typeface="华文楷体" panose="02010600040101010101" pitchFamily="2" charset="-122"/>
              </a:rPr>
              <a:t>较弱</a:t>
            </a:r>
          </a:p>
        </p:txBody>
      </p:sp>
      <p:sp>
        <p:nvSpPr>
          <p:cNvPr id="22538" name="Text Box 180">
            <a:extLst>
              <a:ext uri="{FF2B5EF4-FFF2-40B4-BE49-F238E27FC236}">
                <a16:creationId xmlns:a16="http://schemas.microsoft.com/office/drawing/2014/main" id="{B4358ECF-80DE-4D15-B65B-40FB22E81F0F}"/>
              </a:ext>
            </a:extLst>
          </p:cNvPr>
          <p:cNvSpPr txBox="1">
            <a:spLocks noChangeArrowheads="1"/>
          </p:cNvSpPr>
          <p:nvPr/>
        </p:nvSpPr>
        <p:spPr bwMode="auto">
          <a:xfrm>
            <a:off x="6981825" y="4786313"/>
            <a:ext cx="14478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zh-CN" altLang="en-US" sz="1800" b="1">
                <a:ea typeface="华文楷体" panose="02010600040101010101" pitchFamily="2" charset="-122"/>
              </a:rPr>
              <a:t>更小</a:t>
            </a:r>
          </a:p>
        </p:txBody>
      </p:sp>
      <p:sp>
        <p:nvSpPr>
          <p:cNvPr id="22539" name="Text Box 29">
            <a:extLst>
              <a:ext uri="{FF2B5EF4-FFF2-40B4-BE49-F238E27FC236}">
                <a16:creationId xmlns:a16="http://schemas.microsoft.com/office/drawing/2014/main" id="{A2BD5F78-6508-44BE-870E-3E0B0BB69736}"/>
              </a:ext>
            </a:extLst>
          </p:cNvPr>
          <p:cNvSpPr txBox="1">
            <a:spLocks noChangeArrowheads="1"/>
          </p:cNvSpPr>
          <p:nvPr/>
        </p:nvSpPr>
        <p:spPr bwMode="auto">
          <a:xfrm>
            <a:off x="8629650" y="635635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1">
                <a:solidFill>
                  <a:schemeClr val="bg1"/>
                </a:solidFill>
                <a:latin typeface="Times New Roman" panose="02020603050405020304" pitchFamily="18" charset="0"/>
              </a:rPr>
              <a:t>15</a:t>
            </a:r>
            <a:endParaRPr lang="en-US" altLang="zh-CN" sz="1800">
              <a:solidFill>
                <a:schemeClr val="bg1"/>
              </a:solidFill>
            </a:endParaRPr>
          </a:p>
        </p:txBody>
      </p:sp>
    </p:spTree>
  </p:cSld>
  <p:clrMapOvr>
    <a:masterClrMapping/>
  </p:clrMapOvr>
  <p:transition>
    <p:fade thruBlk="1"/>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2">
            <a:extLst>
              <a:ext uri="{FF2B5EF4-FFF2-40B4-BE49-F238E27FC236}">
                <a16:creationId xmlns:a16="http://schemas.microsoft.com/office/drawing/2014/main" id="{BAEF2E3C-2AA2-4807-AE8B-0F7017C69934}"/>
              </a:ext>
            </a:extLst>
          </p:cNvPr>
          <p:cNvSpPr>
            <a:spLocks noChangeArrowheads="1"/>
          </p:cNvSpPr>
          <p:nvPr/>
        </p:nvSpPr>
        <p:spPr bwMode="auto">
          <a:xfrm>
            <a:off x="142875" y="214313"/>
            <a:ext cx="5116513" cy="523875"/>
          </a:xfrm>
          <a:prstGeom prst="rect">
            <a:avLst/>
          </a:prstGeom>
          <a:noFill/>
          <a:ln w="9525">
            <a:noFill/>
            <a:miter lim="800000"/>
            <a:headEnd/>
            <a:tailEnd/>
          </a:ln>
          <a:effectLst/>
        </p:spPr>
        <p:txBody>
          <a:bodyPr>
            <a:spAutoFit/>
          </a:bodyPr>
          <a:lstStyle/>
          <a:p>
            <a:pPr eaLnBrk="1" hangingPunct="1">
              <a:defRPr/>
            </a:pPr>
            <a:r>
              <a:rPr lang="en-US" altLang="zh-CN" sz="2800" b="1" dirty="0">
                <a:solidFill>
                  <a:schemeClr val="accent2"/>
                </a:solidFill>
                <a:latin typeface="Times New Roman" pitchFamily="18" charset="0"/>
                <a:ea typeface="+mn-ea"/>
                <a:cs typeface="Times New Roman" pitchFamily="18" charset="0"/>
              </a:rPr>
              <a:t>2.3 </a:t>
            </a:r>
            <a:r>
              <a:rPr lang="zh-CN" altLang="en-US" sz="2800" b="1" dirty="0">
                <a:solidFill>
                  <a:srgbClr val="202AF4"/>
                </a:solidFill>
                <a:latin typeface="Times New Roman" panose="02020603050405020304" pitchFamily="18" charset="0"/>
                <a:cs typeface="Times New Roman" panose="02020603050405020304" pitchFamily="18" charset="0"/>
              </a:rPr>
              <a:t>放射性衰变定律</a:t>
            </a:r>
          </a:p>
        </p:txBody>
      </p:sp>
      <p:sp>
        <p:nvSpPr>
          <p:cNvPr id="168963" name="Rectangle 3">
            <a:extLst>
              <a:ext uri="{FF2B5EF4-FFF2-40B4-BE49-F238E27FC236}">
                <a16:creationId xmlns:a16="http://schemas.microsoft.com/office/drawing/2014/main" id="{877EE95F-0EE1-4772-BEC0-E8921A70F162}"/>
              </a:ext>
            </a:extLst>
          </p:cNvPr>
          <p:cNvSpPr>
            <a:spLocks noChangeArrowheads="1"/>
          </p:cNvSpPr>
          <p:nvPr/>
        </p:nvSpPr>
        <p:spPr bwMode="auto">
          <a:xfrm>
            <a:off x="341313" y="896938"/>
            <a:ext cx="8370887" cy="1373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zh-CN" sz="2800" b="1">
                <a:latin typeface="Times New Roman" panose="02020603050405020304" pitchFamily="18" charset="0"/>
                <a:cs typeface="Times New Roman" panose="02020603050405020304" pitchFamily="18" charset="0"/>
              </a:rPr>
              <a:t>设有某种放射性同位素样品，单独存在时，某时刻</a:t>
            </a:r>
            <a:r>
              <a:rPr lang="en-US" altLang="zh-CN" sz="2800" b="1">
                <a:latin typeface="Times New Roman" panose="02020603050405020304" pitchFamily="18" charset="0"/>
                <a:cs typeface="Times New Roman" panose="02020603050405020304" pitchFamily="18" charset="0"/>
              </a:rPr>
              <a:t>t</a:t>
            </a:r>
            <a:r>
              <a:rPr lang="zh-CN" altLang="en-US" sz="2800" b="1">
                <a:latin typeface="Times New Roman" panose="02020603050405020304" pitchFamily="18" charset="0"/>
                <a:cs typeface="Times New Roman" panose="02020603050405020304" pitchFamily="18" charset="0"/>
              </a:rPr>
              <a:t>样品中有</a:t>
            </a:r>
            <a:r>
              <a:rPr lang="en-US" altLang="zh-CN" sz="2800" b="1">
                <a:latin typeface="Times New Roman" panose="02020603050405020304" pitchFamily="18" charset="0"/>
                <a:cs typeface="Times New Roman" panose="02020603050405020304" pitchFamily="18" charset="0"/>
              </a:rPr>
              <a:t>N</a:t>
            </a:r>
            <a:r>
              <a:rPr lang="zh-CN" altLang="en-US" sz="2800" b="1">
                <a:latin typeface="Times New Roman" panose="02020603050405020304" pitchFamily="18" charset="0"/>
                <a:cs typeface="Times New Roman" panose="02020603050405020304" pitchFamily="18" charset="0"/>
              </a:rPr>
              <a:t>个核。在</a:t>
            </a:r>
            <a:r>
              <a:rPr lang="en-US" altLang="zh-CN" sz="2800" b="1">
                <a:solidFill>
                  <a:srgbClr val="202AF4"/>
                </a:solidFill>
                <a:latin typeface="Times New Roman" panose="02020603050405020304" pitchFamily="18" charset="0"/>
                <a:cs typeface="Times New Roman" panose="02020603050405020304" pitchFamily="18" charset="0"/>
              </a:rPr>
              <a:t>t</a:t>
            </a:r>
            <a:r>
              <a:rPr lang="zh-CN" altLang="en-US" sz="2800" b="1">
                <a:solidFill>
                  <a:srgbClr val="202AF4"/>
                </a:solidFill>
                <a:latin typeface="Times New Roman" panose="02020603050405020304" pitchFamily="18" charset="0"/>
                <a:cs typeface="Times New Roman" panose="02020603050405020304" pitchFamily="18" charset="0"/>
              </a:rPr>
              <a:t>～</a:t>
            </a:r>
            <a:r>
              <a:rPr lang="en-US" altLang="zh-CN" sz="2800" b="1">
                <a:solidFill>
                  <a:srgbClr val="202AF4"/>
                </a:solidFill>
                <a:latin typeface="Times New Roman" panose="02020603050405020304" pitchFamily="18" charset="0"/>
                <a:cs typeface="Times New Roman" panose="02020603050405020304" pitchFamily="18" charset="0"/>
              </a:rPr>
              <a:t>t</a:t>
            </a:r>
            <a:r>
              <a:rPr lang="zh-CN" altLang="en-US" sz="2800" b="1">
                <a:solidFill>
                  <a:srgbClr val="202AF4"/>
                </a:solidFill>
                <a:latin typeface="Times New Roman" panose="02020603050405020304" pitchFamily="18" charset="0"/>
                <a:cs typeface="Times New Roman" panose="02020603050405020304" pitchFamily="18" charset="0"/>
              </a:rPr>
              <a:t>＋</a:t>
            </a:r>
            <a:r>
              <a:rPr lang="en-US" altLang="zh-CN" sz="2800" b="1">
                <a:solidFill>
                  <a:srgbClr val="202AF4"/>
                </a:solidFill>
                <a:latin typeface="Times New Roman" panose="02020603050405020304" pitchFamily="18" charset="0"/>
                <a:cs typeface="Times New Roman" panose="02020603050405020304" pitchFamily="18" charset="0"/>
              </a:rPr>
              <a:t>dt</a:t>
            </a:r>
            <a:r>
              <a:rPr lang="zh-CN" altLang="en-US" sz="2800" b="1">
                <a:solidFill>
                  <a:srgbClr val="202AF4"/>
                </a:solidFill>
                <a:latin typeface="Times New Roman" panose="02020603050405020304" pitchFamily="18" charset="0"/>
                <a:cs typeface="Times New Roman" panose="02020603050405020304" pitchFamily="18" charset="0"/>
              </a:rPr>
              <a:t>时间</a:t>
            </a:r>
            <a:r>
              <a:rPr lang="zh-CN" altLang="en-US" sz="2800" b="1">
                <a:latin typeface="Times New Roman" panose="02020603050405020304" pitchFamily="18" charset="0"/>
                <a:cs typeface="Times New Roman" panose="02020603050405020304" pitchFamily="18" charset="0"/>
              </a:rPr>
              <a:t>内有</a:t>
            </a:r>
            <a:r>
              <a:rPr lang="en-US" altLang="zh-CN" sz="2800" b="1">
                <a:solidFill>
                  <a:srgbClr val="202AF4"/>
                </a:solidFill>
                <a:latin typeface="Times New Roman" panose="02020603050405020304" pitchFamily="18" charset="0"/>
                <a:cs typeface="Times New Roman" panose="02020603050405020304" pitchFamily="18" charset="0"/>
              </a:rPr>
              <a:t>dN</a:t>
            </a:r>
            <a:r>
              <a:rPr lang="zh-CN" altLang="en-US" sz="2800" b="1">
                <a:solidFill>
                  <a:srgbClr val="202AF4"/>
                </a:solidFill>
                <a:latin typeface="Times New Roman" panose="02020603050405020304" pitchFamily="18" charset="0"/>
                <a:cs typeface="Times New Roman" panose="02020603050405020304" pitchFamily="18" charset="0"/>
              </a:rPr>
              <a:t>个核</a:t>
            </a:r>
            <a:r>
              <a:rPr lang="zh-CN" altLang="en-US" sz="2800" b="1">
                <a:latin typeface="Times New Roman" panose="02020603050405020304" pitchFamily="18" charset="0"/>
                <a:cs typeface="Times New Roman" panose="02020603050405020304" pitchFamily="18" charset="0"/>
              </a:rPr>
              <a:t>发生衰变，</a:t>
            </a:r>
            <a:r>
              <a:rPr lang="en-US" altLang="zh-CN" sz="2800" b="1">
                <a:solidFill>
                  <a:srgbClr val="202AF4"/>
                </a:solidFill>
                <a:latin typeface="Times New Roman" panose="02020603050405020304" pitchFamily="18" charset="0"/>
                <a:cs typeface="Times New Roman" panose="02020603050405020304" pitchFamily="18" charset="0"/>
              </a:rPr>
              <a:t>dN</a:t>
            </a:r>
            <a:r>
              <a:rPr lang="zh-CN" altLang="en-US" sz="2800" b="1">
                <a:solidFill>
                  <a:srgbClr val="202AF4"/>
                </a:solidFill>
                <a:latin typeface="Times New Roman" panose="02020603050405020304" pitchFamily="18" charset="0"/>
                <a:cs typeface="Times New Roman" panose="02020603050405020304" pitchFamily="18" charset="0"/>
              </a:rPr>
              <a:t>应与</a:t>
            </a:r>
            <a:r>
              <a:rPr lang="en-US" altLang="zh-CN" sz="2800" b="1">
                <a:solidFill>
                  <a:srgbClr val="202AF4"/>
                </a:solidFill>
                <a:latin typeface="Times New Roman" panose="02020603050405020304" pitchFamily="18" charset="0"/>
                <a:cs typeface="Times New Roman" panose="02020603050405020304" pitchFamily="18" charset="0"/>
              </a:rPr>
              <a:t>dt</a:t>
            </a:r>
            <a:r>
              <a:rPr lang="zh-CN" altLang="en-US" sz="2800" b="1">
                <a:solidFill>
                  <a:srgbClr val="202AF4"/>
                </a:solidFill>
                <a:latin typeface="Times New Roman" panose="02020603050405020304" pitchFamily="18" charset="0"/>
                <a:cs typeface="Times New Roman" panose="02020603050405020304" pitchFamily="18" charset="0"/>
              </a:rPr>
              <a:t>成正比</a:t>
            </a:r>
            <a:r>
              <a:rPr lang="zh-CN" altLang="en-US" sz="2800" b="1">
                <a:latin typeface="Times New Roman" panose="02020603050405020304" pitchFamily="18" charset="0"/>
                <a:cs typeface="Times New Roman" panose="02020603050405020304" pitchFamily="18" charset="0"/>
              </a:rPr>
              <a:t>，与</a:t>
            </a:r>
            <a:r>
              <a:rPr lang="en-US" altLang="zh-CN" sz="2800" b="1">
                <a:latin typeface="Times New Roman" panose="02020603050405020304" pitchFamily="18" charset="0"/>
                <a:cs typeface="Times New Roman" panose="02020603050405020304" pitchFamily="18" charset="0"/>
              </a:rPr>
              <a:t>t</a:t>
            </a:r>
            <a:r>
              <a:rPr lang="zh-CN" altLang="en-US" sz="2800" b="1">
                <a:latin typeface="Times New Roman" panose="02020603050405020304" pitchFamily="18" charset="0"/>
                <a:cs typeface="Times New Roman" panose="02020603050405020304" pitchFamily="18" charset="0"/>
              </a:rPr>
              <a:t>时刻的</a:t>
            </a:r>
            <a:r>
              <a:rPr lang="zh-CN" altLang="en-US" sz="2800" b="1">
                <a:solidFill>
                  <a:srgbClr val="202AF4"/>
                </a:solidFill>
                <a:latin typeface="Times New Roman" panose="02020603050405020304" pitchFamily="18" charset="0"/>
                <a:cs typeface="Times New Roman" panose="02020603050405020304" pitchFamily="18" charset="0"/>
              </a:rPr>
              <a:t>核数</a:t>
            </a:r>
            <a:r>
              <a:rPr lang="en-US" altLang="zh-CN" sz="2800" b="1">
                <a:solidFill>
                  <a:srgbClr val="202AF4"/>
                </a:solidFill>
                <a:latin typeface="Times New Roman" panose="02020603050405020304" pitchFamily="18" charset="0"/>
                <a:cs typeface="Times New Roman" panose="02020603050405020304" pitchFamily="18" charset="0"/>
              </a:rPr>
              <a:t>N</a:t>
            </a:r>
            <a:r>
              <a:rPr lang="zh-CN" altLang="en-US" sz="2800" b="1">
                <a:solidFill>
                  <a:srgbClr val="202AF4"/>
                </a:solidFill>
                <a:latin typeface="Times New Roman" panose="02020603050405020304" pitchFamily="18" charset="0"/>
                <a:cs typeface="Times New Roman" panose="02020603050405020304" pitchFamily="18" charset="0"/>
              </a:rPr>
              <a:t>成正比</a:t>
            </a:r>
            <a:r>
              <a:rPr lang="zh-CN" altLang="en-US" sz="2800" b="1">
                <a:latin typeface="Times New Roman" panose="02020603050405020304" pitchFamily="18" charset="0"/>
                <a:cs typeface="Times New Roman" panose="02020603050405020304" pitchFamily="18" charset="0"/>
              </a:rPr>
              <a:t>，则</a:t>
            </a:r>
          </a:p>
        </p:txBody>
      </p:sp>
      <p:graphicFrame>
        <p:nvGraphicFramePr>
          <p:cNvPr id="168964" name="Object 2">
            <a:extLst>
              <a:ext uri="{FF2B5EF4-FFF2-40B4-BE49-F238E27FC236}">
                <a16:creationId xmlns:a16="http://schemas.microsoft.com/office/drawing/2014/main" id="{7F54D73B-079F-4DBB-B062-3EE151DEA1EF}"/>
              </a:ext>
            </a:extLst>
          </p:cNvPr>
          <p:cNvGraphicFramePr>
            <a:graphicFrameLocks noChangeAspect="1"/>
          </p:cNvGraphicFramePr>
          <p:nvPr/>
        </p:nvGraphicFramePr>
        <p:xfrm>
          <a:off x="3203575" y="2681288"/>
          <a:ext cx="2212975" cy="460375"/>
        </p:xfrm>
        <a:graphic>
          <a:graphicData uri="http://schemas.openxmlformats.org/presentationml/2006/ole">
            <mc:AlternateContent xmlns:mc="http://schemas.openxmlformats.org/markup-compatibility/2006">
              <mc:Choice xmlns:v="urn:schemas-microsoft-com:vml" Requires="v">
                <p:oleObj spid="_x0000_s23569" name="Equation" r:id="rId3" imgW="850531" imgH="177723" progId="Equation.DSMT4">
                  <p:embed/>
                </p:oleObj>
              </mc:Choice>
              <mc:Fallback>
                <p:oleObj name="Equation" r:id="rId3" imgW="850531" imgH="177723" progId="Equation.DSMT4">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03575" y="2681288"/>
                        <a:ext cx="2212975" cy="460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8966" name="Rectangle 6">
            <a:extLst>
              <a:ext uri="{FF2B5EF4-FFF2-40B4-BE49-F238E27FC236}">
                <a16:creationId xmlns:a16="http://schemas.microsoft.com/office/drawing/2014/main" id="{6D5AAC88-09F1-44D3-A18F-DAB20121BB43}"/>
              </a:ext>
            </a:extLst>
          </p:cNvPr>
          <p:cNvSpPr>
            <a:spLocks noChangeArrowheads="1"/>
          </p:cNvSpPr>
          <p:nvPr/>
        </p:nvSpPr>
        <p:spPr bwMode="auto">
          <a:xfrm>
            <a:off x="395288" y="4643438"/>
            <a:ext cx="8370887"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b="1">
                <a:latin typeface="Times New Roman" panose="02020603050405020304" pitchFamily="18" charset="0"/>
                <a:cs typeface="Times New Roman" panose="02020603050405020304" pitchFamily="18" charset="0"/>
              </a:rPr>
              <a:t>式中</a:t>
            </a:r>
            <a:r>
              <a:rPr lang="el-GR" altLang="zh-CN" sz="2800" b="1">
                <a:solidFill>
                  <a:srgbClr val="FF0000"/>
                </a:solidFill>
                <a:latin typeface="Times New Roman" panose="02020603050405020304" pitchFamily="18" charset="0"/>
                <a:cs typeface="Times New Roman" panose="02020603050405020304" pitchFamily="18" charset="0"/>
              </a:rPr>
              <a:t>λ</a:t>
            </a:r>
            <a:r>
              <a:rPr lang="zh-CN" altLang="en-US" sz="2800" b="1">
                <a:latin typeface="Times New Roman" panose="02020603050405020304" pitchFamily="18" charset="0"/>
                <a:cs typeface="Times New Roman" panose="02020603050405020304" pitchFamily="18" charset="0"/>
              </a:rPr>
              <a:t>是表征衰变快慢的比例常数，叫做</a:t>
            </a:r>
            <a:r>
              <a:rPr lang="zh-CN" altLang="en-US" sz="2800" b="1">
                <a:solidFill>
                  <a:srgbClr val="FF0000"/>
                </a:solidFill>
                <a:latin typeface="Times New Roman" panose="02020603050405020304" pitchFamily="18" charset="0"/>
                <a:cs typeface="Times New Roman" panose="02020603050405020304" pitchFamily="18" charset="0"/>
              </a:rPr>
              <a:t>衰变常数</a:t>
            </a:r>
            <a:r>
              <a:rPr lang="zh-CN" altLang="en-US" sz="2800" b="1">
                <a:latin typeface="Times New Roman" panose="02020603050405020304" pitchFamily="18" charset="0"/>
                <a:cs typeface="Times New Roman" panose="02020603050405020304" pitchFamily="18" charset="0"/>
              </a:rPr>
              <a:t>。负号表示原子核数在减少。设</a:t>
            </a:r>
            <a:r>
              <a:rPr lang="en-US" altLang="zh-CN" sz="2800" b="1" i="1">
                <a:solidFill>
                  <a:srgbClr val="FF0000"/>
                </a:solidFill>
                <a:latin typeface="Times New Roman" panose="02020603050405020304" pitchFamily="18" charset="0"/>
                <a:cs typeface="Times New Roman" panose="02020603050405020304" pitchFamily="18" charset="0"/>
              </a:rPr>
              <a:t>t</a:t>
            </a:r>
            <a:r>
              <a:rPr lang="zh-CN" altLang="en-US" sz="2800" b="1">
                <a:solidFill>
                  <a:srgbClr val="FF0000"/>
                </a:solidFill>
                <a:latin typeface="Times New Roman" panose="02020603050405020304" pitchFamily="18" charset="0"/>
                <a:cs typeface="Times New Roman" panose="02020603050405020304" pitchFamily="18" charset="0"/>
              </a:rPr>
              <a:t>＝</a:t>
            </a:r>
            <a:r>
              <a:rPr lang="en-US" altLang="zh-CN" sz="2800" b="1">
                <a:solidFill>
                  <a:srgbClr val="FF0000"/>
                </a:solidFill>
                <a:latin typeface="Times New Roman" panose="02020603050405020304" pitchFamily="18" charset="0"/>
                <a:cs typeface="Times New Roman" panose="02020603050405020304" pitchFamily="18" charset="0"/>
              </a:rPr>
              <a:t>0</a:t>
            </a:r>
            <a:r>
              <a:rPr lang="zh-CN" altLang="en-US" sz="2800" b="1">
                <a:solidFill>
                  <a:srgbClr val="FF0000"/>
                </a:solidFill>
                <a:latin typeface="Times New Roman" panose="02020603050405020304" pitchFamily="18" charset="0"/>
                <a:cs typeface="Times New Roman" panose="02020603050405020304" pitchFamily="18" charset="0"/>
              </a:rPr>
              <a:t>时</a:t>
            </a:r>
            <a:r>
              <a:rPr lang="en-US" altLang="zh-CN" sz="2800" b="1" i="1">
                <a:solidFill>
                  <a:srgbClr val="FF0000"/>
                </a:solidFill>
                <a:latin typeface="Times New Roman" panose="02020603050405020304" pitchFamily="18" charset="0"/>
                <a:cs typeface="Times New Roman" panose="02020603050405020304" pitchFamily="18" charset="0"/>
              </a:rPr>
              <a:t>N</a:t>
            </a:r>
            <a:r>
              <a:rPr lang="zh-CN" altLang="en-US" sz="2800" b="1">
                <a:solidFill>
                  <a:srgbClr val="FF0000"/>
                </a:solidFill>
                <a:latin typeface="Times New Roman" panose="02020603050405020304" pitchFamily="18" charset="0"/>
                <a:cs typeface="Times New Roman" panose="02020603050405020304" pitchFamily="18" charset="0"/>
              </a:rPr>
              <a:t>＝</a:t>
            </a:r>
            <a:r>
              <a:rPr lang="en-US" altLang="zh-CN" sz="2800" b="1" i="1">
                <a:solidFill>
                  <a:srgbClr val="FF0000"/>
                </a:solidFill>
                <a:latin typeface="Times New Roman" panose="02020603050405020304" pitchFamily="18" charset="0"/>
                <a:cs typeface="Times New Roman" panose="02020603050405020304" pitchFamily="18" charset="0"/>
              </a:rPr>
              <a:t>N</a:t>
            </a:r>
            <a:r>
              <a:rPr lang="en-US" altLang="zh-CN" sz="2800" b="1" baseline="-30000">
                <a:solidFill>
                  <a:srgbClr val="FF0000"/>
                </a:solidFill>
                <a:latin typeface="Times New Roman" panose="02020603050405020304" pitchFamily="18" charset="0"/>
                <a:cs typeface="Times New Roman" panose="02020603050405020304" pitchFamily="18" charset="0"/>
              </a:rPr>
              <a:t>0</a:t>
            </a:r>
            <a:r>
              <a:rPr lang="zh-CN" altLang="en-US" sz="2800" b="1">
                <a:latin typeface="Times New Roman" panose="02020603050405020304" pitchFamily="18" charset="0"/>
                <a:cs typeface="Times New Roman" panose="02020603050405020304" pitchFamily="18" charset="0"/>
              </a:rPr>
              <a:t>，</a:t>
            </a:r>
          </a:p>
        </p:txBody>
      </p:sp>
      <p:graphicFrame>
        <p:nvGraphicFramePr>
          <p:cNvPr id="168967" name="Object 4">
            <a:extLst>
              <a:ext uri="{FF2B5EF4-FFF2-40B4-BE49-F238E27FC236}">
                <a16:creationId xmlns:a16="http://schemas.microsoft.com/office/drawing/2014/main" id="{177A4FFA-83E3-43E3-B747-A65BD986EF88}"/>
              </a:ext>
            </a:extLst>
          </p:cNvPr>
          <p:cNvGraphicFramePr>
            <a:graphicFrameLocks noChangeAspect="1"/>
          </p:cNvGraphicFramePr>
          <p:nvPr/>
        </p:nvGraphicFramePr>
        <p:xfrm>
          <a:off x="3492500" y="5805488"/>
          <a:ext cx="1949450" cy="625475"/>
        </p:xfrm>
        <a:graphic>
          <a:graphicData uri="http://schemas.openxmlformats.org/presentationml/2006/ole">
            <mc:AlternateContent xmlns:mc="http://schemas.openxmlformats.org/markup-compatibility/2006">
              <mc:Choice xmlns:v="urn:schemas-microsoft-com:vml" Requires="v">
                <p:oleObj spid="_x0000_s23570" name="Equation" r:id="rId5" imgW="748975" imgH="241195" progId="Equation.DSMT4">
                  <p:embed/>
                </p:oleObj>
              </mc:Choice>
              <mc:Fallback>
                <p:oleObj name="Equation" r:id="rId5" imgW="748975" imgH="241195"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92500" y="5805488"/>
                        <a:ext cx="1949450" cy="625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 name="Group 12">
            <a:extLst>
              <a:ext uri="{FF2B5EF4-FFF2-40B4-BE49-F238E27FC236}">
                <a16:creationId xmlns:a16="http://schemas.microsoft.com/office/drawing/2014/main" id="{B64070BA-E397-47EB-BD74-F523A8F66268}"/>
              </a:ext>
            </a:extLst>
          </p:cNvPr>
          <p:cNvGrpSpPr>
            <a:grpSpLocks/>
          </p:cNvGrpSpPr>
          <p:nvPr/>
        </p:nvGrpSpPr>
        <p:grpSpPr bwMode="auto">
          <a:xfrm>
            <a:off x="2411413" y="3455988"/>
            <a:ext cx="3024187" cy="1052512"/>
            <a:chOff x="1519" y="2177"/>
            <a:chExt cx="1905" cy="663"/>
          </a:xfrm>
        </p:grpSpPr>
        <p:graphicFrame>
          <p:nvGraphicFramePr>
            <p:cNvPr id="23561" name="Object 3">
              <a:extLst>
                <a:ext uri="{FF2B5EF4-FFF2-40B4-BE49-F238E27FC236}">
                  <a16:creationId xmlns:a16="http://schemas.microsoft.com/office/drawing/2014/main" id="{40BBB3E6-AAF7-43AB-A395-188CFB58BF34}"/>
                </a:ext>
              </a:extLst>
            </p:cNvPr>
            <p:cNvGraphicFramePr>
              <a:graphicFrameLocks noChangeAspect="1"/>
            </p:cNvGraphicFramePr>
            <p:nvPr/>
          </p:nvGraphicFramePr>
          <p:xfrm>
            <a:off x="2092" y="2177"/>
            <a:ext cx="1332" cy="663"/>
          </p:xfrm>
          <a:graphic>
            <a:graphicData uri="http://schemas.openxmlformats.org/presentationml/2006/ole">
              <mc:AlternateContent xmlns:mc="http://schemas.openxmlformats.org/markup-compatibility/2006">
                <mc:Choice xmlns:v="urn:schemas-microsoft-com:vml" Requires="v">
                  <p:oleObj spid="_x0000_s23571" name="Equation" r:id="rId7" imgW="812447" imgH="406224" progId="Equation.DSMT4">
                    <p:embed/>
                  </p:oleObj>
                </mc:Choice>
                <mc:Fallback>
                  <p:oleObj name="Equation" r:id="rId7" imgW="812447" imgH="406224" progId="Equation.DSMT4">
                    <p:embed/>
                    <p:pic>
                      <p:nvPicPr>
                        <p:cNvPr id="0" name="Object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92" y="2177"/>
                          <a:ext cx="1332" cy="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562" name="Text Box 10">
              <a:extLst>
                <a:ext uri="{FF2B5EF4-FFF2-40B4-BE49-F238E27FC236}">
                  <a16:creationId xmlns:a16="http://schemas.microsoft.com/office/drawing/2014/main" id="{331B4653-A2D6-433D-A1C2-676C12ECABE2}"/>
                </a:ext>
              </a:extLst>
            </p:cNvPr>
            <p:cNvSpPr txBox="1">
              <a:spLocks noChangeArrowheads="1"/>
            </p:cNvSpPr>
            <p:nvPr/>
          </p:nvSpPr>
          <p:spPr bwMode="auto">
            <a:xfrm>
              <a:off x="1519" y="2332"/>
              <a:ext cx="407"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800"/>
                <a:t>或</a:t>
              </a:r>
            </a:p>
          </p:txBody>
        </p:sp>
      </p:grpSp>
      <p:sp>
        <p:nvSpPr>
          <p:cNvPr id="23560" name="Text Box 29">
            <a:extLst>
              <a:ext uri="{FF2B5EF4-FFF2-40B4-BE49-F238E27FC236}">
                <a16:creationId xmlns:a16="http://schemas.microsoft.com/office/drawing/2014/main" id="{0D380E1D-D1A0-40DC-9E01-C48C07932206}"/>
              </a:ext>
            </a:extLst>
          </p:cNvPr>
          <p:cNvSpPr txBox="1">
            <a:spLocks noChangeArrowheads="1"/>
          </p:cNvSpPr>
          <p:nvPr/>
        </p:nvSpPr>
        <p:spPr bwMode="auto">
          <a:xfrm>
            <a:off x="8629650" y="6356350"/>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1">
                <a:latin typeface="Times New Roman" panose="02020603050405020304" pitchFamily="18" charset="0"/>
              </a:rPr>
              <a:t>16</a:t>
            </a:r>
            <a:endParaRPr lang="en-US" altLang="zh-CN" sz="18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 presetClass="entr" presetSubtype="10" fill="hold" grpId="0" nodeType="withEffect">
                                  <p:stCondLst>
                                    <p:cond delay="0"/>
                                  </p:stCondLst>
                                  <p:childTnLst>
                                    <p:set>
                                      <p:cBhvr>
                                        <p:cTn id="6" dur="1" fill="hold">
                                          <p:stCondLst>
                                            <p:cond delay="0"/>
                                          </p:stCondLst>
                                        </p:cTn>
                                        <p:tgtEl>
                                          <p:spTgt spid="168962"/>
                                        </p:tgtEl>
                                        <p:attrNameLst>
                                          <p:attrName>style.visibility</p:attrName>
                                        </p:attrNameLst>
                                      </p:cBhvr>
                                      <p:to>
                                        <p:strVal val="visible"/>
                                      </p:to>
                                    </p:set>
                                    <p:animEffect transition="in" filter="checkerboard(across)">
                                      <p:cBhvr>
                                        <p:cTn id="7" dur="500"/>
                                        <p:tgtEl>
                                          <p:spTgt spid="16896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68963"/>
                                        </p:tgtEl>
                                        <p:attrNameLst>
                                          <p:attrName>style.visibility</p:attrName>
                                        </p:attrNameLst>
                                      </p:cBhvr>
                                      <p:to>
                                        <p:strVal val="visible"/>
                                      </p:to>
                                    </p:set>
                                    <p:animEffect transition="in" filter="checkerboard(across)">
                                      <p:cBhvr>
                                        <p:cTn id="12" dur="500"/>
                                        <p:tgtEl>
                                          <p:spTgt spid="16896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4" fill="hold" nodeType="clickEffect">
                                  <p:stCondLst>
                                    <p:cond delay="0"/>
                                  </p:stCondLst>
                                  <p:childTnLst>
                                    <p:set>
                                      <p:cBhvr>
                                        <p:cTn id="16" dur="1" fill="hold">
                                          <p:stCondLst>
                                            <p:cond delay="0"/>
                                          </p:stCondLst>
                                        </p:cTn>
                                        <p:tgtEl>
                                          <p:spTgt spid="168964"/>
                                        </p:tgtEl>
                                        <p:attrNameLst>
                                          <p:attrName>style.visibility</p:attrName>
                                        </p:attrNameLst>
                                      </p:cBhvr>
                                      <p:to>
                                        <p:strVal val="visible"/>
                                      </p:to>
                                    </p:set>
                                    <p:animEffect transition="in" filter="slide(fromBottom)">
                                      <p:cBhvr>
                                        <p:cTn id="17" dur="500"/>
                                        <p:tgtEl>
                                          <p:spTgt spid="16896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 presetClass="entr" presetSubtype="4"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 calcmode="lin" valueType="num">
                                      <p:cBhvr additive="base">
                                        <p:cTn id="22" dur="500" fill="hold"/>
                                        <p:tgtEl>
                                          <p:spTgt spid="2"/>
                                        </p:tgtEl>
                                        <p:attrNameLst>
                                          <p:attrName>ppt_x</p:attrName>
                                        </p:attrNameLst>
                                      </p:cBhvr>
                                      <p:tavLst>
                                        <p:tav tm="0">
                                          <p:val>
                                            <p:strVal val="#ppt_x"/>
                                          </p:val>
                                        </p:tav>
                                        <p:tav tm="100000">
                                          <p:val>
                                            <p:strVal val="#ppt_x"/>
                                          </p:val>
                                        </p:tav>
                                      </p:tavLst>
                                    </p:anim>
                                    <p:anim calcmode="lin" valueType="num">
                                      <p:cBhvr additive="base">
                                        <p:cTn id="23"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5" presetClass="entr" presetSubtype="10" fill="hold" grpId="0" nodeType="clickEffect">
                                  <p:stCondLst>
                                    <p:cond delay="0"/>
                                  </p:stCondLst>
                                  <p:childTnLst>
                                    <p:set>
                                      <p:cBhvr>
                                        <p:cTn id="27" dur="1" fill="hold">
                                          <p:stCondLst>
                                            <p:cond delay="0"/>
                                          </p:stCondLst>
                                        </p:cTn>
                                        <p:tgtEl>
                                          <p:spTgt spid="168966"/>
                                        </p:tgtEl>
                                        <p:attrNameLst>
                                          <p:attrName>style.visibility</p:attrName>
                                        </p:attrNameLst>
                                      </p:cBhvr>
                                      <p:to>
                                        <p:strVal val="visible"/>
                                      </p:to>
                                    </p:set>
                                    <p:animEffect transition="in" filter="checkerboard(across)">
                                      <p:cBhvr>
                                        <p:cTn id="28" dur="500"/>
                                        <p:tgtEl>
                                          <p:spTgt spid="168966"/>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12" presetClass="entr" presetSubtype="4" fill="hold" nodeType="clickEffect">
                                  <p:stCondLst>
                                    <p:cond delay="0"/>
                                  </p:stCondLst>
                                  <p:childTnLst>
                                    <p:set>
                                      <p:cBhvr>
                                        <p:cTn id="32" dur="1" fill="hold">
                                          <p:stCondLst>
                                            <p:cond delay="0"/>
                                          </p:stCondLst>
                                        </p:cTn>
                                        <p:tgtEl>
                                          <p:spTgt spid="168967"/>
                                        </p:tgtEl>
                                        <p:attrNameLst>
                                          <p:attrName>style.visibility</p:attrName>
                                        </p:attrNameLst>
                                      </p:cBhvr>
                                      <p:to>
                                        <p:strVal val="visible"/>
                                      </p:to>
                                    </p:set>
                                    <p:animEffect transition="in" filter="slide(fromBottom)">
                                      <p:cBhvr>
                                        <p:cTn id="33" dur="500"/>
                                        <p:tgtEl>
                                          <p:spTgt spid="1689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8962" grpId="0" autoUpdateAnimBg="0"/>
      <p:bldP spid="168963" grpId="0" autoUpdateAnimBg="0"/>
      <p:bldP spid="168966" grpId="0"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4C3815A7-4ACD-4551-9333-7A86F9A0009B}"/>
              </a:ext>
            </a:extLst>
          </p:cNvPr>
          <p:cNvSpPr/>
          <p:nvPr/>
        </p:nvSpPr>
        <p:spPr>
          <a:xfrm>
            <a:off x="6810375" y="77788"/>
            <a:ext cx="2157413" cy="76993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aphicFrame>
        <p:nvGraphicFramePr>
          <p:cNvPr id="169988" name="Object 2">
            <a:extLst>
              <a:ext uri="{FF2B5EF4-FFF2-40B4-BE49-F238E27FC236}">
                <a16:creationId xmlns:a16="http://schemas.microsoft.com/office/drawing/2014/main" id="{E7D92F8D-3DA8-4F88-B82A-6D1202EF5664}"/>
              </a:ext>
            </a:extLst>
          </p:cNvPr>
          <p:cNvGraphicFramePr>
            <a:graphicFrameLocks noChangeAspect="1"/>
          </p:cNvGraphicFramePr>
          <p:nvPr/>
        </p:nvGraphicFramePr>
        <p:xfrm>
          <a:off x="3079750" y="288925"/>
          <a:ext cx="2212975" cy="1052513"/>
        </p:xfrm>
        <a:graphic>
          <a:graphicData uri="http://schemas.openxmlformats.org/presentationml/2006/ole">
            <mc:AlternateContent xmlns:mc="http://schemas.openxmlformats.org/markup-compatibility/2006">
              <mc:Choice xmlns:v="urn:schemas-microsoft-com:vml" Requires="v">
                <p:oleObj spid="_x0000_s24599" name="Equation" r:id="rId3" imgW="850531" imgH="406224" progId="Equation.DSMT4">
                  <p:embed/>
                </p:oleObj>
              </mc:Choice>
              <mc:Fallback>
                <p:oleObj name="Equation" r:id="rId3" imgW="850531" imgH="406224" progId="Equation.DSMT4">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79750" y="288925"/>
                        <a:ext cx="2212975" cy="1052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9990" name="Rectangle 6">
            <a:extLst>
              <a:ext uri="{FF2B5EF4-FFF2-40B4-BE49-F238E27FC236}">
                <a16:creationId xmlns:a16="http://schemas.microsoft.com/office/drawing/2014/main" id="{149885F9-63AC-446E-83D8-3A181547ED32}"/>
              </a:ext>
            </a:extLst>
          </p:cNvPr>
          <p:cNvSpPr>
            <a:spLocks noChangeArrowheads="1"/>
          </p:cNvSpPr>
          <p:nvPr/>
        </p:nvSpPr>
        <p:spPr bwMode="auto">
          <a:xfrm>
            <a:off x="476250" y="1484313"/>
            <a:ext cx="8370888"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zh-CN" sz="2800" b="1">
                <a:latin typeface="Times New Roman" panose="02020603050405020304" pitchFamily="18" charset="0"/>
                <a:ea typeface="楷体_GB2312"/>
                <a:cs typeface="Times New Roman" panose="02020603050405020304" pitchFamily="18" charset="0"/>
              </a:rPr>
              <a:t>表明</a:t>
            </a:r>
            <a:r>
              <a:rPr lang="zh-CN" altLang="zh-CN" sz="2800" b="1">
                <a:solidFill>
                  <a:srgbClr val="FF0000"/>
                </a:solidFill>
                <a:latin typeface="Times New Roman" panose="02020603050405020304" pitchFamily="18" charset="0"/>
                <a:ea typeface="楷体_GB2312"/>
                <a:cs typeface="Times New Roman" panose="02020603050405020304" pitchFamily="18" charset="0"/>
              </a:rPr>
              <a:t>衰变常数</a:t>
            </a:r>
            <a:r>
              <a:rPr lang="en-US" altLang="zh-CN" sz="2800" b="1" i="1">
                <a:solidFill>
                  <a:srgbClr val="FF0000"/>
                </a:solidFill>
                <a:latin typeface="Times New Roman" panose="02020603050405020304" pitchFamily="18" charset="0"/>
                <a:ea typeface="楷体_GB2312"/>
                <a:cs typeface="Times New Roman" panose="02020603050405020304" pitchFamily="18" charset="0"/>
              </a:rPr>
              <a:t>λ</a:t>
            </a:r>
            <a:r>
              <a:rPr lang="zh-CN" altLang="en-US" sz="2800" b="1">
                <a:latin typeface="Times New Roman" panose="02020603050405020304" pitchFamily="18" charset="0"/>
                <a:ea typeface="楷体_GB2312"/>
                <a:cs typeface="Times New Roman" panose="02020603050405020304" pitchFamily="18" charset="0"/>
              </a:rPr>
              <a:t>的物理意义是：</a:t>
            </a:r>
            <a:r>
              <a:rPr lang="zh-CN" altLang="en-US" sz="2800" b="1">
                <a:solidFill>
                  <a:srgbClr val="202AF4"/>
                </a:solidFill>
                <a:latin typeface="Times New Roman" panose="02020603050405020304" pitchFamily="18" charset="0"/>
                <a:ea typeface="楷体_GB2312"/>
                <a:cs typeface="Times New Roman" panose="02020603050405020304" pitchFamily="18" charset="0"/>
              </a:rPr>
              <a:t>在</a:t>
            </a:r>
            <a:r>
              <a:rPr lang="en-US" altLang="zh-CN" sz="2800" b="1" i="1">
                <a:solidFill>
                  <a:srgbClr val="202AF4"/>
                </a:solidFill>
                <a:latin typeface="Times New Roman" panose="02020603050405020304" pitchFamily="18" charset="0"/>
                <a:ea typeface="楷体_GB2312"/>
                <a:cs typeface="Times New Roman" panose="02020603050405020304" pitchFamily="18" charset="0"/>
              </a:rPr>
              <a:t>t</a:t>
            </a:r>
            <a:r>
              <a:rPr lang="zh-CN" altLang="en-US" sz="2800" b="1">
                <a:solidFill>
                  <a:srgbClr val="202AF4"/>
                </a:solidFill>
                <a:latin typeface="Times New Roman" panose="02020603050405020304" pitchFamily="18" charset="0"/>
                <a:ea typeface="楷体_GB2312"/>
                <a:cs typeface="Times New Roman" panose="02020603050405020304" pitchFamily="18" charset="0"/>
              </a:rPr>
              <a:t>时刻，每单位时间衰变的原子核数与该时刻原子核总数的比</a:t>
            </a:r>
            <a:r>
              <a:rPr lang="zh-CN" altLang="en-US" sz="2800" b="1">
                <a:latin typeface="Times New Roman" panose="02020603050405020304" pitchFamily="18" charset="0"/>
                <a:ea typeface="楷体_GB2312"/>
                <a:cs typeface="Times New Roman" panose="02020603050405020304" pitchFamily="18" charset="0"/>
              </a:rPr>
              <a:t>；</a:t>
            </a:r>
          </a:p>
          <a:p>
            <a:pPr eaLnBrk="1" hangingPunct="1">
              <a:spcBef>
                <a:spcPct val="0"/>
              </a:spcBef>
              <a:buFontTx/>
              <a:buNone/>
            </a:pPr>
            <a:r>
              <a:rPr lang="zh-CN" altLang="en-US" sz="2800" b="1">
                <a:latin typeface="Times New Roman" panose="02020603050405020304" pitchFamily="18" charset="0"/>
                <a:ea typeface="楷体_GB2312"/>
                <a:cs typeface="Times New Roman" panose="02020603050405020304" pitchFamily="18" charset="0"/>
              </a:rPr>
              <a:t>也可以说</a:t>
            </a:r>
            <a:r>
              <a:rPr lang="en-US" altLang="zh-CN" sz="2800" b="1" i="1">
                <a:latin typeface="Times New Roman" panose="02020603050405020304" pitchFamily="18" charset="0"/>
                <a:ea typeface="楷体_GB2312"/>
                <a:cs typeface="Times New Roman" panose="02020603050405020304" pitchFamily="18" charset="0"/>
              </a:rPr>
              <a:t>λ</a:t>
            </a:r>
            <a:r>
              <a:rPr lang="zh-CN" altLang="en-US" sz="2800" b="1">
                <a:latin typeface="Times New Roman" panose="02020603050405020304" pitchFamily="18" charset="0"/>
                <a:ea typeface="楷体_GB2312"/>
                <a:cs typeface="Times New Roman" panose="02020603050405020304" pitchFamily="18" charset="0"/>
              </a:rPr>
              <a:t>是表征单位时间原子核衰变的概率。</a:t>
            </a:r>
          </a:p>
          <a:p>
            <a:pPr eaLnBrk="1" hangingPunct="1">
              <a:spcBef>
                <a:spcPct val="0"/>
              </a:spcBef>
              <a:buFontTx/>
              <a:buNone/>
            </a:pPr>
            <a:r>
              <a:rPr lang="en-US" altLang="zh-CN" sz="2800" b="1" i="1">
                <a:solidFill>
                  <a:srgbClr val="202AF4"/>
                </a:solidFill>
                <a:latin typeface="Times New Roman" panose="02020603050405020304" pitchFamily="18" charset="0"/>
                <a:ea typeface="楷体_GB2312"/>
                <a:cs typeface="Times New Roman" panose="02020603050405020304" pitchFamily="18" charset="0"/>
              </a:rPr>
              <a:t>λ</a:t>
            </a:r>
            <a:r>
              <a:rPr lang="zh-CN" altLang="en-US" sz="2800" b="1">
                <a:solidFill>
                  <a:srgbClr val="202AF4"/>
                </a:solidFill>
                <a:latin typeface="Times New Roman" panose="02020603050405020304" pitchFamily="18" charset="0"/>
                <a:ea typeface="楷体_GB2312"/>
                <a:cs typeface="Times New Roman" panose="02020603050405020304" pitchFamily="18" charset="0"/>
              </a:rPr>
              <a:t>越大，衰变越快</a:t>
            </a:r>
            <a:r>
              <a:rPr lang="zh-CN" altLang="en-US" sz="2800" b="1">
                <a:solidFill>
                  <a:schemeClr val="accent2"/>
                </a:solidFill>
                <a:latin typeface="Times New Roman" panose="02020603050405020304" pitchFamily="18" charset="0"/>
                <a:ea typeface="楷体_GB2312"/>
                <a:cs typeface="Times New Roman" panose="02020603050405020304" pitchFamily="18" charset="0"/>
              </a:rPr>
              <a:t>。</a:t>
            </a:r>
          </a:p>
        </p:txBody>
      </p:sp>
      <p:graphicFrame>
        <p:nvGraphicFramePr>
          <p:cNvPr id="169991" name="Object 3">
            <a:extLst>
              <a:ext uri="{FF2B5EF4-FFF2-40B4-BE49-F238E27FC236}">
                <a16:creationId xmlns:a16="http://schemas.microsoft.com/office/drawing/2014/main" id="{71C53664-E342-4DD2-A423-278F5E45DD6B}"/>
              </a:ext>
            </a:extLst>
          </p:cNvPr>
          <p:cNvGraphicFramePr>
            <a:graphicFrameLocks noChangeAspect="1"/>
          </p:cNvGraphicFramePr>
          <p:nvPr/>
        </p:nvGraphicFramePr>
        <p:xfrm>
          <a:off x="857250" y="4786313"/>
          <a:ext cx="2578100" cy="1085850"/>
        </p:xfrm>
        <a:graphic>
          <a:graphicData uri="http://schemas.openxmlformats.org/presentationml/2006/ole">
            <mc:AlternateContent xmlns:mc="http://schemas.openxmlformats.org/markup-compatibility/2006">
              <mc:Choice xmlns:v="urn:schemas-microsoft-com:vml" Requires="v">
                <p:oleObj spid="_x0000_s24600" name="Equation" r:id="rId5" imgW="990600" imgH="419100" progId="Equation.DSMT4">
                  <p:embed/>
                </p:oleObj>
              </mc:Choice>
              <mc:Fallback>
                <p:oleObj name="Equation" r:id="rId5" imgW="990600" imgH="419100" progId="Equation.DSMT4">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57250" y="4786313"/>
                        <a:ext cx="2578100" cy="1085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9992" name="Rectangle 8">
            <a:extLst>
              <a:ext uri="{FF2B5EF4-FFF2-40B4-BE49-F238E27FC236}">
                <a16:creationId xmlns:a16="http://schemas.microsoft.com/office/drawing/2014/main" id="{82D6E1BA-C87A-4C5E-9290-635F680C3A80}"/>
              </a:ext>
            </a:extLst>
          </p:cNvPr>
          <p:cNvSpPr>
            <a:spLocks noChangeArrowheads="1"/>
          </p:cNvSpPr>
          <p:nvPr/>
        </p:nvSpPr>
        <p:spPr bwMode="auto">
          <a:xfrm>
            <a:off x="357188" y="3786188"/>
            <a:ext cx="86042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b="1">
                <a:solidFill>
                  <a:srgbClr val="FF0000"/>
                </a:solidFill>
                <a:latin typeface="Times New Roman" panose="02020603050405020304" pitchFamily="18" charset="0"/>
                <a:cs typeface="Times New Roman" panose="02020603050405020304" pitchFamily="18" charset="0"/>
              </a:rPr>
              <a:t>半衰期</a:t>
            </a:r>
            <a:r>
              <a:rPr lang="zh-CN" altLang="en-US" sz="2800" b="1">
                <a:latin typeface="Times New Roman" panose="02020603050405020304" pitchFamily="18" charset="0"/>
                <a:cs typeface="Times New Roman" panose="02020603050405020304" pitchFamily="18" charset="0"/>
              </a:rPr>
              <a:t>的定义是：原子核衰变到</a:t>
            </a:r>
            <a:r>
              <a:rPr lang="en-US" altLang="zh-CN" sz="2800" b="1" i="1">
                <a:solidFill>
                  <a:srgbClr val="FF0000"/>
                </a:solidFill>
                <a:latin typeface="Times New Roman" panose="02020603050405020304" pitchFamily="18" charset="0"/>
                <a:cs typeface="Times New Roman" panose="02020603050405020304" pitchFamily="18" charset="0"/>
              </a:rPr>
              <a:t>N</a:t>
            </a:r>
            <a:r>
              <a:rPr lang="zh-CN" altLang="en-US" sz="2800" b="1">
                <a:solidFill>
                  <a:srgbClr val="FF0000"/>
                </a:solidFill>
                <a:latin typeface="Times New Roman" panose="02020603050405020304" pitchFamily="18" charset="0"/>
                <a:cs typeface="Times New Roman" panose="02020603050405020304" pitchFamily="18" charset="0"/>
              </a:rPr>
              <a:t>＝</a:t>
            </a:r>
            <a:r>
              <a:rPr lang="en-US" altLang="zh-CN" sz="2800" b="1">
                <a:solidFill>
                  <a:srgbClr val="FF0000"/>
                </a:solidFill>
                <a:latin typeface="Times New Roman" panose="02020603050405020304" pitchFamily="18" charset="0"/>
                <a:cs typeface="Times New Roman" panose="02020603050405020304" pitchFamily="18" charset="0"/>
              </a:rPr>
              <a:t>0.5</a:t>
            </a:r>
            <a:r>
              <a:rPr lang="en-US" altLang="zh-CN" sz="2800" b="1" i="1">
                <a:solidFill>
                  <a:srgbClr val="FF0000"/>
                </a:solidFill>
                <a:latin typeface="Times New Roman" panose="02020603050405020304" pitchFamily="18" charset="0"/>
                <a:cs typeface="Times New Roman" panose="02020603050405020304" pitchFamily="18" charset="0"/>
              </a:rPr>
              <a:t>N</a:t>
            </a:r>
            <a:r>
              <a:rPr lang="en-US" altLang="zh-CN" sz="2800" b="1" baseline="-30000">
                <a:solidFill>
                  <a:srgbClr val="FF0000"/>
                </a:solidFill>
                <a:latin typeface="Times New Roman" panose="02020603050405020304" pitchFamily="18" charset="0"/>
                <a:cs typeface="Times New Roman" panose="02020603050405020304" pitchFamily="18" charset="0"/>
              </a:rPr>
              <a:t>0</a:t>
            </a:r>
            <a:r>
              <a:rPr lang="zh-CN" altLang="en-US" sz="2800" b="1">
                <a:latin typeface="Times New Roman" panose="02020603050405020304" pitchFamily="18" charset="0"/>
                <a:cs typeface="Times New Roman" panose="02020603050405020304" pitchFamily="18" charset="0"/>
              </a:rPr>
              <a:t>所需的时间</a:t>
            </a:r>
            <a:r>
              <a:rPr lang="en-US" altLang="zh-CN" sz="2800" b="1">
                <a:latin typeface="Times New Roman" panose="02020603050405020304" pitchFamily="18" charset="0"/>
                <a:cs typeface="Times New Roman" panose="02020603050405020304" pitchFamily="18" charset="0"/>
              </a:rPr>
              <a:t>. </a:t>
            </a:r>
          </a:p>
        </p:txBody>
      </p:sp>
      <p:graphicFrame>
        <p:nvGraphicFramePr>
          <p:cNvPr id="169993" name="Object 4">
            <a:extLst>
              <a:ext uri="{FF2B5EF4-FFF2-40B4-BE49-F238E27FC236}">
                <a16:creationId xmlns:a16="http://schemas.microsoft.com/office/drawing/2014/main" id="{CC9B4D7F-42E4-4F1E-97CD-DC0B55E9D8AB}"/>
              </a:ext>
            </a:extLst>
          </p:cNvPr>
          <p:cNvGraphicFramePr>
            <a:graphicFrameLocks noChangeAspect="1"/>
          </p:cNvGraphicFramePr>
          <p:nvPr/>
        </p:nvGraphicFramePr>
        <p:xfrm>
          <a:off x="4214813" y="5000625"/>
          <a:ext cx="1285875" cy="1016000"/>
        </p:xfrm>
        <a:graphic>
          <a:graphicData uri="http://schemas.openxmlformats.org/presentationml/2006/ole">
            <mc:AlternateContent xmlns:mc="http://schemas.openxmlformats.org/markup-compatibility/2006">
              <mc:Choice xmlns:v="urn:schemas-microsoft-com:vml" Requires="v">
                <p:oleObj spid="_x0000_s24601" name="Equation" r:id="rId7" imgW="431613" imgH="342751" progId="Equation.DSMT4">
                  <p:embed/>
                </p:oleObj>
              </mc:Choice>
              <mc:Fallback>
                <p:oleObj name="Equation" r:id="rId7" imgW="431613" imgH="342751" progId="Equation.DSMT4">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14813" y="5000625"/>
                        <a:ext cx="1285875" cy="1016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584" name="Text Box 29">
            <a:extLst>
              <a:ext uri="{FF2B5EF4-FFF2-40B4-BE49-F238E27FC236}">
                <a16:creationId xmlns:a16="http://schemas.microsoft.com/office/drawing/2014/main" id="{2FD8959C-C78C-4F14-A048-E08BA627CB79}"/>
              </a:ext>
            </a:extLst>
          </p:cNvPr>
          <p:cNvSpPr txBox="1">
            <a:spLocks noChangeArrowheads="1"/>
          </p:cNvSpPr>
          <p:nvPr/>
        </p:nvSpPr>
        <p:spPr bwMode="auto">
          <a:xfrm>
            <a:off x="8629650" y="6356350"/>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1">
                <a:latin typeface="Times New Roman" panose="02020603050405020304" pitchFamily="18" charset="0"/>
              </a:rPr>
              <a:t>17</a:t>
            </a:r>
            <a:endParaRPr lang="en-US" altLang="zh-CN" sz="1800"/>
          </a:p>
        </p:txBody>
      </p:sp>
      <p:graphicFrame>
        <p:nvGraphicFramePr>
          <p:cNvPr id="2" name="Object 8">
            <a:extLst>
              <a:ext uri="{FF2B5EF4-FFF2-40B4-BE49-F238E27FC236}">
                <a16:creationId xmlns:a16="http://schemas.microsoft.com/office/drawing/2014/main" id="{138AE332-725A-44CD-81F6-F198BEAB6DE9}"/>
              </a:ext>
            </a:extLst>
          </p:cNvPr>
          <p:cNvGraphicFramePr>
            <a:graphicFrameLocks noChangeAspect="1"/>
          </p:cNvGraphicFramePr>
          <p:nvPr/>
        </p:nvGraphicFramePr>
        <p:xfrm>
          <a:off x="5500688" y="4786313"/>
          <a:ext cx="2428875" cy="1036637"/>
        </p:xfrm>
        <a:graphic>
          <a:graphicData uri="http://schemas.openxmlformats.org/presentationml/2006/ole">
            <mc:AlternateContent xmlns:mc="http://schemas.openxmlformats.org/markup-compatibility/2006">
              <mc:Choice xmlns:v="urn:schemas-microsoft-com:vml" Requires="v">
                <p:oleObj spid="_x0000_s24602" name="Equation" r:id="rId9" imgW="952087" imgH="406224" progId="Equation.DSMT4">
                  <p:embed/>
                </p:oleObj>
              </mc:Choice>
              <mc:Fallback>
                <p:oleObj name="Equation" r:id="rId9" imgW="952087" imgH="406224" progId="Equation.DSMT4">
                  <p:embed/>
                  <p:pic>
                    <p:nvPicPr>
                      <p:cNvPr id="0"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500688" y="4786313"/>
                        <a:ext cx="2428875" cy="1036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 name="矩形 2">
            <a:extLst>
              <a:ext uri="{FF2B5EF4-FFF2-40B4-BE49-F238E27FC236}">
                <a16:creationId xmlns:a16="http://schemas.microsoft.com/office/drawing/2014/main" id="{093C95EC-4683-4D29-810A-44DCFE5D6F1A}"/>
              </a:ext>
            </a:extLst>
          </p:cNvPr>
          <p:cNvSpPr/>
          <p:nvPr/>
        </p:nvSpPr>
        <p:spPr>
          <a:xfrm>
            <a:off x="3995738" y="4581525"/>
            <a:ext cx="4176712" cy="1511300"/>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tx1"/>
              </a:solidFill>
            </a:endParaRPr>
          </a:p>
        </p:txBody>
      </p:sp>
      <p:sp>
        <p:nvSpPr>
          <p:cNvPr id="26634" name="矩形 3">
            <a:extLst>
              <a:ext uri="{FF2B5EF4-FFF2-40B4-BE49-F238E27FC236}">
                <a16:creationId xmlns:a16="http://schemas.microsoft.com/office/drawing/2014/main" id="{8CCBCB89-192C-4558-8265-95C205DA69AC}"/>
              </a:ext>
            </a:extLst>
          </p:cNvPr>
          <p:cNvSpPr>
            <a:spLocks noChangeArrowheads="1"/>
          </p:cNvSpPr>
          <p:nvPr/>
        </p:nvSpPr>
        <p:spPr bwMode="auto">
          <a:xfrm>
            <a:off x="7164388" y="6142038"/>
            <a:ext cx="11128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400" b="1">
                <a:solidFill>
                  <a:srgbClr val="FF0000"/>
                </a:solidFill>
                <a:latin typeface="Times New Roman" panose="02020603050405020304" pitchFamily="18" charset="0"/>
                <a:cs typeface="Times New Roman" panose="02020603050405020304" pitchFamily="18" charset="0"/>
              </a:rPr>
              <a:t>半衰期</a:t>
            </a:r>
            <a:endParaRPr lang="zh-CN" altLang="en-US" sz="2400"/>
          </a:p>
        </p:txBody>
      </p:sp>
      <p:graphicFrame>
        <p:nvGraphicFramePr>
          <p:cNvPr id="24588" name="对象 3">
            <a:extLst>
              <a:ext uri="{FF2B5EF4-FFF2-40B4-BE49-F238E27FC236}">
                <a16:creationId xmlns:a16="http://schemas.microsoft.com/office/drawing/2014/main" id="{0205A441-BE7D-49FF-A9A7-DD38DF483400}"/>
              </a:ext>
            </a:extLst>
          </p:cNvPr>
          <p:cNvGraphicFramePr>
            <a:graphicFrameLocks noChangeAspect="1"/>
          </p:cNvGraphicFramePr>
          <p:nvPr/>
        </p:nvGraphicFramePr>
        <p:xfrm>
          <a:off x="6913563" y="204788"/>
          <a:ext cx="1933575" cy="609600"/>
        </p:xfrm>
        <a:graphic>
          <a:graphicData uri="http://schemas.openxmlformats.org/presentationml/2006/ole">
            <mc:AlternateContent xmlns:mc="http://schemas.openxmlformats.org/markup-compatibility/2006">
              <mc:Choice xmlns:v="urn:schemas-microsoft-com:vml" Requires="v">
                <p:oleObj spid="_x0000_s24603" name="Equation" r:id="rId11" imgW="1933612" imgH="609660" progId="Equation.DSMT4">
                  <p:embed/>
                </p:oleObj>
              </mc:Choice>
              <mc:Fallback>
                <p:oleObj name="Equation" r:id="rId11" imgW="1933612" imgH="609660" progId="Equation.DSMT4">
                  <p:embed/>
                  <p:pic>
                    <p:nvPicPr>
                      <p:cNvPr id="0" name="对象 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913563" y="204788"/>
                        <a:ext cx="193357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4" fill="hold" nodeType="withEffect">
                                  <p:stCondLst>
                                    <p:cond delay="0"/>
                                  </p:stCondLst>
                                  <p:childTnLst>
                                    <p:set>
                                      <p:cBhvr>
                                        <p:cTn id="6" dur="1" fill="hold">
                                          <p:stCondLst>
                                            <p:cond delay="0"/>
                                          </p:stCondLst>
                                        </p:cTn>
                                        <p:tgtEl>
                                          <p:spTgt spid="169988"/>
                                        </p:tgtEl>
                                        <p:attrNameLst>
                                          <p:attrName>style.visibility</p:attrName>
                                        </p:attrNameLst>
                                      </p:cBhvr>
                                      <p:to>
                                        <p:strVal val="visible"/>
                                      </p:to>
                                    </p:set>
                                    <p:animEffect transition="in" filter="slide(fromBottom)">
                                      <p:cBhvr>
                                        <p:cTn id="7" dur="500"/>
                                        <p:tgtEl>
                                          <p:spTgt spid="16998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69990"/>
                                        </p:tgtEl>
                                        <p:attrNameLst>
                                          <p:attrName>style.visibility</p:attrName>
                                        </p:attrNameLst>
                                      </p:cBhvr>
                                      <p:to>
                                        <p:strVal val="visible"/>
                                      </p:to>
                                    </p:set>
                                    <p:animEffect transition="in" filter="checkerboard(across)">
                                      <p:cBhvr>
                                        <p:cTn id="12" dur="500"/>
                                        <p:tgtEl>
                                          <p:spTgt spid="16999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169992"/>
                                        </p:tgtEl>
                                        <p:attrNameLst>
                                          <p:attrName>style.visibility</p:attrName>
                                        </p:attrNameLst>
                                      </p:cBhvr>
                                      <p:to>
                                        <p:strVal val="visible"/>
                                      </p:to>
                                    </p:set>
                                    <p:animEffect transition="in" filter="checkerboard(across)">
                                      <p:cBhvr>
                                        <p:cTn id="17" dur="500"/>
                                        <p:tgtEl>
                                          <p:spTgt spid="16999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2" presetClass="entr" presetSubtype="4" fill="hold" nodeType="clickEffect">
                                  <p:stCondLst>
                                    <p:cond delay="0"/>
                                  </p:stCondLst>
                                  <p:childTnLst>
                                    <p:set>
                                      <p:cBhvr>
                                        <p:cTn id="21" dur="1" fill="hold">
                                          <p:stCondLst>
                                            <p:cond delay="0"/>
                                          </p:stCondLst>
                                        </p:cTn>
                                        <p:tgtEl>
                                          <p:spTgt spid="169991"/>
                                        </p:tgtEl>
                                        <p:attrNameLst>
                                          <p:attrName>style.visibility</p:attrName>
                                        </p:attrNameLst>
                                      </p:cBhvr>
                                      <p:to>
                                        <p:strVal val="visible"/>
                                      </p:to>
                                    </p:set>
                                    <p:animEffect transition="in" filter="slide(fromBottom)">
                                      <p:cBhvr>
                                        <p:cTn id="22" dur="500"/>
                                        <p:tgtEl>
                                          <p:spTgt spid="16999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7" presetClass="entr" presetSubtype="10" fill="hold" nodeType="clickEffect">
                                  <p:stCondLst>
                                    <p:cond delay="0"/>
                                  </p:stCondLst>
                                  <p:childTnLst>
                                    <p:set>
                                      <p:cBhvr>
                                        <p:cTn id="26" dur="1" fill="hold">
                                          <p:stCondLst>
                                            <p:cond delay="0"/>
                                          </p:stCondLst>
                                        </p:cTn>
                                        <p:tgtEl>
                                          <p:spTgt spid="169993"/>
                                        </p:tgtEl>
                                        <p:attrNameLst>
                                          <p:attrName>style.visibility</p:attrName>
                                        </p:attrNameLst>
                                      </p:cBhvr>
                                      <p:to>
                                        <p:strVal val="visible"/>
                                      </p:to>
                                    </p:set>
                                    <p:anim calcmode="lin" valueType="num">
                                      <p:cBhvr>
                                        <p:cTn id="27" dur="500" fill="hold"/>
                                        <p:tgtEl>
                                          <p:spTgt spid="169993"/>
                                        </p:tgtEl>
                                        <p:attrNameLst>
                                          <p:attrName>ppt_w</p:attrName>
                                        </p:attrNameLst>
                                      </p:cBhvr>
                                      <p:tavLst>
                                        <p:tav tm="0">
                                          <p:val>
                                            <p:fltVal val="0"/>
                                          </p:val>
                                        </p:tav>
                                        <p:tav tm="100000">
                                          <p:val>
                                            <p:strVal val="#ppt_w"/>
                                          </p:val>
                                        </p:tav>
                                      </p:tavLst>
                                    </p:anim>
                                    <p:anim calcmode="lin" valueType="num">
                                      <p:cBhvr>
                                        <p:cTn id="28" dur="500" fill="hold"/>
                                        <p:tgtEl>
                                          <p:spTgt spid="169993"/>
                                        </p:tgtEl>
                                        <p:attrNameLst>
                                          <p:attrName>ppt_h</p:attrName>
                                        </p:attrNameLst>
                                      </p:cBhvr>
                                      <p:tavLst>
                                        <p:tav tm="0">
                                          <p:val>
                                            <p:strVal val="#ppt_h"/>
                                          </p:val>
                                        </p:tav>
                                        <p:tav tm="100000">
                                          <p:val>
                                            <p:strVal val="#ppt_h"/>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4" fill="hold" nodeType="clickEffect">
                                  <p:stCondLst>
                                    <p:cond delay="0"/>
                                  </p:stCondLst>
                                  <p:childTnLst>
                                    <p:set>
                                      <p:cBhvr>
                                        <p:cTn id="32" dur="1" fill="hold">
                                          <p:stCondLst>
                                            <p:cond delay="0"/>
                                          </p:stCondLst>
                                        </p:cTn>
                                        <p:tgtEl>
                                          <p:spTgt spid="2"/>
                                        </p:tgtEl>
                                        <p:attrNameLst>
                                          <p:attrName>style.visibility</p:attrName>
                                        </p:attrNameLst>
                                      </p:cBhvr>
                                      <p:to>
                                        <p:strVal val="visible"/>
                                      </p:to>
                                    </p:set>
                                    <p:anim calcmode="lin" valueType="num">
                                      <p:cBhvr additive="base">
                                        <p:cTn id="33" dur="500" fill="hold"/>
                                        <p:tgtEl>
                                          <p:spTgt spid="2"/>
                                        </p:tgtEl>
                                        <p:attrNameLst>
                                          <p:attrName>ppt_x</p:attrName>
                                        </p:attrNameLst>
                                      </p:cBhvr>
                                      <p:tavLst>
                                        <p:tav tm="0">
                                          <p:val>
                                            <p:strVal val="#ppt_x"/>
                                          </p:val>
                                        </p:tav>
                                        <p:tav tm="100000">
                                          <p:val>
                                            <p:strVal val="#ppt_x"/>
                                          </p:val>
                                        </p:tav>
                                      </p:tavLst>
                                    </p:anim>
                                    <p:anim calcmode="lin" valueType="num">
                                      <p:cBhvr additive="base">
                                        <p:cTn id="3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42" presetClass="entr" presetSubtype="0" fill="hold" grpId="0" nodeType="clickEffect">
                                  <p:stCondLst>
                                    <p:cond delay="0"/>
                                  </p:stCondLst>
                                  <p:childTnLst>
                                    <p:set>
                                      <p:cBhvr>
                                        <p:cTn id="38" dur="1" fill="hold">
                                          <p:stCondLst>
                                            <p:cond delay="0"/>
                                          </p:stCondLst>
                                        </p:cTn>
                                        <p:tgtEl>
                                          <p:spTgt spid="3"/>
                                        </p:tgtEl>
                                        <p:attrNameLst>
                                          <p:attrName>style.visibility</p:attrName>
                                        </p:attrNameLst>
                                      </p:cBhvr>
                                      <p:to>
                                        <p:strVal val="visible"/>
                                      </p:to>
                                    </p:set>
                                    <p:animEffect transition="in" filter="fade">
                                      <p:cBhvr>
                                        <p:cTn id="39" dur="1000"/>
                                        <p:tgtEl>
                                          <p:spTgt spid="3"/>
                                        </p:tgtEl>
                                      </p:cBhvr>
                                    </p:animEffect>
                                    <p:anim calcmode="lin" valueType="num">
                                      <p:cBhvr>
                                        <p:cTn id="40" dur="1000" fill="hold"/>
                                        <p:tgtEl>
                                          <p:spTgt spid="3"/>
                                        </p:tgtEl>
                                        <p:attrNameLst>
                                          <p:attrName>ppt_x</p:attrName>
                                        </p:attrNameLst>
                                      </p:cBhvr>
                                      <p:tavLst>
                                        <p:tav tm="0">
                                          <p:val>
                                            <p:strVal val="#ppt_x"/>
                                          </p:val>
                                        </p:tav>
                                        <p:tav tm="100000">
                                          <p:val>
                                            <p:strVal val="#ppt_x"/>
                                          </p:val>
                                        </p:tav>
                                      </p:tavLst>
                                    </p:anim>
                                    <p:anim calcmode="lin" valueType="num">
                                      <p:cBhvr>
                                        <p:cTn id="41" dur="1000" fill="hold"/>
                                        <p:tgtEl>
                                          <p:spTgt spid="3"/>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26634"/>
                                        </p:tgtEl>
                                        <p:attrNameLst>
                                          <p:attrName>style.visibility</p:attrName>
                                        </p:attrNameLst>
                                      </p:cBhvr>
                                      <p:to>
                                        <p:strVal val="visible"/>
                                      </p:to>
                                    </p:set>
                                    <p:animEffect transition="in" filter="fade">
                                      <p:cBhvr>
                                        <p:cTn id="44" dur="1000"/>
                                        <p:tgtEl>
                                          <p:spTgt spid="26634"/>
                                        </p:tgtEl>
                                      </p:cBhvr>
                                    </p:animEffect>
                                    <p:anim calcmode="lin" valueType="num">
                                      <p:cBhvr>
                                        <p:cTn id="45" dur="1000" fill="hold"/>
                                        <p:tgtEl>
                                          <p:spTgt spid="26634"/>
                                        </p:tgtEl>
                                        <p:attrNameLst>
                                          <p:attrName>ppt_x</p:attrName>
                                        </p:attrNameLst>
                                      </p:cBhvr>
                                      <p:tavLst>
                                        <p:tav tm="0">
                                          <p:val>
                                            <p:strVal val="#ppt_x"/>
                                          </p:val>
                                        </p:tav>
                                        <p:tav tm="100000">
                                          <p:val>
                                            <p:strVal val="#ppt_x"/>
                                          </p:val>
                                        </p:tav>
                                      </p:tavLst>
                                    </p:anim>
                                    <p:anim calcmode="lin" valueType="num">
                                      <p:cBhvr>
                                        <p:cTn id="46" dur="1000" fill="hold"/>
                                        <p:tgtEl>
                                          <p:spTgt spid="2663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990" grpId="0" autoUpdateAnimBg="0"/>
      <p:bldP spid="169992" grpId="0" autoUpdateAnimBg="0"/>
      <p:bldP spid="3" grpId="0" animBg="1"/>
      <p:bldP spid="2663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E8FA1FC3-4DD5-423B-98D6-9CC6A6611FC9}"/>
              </a:ext>
            </a:extLst>
          </p:cNvPr>
          <p:cNvSpPr/>
          <p:nvPr/>
        </p:nvSpPr>
        <p:spPr>
          <a:xfrm>
            <a:off x="4795838" y="88900"/>
            <a:ext cx="2197100" cy="561975"/>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71011" name="Rectangle 3">
            <a:extLst>
              <a:ext uri="{FF2B5EF4-FFF2-40B4-BE49-F238E27FC236}">
                <a16:creationId xmlns:a16="http://schemas.microsoft.com/office/drawing/2014/main" id="{1D202158-550D-49DD-95DD-A8214CB92E32}"/>
              </a:ext>
            </a:extLst>
          </p:cNvPr>
          <p:cNvSpPr>
            <a:spLocks noChangeArrowheads="1"/>
          </p:cNvSpPr>
          <p:nvPr/>
        </p:nvSpPr>
        <p:spPr bwMode="auto">
          <a:xfrm>
            <a:off x="522288" y="682625"/>
            <a:ext cx="8370887"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b="1">
                <a:latin typeface="Times New Roman" panose="02020603050405020304" pitchFamily="18" charset="0"/>
                <a:cs typeface="Times New Roman" panose="02020603050405020304" pitchFamily="18" charset="0"/>
              </a:rPr>
              <a:t>有时也用</a:t>
            </a:r>
            <a:r>
              <a:rPr lang="zh-CN" altLang="en-US" sz="2800" b="1">
                <a:solidFill>
                  <a:srgbClr val="FF0000"/>
                </a:solidFill>
                <a:latin typeface="Times New Roman" panose="02020603050405020304" pitchFamily="18" charset="0"/>
                <a:cs typeface="Times New Roman" panose="02020603050405020304" pitchFamily="18" charset="0"/>
              </a:rPr>
              <a:t>平均寿命</a:t>
            </a:r>
            <a:r>
              <a:rPr lang="en-US" altLang="zh-CN" sz="2800" b="1" i="1">
                <a:solidFill>
                  <a:srgbClr val="FF0000"/>
                </a:solidFill>
                <a:latin typeface="Times New Roman" panose="02020603050405020304" pitchFamily="18" charset="0"/>
                <a:cs typeface="Times New Roman" panose="02020603050405020304" pitchFamily="18" charset="0"/>
              </a:rPr>
              <a:t>T</a:t>
            </a:r>
            <a:r>
              <a:rPr lang="zh-CN" altLang="en-US" sz="2800" b="1">
                <a:latin typeface="Times New Roman" panose="02020603050405020304" pitchFamily="18" charset="0"/>
                <a:cs typeface="Times New Roman" panose="02020603050405020304" pitchFamily="18" charset="0"/>
              </a:rPr>
              <a:t>表示衰变的快慢。平均寿命是指每个原子核衰变前存在的</a:t>
            </a:r>
            <a:r>
              <a:rPr lang="zh-CN" altLang="en-US" sz="2800" b="1">
                <a:solidFill>
                  <a:srgbClr val="FF0000"/>
                </a:solidFill>
                <a:latin typeface="Times New Roman" panose="02020603050405020304" pitchFamily="18" charset="0"/>
                <a:cs typeface="Times New Roman" panose="02020603050405020304" pitchFamily="18" charset="0"/>
              </a:rPr>
              <a:t>时间的平均值</a:t>
            </a:r>
            <a:r>
              <a:rPr lang="en-US" altLang="zh-CN" sz="2800" b="1">
                <a:latin typeface="Times New Roman" panose="02020603050405020304" pitchFamily="18" charset="0"/>
                <a:cs typeface="Times New Roman" panose="02020603050405020304" pitchFamily="18" charset="0"/>
              </a:rPr>
              <a:t>. </a:t>
            </a:r>
          </a:p>
        </p:txBody>
      </p:sp>
      <p:graphicFrame>
        <p:nvGraphicFramePr>
          <p:cNvPr id="171012" name="Object 2">
            <a:extLst>
              <a:ext uri="{FF2B5EF4-FFF2-40B4-BE49-F238E27FC236}">
                <a16:creationId xmlns:a16="http://schemas.microsoft.com/office/drawing/2014/main" id="{94CAA9DA-C8BC-4A65-A087-E23CC1931752}"/>
              </a:ext>
            </a:extLst>
          </p:cNvPr>
          <p:cNvGraphicFramePr>
            <a:graphicFrameLocks noChangeAspect="1"/>
          </p:cNvGraphicFramePr>
          <p:nvPr/>
        </p:nvGraphicFramePr>
        <p:xfrm>
          <a:off x="587375" y="3578225"/>
          <a:ext cx="8169275" cy="1082675"/>
        </p:xfrm>
        <a:graphic>
          <a:graphicData uri="http://schemas.openxmlformats.org/presentationml/2006/ole">
            <mc:AlternateContent xmlns:mc="http://schemas.openxmlformats.org/markup-compatibility/2006">
              <mc:Choice xmlns:v="urn:schemas-microsoft-com:vml" Requires="v">
                <p:oleObj spid="_x0000_s25620" name="Equation" r:id="rId3" imgW="3048000" imgH="406400" progId="Equation.DSMT4">
                  <p:embed/>
                </p:oleObj>
              </mc:Choice>
              <mc:Fallback>
                <p:oleObj name="Equation" r:id="rId3" imgW="3048000" imgH="406400" progId="Equation.DSMT4">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7375" y="3578225"/>
                        <a:ext cx="8169275" cy="1082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1013" name="Rectangle 5">
            <a:extLst>
              <a:ext uri="{FF2B5EF4-FFF2-40B4-BE49-F238E27FC236}">
                <a16:creationId xmlns:a16="http://schemas.microsoft.com/office/drawing/2014/main" id="{C27A690D-289B-4A5B-BC7D-222C9F7AC2E4}"/>
              </a:ext>
            </a:extLst>
          </p:cNvPr>
          <p:cNvSpPr>
            <a:spLocks noChangeArrowheads="1"/>
          </p:cNvSpPr>
          <p:nvPr/>
        </p:nvSpPr>
        <p:spPr bwMode="auto">
          <a:xfrm>
            <a:off x="522288" y="1773238"/>
            <a:ext cx="8370887"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b="1">
                <a:latin typeface="Times New Roman" panose="02020603050405020304" pitchFamily="18" charset="0"/>
                <a:cs typeface="Times New Roman" panose="02020603050405020304" pitchFamily="18" charset="0"/>
              </a:rPr>
              <a:t>在</a:t>
            </a:r>
            <a:r>
              <a:rPr lang="en-US" altLang="zh-CN" sz="2800" b="1" i="1">
                <a:latin typeface="Times New Roman" panose="02020603050405020304" pitchFamily="18" charset="0"/>
                <a:cs typeface="Times New Roman" panose="02020603050405020304" pitchFamily="18" charset="0"/>
              </a:rPr>
              <a:t>t</a:t>
            </a:r>
            <a:r>
              <a:rPr lang="en-US" altLang="zh-CN" sz="2800" b="1">
                <a:latin typeface="Times New Roman" panose="02020603050405020304" pitchFamily="18" charset="0"/>
                <a:cs typeface="Times New Roman" panose="02020603050405020304" pitchFamily="18" charset="0"/>
              </a:rPr>
              <a:t>→</a:t>
            </a:r>
            <a:r>
              <a:rPr lang="en-US" altLang="zh-CN" sz="2800" b="1" i="1">
                <a:latin typeface="Times New Roman" panose="02020603050405020304" pitchFamily="18" charset="0"/>
                <a:cs typeface="Times New Roman" panose="02020603050405020304" pitchFamily="18" charset="0"/>
              </a:rPr>
              <a:t>t</a:t>
            </a:r>
            <a:r>
              <a:rPr lang="zh-CN" altLang="en-US" sz="2800" b="1">
                <a:latin typeface="Times New Roman" panose="02020603050405020304" pitchFamily="18" charset="0"/>
                <a:cs typeface="Times New Roman" panose="02020603050405020304" pitchFamily="18" charset="0"/>
              </a:rPr>
              <a:t>＋</a:t>
            </a:r>
            <a:r>
              <a:rPr lang="en-US" altLang="zh-CN" sz="2800" b="1">
                <a:latin typeface="Times New Roman" panose="02020603050405020304" pitchFamily="18" charset="0"/>
                <a:cs typeface="Times New Roman" panose="02020603050405020304" pitchFamily="18" charset="0"/>
              </a:rPr>
              <a:t>d</a:t>
            </a:r>
            <a:r>
              <a:rPr lang="en-US" altLang="zh-CN" sz="2800" b="1" i="1">
                <a:latin typeface="Times New Roman" panose="02020603050405020304" pitchFamily="18" charset="0"/>
                <a:cs typeface="Times New Roman" panose="02020603050405020304" pitchFamily="18" charset="0"/>
              </a:rPr>
              <a:t>t </a:t>
            </a:r>
            <a:r>
              <a:rPr lang="zh-CN" altLang="en-US" sz="2800" b="1">
                <a:latin typeface="Times New Roman" panose="02020603050405020304" pitchFamily="18" charset="0"/>
                <a:cs typeface="Times New Roman" panose="02020603050405020304" pitchFamily="18" charset="0"/>
              </a:rPr>
              <a:t>时间内衰变的原子核数为－</a:t>
            </a:r>
            <a:r>
              <a:rPr lang="en-US" altLang="zh-CN" sz="2800" b="1">
                <a:latin typeface="Times New Roman" panose="02020603050405020304" pitchFamily="18" charset="0"/>
                <a:cs typeface="Times New Roman" panose="02020603050405020304" pitchFamily="18" charset="0"/>
              </a:rPr>
              <a:t>d</a:t>
            </a:r>
            <a:r>
              <a:rPr lang="en-US" altLang="zh-CN" sz="2800" b="1" i="1">
                <a:latin typeface="Times New Roman" panose="02020603050405020304" pitchFamily="18" charset="0"/>
                <a:cs typeface="Times New Roman" panose="02020603050405020304" pitchFamily="18" charset="0"/>
              </a:rPr>
              <a:t>N</a:t>
            </a:r>
            <a:r>
              <a:rPr lang="en-US" altLang="zh-CN" sz="2800" b="1">
                <a:latin typeface="Times New Roman" panose="02020603050405020304" pitchFamily="18" charset="0"/>
                <a:cs typeface="Times New Roman" panose="02020603050405020304" pitchFamily="18" charset="0"/>
              </a:rPr>
              <a:t>(</a:t>
            </a:r>
            <a:r>
              <a:rPr lang="zh-CN" altLang="en-US" sz="2800" b="1">
                <a:latin typeface="Times New Roman" panose="02020603050405020304" pitchFamily="18" charset="0"/>
                <a:cs typeface="Times New Roman" panose="02020603050405020304" pitchFamily="18" charset="0"/>
              </a:rPr>
              <a:t>负号是因为</a:t>
            </a:r>
            <a:r>
              <a:rPr lang="en-US" altLang="zh-CN" sz="2800" b="1">
                <a:latin typeface="Times New Roman" panose="02020603050405020304" pitchFamily="18" charset="0"/>
                <a:cs typeface="Times New Roman" panose="02020603050405020304" pitchFamily="18" charset="0"/>
              </a:rPr>
              <a:t>d</a:t>
            </a:r>
            <a:r>
              <a:rPr lang="en-US" altLang="zh-CN" sz="2800" b="1" i="1">
                <a:latin typeface="Times New Roman" panose="02020603050405020304" pitchFamily="18" charset="0"/>
                <a:cs typeface="Times New Roman" panose="02020603050405020304" pitchFamily="18" charset="0"/>
              </a:rPr>
              <a:t>N</a:t>
            </a:r>
            <a:r>
              <a:rPr lang="zh-CN" altLang="en-US" sz="2800" b="1">
                <a:latin typeface="Times New Roman" panose="02020603050405020304" pitchFamily="18" charset="0"/>
                <a:cs typeface="Times New Roman" panose="02020603050405020304" pitchFamily="18" charset="0"/>
              </a:rPr>
              <a:t>是负值</a:t>
            </a:r>
            <a:r>
              <a:rPr lang="en-US" altLang="zh-CN" sz="2800" b="1">
                <a:latin typeface="Times New Roman" panose="02020603050405020304" pitchFamily="18" charset="0"/>
                <a:cs typeface="Times New Roman" panose="02020603050405020304" pitchFamily="18" charset="0"/>
              </a:rPr>
              <a:t>)</a:t>
            </a:r>
            <a:r>
              <a:rPr lang="zh-CN" altLang="en-US" sz="2800" b="1">
                <a:latin typeface="Times New Roman" panose="02020603050405020304" pitchFamily="18" charset="0"/>
                <a:cs typeface="Times New Roman" panose="02020603050405020304" pitchFamily="18" charset="0"/>
              </a:rPr>
              <a:t>，存在的时间是</a:t>
            </a:r>
            <a:r>
              <a:rPr lang="en-US" altLang="zh-CN" sz="2800" b="1" i="1">
                <a:latin typeface="Times New Roman" panose="02020603050405020304" pitchFamily="18" charset="0"/>
                <a:cs typeface="Times New Roman" panose="02020603050405020304" pitchFamily="18" charset="0"/>
              </a:rPr>
              <a:t>t</a:t>
            </a:r>
            <a:r>
              <a:rPr lang="zh-CN" altLang="en-US" sz="2800" b="1">
                <a:latin typeface="Times New Roman" panose="02020603050405020304" pitchFamily="18" charset="0"/>
                <a:cs typeface="Times New Roman" panose="02020603050405020304" pitchFamily="18" charset="0"/>
              </a:rPr>
              <a:t>，它们的寿命之和是</a:t>
            </a:r>
            <a:r>
              <a:rPr lang="en-US" altLang="zh-CN" sz="2800" b="1" i="1">
                <a:latin typeface="Times New Roman" panose="02020603050405020304" pitchFamily="18" charset="0"/>
                <a:cs typeface="Times New Roman" panose="02020603050405020304" pitchFamily="18" charset="0"/>
              </a:rPr>
              <a:t>t</a:t>
            </a:r>
            <a:r>
              <a:rPr lang="en-US" altLang="zh-CN" sz="2800" b="1">
                <a:latin typeface="Times New Roman" panose="02020603050405020304" pitchFamily="18" charset="0"/>
                <a:cs typeface="Times New Roman" panose="02020603050405020304" pitchFamily="18" charset="0"/>
              </a:rPr>
              <a:t>(</a:t>
            </a:r>
            <a:r>
              <a:rPr lang="zh-CN" altLang="en-US" sz="2800" b="1">
                <a:latin typeface="Times New Roman" panose="02020603050405020304" pitchFamily="18" charset="0"/>
                <a:cs typeface="Times New Roman" panose="02020603050405020304" pitchFamily="18" charset="0"/>
              </a:rPr>
              <a:t>－</a:t>
            </a:r>
            <a:r>
              <a:rPr lang="en-US" altLang="zh-CN" sz="2800" b="1">
                <a:latin typeface="Times New Roman" panose="02020603050405020304" pitchFamily="18" charset="0"/>
                <a:cs typeface="Times New Roman" panose="02020603050405020304" pitchFamily="18" charset="0"/>
              </a:rPr>
              <a:t>d</a:t>
            </a:r>
            <a:r>
              <a:rPr lang="en-US" altLang="zh-CN" sz="2800" b="1" i="1">
                <a:latin typeface="Times New Roman" panose="02020603050405020304" pitchFamily="18" charset="0"/>
                <a:cs typeface="Times New Roman" panose="02020603050405020304" pitchFamily="18" charset="0"/>
              </a:rPr>
              <a:t>N</a:t>
            </a:r>
            <a:r>
              <a:rPr lang="en-US" altLang="zh-CN" sz="2800" b="1">
                <a:latin typeface="Times New Roman" panose="02020603050405020304" pitchFamily="18" charset="0"/>
                <a:cs typeface="Times New Roman" panose="02020603050405020304" pitchFamily="18" charset="0"/>
              </a:rPr>
              <a:t>)</a:t>
            </a:r>
            <a:r>
              <a:rPr lang="zh-CN" altLang="en-US" sz="2800" b="1">
                <a:latin typeface="Times New Roman" panose="02020603050405020304" pitchFamily="18" charset="0"/>
                <a:cs typeface="Times New Roman" panose="02020603050405020304" pitchFamily="18" charset="0"/>
              </a:rPr>
              <a:t>；对全部时间积分，得到所有原子核的寿命之和为</a:t>
            </a:r>
          </a:p>
        </p:txBody>
      </p:sp>
      <p:sp>
        <p:nvSpPr>
          <p:cNvPr id="171015" name="Rectangle 7">
            <a:extLst>
              <a:ext uri="{FF2B5EF4-FFF2-40B4-BE49-F238E27FC236}">
                <a16:creationId xmlns:a16="http://schemas.microsoft.com/office/drawing/2014/main" id="{C5C81C85-D077-45F3-B50D-3C2893480CCA}"/>
              </a:ext>
            </a:extLst>
          </p:cNvPr>
          <p:cNvSpPr>
            <a:spLocks noChangeArrowheads="1"/>
          </p:cNvSpPr>
          <p:nvPr/>
        </p:nvSpPr>
        <p:spPr bwMode="auto">
          <a:xfrm>
            <a:off x="571500" y="4929188"/>
            <a:ext cx="26543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zh-CN" sz="2800" b="1">
                <a:solidFill>
                  <a:srgbClr val="FF0000"/>
                </a:solidFill>
                <a:cs typeface="Times New Roman" panose="02020603050405020304" pitchFamily="18" charset="0"/>
              </a:rPr>
              <a:t>平均寿命</a:t>
            </a:r>
            <a:r>
              <a:rPr lang="zh-CN" altLang="zh-CN" sz="2800" b="1">
                <a:cs typeface="Times New Roman" panose="02020603050405020304" pitchFamily="18" charset="0"/>
              </a:rPr>
              <a:t>为</a:t>
            </a:r>
            <a:r>
              <a:rPr lang="zh-CN" altLang="en-US" sz="2800" b="1">
                <a:cs typeface="Times New Roman" panose="02020603050405020304" pitchFamily="18" charset="0"/>
              </a:rPr>
              <a:t>：</a:t>
            </a:r>
          </a:p>
        </p:txBody>
      </p:sp>
      <p:graphicFrame>
        <p:nvGraphicFramePr>
          <p:cNvPr id="171016" name="Object 3">
            <a:extLst>
              <a:ext uri="{FF2B5EF4-FFF2-40B4-BE49-F238E27FC236}">
                <a16:creationId xmlns:a16="http://schemas.microsoft.com/office/drawing/2014/main" id="{AE9A529C-C8CB-4511-9D2A-1B09771F5A4B}"/>
              </a:ext>
            </a:extLst>
          </p:cNvPr>
          <p:cNvGraphicFramePr>
            <a:graphicFrameLocks noChangeAspect="1"/>
          </p:cNvGraphicFramePr>
          <p:nvPr/>
        </p:nvGraphicFramePr>
        <p:xfrm>
          <a:off x="3395663" y="5357813"/>
          <a:ext cx="2109787" cy="1165225"/>
        </p:xfrm>
        <a:graphic>
          <a:graphicData uri="http://schemas.openxmlformats.org/presentationml/2006/ole">
            <mc:AlternateContent xmlns:mc="http://schemas.openxmlformats.org/markup-compatibility/2006">
              <mc:Choice xmlns:v="urn:schemas-microsoft-com:vml" Requires="v">
                <p:oleObj spid="_x0000_s25621" name="Equation" r:id="rId5" imgW="799753" imgH="444307" progId="Equation.DSMT4">
                  <p:embed/>
                </p:oleObj>
              </mc:Choice>
              <mc:Fallback>
                <p:oleObj name="Equation" r:id="rId5" imgW="799753" imgH="444307" progId="Equation.DSMT4">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95663" y="5357813"/>
                        <a:ext cx="2109787" cy="1165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608" name="Text Box 29">
            <a:extLst>
              <a:ext uri="{FF2B5EF4-FFF2-40B4-BE49-F238E27FC236}">
                <a16:creationId xmlns:a16="http://schemas.microsoft.com/office/drawing/2014/main" id="{61E62E17-AC07-4B57-A657-F5118FB5ED78}"/>
              </a:ext>
            </a:extLst>
          </p:cNvPr>
          <p:cNvSpPr txBox="1">
            <a:spLocks noChangeArrowheads="1"/>
          </p:cNvSpPr>
          <p:nvPr/>
        </p:nvSpPr>
        <p:spPr bwMode="auto">
          <a:xfrm>
            <a:off x="8629650" y="6356350"/>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1">
                <a:latin typeface="Times New Roman" panose="02020603050405020304" pitchFamily="18" charset="0"/>
              </a:rPr>
              <a:t>18</a:t>
            </a:r>
            <a:endParaRPr lang="en-US" altLang="zh-CN" sz="1800"/>
          </a:p>
        </p:txBody>
      </p:sp>
      <p:graphicFrame>
        <p:nvGraphicFramePr>
          <p:cNvPr id="25609" name="Object 2">
            <a:extLst>
              <a:ext uri="{FF2B5EF4-FFF2-40B4-BE49-F238E27FC236}">
                <a16:creationId xmlns:a16="http://schemas.microsoft.com/office/drawing/2014/main" id="{D12462B5-A360-43D6-93CC-87656E917D37}"/>
              </a:ext>
            </a:extLst>
          </p:cNvPr>
          <p:cNvGraphicFramePr>
            <a:graphicFrameLocks noChangeAspect="1"/>
          </p:cNvGraphicFramePr>
          <p:nvPr/>
        </p:nvGraphicFramePr>
        <p:xfrm>
          <a:off x="4787900" y="120650"/>
          <a:ext cx="2212975" cy="460375"/>
        </p:xfrm>
        <a:graphic>
          <a:graphicData uri="http://schemas.openxmlformats.org/presentationml/2006/ole">
            <mc:AlternateContent xmlns:mc="http://schemas.openxmlformats.org/markup-compatibility/2006">
              <mc:Choice xmlns:v="urn:schemas-microsoft-com:vml" Requires="v">
                <p:oleObj spid="_x0000_s25622" name="Equation" r:id="rId7" imgW="850531" imgH="177723" progId="Equation.DSMT4">
                  <p:embed/>
                </p:oleObj>
              </mc:Choice>
              <mc:Fallback>
                <p:oleObj name="Equation" r:id="rId7" imgW="850531" imgH="177723" progId="Equation.DSMT4">
                  <p:embed/>
                  <p:pic>
                    <p:nvPicPr>
                      <p:cNvPr id="0" name="Object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787900" y="120650"/>
                        <a:ext cx="2212975" cy="460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 name="矩形 9">
            <a:extLst>
              <a:ext uri="{FF2B5EF4-FFF2-40B4-BE49-F238E27FC236}">
                <a16:creationId xmlns:a16="http://schemas.microsoft.com/office/drawing/2014/main" id="{28D66180-5AFC-4293-8C4C-88A2A6192200}"/>
              </a:ext>
            </a:extLst>
          </p:cNvPr>
          <p:cNvSpPr/>
          <p:nvPr/>
        </p:nvSpPr>
        <p:spPr>
          <a:xfrm>
            <a:off x="7004050" y="85725"/>
            <a:ext cx="2157413" cy="604838"/>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aphicFrame>
        <p:nvGraphicFramePr>
          <p:cNvPr id="25611" name="对象 10">
            <a:extLst>
              <a:ext uri="{FF2B5EF4-FFF2-40B4-BE49-F238E27FC236}">
                <a16:creationId xmlns:a16="http://schemas.microsoft.com/office/drawing/2014/main" id="{9C13AED3-3686-43AF-88FA-B5E7AD1E4952}"/>
              </a:ext>
            </a:extLst>
          </p:cNvPr>
          <p:cNvGraphicFramePr>
            <a:graphicFrameLocks noChangeAspect="1"/>
          </p:cNvGraphicFramePr>
          <p:nvPr/>
        </p:nvGraphicFramePr>
        <p:xfrm>
          <a:off x="7115175" y="150813"/>
          <a:ext cx="1933575" cy="609600"/>
        </p:xfrm>
        <a:graphic>
          <a:graphicData uri="http://schemas.openxmlformats.org/presentationml/2006/ole">
            <mc:AlternateContent xmlns:mc="http://schemas.openxmlformats.org/markup-compatibility/2006">
              <mc:Choice xmlns:v="urn:schemas-microsoft-com:vml" Requires="v">
                <p:oleObj spid="_x0000_s25623" name="Equation" r:id="rId9" imgW="1933612" imgH="609660" progId="Equation.DSMT4">
                  <p:embed/>
                </p:oleObj>
              </mc:Choice>
              <mc:Fallback>
                <p:oleObj name="Equation" r:id="rId9" imgW="1933612" imgH="609660" progId="Equation.DSMT4">
                  <p:embed/>
                  <p:pic>
                    <p:nvPicPr>
                      <p:cNvPr id="0" name="对象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115175" y="150813"/>
                        <a:ext cx="193357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 presetClass="entr" presetSubtype="10" fill="hold" grpId="0" nodeType="withEffect">
                                  <p:stCondLst>
                                    <p:cond delay="0"/>
                                  </p:stCondLst>
                                  <p:childTnLst>
                                    <p:set>
                                      <p:cBhvr>
                                        <p:cTn id="6" dur="1" fill="hold">
                                          <p:stCondLst>
                                            <p:cond delay="0"/>
                                          </p:stCondLst>
                                        </p:cTn>
                                        <p:tgtEl>
                                          <p:spTgt spid="171011"/>
                                        </p:tgtEl>
                                        <p:attrNameLst>
                                          <p:attrName>style.visibility</p:attrName>
                                        </p:attrNameLst>
                                      </p:cBhvr>
                                      <p:to>
                                        <p:strVal val="visible"/>
                                      </p:to>
                                    </p:set>
                                    <p:animEffect transition="in" filter="checkerboard(across)">
                                      <p:cBhvr>
                                        <p:cTn id="7" dur="500"/>
                                        <p:tgtEl>
                                          <p:spTgt spid="17101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71013"/>
                                        </p:tgtEl>
                                        <p:attrNameLst>
                                          <p:attrName>style.visibility</p:attrName>
                                        </p:attrNameLst>
                                      </p:cBhvr>
                                      <p:to>
                                        <p:strVal val="visible"/>
                                      </p:to>
                                    </p:set>
                                    <p:animEffect transition="in" filter="checkerboard(across)">
                                      <p:cBhvr>
                                        <p:cTn id="12" dur="500"/>
                                        <p:tgtEl>
                                          <p:spTgt spid="17101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4" fill="hold" nodeType="clickEffect">
                                  <p:stCondLst>
                                    <p:cond delay="0"/>
                                  </p:stCondLst>
                                  <p:childTnLst>
                                    <p:set>
                                      <p:cBhvr>
                                        <p:cTn id="16" dur="1" fill="hold">
                                          <p:stCondLst>
                                            <p:cond delay="0"/>
                                          </p:stCondLst>
                                        </p:cTn>
                                        <p:tgtEl>
                                          <p:spTgt spid="171012"/>
                                        </p:tgtEl>
                                        <p:attrNameLst>
                                          <p:attrName>style.visibility</p:attrName>
                                        </p:attrNameLst>
                                      </p:cBhvr>
                                      <p:to>
                                        <p:strVal val="visible"/>
                                      </p:to>
                                    </p:set>
                                    <p:animEffect transition="in" filter="slide(fromBottom)">
                                      <p:cBhvr>
                                        <p:cTn id="17" dur="500"/>
                                        <p:tgtEl>
                                          <p:spTgt spid="17101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171015"/>
                                        </p:tgtEl>
                                        <p:attrNameLst>
                                          <p:attrName>style.visibility</p:attrName>
                                        </p:attrNameLst>
                                      </p:cBhvr>
                                      <p:to>
                                        <p:strVal val="visible"/>
                                      </p:to>
                                    </p:set>
                                    <p:animEffect transition="in" filter="checkerboard(across)">
                                      <p:cBhvr>
                                        <p:cTn id="22" dur="500"/>
                                        <p:tgtEl>
                                          <p:spTgt spid="17101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2" presetClass="entr" presetSubtype="4" fill="hold" nodeType="clickEffect">
                                  <p:stCondLst>
                                    <p:cond delay="0"/>
                                  </p:stCondLst>
                                  <p:childTnLst>
                                    <p:set>
                                      <p:cBhvr>
                                        <p:cTn id="26" dur="1" fill="hold">
                                          <p:stCondLst>
                                            <p:cond delay="0"/>
                                          </p:stCondLst>
                                        </p:cTn>
                                        <p:tgtEl>
                                          <p:spTgt spid="171016"/>
                                        </p:tgtEl>
                                        <p:attrNameLst>
                                          <p:attrName>style.visibility</p:attrName>
                                        </p:attrNameLst>
                                      </p:cBhvr>
                                      <p:to>
                                        <p:strVal val="visible"/>
                                      </p:to>
                                    </p:set>
                                    <p:animEffect transition="in" filter="slide(fromBottom)">
                                      <p:cBhvr>
                                        <p:cTn id="27" dur="500"/>
                                        <p:tgtEl>
                                          <p:spTgt spid="1710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011" grpId="0" autoUpdateAnimBg="0"/>
      <p:bldP spid="171013" grpId="0" autoUpdateAnimBg="0"/>
      <p:bldP spid="171015" grpId="0"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2">
            <a:extLst>
              <a:ext uri="{FF2B5EF4-FFF2-40B4-BE49-F238E27FC236}">
                <a16:creationId xmlns:a16="http://schemas.microsoft.com/office/drawing/2014/main" id="{211AC378-BE28-430F-A92C-7DB498E79F79}"/>
              </a:ext>
            </a:extLst>
          </p:cNvPr>
          <p:cNvSpPr>
            <a:spLocks noChangeArrowheads="1"/>
          </p:cNvSpPr>
          <p:nvPr/>
        </p:nvSpPr>
        <p:spPr bwMode="auto">
          <a:xfrm>
            <a:off x="476250" y="538163"/>
            <a:ext cx="8370888"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zh-CN" sz="2800" b="1">
                <a:solidFill>
                  <a:srgbClr val="202AF4"/>
                </a:solidFill>
                <a:cs typeface="Times New Roman" panose="02020603050405020304" pitchFamily="18" charset="0"/>
              </a:rPr>
              <a:t>平均寿命等于它的衰变常数的倒数</a:t>
            </a:r>
            <a:r>
              <a:rPr lang="zh-CN" altLang="en-US" sz="2800" b="1">
                <a:cs typeface="Times New Roman" panose="02020603050405020304" pitchFamily="18" charset="0"/>
              </a:rPr>
              <a:t>。</a:t>
            </a:r>
            <a:r>
              <a:rPr lang="zh-CN" altLang="en-US" sz="2800" b="1">
                <a:solidFill>
                  <a:srgbClr val="FF0000"/>
                </a:solidFill>
                <a:cs typeface="Times New Roman" panose="02020603050405020304" pitchFamily="18" charset="0"/>
              </a:rPr>
              <a:t>平均寿命</a:t>
            </a:r>
            <a:r>
              <a:rPr lang="en-US" altLang="zh-CN" sz="2800" b="1">
                <a:solidFill>
                  <a:srgbClr val="FF0000"/>
                </a:solidFill>
                <a:cs typeface="Times New Roman" panose="02020603050405020304" pitchFamily="18" charset="0"/>
              </a:rPr>
              <a:t>T</a:t>
            </a:r>
            <a:r>
              <a:rPr lang="zh-CN" altLang="en-US" sz="2800" b="1">
                <a:cs typeface="Times New Roman" panose="02020603050405020304" pitchFamily="18" charset="0"/>
              </a:rPr>
              <a:t>与</a:t>
            </a:r>
            <a:r>
              <a:rPr lang="zh-CN" altLang="en-US" sz="2800" b="1">
                <a:solidFill>
                  <a:srgbClr val="FF0000"/>
                </a:solidFill>
                <a:cs typeface="Times New Roman" panose="02020603050405020304" pitchFamily="18" charset="0"/>
              </a:rPr>
              <a:t>半衰期</a:t>
            </a:r>
            <a:r>
              <a:rPr lang="el-GR" altLang="zh-CN" sz="2800" b="1">
                <a:solidFill>
                  <a:srgbClr val="FF0000"/>
                </a:solidFill>
                <a:latin typeface="Times New Roman" panose="02020603050405020304" pitchFamily="18" charset="0"/>
                <a:cs typeface="Times New Roman" panose="02020603050405020304" pitchFamily="18" charset="0"/>
              </a:rPr>
              <a:t>τ</a:t>
            </a:r>
            <a:r>
              <a:rPr lang="zh-CN" altLang="en-US" sz="2800" b="1">
                <a:cs typeface="Times New Roman" panose="02020603050405020304" pitchFamily="18" charset="0"/>
              </a:rPr>
              <a:t>的关系为</a:t>
            </a:r>
          </a:p>
        </p:txBody>
      </p:sp>
      <p:graphicFrame>
        <p:nvGraphicFramePr>
          <p:cNvPr id="172038" name="Object 2">
            <a:extLst>
              <a:ext uri="{FF2B5EF4-FFF2-40B4-BE49-F238E27FC236}">
                <a16:creationId xmlns:a16="http://schemas.microsoft.com/office/drawing/2014/main" id="{7BA29ED0-9316-4E9C-AFB4-394DCA819E47}"/>
              </a:ext>
            </a:extLst>
          </p:cNvPr>
          <p:cNvGraphicFramePr>
            <a:graphicFrameLocks noChangeAspect="1"/>
          </p:cNvGraphicFramePr>
          <p:nvPr/>
        </p:nvGraphicFramePr>
        <p:xfrm>
          <a:off x="2120900" y="3500438"/>
          <a:ext cx="4491038" cy="1066800"/>
        </p:xfrm>
        <a:graphic>
          <a:graphicData uri="http://schemas.openxmlformats.org/presentationml/2006/ole">
            <mc:AlternateContent xmlns:mc="http://schemas.openxmlformats.org/markup-compatibility/2006">
              <mc:Choice xmlns:v="urn:schemas-microsoft-com:vml" Requires="v">
                <p:oleObj spid="_x0000_s26660" name="Equation" r:id="rId3" imgW="1701800" imgH="406400" progId="Equation.DSMT4">
                  <p:embed/>
                </p:oleObj>
              </mc:Choice>
              <mc:Fallback>
                <p:oleObj name="Equation" r:id="rId3" imgW="1701800" imgH="406400" progId="Equation.DSMT4">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20900" y="3500438"/>
                        <a:ext cx="4491038" cy="1066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2039" name="Object 3">
            <a:extLst>
              <a:ext uri="{FF2B5EF4-FFF2-40B4-BE49-F238E27FC236}">
                <a16:creationId xmlns:a16="http://schemas.microsoft.com/office/drawing/2014/main" id="{9AD463A0-0142-4313-BAF5-6EF6CF1C2118}"/>
              </a:ext>
            </a:extLst>
          </p:cNvPr>
          <p:cNvGraphicFramePr>
            <a:graphicFrameLocks noChangeAspect="1"/>
          </p:cNvGraphicFramePr>
          <p:nvPr/>
        </p:nvGraphicFramePr>
        <p:xfrm>
          <a:off x="498475" y="1357313"/>
          <a:ext cx="8347075" cy="1065212"/>
        </p:xfrm>
        <a:graphic>
          <a:graphicData uri="http://schemas.openxmlformats.org/presentationml/2006/ole">
            <mc:AlternateContent xmlns:mc="http://schemas.openxmlformats.org/markup-compatibility/2006">
              <mc:Choice xmlns:v="urn:schemas-microsoft-com:vml" Requires="v">
                <p:oleObj spid="_x0000_s26661" name="Equation" r:id="rId5" imgW="3162300" imgH="406400" progId="Equation.DSMT4">
                  <p:embed/>
                </p:oleObj>
              </mc:Choice>
              <mc:Fallback>
                <p:oleObj name="Equation" r:id="rId5" imgW="3162300" imgH="406400" progId="Equation.DSMT4">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8475" y="1357313"/>
                        <a:ext cx="8347075" cy="1065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 name="Group 12">
            <a:extLst>
              <a:ext uri="{FF2B5EF4-FFF2-40B4-BE49-F238E27FC236}">
                <a16:creationId xmlns:a16="http://schemas.microsoft.com/office/drawing/2014/main" id="{55355629-C86A-433B-BC4E-749497C72686}"/>
              </a:ext>
            </a:extLst>
          </p:cNvPr>
          <p:cNvGrpSpPr>
            <a:grpSpLocks/>
          </p:cNvGrpSpPr>
          <p:nvPr/>
        </p:nvGrpSpPr>
        <p:grpSpPr bwMode="auto">
          <a:xfrm>
            <a:off x="431800" y="2333625"/>
            <a:ext cx="8145463" cy="1455738"/>
            <a:chOff x="272" y="1649"/>
            <a:chExt cx="5131" cy="917"/>
          </a:xfrm>
        </p:grpSpPr>
        <p:sp>
          <p:nvSpPr>
            <p:cNvPr id="26642" name="Rectangle 8">
              <a:extLst>
                <a:ext uri="{FF2B5EF4-FFF2-40B4-BE49-F238E27FC236}">
                  <a16:creationId xmlns:a16="http://schemas.microsoft.com/office/drawing/2014/main" id="{BAC8ED58-D052-47EE-9833-1623ABAFC534}"/>
                </a:ext>
              </a:extLst>
            </p:cNvPr>
            <p:cNvSpPr>
              <a:spLocks noChangeArrowheads="1"/>
            </p:cNvSpPr>
            <p:nvPr/>
          </p:nvSpPr>
          <p:spPr bwMode="auto">
            <a:xfrm>
              <a:off x="272" y="1649"/>
              <a:ext cx="5131" cy="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0"/>
                </a:spcBef>
                <a:buFontTx/>
                <a:buNone/>
              </a:pPr>
              <a:r>
                <a:rPr lang="zh-CN" altLang="en-US" sz="2800" b="1">
                  <a:solidFill>
                    <a:srgbClr val="FF0000"/>
                  </a:solidFill>
                  <a:latin typeface="Times New Roman" panose="02020603050405020304" pitchFamily="18" charset="0"/>
                  <a:cs typeface="Times New Roman" panose="02020603050405020304" pitchFamily="18" charset="0"/>
                </a:rPr>
                <a:t>放射性活度</a:t>
              </a:r>
              <a:r>
                <a:rPr lang="en-US" altLang="zh-CN" sz="2800" b="1">
                  <a:latin typeface="Times New Roman" panose="02020603050405020304" pitchFamily="18" charset="0"/>
                  <a:cs typeface="Times New Roman" panose="02020603050405020304" pitchFamily="18" charset="0"/>
                </a:rPr>
                <a:t>(</a:t>
              </a:r>
              <a:r>
                <a:rPr lang="zh-CN" altLang="en-US" sz="2800" b="1">
                  <a:latin typeface="Times New Roman" panose="02020603050405020304" pitchFamily="18" charset="0"/>
                  <a:cs typeface="Times New Roman" panose="02020603050405020304" pitchFamily="18" charset="0"/>
                </a:rPr>
                <a:t>也称放射性强度</a:t>
              </a:r>
              <a:r>
                <a:rPr lang="en-US" altLang="zh-CN" sz="2800" b="1">
                  <a:latin typeface="Times New Roman" panose="02020603050405020304" pitchFamily="18" charset="0"/>
                  <a:cs typeface="Times New Roman" panose="02020603050405020304" pitchFamily="18" charset="0"/>
                </a:rPr>
                <a:t>)</a:t>
              </a:r>
              <a:r>
                <a:rPr lang="zh-CN" altLang="en-US" sz="2800" b="1">
                  <a:latin typeface="Times New Roman" panose="02020603050405020304" pitchFamily="18" charset="0"/>
                  <a:cs typeface="Times New Roman" panose="02020603050405020304" pitchFamily="18" charset="0"/>
                </a:rPr>
                <a:t>是指一个放射源，在</a:t>
              </a:r>
              <a:r>
                <a:rPr lang="zh-CN" altLang="en-US" sz="2800" b="1">
                  <a:solidFill>
                    <a:srgbClr val="202AF4"/>
                  </a:solidFill>
                  <a:latin typeface="Times New Roman" panose="02020603050405020304" pitchFamily="18" charset="0"/>
                  <a:cs typeface="Times New Roman" panose="02020603050405020304" pitchFamily="18" charset="0"/>
                </a:rPr>
                <a:t>单位时间内发生的核衰变次数        </a:t>
              </a:r>
              <a:r>
                <a:rPr lang="zh-CN" altLang="en-US" sz="2800" b="1">
                  <a:latin typeface="Times New Roman" panose="02020603050405020304" pitchFamily="18" charset="0"/>
                  <a:cs typeface="Times New Roman" panose="02020603050405020304" pitchFamily="18" charset="0"/>
                </a:rPr>
                <a:t>，用</a:t>
              </a:r>
              <a:r>
                <a:rPr lang="en-US" altLang="zh-CN" sz="2800" b="1" i="1">
                  <a:latin typeface="Times New Roman" panose="02020603050405020304" pitchFamily="18" charset="0"/>
                  <a:cs typeface="Times New Roman" panose="02020603050405020304" pitchFamily="18" charset="0"/>
                </a:rPr>
                <a:t>A</a:t>
              </a:r>
              <a:r>
                <a:rPr lang="zh-CN" altLang="en-US" sz="2800" b="1">
                  <a:latin typeface="Times New Roman" panose="02020603050405020304" pitchFamily="18" charset="0"/>
                  <a:cs typeface="Times New Roman" panose="02020603050405020304" pitchFamily="18" charset="0"/>
                </a:rPr>
                <a:t>表示 </a:t>
              </a:r>
            </a:p>
          </p:txBody>
        </p:sp>
        <p:graphicFrame>
          <p:nvGraphicFramePr>
            <p:cNvPr id="26643" name="Object 5">
              <a:extLst>
                <a:ext uri="{FF2B5EF4-FFF2-40B4-BE49-F238E27FC236}">
                  <a16:creationId xmlns:a16="http://schemas.microsoft.com/office/drawing/2014/main" id="{57231C65-EE67-457B-A636-891F8DFEC7F4}"/>
                </a:ext>
              </a:extLst>
            </p:cNvPr>
            <p:cNvGraphicFramePr>
              <a:graphicFrameLocks noChangeAspect="1"/>
            </p:cNvGraphicFramePr>
            <p:nvPr/>
          </p:nvGraphicFramePr>
          <p:xfrm>
            <a:off x="3295" y="1951"/>
            <a:ext cx="426" cy="615"/>
          </p:xfrm>
          <a:graphic>
            <a:graphicData uri="http://schemas.openxmlformats.org/presentationml/2006/ole">
              <mc:AlternateContent xmlns:mc="http://schemas.openxmlformats.org/markup-compatibility/2006">
                <mc:Choice xmlns:v="urn:schemas-microsoft-com:vml" Requires="v">
                  <p:oleObj spid="_x0000_s26662" name="Equation" r:id="rId7" imgW="279279" imgH="406224" progId="Equation.DSMT4">
                    <p:embed/>
                  </p:oleObj>
                </mc:Choice>
                <mc:Fallback>
                  <p:oleObj name="Equation" r:id="rId7" imgW="279279" imgH="406224" progId="Equation.DSMT4">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95" y="1951"/>
                          <a:ext cx="426" cy="6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72042" name="Rectangle 10">
            <a:extLst>
              <a:ext uri="{FF2B5EF4-FFF2-40B4-BE49-F238E27FC236}">
                <a16:creationId xmlns:a16="http://schemas.microsoft.com/office/drawing/2014/main" id="{C7D33EC4-C09F-44C2-AF1A-6F538844F5B8}"/>
              </a:ext>
            </a:extLst>
          </p:cNvPr>
          <p:cNvSpPr>
            <a:spLocks noChangeArrowheads="1"/>
          </p:cNvSpPr>
          <p:nvPr/>
        </p:nvSpPr>
        <p:spPr bwMode="auto">
          <a:xfrm>
            <a:off x="549275" y="4365625"/>
            <a:ext cx="6254750" cy="652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0"/>
              </a:spcBef>
              <a:buFontTx/>
              <a:buNone/>
            </a:pPr>
            <a:r>
              <a:rPr lang="zh-CN" altLang="zh-CN" sz="2800" b="1">
                <a:latin typeface="Times New Roman" panose="02020603050405020304" pitchFamily="18" charset="0"/>
                <a:cs typeface="Times New Roman" panose="02020603050405020304" pitchFamily="18" charset="0"/>
              </a:rPr>
              <a:t>当</a:t>
            </a:r>
            <a:r>
              <a:rPr lang="en-US" altLang="zh-CN" sz="2800" b="1" i="1">
                <a:solidFill>
                  <a:srgbClr val="202AF4"/>
                </a:solidFill>
                <a:latin typeface="Times New Roman" panose="02020603050405020304" pitchFamily="18" charset="0"/>
                <a:cs typeface="Times New Roman" panose="02020603050405020304" pitchFamily="18" charset="0"/>
              </a:rPr>
              <a:t>t</a:t>
            </a:r>
            <a:r>
              <a:rPr lang="zh-CN" altLang="en-US" sz="2800" b="1">
                <a:solidFill>
                  <a:srgbClr val="202AF4"/>
                </a:solidFill>
                <a:latin typeface="Times New Roman" panose="02020603050405020304" pitchFamily="18" charset="0"/>
                <a:cs typeface="Times New Roman" panose="02020603050405020304" pitchFamily="18" charset="0"/>
              </a:rPr>
              <a:t>＝</a:t>
            </a:r>
            <a:r>
              <a:rPr lang="en-US" altLang="zh-CN" sz="2800" b="1">
                <a:solidFill>
                  <a:srgbClr val="202AF4"/>
                </a:solidFill>
                <a:latin typeface="Times New Roman" panose="02020603050405020304" pitchFamily="18" charset="0"/>
                <a:cs typeface="Times New Roman" panose="02020603050405020304" pitchFamily="18" charset="0"/>
              </a:rPr>
              <a:t>0</a:t>
            </a:r>
            <a:r>
              <a:rPr lang="zh-CN" altLang="en-US" sz="2800" b="1">
                <a:solidFill>
                  <a:srgbClr val="202AF4"/>
                </a:solidFill>
                <a:latin typeface="Times New Roman" panose="02020603050405020304" pitchFamily="18" charset="0"/>
                <a:cs typeface="Times New Roman" panose="02020603050405020304" pitchFamily="18" charset="0"/>
              </a:rPr>
              <a:t>时，</a:t>
            </a:r>
            <a:r>
              <a:rPr lang="en-US" altLang="zh-CN" sz="2800" b="1" i="1">
                <a:solidFill>
                  <a:srgbClr val="202AF4"/>
                </a:solidFill>
                <a:latin typeface="Times New Roman" panose="02020603050405020304" pitchFamily="18" charset="0"/>
                <a:cs typeface="Times New Roman" panose="02020603050405020304" pitchFamily="18" charset="0"/>
              </a:rPr>
              <a:t>N</a:t>
            </a:r>
            <a:r>
              <a:rPr lang="zh-CN" altLang="en-US" sz="2800" b="1">
                <a:solidFill>
                  <a:srgbClr val="202AF4"/>
                </a:solidFill>
                <a:latin typeface="Times New Roman" panose="02020603050405020304" pitchFamily="18" charset="0"/>
                <a:cs typeface="Times New Roman" panose="02020603050405020304" pitchFamily="18" charset="0"/>
              </a:rPr>
              <a:t>＝</a:t>
            </a:r>
            <a:r>
              <a:rPr lang="en-US" altLang="zh-CN" sz="2800" b="1" i="1">
                <a:solidFill>
                  <a:srgbClr val="202AF4"/>
                </a:solidFill>
                <a:latin typeface="Times New Roman" panose="02020603050405020304" pitchFamily="18" charset="0"/>
                <a:cs typeface="Times New Roman" panose="02020603050405020304" pitchFamily="18" charset="0"/>
              </a:rPr>
              <a:t>N</a:t>
            </a:r>
            <a:r>
              <a:rPr lang="en-US" altLang="zh-CN" sz="2800" b="1" baseline="-30000">
                <a:solidFill>
                  <a:srgbClr val="202AF4"/>
                </a:solidFill>
                <a:latin typeface="Times New Roman" panose="02020603050405020304" pitchFamily="18" charset="0"/>
                <a:cs typeface="Times New Roman" panose="02020603050405020304" pitchFamily="18" charset="0"/>
              </a:rPr>
              <a:t>0</a:t>
            </a:r>
            <a:r>
              <a:rPr lang="zh-CN" altLang="en-US" sz="2800" b="1">
                <a:solidFill>
                  <a:srgbClr val="202AF4"/>
                </a:solidFill>
                <a:latin typeface="Times New Roman" panose="02020603050405020304" pitchFamily="18" charset="0"/>
                <a:cs typeface="Times New Roman" panose="02020603050405020304" pitchFamily="18" charset="0"/>
              </a:rPr>
              <a:t>，</a:t>
            </a:r>
            <a:r>
              <a:rPr lang="en-US" altLang="zh-CN" sz="2800" b="1" i="1">
                <a:solidFill>
                  <a:srgbClr val="202AF4"/>
                </a:solidFill>
                <a:latin typeface="Times New Roman" panose="02020603050405020304" pitchFamily="18" charset="0"/>
                <a:cs typeface="Times New Roman" panose="02020603050405020304" pitchFamily="18" charset="0"/>
              </a:rPr>
              <a:t>A</a:t>
            </a:r>
            <a:r>
              <a:rPr lang="en-US" altLang="zh-CN" sz="2800" b="1" baseline="-30000">
                <a:solidFill>
                  <a:srgbClr val="202AF4"/>
                </a:solidFill>
                <a:latin typeface="Times New Roman" panose="02020603050405020304" pitchFamily="18" charset="0"/>
                <a:cs typeface="Times New Roman" panose="02020603050405020304" pitchFamily="18" charset="0"/>
              </a:rPr>
              <a:t>0</a:t>
            </a:r>
            <a:r>
              <a:rPr lang="zh-CN" altLang="en-US" sz="2800" b="1">
                <a:solidFill>
                  <a:srgbClr val="202AF4"/>
                </a:solidFill>
                <a:latin typeface="Times New Roman" panose="02020603050405020304" pitchFamily="18" charset="0"/>
                <a:cs typeface="Times New Roman" panose="02020603050405020304" pitchFamily="18" charset="0"/>
              </a:rPr>
              <a:t>＝</a:t>
            </a:r>
            <a:r>
              <a:rPr lang="en-US" altLang="zh-CN" sz="2800" b="1" i="1">
                <a:solidFill>
                  <a:srgbClr val="202AF4"/>
                </a:solidFill>
                <a:latin typeface="Times New Roman" panose="02020603050405020304" pitchFamily="18" charset="0"/>
                <a:cs typeface="Times New Roman" panose="02020603050405020304" pitchFamily="18" charset="0"/>
              </a:rPr>
              <a:t>λN</a:t>
            </a:r>
            <a:r>
              <a:rPr lang="en-US" altLang="zh-CN" sz="2800" b="1" baseline="-30000">
                <a:solidFill>
                  <a:srgbClr val="202AF4"/>
                </a:solidFill>
                <a:latin typeface="Times New Roman" panose="02020603050405020304" pitchFamily="18" charset="0"/>
                <a:cs typeface="Times New Roman" panose="02020603050405020304" pitchFamily="18" charset="0"/>
              </a:rPr>
              <a:t>0</a:t>
            </a:r>
            <a:r>
              <a:rPr lang="zh-CN" altLang="en-US" sz="2800" b="1">
                <a:latin typeface="Times New Roman" panose="02020603050405020304" pitchFamily="18" charset="0"/>
                <a:cs typeface="Times New Roman" panose="02020603050405020304" pitchFamily="18" charset="0"/>
              </a:rPr>
              <a:t>；则</a:t>
            </a:r>
          </a:p>
        </p:txBody>
      </p:sp>
      <p:graphicFrame>
        <p:nvGraphicFramePr>
          <p:cNvPr id="172043" name="Object 4">
            <a:extLst>
              <a:ext uri="{FF2B5EF4-FFF2-40B4-BE49-F238E27FC236}">
                <a16:creationId xmlns:a16="http://schemas.microsoft.com/office/drawing/2014/main" id="{6BD54408-5F44-429C-B6D2-E7225A2B769A}"/>
              </a:ext>
            </a:extLst>
          </p:cNvPr>
          <p:cNvGraphicFramePr>
            <a:graphicFrameLocks noChangeAspect="1"/>
          </p:cNvGraphicFramePr>
          <p:nvPr/>
        </p:nvGraphicFramePr>
        <p:xfrm>
          <a:off x="755650" y="5002213"/>
          <a:ext cx="5073650" cy="1100137"/>
        </p:xfrm>
        <a:graphic>
          <a:graphicData uri="http://schemas.openxmlformats.org/presentationml/2006/ole">
            <mc:AlternateContent xmlns:mc="http://schemas.openxmlformats.org/markup-compatibility/2006">
              <mc:Choice xmlns:v="urn:schemas-microsoft-com:vml" Requires="v">
                <p:oleObj spid="_x0000_s26663" name="Equation" r:id="rId9" imgW="1866090" imgH="406224" progId="Equation.DSMT4">
                  <p:embed/>
                </p:oleObj>
              </mc:Choice>
              <mc:Fallback>
                <p:oleObj name="Equation" r:id="rId9" imgW="1866090" imgH="406224" progId="Equation.DSMT4">
                  <p:embed/>
                  <p:pic>
                    <p:nvPicPr>
                      <p:cNvPr id="0" name="Object 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55650" y="5002213"/>
                        <a:ext cx="5073650" cy="1100137"/>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6632" name="Text Box 29">
            <a:extLst>
              <a:ext uri="{FF2B5EF4-FFF2-40B4-BE49-F238E27FC236}">
                <a16:creationId xmlns:a16="http://schemas.microsoft.com/office/drawing/2014/main" id="{75F0FD20-CF34-4551-8FC8-9A75E3352C56}"/>
              </a:ext>
            </a:extLst>
          </p:cNvPr>
          <p:cNvSpPr txBox="1">
            <a:spLocks noChangeArrowheads="1"/>
          </p:cNvSpPr>
          <p:nvPr/>
        </p:nvSpPr>
        <p:spPr bwMode="auto">
          <a:xfrm>
            <a:off x="8629650" y="6356350"/>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1">
                <a:latin typeface="Times New Roman" panose="02020603050405020304" pitchFamily="18" charset="0"/>
              </a:rPr>
              <a:t>19</a:t>
            </a:r>
            <a:endParaRPr lang="en-US" altLang="zh-CN" sz="1800"/>
          </a:p>
        </p:txBody>
      </p:sp>
      <p:sp>
        <p:nvSpPr>
          <p:cNvPr id="14349" name="Text Box 13">
            <a:extLst>
              <a:ext uri="{FF2B5EF4-FFF2-40B4-BE49-F238E27FC236}">
                <a16:creationId xmlns:a16="http://schemas.microsoft.com/office/drawing/2014/main" id="{ED40FD30-5C7A-4992-B06E-A4E00B67AC2D}"/>
              </a:ext>
            </a:extLst>
          </p:cNvPr>
          <p:cNvSpPr txBox="1">
            <a:spLocks noChangeArrowheads="1"/>
          </p:cNvSpPr>
          <p:nvPr/>
        </p:nvSpPr>
        <p:spPr bwMode="auto">
          <a:xfrm>
            <a:off x="5724525" y="5246688"/>
            <a:ext cx="2376488" cy="560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50000"/>
              </a:spcBef>
              <a:buFontTx/>
              <a:buNone/>
            </a:pPr>
            <a:r>
              <a:rPr kumimoji="1" lang="zh-CN" altLang="en-US" sz="2800" b="1">
                <a:solidFill>
                  <a:srgbClr val="202AF4"/>
                </a:solidFill>
                <a:latin typeface="Times New Roman" panose="02020603050405020304" pitchFamily="18" charset="0"/>
              </a:rPr>
              <a:t>贝克勒尔</a:t>
            </a:r>
            <a:r>
              <a:rPr kumimoji="1" lang="en-US" altLang="zh-CN" sz="2800" b="1">
                <a:solidFill>
                  <a:srgbClr val="202AF4"/>
                </a:solidFill>
                <a:latin typeface="Times New Roman" panose="02020603050405020304" pitchFamily="18" charset="0"/>
              </a:rPr>
              <a:t>(Bq)</a:t>
            </a:r>
          </a:p>
        </p:txBody>
      </p:sp>
      <p:grpSp>
        <p:nvGrpSpPr>
          <p:cNvPr id="13" name="Group 21">
            <a:extLst>
              <a:ext uri="{FF2B5EF4-FFF2-40B4-BE49-F238E27FC236}">
                <a16:creationId xmlns:a16="http://schemas.microsoft.com/office/drawing/2014/main" id="{400584C4-3B78-4610-ADA3-7018F36A09E0}"/>
              </a:ext>
            </a:extLst>
          </p:cNvPr>
          <p:cNvGrpSpPr>
            <a:grpSpLocks/>
          </p:cNvGrpSpPr>
          <p:nvPr/>
        </p:nvGrpSpPr>
        <p:grpSpPr bwMode="auto">
          <a:xfrm>
            <a:off x="611188" y="6145213"/>
            <a:ext cx="6746875" cy="523875"/>
            <a:chOff x="1655" y="2636"/>
            <a:chExt cx="4250" cy="330"/>
          </a:xfrm>
        </p:grpSpPr>
        <p:sp>
          <p:nvSpPr>
            <p:cNvPr id="26639" name="Text Box 22">
              <a:extLst>
                <a:ext uri="{FF2B5EF4-FFF2-40B4-BE49-F238E27FC236}">
                  <a16:creationId xmlns:a16="http://schemas.microsoft.com/office/drawing/2014/main" id="{3D1844C3-77BE-48DA-82F0-9C1EB1D86D68}"/>
                </a:ext>
              </a:extLst>
            </p:cNvPr>
            <p:cNvSpPr txBox="1">
              <a:spLocks noChangeArrowheads="1"/>
            </p:cNvSpPr>
            <p:nvPr/>
          </p:nvSpPr>
          <p:spPr bwMode="auto">
            <a:xfrm>
              <a:off x="1655" y="2636"/>
              <a:ext cx="795"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b="1"/>
                <a:t>单位：</a:t>
              </a:r>
              <a:endParaRPr lang="zh-CN" altLang="en-US" sz="2800" b="1">
                <a:ea typeface="华文中宋" panose="02010600040101010101" pitchFamily="2" charset="-122"/>
              </a:endParaRPr>
            </a:p>
          </p:txBody>
        </p:sp>
        <p:graphicFrame>
          <p:nvGraphicFramePr>
            <p:cNvPr id="26640" name="Object 23">
              <a:extLst>
                <a:ext uri="{FF2B5EF4-FFF2-40B4-BE49-F238E27FC236}">
                  <a16:creationId xmlns:a16="http://schemas.microsoft.com/office/drawing/2014/main" id="{9F9E40B1-0BD2-4720-BBDE-715804D85D3D}"/>
                </a:ext>
              </a:extLst>
            </p:cNvPr>
            <p:cNvGraphicFramePr>
              <a:graphicFrameLocks noChangeAspect="1"/>
            </p:cNvGraphicFramePr>
            <p:nvPr/>
          </p:nvGraphicFramePr>
          <p:xfrm>
            <a:off x="3650" y="2640"/>
            <a:ext cx="2255" cy="326"/>
          </p:xfrm>
          <a:graphic>
            <a:graphicData uri="http://schemas.openxmlformats.org/presentationml/2006/ole">
              <mc:AlternateContent xmlns:mc="http://schemas.openxmlformats.org/markup-compatibility/2006">
                <mc:Choice xmlns:v="urn:schemas-microsoft-com:vml" Requires="v">
                  <p:oleObj spid="_x0000_s26664" name="Equation" r:id="rId11" imgW="1600200" imgH="228600" progId="Equation.DSMT4">
                    <p:embed/>
                  </p:oleObj>
                </mc:Choice>
                <mc:Fallback>
                  <p:oleObj name="Equation" r:id="rId11" imgW="1600200" imgH="228600" progId="Equation.DSMT4">
                    <p:embed/>
                    <p:pic>
                      <p:nvPicPr>
                        <p:cNvPr id="0" name="Object 2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650" y="2640"/>
                          <a:ext cx="2255"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6641" name="Object 24">
              <a:extLst>
                <a:ext uri="{FF2B5EF4-FFF2-40B4-BE49-F238E27FC236}">
                  <a16:creationId xmlns:a16="http://schemas.microsoft.com/office/drawing/2014/main" id="{4E04747C-C89F-40E5-A853-7AF1BAA888D4}"/>
                </a:ext>
              </a:extLst>
            </p:cNvPr>
            <p:cNvGraphicFramePr>
              <a:graphicFrameLocks noChangeAspect="1"/>
            </p:cNvGraphicFramePr>
            <p:nvPr/>
          </p:nvGraphicFramePr>
          <p:xfrm>
            <a:off x="2426" y="2640"/>
            <a:ext cx="1128" cy="326"/>
          </p:xfrm>
          <a:graphic>
            <a:graphicData uri="http://schemas.openxmlformats.org/presentationml/2006/ole">
              <mc:AlternateContent xmlns:mc="http://schemas.openxmlformats.org/markup-compatibility/2006">
                <mc:Choice xmlns:v="urn:schemas-microsoft-com:vml" Requires="v">
                  <p:oleObj spid="_x0000_s26665" name="Equation" r:id="rId13" imgW="800100" imgH="228600" progId="Equation.DSMT4">
                    <p:embed/>
                  </p:oleObj>
                </mc:Choice>
                <mc:Fallback>
                  <p:oleObj name="Equation" r:id="rId13" imgW="800100" imgH="228600" progId="Equation.DSMT4">
                    <p:embed/>
                    <p:pic>
                      <p:nvPicPr>
                        <p:cNvPr id="0" name="Object 2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426" y="2640"/>
                          <a:ext cx="1128"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6" name="矩形 15">
            <a:extLst>
              <a:ext uri="{FF2B5EF4-FFF2-40B4-BE49-F238E27FC236}">
                <a16:creationId xmlns:a16="http://schemas.microsoft.com/office/drawing/2014/main" id="{179EC555-089F-49B1-8B41-F428B1DC0F8D}"/>
              </a:ext>
            </a:extLst>
          </p:cNvPr>
          <p:cNvSpPr/>
          <p:nvPr/>
        </p:nvSpPr>
        <p:spPr>
          <a:xfrm>
            <a:off x="4795838" y="-6350"/>
            <a:ext cx="2197100" cy="561975"/>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aphicFrame>
        <p:nvGraphicFramePr>
          <p:cNvPr id="26636" name="Object 2">
            <a:extLst>
              <a:ext uri="{FF2B5EF4-FFF2-40B4-BE49-F238E27FC236}">
                <a16:creationId xmlns:a16="http://schemas.microsoft.com/office/drawing/2014/main" id="{373EA015-6FD8-4CC3-A7A4-8827BDFA2B3F}"/>
              </a:ext>
            </a:extLst>
          </p:cNvPr>
          <p:cNvGraphicFramePr>
            <a:graphicFrameLocks noChangeAspect="1"/>
          </p:cNvGraphicFramePr>
          <p:nvPr/>
        </p:nvGraphicFramePr>
        <p:xfrm>
          <a:off x="4787900" y="25400"/>
          <a:ext cx="2212975" cy="460375"/>
        </p:xfrm>
        <a:graphic>
          <a:graphicData uri="http://schemas.openxmlformats.org/presentationml/2006/ole">
            <mc:AlternateContent xmlns:mc="http://schemas.openxmlformats.org/markup-compatibility/2006">
              <mc:Choice xmlns:v="urn:schemas-microsoft-com:vml" Requires="v">
                <p:oleObj spid="_x0000_s26666" name="Equation" r:id="rId15" imgW="850531" imgH="177723" progId="Equation.DSMT4">
                  <p:embed/>
                </p:oleObj>
              </mc:Choice>
              <mc:Fallback>
                <p:oleObj name="Equation" r:id="rId15" imgW="850531" imgH="177723" progId="Equation.DSMT4">
                  <p:embed/>
                  <p:pic>
                    <p:nvPicPr>
                      <p:cNvPr id="0" name="Object 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787900" y="25400"/>
                        <a:ext cx="2212975" cy="460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 name="矩形 17">
            <a:extLst>
              <a:ext uri="{FF2B5EF4-FFF2-40B4-BE49-F238E27FC236}">
                <a16:creationId xmlns:a16="http://schemas.microsoft.com/office/drawing/2014/main" id="{1E093453-0FC0-4E0D-AC93-B8588748D61C}"/>
              </a:ext>
            </a:extLst>
          </p:cNvPr>
          <p:cNvSpPr/>
          <p:nvPr/>
        </p:nvSpPr>
        <p:spPr>
          <a:xfrm>
            <a:off x="7004050" y="-7938"/>
            <a:ext cx="2157413" cy="603251"/>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aphicFrame>
        <p:nvGraphicFramePr>
          <p:cNvPr id="26638" name="对象 18">
            <a:extLst>
              <a:ext uri="{FF2B5EF4-FFF2-40B4-BE49-F238E27FC236}">
                <a16:creationId xmlns:a16="http://schemas.microsoft.com/office/drawing/2014/main" id="{A856B5AB-7449-44E2-AB5C-3A337B621574}"/>
              </a:ext>
            </a:extLst>
          </p:cNvPr>
          <p:cNvGraphicFramePr>
            <a:graphicFrameLocks noChangeAspect="1"/>
          </p:cNvGraphicFramePr>
          <p:nvPr/>
        </p:nvGraphicFramePr>
        <p:xfrm>
          <a:off x="7115175" y="55563"/>
          <a:ext cx="1933575" cy="609600"/>
        </p:xfrm>
        <a:graphic>
          <a:graphicData uri="http://schemas.openxmlformats.org/presentationml/2006/ole">
            <mc:AlternateContent xmlns:mc="http://schemas.openxmlformats.org/markup-compatibility/2006">
              <mc:Choice xmlns:v="urn:schemas-microsoft-com:vml" Requires="v">
                <p:oleObj spid="_x0000_s26667" name="Equation" r:id="rId17" imgW="1933612" imgH="609660" progId="Equation.DSMT4">
                  <p:embed/>
                </p:oleObj>
              </mc:Choice>
              <mc:Fallback>
                <p:oleObj name="Equation" r:id="rId17" imgW="1933612" imgH="609660" progId="Equation.DSMT4">
                  <p:embed/>
                  <p:pic>
                    <p:nvPicPr>
                      <p:cNvPr id="0" name="对象 18"/>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7115175" y="55563"/>
                        <a:ext cx="193357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 presetClass="entr" presetSubtype="10" fill="hold" grpId="0" nodeType="withEffect">
                                  <p:stCondLst>
                                    <p:cond delay="0"/>
                                  </p:stCondLst>
                                  <p:childTnLst>
                                    <p:set>
                                      <p:cBhvr>
                                        <p:cTn id="6" dur="1" fill="hold">
                                          <p:stCondLst>
                                            <p:cond delay="0"/>
                                          </p:stCondLst>
                                        </p:cTn>
                                        <p:tgtEl>
                                          <p:spTgt spid="172034"/>
                                        </p:tgtEl>
                                        <p:attrNameLst>
                                          <p:attrName>style.visibility</p:attrName>
                                        </p:attrNameLst>
                                      </p:cBhvr>
                                      <p:to>
                                        <p:strVal val="visible"/>
                                      </p:to>
                                    </p:set>
                                    <p:animEffect transition="in" filter="checkerboard(across)">
                                      <p:cBhvr>
                                        <p:cTn id="7" dur="500"/>
                                        <p:tgtEl>
                                          <p:spTgt spid="17203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nodeType="clickEffect">
                                  <p:stCondLst>
                                    <p:cond delay="0"/>
                                  </p:stCondLst>
                                  <p:childTnLst>
                                    <p:set>
                                      <p:cBhvr>
                                        <p:cTn id="11" dur="1" fill="hold">
                                          <p:stCondLst>
                                            <p:cond delay="0"/>
                                          </p:stCondLst>
                                        </p:cTn>
                                        <p:tgtEl>
                                          <p:spTgt spid="172039"/>
                                        </p:tgtEl>
                                        <p:attrNameLst>
                                          <p:attrName>style.visibility</p:attrName>
                                        </p:attrNameLst>
                                      </p:cBhvr>
                                      <p:to>
                                        <p:strVal val="visible"/>
                                      </p:to>
                                    </p:set>
                                    <p:animEffect transition="in" filter="slide(fromBottom)">
                                      <p:cBhvr>
                                        <p:cTn id="12" dur="500"/>
                                        <p:tgtEl>
                                          <p:spTgt spid="17203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6" presetClass="entr" presetSubtype="26"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arn(inHorizontal)">
                                      <p:cBhvr>
                                        <p:cTn id="17" dur="500"/>
                                        <p:tgtEl>
                                          <p:spTgt spid="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2" presetClass="entr" presetSubtype="4" fill="hold" nodeType="clickEffect">
                                  <p:stCondLst>
                                    <p:cond delay="0"/>
                                  </p:stCondLst>
                                  <p:childTnLst>
                                    <p:set>
                                      <p:cBhvr>
                                        <p:cTn id="21" dur="1" fill="hold">
                                          <p:stCondLst>
                                            <p:cond delay="0"/>
                                          </p:stCondLst>
                                        </p:cTn>
                                        <p:tgtEl>
                                          <p:spTgt spid="172038"/>
                                        </p:tgtEl>
                                        <p:attrNameLst>
                                          <p:attrName>style.visibility</p:attrName>
                                        </p:attrNameLst>
                                      </p:cBhvr>
                                      <p:to>
                                        <p:strVal val="visible"/>
                                      </p:to>
                                    </p:set>
                                    <p:animEffect transition="in" filter="slide(fromBottom)">
                                      <p:cBhvr>
                                        <p:cTn id="22" dur="500"/>
                                        <p:tgtEl>
                                          <p:spTgt spid="17203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172042"/>
                                        </p:tgtEl>
                                        <p:attrNameLst>
                                          <p:attrName>style.visibility</p:attrName>
                                        </p:attrNameLst>
                                      </p:cBhvr>
                                      <p:to>
                                        <p:strVal val="visible"/>
                                      </p:to>
                                    </p:set>
                                    <p:animEffect transition="in" filter="checkerboard(across)">
                                      <p:cBhvr>
                                        <p:cTn id="27" dur="500"/>
                                        <p:tgtEl>
                                          <p:spTgt spid="17204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7" presetClass="entr" presetSubtype="10" fill="hold" nodeType="clickEffect">
                                  <p:stCondLst>
                                    <p:cond delay="0"/>
                                  </p:stCondLst>
                                  <p:childTnLst>
                                    <p:set>
                                      <p:cBhvr>
                                        <p:cTn id="31" dur="1" fill="hold">
                                          <p:stCondLst>
                                            <p:cond delay="0"/>
                                          </p:stCondLst>
                                        </p:cTn>
                                        <p:tgtEl>
                                          <p:spTgt spid="172043"/>
                                        </p:tgtEl>
                                        <p:attrNameLst>
                                          <p:attrName>style.visibility</p:attrName>
                                        </p:attrNameLst>
                                      </p:cBhvr>
                                      <p:to>
                                        <p:strVal val="visible"/>
                                      </p:to>
                                    </p:set>
                                    <p:anim calcmode="lin" valueType="num">
                                      <p:cBhvr>
                                        <p:cTn id="32" dur="500" fill="hold"/>
                                        <p:tgtEl>
                                          <p:spTgt spid="172043"/>
                                        </p:tgtEl>
                                        <p:attrNameLst>
                                          <p:attrName>ppt_w</p:attrName>
                                        </p:attrNameLst>
                                      </p:cBhvr>
                                      <p:tavLst>
                                        <p:tav tm="0">
                                          <p:val>
                                            <p:fltVal val="0"/>
                                          </p:val>
                                        </p:tav>
                                        <p:tav tm="100000">
                                          <p:val>
                                            <p:strVal val="#ppt_w"/>
                                          </p:val>
                                        </p:tav>
                                      </p:tavLst>
                                    </p:anim>
                                    <p:anim calcmode="lin" valueType="num">
                                      <p:cBhvr>
                                        <p:cTn id="33" dur="500" fill="hold"/>
                                        <p:tgtEl>
                                          <p:spTgt spid="172043"/>
                                        </p:tgtEl>
                                        <p:attrNameLst>
                                          <p:attrName>ppt_h</p:attrName>
                                        </p:attrNameLst>
                                      </p:cBhvr>
                                      <p:tavLst>
                                        <p:tav tm="0">
                                          <p:val>
                                            <p:strVal val="#ppt_h"/>
                                          </p:val>
                                        </p:tav>
                                        <p:tav tm="100000">
                                          <p:val>
                                            <p:strVal val="#ppt_h"/>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14349">
                                            <p:txEl>
                                              <p:pRg st="0" end="0"/>
                                            </p:txEl>
                                          </p:spTgt>
                                        </p:tgtEl>
                                        <p:attrNameLst>
                                          <p:attrName>style.visibility</p:attrName>
                                        </p:attrNameLst>
                                      </p:cBhvr>
                                      <p:to>
                                        <p:strVal val="visible"/>
                                      </p:to>
                                    </p:set>
                                    <p:animEffect transition="in" filter="wipe(left)">
                                      <p:cBhvr>
                                        <p:cTn id="38" dur="500"/>
                                        <p:tgtEl>
                                          <p:spTgt spid="14349">
                                            <p:txEl>
                                              <p:pRg st="0" end="0"/>
                                            </p:txEl>
                                          </p:spTgt>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1" fill="hold" nodeType="clickEffect">
                                  <p:stCondLst>
                                    <p:cond delay="0"/>
                                  </p:stCondLst>
                                  <p:childTnLst>
                                    <p:set>
                                      <p:cBhvr>
                                        <p:cTn id="42" dur="1" fill="hold">
                                          <p:stCondLst>
                                            <p:cond delay="0"/>
                                          </p:stCondLst>
                                        </p:cTn>
                                        <p:tgtEl>
                                          <p:spTgt spid="13"/>
                                        </p:tgtEl>
                                        <p:attrNameLst>
                                          <p:attrName>style.visibility</p:attrName>
                                        </p:attrNameLst>
                                      </p:cBhvr>
                                      <p:to>
                                        <p:strVal val="visible"/>
                                      </p:to>
                                    </p:set>
                                    <p:animEffect transition="in" filter="wipe(up)">
                                      <p:cBhvr>
                                        <p:cTn id="43"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2034" grpId="0" autoUpdateAnimBg="0"/>
      <p:bldP spid="172042" grpId="0" autoUpdateAnimBg="0"/>
      <p:bldP spid="14349" grpId="0" build="p"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4" name="Object 52">
            <a:extLst>
              <a:ext uri="{FF2B5EF4-FFF2-40B4-BE49-F238E27FC236}">
                <a16:creationId xmlns:a16="http://schemas.microsoft.com/office/drawing/2014/main" id="{C6D245E2-7FA6-492C-A041-D391387D36EC}"/>
              </a:ext>
            </a:extLst>
          </p:cNvPr>
          <p:cNvGraphicFramePr>
            <a:graphicFrameLocks noChangeAspect="1"/>
          </p:cNvGraphicFramePr>
          <p:nvPr/>
        </p:nvGraphicFramePr>
        <p:xfrm>
          <a:off x="241300" y="6153150"/>
          <a:ext cx="8518525" cy="525463"/>
        </p:xfrm>
        <a:graphic>
          <a:graphicData uri="http://schemas.openxmlformats.org/presentationml/2006/ole">
            <mc:AlternateContent xmlns:mc="http://schemas.openxmlformats.org/markup-compatibility/2006">
              <mc:Choice xmlns:v="urn:schemas-microsoft-com:vml" Requires="v">
                <p:oleObj spid="_x0000_s27696" name="Equation" r:id="rId3" imgW="4038487" imgH="162000" progId="Equation.DSMT4">
                  <p:embed/>
                </p:oleObj>
              </mc:Choice>
              <mc:Fallback>
                <p:oleObj name="Equation" r:id="rId3" imgW="4038487" imgH="162000" progId="Equation.DSMT4">
                  <p:embed/>
                  <p:pic>
                    <p:nvPicPr>
                      <p:cNvPr id="0" name="Object 5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1300" y="6153150"/>
                        <a:ext cx="8518525" cy="525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27651" name="组合 6">
            <a:extLst>
              <a:ext uri="{FF2B5EF4-FFF2-40B4-BE49-F238E27FC236}">
                <a16:creationId xmlns:a16="http://schemas.microsoft.com/office/drawing/2014/main" id="{85A3FB5B-B002-4ADA-B5CC-13FE5F953B0E}"/>
              </a:ext>
            </a:extLst>
          </p:cNvPr>
          <p:cNvGrpSpPr>
            <a:grpSpLocks/>
          </p:cNvGrpSpPr>
          <p:nvPr/>
        </p:nvGrpSpPr>
        <p:grpSpPr bwMode="auto">
          <a:xfrm>
            <a:off x="476250" y="115888"/>
            <a:ext cx="8024813" cy="1492250"/>
            <a:chOff x="476250" y="214290"/>
            <a:chExt cx="8024840" cy="1492968"/>
          </a:xfrm>
        </p:grpSpPr>
        <p:sp>
          <p:nvSpPr>
            <p:cNvPr id="2" name="Rectangle 2">
              <a:extLst>
                <a:ext uri="{FF2B5EF4-FFF2-40B4-BE49-F238E27FC236}">
                  <a16:creationId xmlns:a16="http://schemas.microsoft.com/office/drawing/2014/main" id="{44E6A70A-A8B2-4AD5-8A62-56ACD25EBC3C}"/>
                </a:ext>
              </a:extLst>
            </p:cNvPr>
            <p:cNvSpPr>
              <a:spLocks noChangeArrowheads="1"/>
            </p:cNvSpPr>
            <p:nvPr/>
          </p:nvSpPr>
          <p:spPr bwMode="auto">
            <a:xfrm>
              <a:off x="476250" y="322292"/>
              <a:ext cx="8024840" cy="1384966"/>
            </a:xfrm>
            <a:prstGeom prst="rect">
              <a:avLst/>
            </a:prstGeom>
            <a:noFill/>
            <a:ln w="9525">
              <a:noFill/>
              <a:miter lim="800000"/>
              <a:headEnd/>
              <a:tailEnd/>
            </a:ln>
          </p:spPr>
          <p:txBody>
            <a:bodyPr>
              <a:spAutoFit/>
            </a:bodyPr>
            <a:lstStyle/>
            <a:p>
              <a:pPr eaLnBrk="1" hangingPunct="1">
                <a:defRPr/>
              </a:pPr>
              <a:r>
                <a:rPr lang="zh-CN" altLang="en-US" sz="2800" b="1" dirty="0">
                  <a:solidFill>
                    <a:schemeClr val="tx2"/>
                  </a:solidFill>
                  <a:latin typeface="Times New Roman" pitchFamily="18" charset="0"/>
                  <a:ea typeface="+mn-ea"/>
                  <a:cs typeface="Times New Roman" pitchFamily="18" charset="0"/>
                </a:rPr>
                <a:t>例</a:t>
              </a:r>
              <a:r>
                <a:rPr lang="en-US" altLang="zh-CN" sz="2800" b="1" dirty="0">
                  <a:solidFill>
                    <a:schemeClr val="tx2"/>
                  </a:solidFill>
                  <a:latin typeface="Times New Roman" pitchFamily="18" charset="0"/>
                  <a:ea typeface="+mn-ea"/>
                  <a:cs typeface="Times New Roman" pitchFamily="18" charset="0"/>
                </a:rPr>
                <a:t>1.      Ra(</a:t>
              </a:r>
              <a:r>
                <a:rPr lang="zh-CN" altLang="en-US" sz="2800" b="1" dirty="0">
                  <a:solidFill>
                    <a:schemeClr val="tx2"/>
                  </a:solidFill>
                  <a:latin typeface="Times New Roman" pitchFamily="18" charset="0"/>
                  <a:ea typeface="+mn-ea"/>
                  <a:cs typeface="Times New Roman" pitchFamily="18" charset="0"/>
                </a:rPr>
                <a:t>镭</a:t>
              </a:r>
              <a:r>
                <a:rPr lang="en-US" altLang="zh-CN" sz="2800" b="1" dirty="0">
                  <a:solidFill>
                    <a:schemeClr val="tx2"/>
                  </a:solidFill>
                  <a:latin typeface="Times New Roman" pitchFamily="18" charset="0"/>
                  <a:ea typeface="+mn-ea"/>
                  <a:cs typeface="Times New Roman" pitchFamily="18" charset="0"/>
                </a:rPr>
                <a:t>)</a:t>
              </a:r>
              <a:r>
                <a:rPr lang="zh-CN" altLang="en-US" sz="2800" b="1" dirty="0">
                  <a:solidFill>
                    <a:schemeClr val="tx2"/>
                  </a:solidFill>
                  <a:latin typeface="Times New Roman" pitchFamily="18" charset="0"/>
                  <a:ea typeface="+mn-ea"/>
                  <a:cs typeface="Times New Roman" pitchFamily="18" charset="0"/>
                </a:rPr>
                <a:t>的半衰期为</a:t>
              </a:r>
              <a:r>
                <a:rPr lang="en-US" altLang="zh-CN" sz="2800" b="1" dirty="0">
                  <a:solidFill>
                    <a:schemeClr val="tx2"/>
                  </a:solidFill>
                  <a:latin typeface="Times New Roman" pitchFamily="18" charset="0"/>
                  <a:ea typeface="+mn-ea"/>
                  <a:cs typeface="Times New Roman" pitchFamily="18" charset="0"/>
                </a:rPr>
                <a:t>1600 a</a:t>
              </a:r>
              <a:r>
                <a:rPr lang="zh-CN" altLang="en-US" sz="2800" b="1" dirty="0">
                  <a:solidFill>
                    <a:schemeClr val="tx2"/>
                  </a:solidFill>
                  <a:latin typeface="Times New Roman" pitchFamily="18" charset="0"/>
                  <a:ea typeface="+mn-ea"/>
                  <a:cs typeface="Times New Roman" pitchFamily="18" charset="0"/>
                </a:rPr>
                <a:t>，</a:t>
              </a:r>
              <a:r>
                <a:rPr lang="en-US" altLang="zh-CN" sz="2800" b="1" dirty="0">
                  <a:solidFill>
                    <a:schemeClr val="tx2"/>
                  </a:solidFill>
                  <a:latin typeface="Times New Roman" pitchFamily="18" charset="0"/>
                  <a:ea typeface="+mn-ea"/>
                  <a:cs typeface="Times New Roman" pitchFamily="18" charset="0"/>
                </a:rPr>
                <a:t>10 g</a:t>
              </a:r>
              <a:r>
                <a:rPr lang="zh-CN" altLang="en-US" sz="2800" b="1" dirty="0">
                  <a:solidFill>
                    <a:schemeClr val="tx2"/>
                  </a:solidFill>
                  <a:latin typeface="Times New Roman" pitchFamily="18" charset="0"/>
                  <a:ea typeface="+mn-ea"/>
                  <a:cs typeface="Times New Roman" pitchFamily="18" charset="0"/>
                </a:rPr>
                <a:t>纯     </a:t>
              </a:r>
              <a:r>
                <a:rPr lang="en-US" altLang="zh-CN" sz="2800" b="1" dirty="0">
                  <a:solidFill>
                    <a:schemeClr val="tx2"/>
                  </a:solidFill>
                  <a:latin typeface="Times New Roman" pitchFamily="18" charset="0"/>
                  <a:ea typeface="+mn-ea"/>
                  <a:cs typeface="Times New Roman" pitchFamily="18" charset="0"/>
                </a:rPr>
                <a:t>Ra</a:t>
              </a:r>
              <a:r>
                <a:rPr lang="zh-CN" altLang="en-US" sz="2800" b="1" dirty="0">
                  <a:solidFill>
                    <a:schemeClr val="tx2"/>
                  </a:solidFill>
                  <a:latin typeface="Times New Roman" pitchFamily="18" charset="0"/>
                  <a:ea typeface="+mn-ea"/>
                  <a:cs typeface="Times New Roman" pitchFamily="18" charset="0"/>
                </a:rPr>
                <a:t>的活度为多少？这一样品经过</a:t>
              </a:r>
              <a:r>
                <a:rPr lang="en-US" altLang="zh-CN" sz="2800" b="1" dirty="0">
                  <a:solidFill>
                    <a:schemeClr val="tx2"/>
                  </a:solidFill>
                  <a:latin typeface="Times New Roman" pitchFamily="18" charset="0"/>
                  <a:ea typeface="+mn-ea"/>
                  <a:cs typeface="Times New Roman" pitchFamily="18" charset="0"/>
                </a:rPr>
                <a:t>400 a</a:t>
              </a:r>
              <a:r>
                <a:rPr lang="zh-CN" altLang="en-US" sz="2800" b="1" dirty="0">
                  <a:solidFill>
                    <a:schemeClr val="tx2"/>
                  </a:solidFill>
                  <a:latin typeface="Times New Roman" pitchFamily="18" charset="0"/>
                  <a:ea typeface="+mn-ea"/>
                  <a:cs typeface="Times New Roman" pitchFamily="18" charset="0"/>
                </a:rPr>
                <a:t>和</a:t>
              </a:r>
              <a:r>
                <a:rPr lang="en-US" altLang="zh-CN" sz="2800" b="1" dirty="0">
                  <a:solidFill>
                    <a:schemeClr val="tx2"/>
                  </a:solidFill>
                  <a:latin typeface="Times New Roman" pitchFamily="18" charset="0"/>
                  <a:ea typeface="+mn-ea"/>
                  <a:cs typeface="Times New Roman" pitchFamily="18" charset="0"/>
                </a:rPr>
                <a:t>6000 a</a:t>
              </a:r>
              <a:r>
                <a:rPr lang="zh-CN" altLang="en-US" sz="2800" b="1" dirty="0">
                  <a:solidFill>
                    <a:schemeClr val="tx2"/>
                  </a:solidFill>
                  <a:latin typeface="Times New Roman" pitchFamily="18" charset="0"/>
                  <a:ea typeface="+mn-ea"/>
                  <a:cs typeface="Times New Roman" pitchFamily="18" charset="0"/>
                </a:rPr>
                <a:t>时的活度分别是多少？</a:t>
              </a:r>
              <a:r>
                <a:rPr lang="en-US" altLang="zh-CN" sz="2800" b="1" dirty="0">
                  <a:solidFill>
                    <a:schemeClr val="tx2"/>
                  </a:solidFill>
                  <a:latin typeface="Times New Roman" pitchFamily="18" charset="0"/>
                  <a:ea typeface="+mn-ea"/>
                  <a:cs typeface="Times New Roman" pitchFamily="18" charset="0"/>
                </a:rPr>
                <a:t>(</a:t>
              </a:r>
              <a:r>
                <a:rPr lang="en-US" altLang="zh-CN" sz="2800" b="1" dirty="0">
                  <a:solidFill>
                    <a:schemeClr val="tx2"/>
                  </a:solidFill>
                </a:rPr>
                <a:t>a</a:t>
              </a:r>
              <a:r>
                <a:rPr lang="zh-CN" altLang="en-US" sz="2800" b="1" dirty="0">
                  <a:solidFill>
                    <a:schemeClr val="tx2"/>
                  </a:solidFill>
                </a:rPr>
                <a:t>表示以年为单位</a:t>
              </a:r>
              <a:r>
                <a:rPr lang="en-US" altLang="zh-CN" sz="2800" b="1" dirty="0">
                  <a:solidFill>
                    <a:schemeClr val="tx2"/>
                  </a:solidFill>
                  <a:latin typeface="Times New Roman" pitchFamily="18" charset="0"/>
                  <a:ea typeface="+mn-ea"/>
                  <a:cs typeface="Times New Roman" pitchFamily="18" charset="0"/>
                </a:rPr>
                <a:t>)</a:t>
              </a:r>
              <a:endParaRPr lang="zh-CN" altLang="en-US" sz="2800" b="1" dirty="0">
                <a:solidFill>
                  <a:schemeClr val="tx2"/>
                </a:solidFill>
                <a:latin typeface="Times New Roman" pitchFamily="18" charset="0"/>
                <a:ea typeface="+mn-ea"/>
                <a:cs typeface="Times New Roman" pitchFamily="18" charset="0"/>
              </a:endParaRPr>
            </a:p>
          </p:txBody>
        </p:sp>
        <p:sp>
          <p:nvSpPr>
            <p:cNvPr id="27670" name="TextBox 2">
              <a:extLst>
                <a:ext uri="{FF2B5EF4-FFF2-40B4-BE49-F238E27FC236}">
                  <a16:creationId xmlns:a16="http://schemas.microsoft.com/office/drawing/2014/main" id="{4133D416-E7A6-44B2-A1DF-354066DADA86}"/>
                </a:ext>
              </a:extLst>
            </p:cNvPr>
            <p:cNvSpPr txBox="1">
              <a:spLocks noChangeArrowheads="1"/>
            </p:cNvSpPr>
            <p:nvPr/>
          </p:nvSpPr>
          <p:spPr bwMode="auto">
            <a:xfrm>
              <a:off x="1273152" y="226990"/>
              <a:ext cx="78581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800" b="1">
                  <a:solidFill>
                    <a:schemeClr val="tx2"/>
                  </a:solidFill>
                  <a:latin typeface="Times New Roman" panose="02020603050405020304" pitchFamily="18" charset="0"/>
                  <a:cs typeface="Times New Roman" panose="02020603050405020304" pitchFamily="18" charset="0"/>
                </a:rPr>
                <a:t>226</a:t>
              </a:r>
              <a:endParaRPr lang="zh-CN" altLang="en-US" sz="1800" b="1">
                <a:solidFill>
                  <a:schemeClr val="tx2"/>
                </a:solidFill>
                <a:latin typeface="Times New Roman" panose="02020603050405020304" pitchFamily="18" charset="0"/>
                <a:cs typeface="Times New Roman" panose="02020603050405020304" pitchFamily="18" charset="0"/>
              </a:endParaRPr>
            </a:p>
          </p:txBody>
        </p:sp>
        <p:sp>
          <p:nvSpPr>
            <p:cNvPr id="27671" name="TextBox 3">
              <a:extLst>
                <a:ext uri="{FF2B5EF4-FFF2-40B4-BE49-F238E27FC236}">
                  <a16:creationId xmlns:a16="http://schemas.microsoft.com/office/drawing/2014/main" id="{616683C7-D537-46C8-8340-554CF4D762C5}"/>
                </a:ext>
              </a:extLst>
            </p:cNvPr>
            <p:cNvSpPr txBox="1">
              <a:spLocks noChangeArrowheads="1"/>
            </p:cNvSpPr>
            <p:nvPr/>
          </p:nvSpPr>
          <p:spPr bwMode="auto">
            <a:xfrm>
              <a:off x="1357290" y="533938"/>
              <a:ext cx="78581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800" b="1">
                  <a:solidFill>
                    <a:schemeClr val="tx2"/>
                  </a:solidFill>
                  <a:latin typeface="Times New Roman" panose="02020603050405020304" pitchFamily="18" charset="0"/>
                  <a:cs typeface="Times New Roman" panose="02020603050405020304" pitchFamily="18" charset="0"/>
                </a:rPr>
                <a:t>88</a:t>
              </a:r>
              <a:endParaRPr lang="zh-CN" altLang="en-US" sz="1800" b="1">
                <a:solidFill>
                  <a:schemeClr val="tx2"/>
                </a:solidFill>
                <a:latin typeface="Times New Roman" panose="02020603050405020304" pitchFamily="18" charset="0"/>
                <a:cs typeface="Times New Roman" panose="02020603050405020304" pitchFamily="18" charset="0"/>
              </a:endParaRPr>
            </a:p>
          </p:txBody>
        </p:sp>
        <p:sp>
          <p:nvSpPr>
            <p:cNvPr id="27672" name="TextBox 4">
              <a:extLst>
                <a:ext uri="{FF2B5EF4-FFF2-40B4-BE49-F238E27FC236}">
                  <a16:creationId xmlns:a16="http://schemas.microsoft.com/office/drawing/2014/main" id="{83781A1C-5AB3-41B5-B614-27F688D7D750}"/>
                </a:ext>
              </a:extLst>
            </p:cNvPr>
            <p:cNvSpPr txBox="1">
              <a:spLocks noChangeArrowheads="1"/>
            </p:cNvSpPr>
            <p:nvPr/>
          </p:nvSpPr>
          <p:spPr bwMode="auto">
            <a:xfrm>
              <a:off x="6894822" y="214290"/>
              <a:ext cx="78581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800" b="1">
                  <a:solidFill>
                    <a:schemeClr val="tx2"/>
                  </a:solidFill>
                  <a:latin typeface="Times New Roman" panose="02020603050405020304" pitchFamily="18" charset="0"/>
                  <a:cs typeface="Times New Roman" panose="02020603050405020304" pitchFamily="18" charset="0"/>
                </a:rPr>
                <a:t>226</a:t>
              </a:r>
              <a:endParaRPr lang="zh-CN" altLang="en-US" sz="1800" b="1">
                <a:solidFill>
                  <a:schemeClr val="tx2"/>
                </a:solidFill>
                <a:latin typeface="Times New Roman" panose="02020603050405020304" pitchFamily="18" charset="0"/>
                <a:cs typeface="Times New Roman" panose="02020603050405020304" pitchFamily="18" charset="0"/>
              </a:endParaRPr>
            </a:p>
          </p:txBody>
        </p:sp>
        <p:sp>
          <p:nvSpPr>
            <p:cNvPr id="27673" name="TextBox 5">
              <a:extLst>
                <a:ext uri="{FF2B5EF4-FFF2-40B4-BE49-F238E27FC236}">
                  <a16:creationId xmlns:a16="http://schemas.microsoft.com/office/drawing/2014/main" id="{252F1C8C-DAD7-4D36-8B98-23C2FE55D8EA}"/>
                </a:ext>
              </a:extLst>
            </p:cNvPr>
            <p:cNvSpPr txBox="1">
              <a:spLocks noChangeArrowheads="1"/>
            </p:cNvSpPr>
            <p:nvPr/>
          </p:nvSpPr>
          <p:spPr bwMode="auto">
            <a:xfrm>
              <a:off x="6954559" y="500042"/>
              <a:ext cx="78581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800" b="1">
                  <a:solidFill>
                    <a:schemeClr val="tx2"/>
                  </a:solidFill>
                  <a:latin typeface="Times New Roman" panose="02020603050405020304" pitchFamily="18" charset="0"/>
                  <a:cs typeface="Times New Roman" panose="02020603050405020304" pitchFamily="18" charset="0"/>
                </a:rPr>
                <a:t>88</a:t>
              </a:r>
              <a:endParaRPr lang="zh-CN" altLang="en-US" sz="1800" b="1">
                <a:solidFill>
                  <a:schemeClr val="tx2"/>
                </a:solidFill>
                <a:latin typeface="Times New Roman" panose="02020603050405020304" pitchFamily="18" charset="0"/>
                <a:cs typeface="Times New Roman" panose="02020603050405020304" pitchFamily="18" charset="0"/>
              </a:endParaRPr>
            </a:p>
          </p:txBody>
        </p:sp>
      </p:grpSp>
      <p:sp>
        <p:nvSpPr>
          <p:cNvPr id="27652" name="Text Box 29">
            <a:extLst>
              <a:ext uri="{FF2B5EF4-FFF2-40B4-BE49-F238E27FC236}">
                <a16:creationId xmlns:a16="http://schemas.microsoft.com/office/drawing/2014/main" id="{CF9FAC6E-F885-49CC-AA29-4E3867187885}"/>
              </a:ext>
            </a:extLst>
          </p:cNvPr>
          <p:cNvSpPr txBox="1">
            <a:spLocks noChangeArrowheads="1"/>
          </p:cNvSpPr>
          <p:nvPr/>
        </p:nvSpPr>
        <p:spPr bwMode="auto">
          <a:xfrm>
            <a:off x="8688388" y="635635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1">
                <a:solidFill>
                  <a:schemeClr val="tx2"/>
                </a:solidFill>
                <a:latin typeface="Times New Roman" panose="02020603050405020304" pitchFamily="18" charset="0"/>
              </a:rPr>
              <a:t>20</a:t>
            </a:r>
            <a:endParaRPr lang="en-US" altLang="zh-CN" sz="1800">
              <a:solidFill>
                <a:schemeClr val="tx2"/>
              </a:solidFill>
            </a:endParaRPr>
          </a:p>
        </p:txBody>
      </p:sp>
      <p:sp>
        <p:nvSpPr>
          <p:cNvPr id="27653" name="TextBox 8">
            <a:extLst>
              <a:ext uri="{FF2B5EF4-FFF2-40B4-BE49-F238E27FC236}">
                <a16:creationId xmlns:a16="http://schemas.microsoft.com/office/drawing/2014/main" id="{FDC5B7FB-0677-42C9-A92B-4832071CEDE6}"/>
              </a:ext>
            </a:extLst>
          </p:cNvPr>
          <p:cNvSpPr txBox="1">
            <a:spLocks noChangeArrowheads="1"/>
          </p:cNvSpPr>
          <p:nvPr/>
        </p:nvSpPr>
        <p:spPr bwMode="auto">
          <a:xfrm>
            <a:off x="500063" y="1633538"/>
            <a:ext cx="9286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b="1">
                <a:solidFill>
                  <a:schemeClr val="tx2"/>
                </a:solidFill>
              </a:rPr>
              <a:t>解：</a:t>
            </a:r>
          </a:p>
        </p:txBody>
      </p:sp>
      <p:grpSp>
        <p:nvGrpSpPr>
          <p:cNvPr id="27654" name="组合 18">
            <a:extLst>
              <a:ext uri="{FF2B5EF4-FFF2-40B4-BE49-F238E27FC236}">
                <a16:creationId xmlns:a16="http://schemas.microsoft.com/office/drawing/2014/main" id="{408F3F64-A480-46B4-8C72-7A717F1B1995}"/>
              </a:ext>
            </a:extLst>
          </p:cNvPr>
          <p:cNvGrpSpPr>
            <a:grpSpLocks/>
          </p:cNvGrpSpPr>
          <p:nvPr/>
        </p:nvGrpSpPr>
        <p:grpSpPr bwMode="auto">
          <a:xfrm>
            <a:off x="1403350" y="1547813"/>
            <a:ext cx="5622925" cy="938212"/>
            <a:chOff x="1571604" y="1844664"/>
            <a:chExt cx="5786478" cy="1084270"/>
          </a:xfrm>
        </p:grpSpPr>
        <p:sp>
          <p:nvSpPr>
            <p:cNvPr id="11" name="圆角矩形 10">
              <a:extLst>
                <a:ext uri="{FF2B5EF4-FFF2-40B4-BE49-F238E27FC236}">
                  <a16:creationId xmlns:a16="http://schemas.microsoft.com/office/drawing/2014/main" id="{34C514A8-A044-4168-971E-CF8BC77FE104}"/>
                </a:ext>
              </a:extLst>
            </p:cNvPr>
            <p:cNvSpPr/>
            <p:nvPr/>
          </p:nvSpPr>
          <p:spPr>
            <a:xfrm>
              <a:off x="1571604" y="1844664"/>
              <a:ext cx="5786478" cy="1084270"/>
            </a:xfrm>
            <a:prstGeom prst="roundRect">
              <a:avLst/>
            </a:prstGeom>
            <a:noFill/>
            <a:ln w="381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solidFill>
                  <a:schemeClr val="tx2"/>
                </a:solidFill>
              </a:endParaRPr>
            </a:p>
          </p:txBody>
        </p:sp>
        <p:graphicFrame>
          <p:nvGraphicFramePr>
            <p:cNvPr id="27668" name="Object 2">
              <a:extLst>
                <a:ext uri="{FF2B5EF4-FFF2-40B4-BE49-F238E27FC236}">
                  <a16:creationId xmlns:a16="http://schemas.microsoft.com/office/drawing/2014/main" id="{369119A4-E0D0-4882-B14E-6AFB9E2F8C92}"/>
                </a:ext>
              </a:extLst>
            </p:cNvPr>
            <p:cNvGraphicFramePr>
              <a:graphicFrameLocks noChangeAspect="1"/>
            </p:cNvGraphicFramePr>
            <p:nvPr/>
          </p:nvGraphicFramePr>
          <p:xfrm>
            <a:off x="1714480" y="1886598"/>
            <a:ext cx="5429288" cy="970898"/>
          </p:xfrm>
          <a:graphic>
            <a:graphicData uri="http://schemas.openxmlformats.org/presentationml/2006/ole">
              <mc:AlternateContent xmlns:mc="http://schemas.openxmlformats.org/markup-compatibility/2006">
                <mc:Choice xmlns:v="urn:schemas-microsoft-com:vml" Requires="v">
                  <p:oleObj spid="_x0000_s27697" name="Equation" r:id="rId5" imgW="2260600" imgH="406400" progId="Equation.DSMT4">
                    <p:embed/>
                  </p:oleObj>
                </mc:Choice>
                <mc:Fallback>
                  <p:oleObj name="Equation" r:id="rId5" imgW="2260600" imgH="406400" progId="Equation.DSMT4">
                    <p:embed/>
                    <p:pic>
                      <p:nvPicPr>
                        <p:cNvPr id="0"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14480" y="1886598"/>
                          <a:ext cx="5429288" cy="97089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33795" name="Object 3">
            <a:extLst>
              <a:ext uri="{FF2B5EF4-FFF2-40B4-BE49-F238E27FC236}">
                <a16:creationId xmlns:a16="http://schemas.microsoft.com/office/drawing/2014/main" id="{B95EBDCB-5914-4274-A8C5-917CA8031710}"/>
              </a:ext>
            </a:extLst>
          </p:cNvPr>
          <p:cNvGraphicFramePr>
            <a:graphicFrameLocks noChangeAspect="1"/>
          </p:cNvGraphicFramePr>
          <p:nvPr/>
        </p:nvGraphicFramePr>
        <p:xfrm>
          <a:off x="423863" y="2533650"/>
          <a:ext cx="2357437" cy="887413"/>
        </p:xfrm>
        <a:graphic>
          <a:graphicData uri="http://schemas.openxmlformats.org/presentationml/2006/ole">
            <mc:AlternateContent xmlns:mc="http://schemas.openxmlformats.org/markup-compatibility/2006">
              <mc:Choice xmlns:v="urn:schemas-microsoft-com:vml" Requires="v">
                <p:oleObj spid="_x0000_s27698" name="Equation" r:id="rId7" imgW="1079032" imgH="406224" progId="Equation.DSMT4">
                  <p:embed/>
                </p:oleObj>
              </mc:Choice>
              <mc:Fallback>
                <p:oleObj name="Equation" r:id="rId7" imgW="1079032" imgH="406224" progId="Equation.DSMT4">
                  <p:embed/>
                  <p:pic>
                    <p:nvPicPr>
                      <p:cNvPr id="0" name="Object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3863" y="2533650"/>
                        <a:ext cx="2357437" cy="887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5" name="Object 3">
            <a:extLst>
              <a:ext uri="{FF2B5EF4-FFF2-40B4-BE49-F238E27FC236}">
                <a16:creationId xmlns:a16="http://schemas.microsoft.com/office/drawing/2014/main" id="{B99FBE33-360A-4DA3-82A2-DFBA4894333D}"/>
              </a:ext>
            </a:extLst>
          </p:cNvPr>
          <p:cNvGraphicFramePr>
            <a:graphicFrameLocks noChangeAspect="1"/>
          </p:cNvGraphicFramePr>
          <p:nvPr/>
        </p:nvGraphicFramePr>
        <p:xfrm>
          <a:off x="2781300" y="2533650"/>
          <a:ext cx="3214688" cy="842963"/>
        </p:xfrm>
        <a:graphic>
          <a:graphicData uri="http://schemas.openxmlformats.org/presentationml/2006/ole">
            <mc:AlternateContent xmlns:mc="http://schemas.openxmlformats.org/markup-compatibility/2006">
              <mc:Choice xmlns:v="urn:schemas-microsoft-com:vml" Requires="v">
                <p:oleObj spid="_x0000_s27699" name="Equation" r:id="rId9" imgW="1548728" imgH="406224" progId="Equation.DSMT4">
                  <p:embed/>
                </p:oleObj>
              </mc:Choice>
              <mc:Fallback>
                <p:oleObj name="Equation" r:id="rId9" imgW="1548728" imgH="406224" progId="Equation.DSMT4">
                  <p:embed/>
                  <p:pic>
                    <p:nvPicPr>
                      <p:cNvPr id="0" name="Object 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781300" y="2533650"/>
                        <a:ext cx="3214688" cy="842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 name="Object 5">
            <a:extLst>
              <a:ext uri="{FF2B5EF4-FFF2-40B4-BE49-F238E27FC236}">
                <a16:creationId xmlns:a16="http://schemas.microsoft.com/office/drawing/2014/main" id="{DB43E7D7-6029-40BD-A57C-1DA9A0204B0E}"/>
              </a:ext>
            </a:extLst>
          </p:cNvPr>
          <p:cNvGraphicFramePr>
            <a:graphicFrameLocks noChangeAspect="1"/>
          </p:cNvGraphicFramePr>
          <p:nvPr/>
        </p:nvGraphicFramePr>
        <p:xfrm>
          <a:off x="5978525" y="2706688"/>
          <a:ext cx="2160588" cy="474662"/>
        </p:xfrm>
        <a:graphic>
          <a:graphicData uri="http://schemas.openxmlformats.org/presentationml/2006/ole">
            <mc:AlternateContent xmlns:mc="http://schemas.openxmlformats.org/markup-compatibility/2006">
              <mc:Choice xmlns:v="urn:schemas-microsoft-com:vml" Requires="v">
                <p:oleObj spid="_x0000_s27700" name="Equation" r:id="rId11" imgW="1040948" imgH="228501" progId="Equation.DSMT4">
                  <p:embed/>
                </p:oleObj>
              </mc:Choice>
              <mc:Fallback>
                <p:oleObj name="Equation" r:id="rId11" imgW="1040948" imgH="228501" progId="Equation.DSMT4">
                  <p:embed/>
                  <p:pic>
                    <p:nvPicPr>
                      <p:cNvPr id="0" name="Object 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978525" y="2706688"/>
                        <a:ext cx="2160588" cy="474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7" name="Object 6">
            <a:extLst>
              <a:ext uri="{FF2B5EF4-FFF2-40B4-BE49-F238E27FC236}">
                <a16:creationId xmlns:a16="http://schemas.microsoft.com/office/drawing/2014/main" id="{A099A0A0-CC14-4339-BE37-0467A131715D}"/>
              </a:ext>
            </a:extLst>
          </p:cNvPr>
          <p:cNvGraphicFramePr>
            <a:graphicFrameLocks noChangeAspect="1"/>
          </p:cNvGraphicFramePr>
          <p:nvPr/>
        </p:nvGraphicFramePr>
        <p:xfrm>
          <a:off x="361950" y="3397250"/>
          <a:ext cx="6491288" cy="944563"/>
        </p:xfrm>
        <a:graphic>
          <a:graphicData uri="http://schemas.openxmlformats.org/presentationml/2006/ole">
            <mc:AlternateContent xmlns:mc="http://schemas.openxmlformats.org/markup-compatibility/2006">
              <mc:Choice xmlns:v="urn:schemas-microsoft-com:vml" Requires="v">
                <p:oleObj spid="_x0000_s27701" name="Equation" r:id="rId13" imgW="2971800" imgH="431800" progId="Equation.DSMT4">
                  <p:embed/>
                </p:oleObj>
              </mc:Choice>
              <mc:Fallback>
                <p:oleObj name="Equation" r:id="rId13" imgW="2971800" imgH="431800" progId="Equation.DSMT4">
                  <p:embed/>
                  <p:pic>
                    <p:nvPicPr>
                      <p:cNvPr id="0" name="Object 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61950" y="3397250"/>
                        <a:ext cx="6491288" cy="944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8" name="Object 7">
            <a:extLst>
              <a:ext uri="{FF2B5EF4-FFF2-40B4-BE49-F238E27FC236}">
                <a16:creationId xmlns:a16="http://schemas.microsoft.com/office/drawing/2014/main" id="{2F509E6F-81C0-45BC-8A3C-5B9833D543C4}"/>
              </a:ext>
            </a:extLst>
          </p:cNvPr>
          <p:cNvGraphicFramePr>
            <a:graphicFrameLocks noChangeAspect="1"/>
          </p:cNvGraphicFramePr>
          <p:nvPr/>
        </p:nvGraphicFramePr>
        <p:xfrm>
          <a:off x="355600" y="4414838"/>
          <a:ext cx="3605213" cy="527050"/>
        </p:xfrm>
        <a:graphic>
          <a:graphicData uri="http://schemas.openxmlformats.org/presentationml/2006/ole">
            <mc:AlternateContent xmlns:mc="http://schemas.openxmlformats.org/markup-compatibility/2006">
              <mc:Choice xmlns:v="urn:schemas-microsoft-com:vml" Requires="v">
                <p:oleObj spid="_x0000_s27702" name="Equation" r:id="rId15" imgW="1651000" imgH="241300" progId="Equation.DSMT4">
                  <p:embed/>
                </p:oleObj>
              </mc:Choice>
              <mc:Fallback>
                <p:oleObj name="Equation" r:id="rId15" imgW="1651000" imgH="241300" progId="Equation.DSMT4">
                  <p:embed/>
                  <p:pic>
                    <p:nvPicPr>
                      <p:cNvPr id="0" name="Object 7"/>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55600" y="4414838"/>
                        <a:ext cx="3605213" cy="527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9" name="Object 48">
            <a:extLst>
              <a:ext uri="{FF2B5EF4-FFF2-40B4-BE49-F238E27FC236}">
                <a16:creationId xmlns:a16="http://schemas.microsoft.com/office/drawing/2014/main" id="{55A8FC2C-E8CD-4AA0-BCB8-1C3039D1D3CA}"/>
              </a:ext>
            </a:extLst>
          </p:cNvPr>
          <p:cNvGraphicFramePr>
            <a:graphicFrameLocks noChangeAspect="1"/>
          </p:cNvGraphicFramePr>
          <p:nvPr/>
        </p:nvGraphicFramePr>
        <p:xfrm>
          <a:off x="3948113" y="4479925"/>
          <a:ext cx="1147762" cy="376238"/>
        </p:xfrm>
        <a:graphic>
          <a:graphicData uri="http://schemas.openxmlformats.org/presentationml/2006/ole">
            <mc:AlternateContent xmlns:mc="http://schemas.openxmlformats.org/markup-compatibility/2006">
              <mc:Choice xmlns:v="urn:schemas-microsoft-com:vml" Requires="v">
                <p:oleObj spid="_x0000_s27703" name="Equation" r:id="rId17" imgW="466790" imgH="104760" progId="Equation.DSMT4">
                  <p:embed/>
                </p:oleObj>
              </mc:Choice>
              <mc:Fallback>
                <p:oleObj name="Equation" r:id="rId17" imgW="466790" imgH="104760" progId="Equation.DSMT4">
                  <p:embed/>
                  <p:pic>
                    <p:nvPicPr>
                      <p:cNvPr id="0" name="Object 48"/>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948113" y="4479925"/>
                        <a:ext cx="1147762" cy="376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20" name="Group 51">
            <a:extLst>
              <a:ext uri="{FF2B5EF4-FFF2-40B4-BE49-F238E27FC236}">
                <a16:creationId xmlns:a16="http://schemas.microsoft.com/office/drawing/2014/main" id="{8AB0C29E-B6B5-4222-AEAC-C18510E5CAA9}"/>
              </a:ext>
            </a:extLst>
          </p:cNvPr>
          <p:cNvGrpSpPr>
            <a:grpSpLocks/>
          </p:cNvGrpSpPr>
          <p:nvPr/>
        </p:nvGrpSpPr>
        <p:grpSpPr bwMode="auto">
          <a:xfrm>
            <a:off x="230188" y="5013325"/>
            <a:ext cx="5724525" cy="541338"/>
            <a:chOff x="749" y="2678"/>
            <a:chExt cx="3606" cy="341"/>
          </a:xfrm>
        </p:grpSpPr>
        <p:sp>
          <p:nvSpPr>
            <p:cNvPr id="27665" name="Rectangle 38">
              <a:extLst>
                <a:ext uri="{FF2B5EF4-FFF2-40B4-BE49-F238E27FC236}">
                  <a16:creationId xmlns:a16="http://schemas.microsoft.com/office/drawing/2014/main" id="{8839731F-014C-40A9-AC32-D57080A6EE91}"/>
                </a:ext>
              </a:extLst>
            </p:cNvPr>
            <p:cNvSpPr>
              <a:spLocks noChangeArrowheads="1"/>
            </p:cNvSpPr>
            <p:nvPr/>
          </p:nvSpPr>
          <p:spPr bwMode="auto">
            <a:xfrm>
              <a:off x="749" y="2678"/>
              <a:ext cx="199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400" b="1">
                  <a:solidFill>
                    <a:schemeClr val="tx2"/>
                  </a:solidFill>
                </a:rPr>
                <a:t>再由活度衰减公式：</a:t>
              </a:r>
            </a:p>
          </p:txBody>
        </p:sp>
        <p:graphicFrame>
          <p:nvGraphicFramePr>
            <p:cNvPr id="27666" name="Object 47">
              <a:extLst>
                <a:ext uri="{FF2B5EF4-FFF2-40B4-BE49-F238E27FC236}">
                  <a16:creationId xmlns:a16="http://schemas.microsoft.com/office/drawing/2014/main" id="{FA888AD7-4E41-41E5-A020-14490BE51207}"/>
                </a:ext>
              </a:extLst>
            </p:cNvPr>
            <p:cNvGraphicFramePr>
              <a:graphicFrameLocks noChangeAspect="1"/>
            </p:cNvGraphicFramePr>
            <p:nvPr/>
          </p:nvGraphicFramePr>
          <p:xfrm>
            <a:off x="2468" y="2683"/>
            <a:ext cx="1887" cy="336"/>
          </p:xfrm>
          <a:graphic>
            <a:graphicData uri="http://schemas.openxmlformats.org/presentationml/2006/ole">
              <mc:AlternateContent xmlns:mc="http://schemas.openxmlformats.org/markup-compatibility/2006">
                <mc:Choice xmlns:v="urn:schemas-microsoft-com:vml" Requires="v">
                  <p:oleObj spid="_x0000_s27704" name="Equation" r:id="rId19" imgW="1343101" imgH="162000" progId="Equation.DSMT4">
                    <p:embed/>
                  </p:oleObj>
                </mc:Choice>
                <mc:Fallback>
                  <p:oleObj name="Equation" r:id="rId19" imgW="1343101" imgH="162000" progId="Equation.DSMT4">
                    <p:embed/>
                    <p:pic>
                      <p:nvPicPr>
                        <p:cNvPr id="0" name="Object 47"/>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468" y="2683"/>
                          <a:ext cx="1887"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23" name="Object 50">
            <a:extLst>
              <a:ext uri="{FF2B5EF4-FFF2-40B4-BE49-F238E27FC236}">
                <a16:creationId xmlns:a16="http://schemas.microsoft.com/office/drawing/2014/main" id="{AE05985E-B290-48B1-AFC4-E44C6036E1AF}"/>
              </a:ext>
            </a:extLst>
          </p:cNvPr>
          <p:cNvGraphicFramePr>
            <a:graphicFrameLocks noChangeAspect="1"/>
          </p:cNvGraphicFramePr>
          <p:nvPr/>
        </p:nvGraphicFramePr>
        <p:xfrm>
          <a:off x="320675" y="5576888"/>
          <a:ext cx="8221663" cy="506412"/>
        </p:xfrm>
        <a:graphic>
          <a:graphicData uri="http://schemas.openxmlformats.org/presentationml/2006/ole">
            <mc:AlternateContent xmlns:mc="http://schemas.openxmlformats.org/markup-compatibility/2006">
              <mc:Choice xmlns:v="urn:schemas-microsoft-com:vml" Requires="v">
                <p:oleObj spid="_x0000_s27705" name="Equation" r:id="rId21" imgW="3886132" imgH="162000" progId="Equation.DSMT4">
                  <p:embed/>
                </p:oleObj>
              </mc:Choice>
              <mc:Fallback>
                <p:oleObj name="Equation" r:id="rId21" imgW="3886132" imgH="162000" progId="Equation.DSMT4">
                  <p:embed/>
                  <p:pic>
                    <p:nvPicPr>
                      <p:cNvPr id="0" name="Object 50"/>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20675" y="5576888"/>
                        <a:ext cx="8221663" cy="506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7663" name="Object 2">
            <a:extLst>
              <a:ext uri="{FF2B5EF4-FFF2-40B4-BE49-F238E27FC236}">
                <a16:creationId xmlns:a16="http://schemas.microsoft.com/office/drawing/2014/main" id="{6B743400-2B07-4534-B9AE-C35722FCE0DC}"/>
              </a:ext>
            </a:extLst>
          </p:cNvPr>
          <p:cNvGraphicFramePr>
            <a:graphicFrameLocks noChangeAspect="1"/>
          </p:cNvGraphicFramePr>
          <p:nvPr/>
        </p:nvGraphicFramePr>
        <p:xfrm>
          <a:off x="6845300" y="1731963"/>
          <a:ext cx="1647825" cy="592137"/>
        </p:xfrm>
        <a:graphic>
          <a:graphicData uri="http://schemas.openxmlformats.org/presentationml/2006/ole">
            <mc:AlternateContent xmlns:mc="http://schemas.openxmlformats.org/markup-compatibility/2006">
              <mc:Choice xmlns:v="urn:schemas-microsoft-com:vml" Requires="v">
                <p:oleObj spid="_x0000_s27706" name="Equation" r:id="rId23" imgW="596900" imgH="241300" progId="Equation.DSMT4">
                  <p:embed/>
                </p:oleObj>
              </mc:Choice>
              <mc:Fallback>
                <p:oleObj name="Equation" r:id="rId23" imgW="596900" imgH="241300" progId="Equation.DSMT4">
                  <p:embed/>
                  <p:pic>
                    <p:nvPicPr>
                      <p:cNvPr id="0" name="Object 2"/>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6845300" y="1731963"/>
                        <a:ext cx="1647825" cy="592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 name="矩形 2">
            <a:extLst>
              <a:ext uri="{FF2B5EF4-FFF2-40B4-BE49-F238E27FC236}">
                <a16:creationId xmlns:a16="http://schemas.microsoft.com/office/drawing/2014/main" id="{948ED265-DDB4-49FD-A9E2-A8A80EF035C6}"/>
              </a:ext>
            </a:extLst>
          </p:cNvPr>
          <p:cNvSpPr/>
          <p:nvPr/>
        </p:nvSpPr>
        <p:spPr>
          <a:xfrm>
            <a:off x="1403350" y="1608138"/>
            <a:ext cx="7138988" cy="87788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3795"/>
                                        </p:tgtEl>
                                        <p:attrNameLst>
                                          <p:attrName>style.visibility</p:attrName>
                                        </p:attrNameLst>
                                      </p:cBhvr>
                                      <p:to>
                                        <p:strVal val="visible"/>
                                      </p:to>
                                    </p:set>
                                    <p:anim calcmode="lin" valueType="num">
                                      <p:cBhvr additive="base">
                                        <p:cTn id="7" dur="500" fill="hold"/>
                                        <p:tgtEl>
                                          <p:spTgt spid="33795"/>
                                        </p:tgtEl>
                                        <p:attrNameLst>
                                          <p:attrName>ppt_x</p:attrName>
                                        </p:attrNameLst>
                                      </p:cBhvr>
                                      <p:tavLst>
                                        <p:tav tm="0">
                                          <p:val>
                                            <p:strVal val="#ppt_x"/>
                                          </p:val>
                                        </p:tav>
                                        <p:tav tm="100000">
                                          <p:val>
                                            <p:strVal val="#ppt_x"/>
                                          </p:val>
                                        </p:tav>
                                      </p:tavLst>
                                    </p:anim>
                                    <p:anim calcmode="lin" valueType="num">
                                      <p:cBhvr additive="base">
                                        <p:cTn id="8" dur="500" fill="hold"/>
                                        <p:tgtEl>
                                          <p:spTgt spid="33795"/>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5"/>
                                        </p:tgtEl>
                                        <p:attrNameLst>
                                          <p:attrName>style.visibility</p:attrName>
                                        </p:attrNameLst>
                                      </p:cBhvr>
                                      <p:to>
                                        <p:strVal val="visible"/>
                                      </p:to>
                                    </p:set>
                                    <p:anim calcmode="lin" valueType="num">
                                      <p:cBhvr additive="base">
                                        <p:cTn id="13" dur="500" fill="hold"/>
                                        <p:tgtEl>
                                          <p:spTgt spid="15"/>
                                        </p:tgtEl>
                                        <p:attrNameLst>
                                          <p:attrName>ppt_x</p:attrName>
                                        </p:attrNameLst>
                                      </p:cBhvr>
                                      <p:tavLst>
                                        <p:tav tm="0">
                                          <p:val>
                                            <p:strVal val="#ppt_x"/>
                                          </p:val>
                                        </p:tav>
                                        <p:tav tm="100000">
                                          <p:val>
                                            <p:strVal val="#ppt_x"/>
                                          </p:val>
                                        </p:tav>
                                      </p:tavLst>
                                    </p:anim>
                                    <p:anim calcmode="lin" valueType="num">
                                      <p:cBhvr additive="base">
                                        <p:cTn id="14"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anim calcmode="lin" valueType="num">
                                      <p:cBhvr additive="base">
                                        <p:cTn id="19" dur="500" fill="hold"/>
                                        <p:tgtEl>
                                          <p:spTgt spid="16"/>
                                        </p:tgtEl>
                                        <p:attrNameLst>
                                          <p:attrName>ppt_x</p:attrName>
                                        </p:attrNameLst>
                                      </p:cBhvr>
                                      <p:tavLst>
                                        <p:tav tm="0">
                                          <p:val>
                                            <p:strVal val="#ppt_x"/>
                                          </p:val>
                                        </p:tav>
                                        <p:tav tm="100000">
                                          <p:val>
                                            <p:strVal val="#ppt_x"/>
                                          </p:val>
                                        </p:tav>
                                      </p:tavLst>
                                    </p:anim>
                                    <p:anim calcmode="lin" valueType="num">
                                      <p:cBhvr additive="base">
                                        <p:cTn id="20"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17"/>
                                        </p:tgtEl>
                                        <p:attrNameLst>
                                          <p:attrName>style.visibility</p:attrName>
                                        </p:attrNameLst>
                                      </p:cBhvr>
                                      <p:to>
                                        <p:strVal val="visible"/>
                                      </p:to>
                                    </p:set>
                                    <p:anim calcmode="lin" valueType="num">
                                      <p:cBhvr additive="base">
                                        <p:cTn id="25" dur="500" fill="hold"/>
                                        <p:tgtEl>
                                          <p:spTgt spid="17"/>
                                        </p:tgtEl>
                                        <p:attrNameLst>
                                          <p:attrName>ppt_x</p:attrName>
                                        </p:attrNameLst>
                                      </p:cBhvr>
                                      <p:tavLst>
                                        <p:tav tm="0">
                                          <p:val>
                                            <p:strVal val="#ppt_x"/>
                                          </p:val>
                                        </p:tav>
                                        <p:tav tm="100000">
                                          <p:val>
                                            <p:strVal val="#ppt_x"/>
                                          </p:val>
                                        </p:tav>
                                      </p:tavLst>
                                    </p:anim>
                                    <p:anim calcmode="lin" valueType="num">
                                      <p:cBhvr additive="base">
                                        <p:cTn id="26"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18"/>
                                        </p:tgtEl>
                                        <p:attrNameLst>
                                          <p:attrName>style.visibility</p:attrName>
                                        </p:attrNameLst>
                                      </p:cBhvr>
                                      <p:to>
                                        <p:strVal val="visible"/>
                                      </p:to>
                                    </p:set>
                                    <p:anim calcmode="lin" valueType="num">
                                      <p:cBhvr additive="base">
                                        <p:cTn id="31" dur="500" fill="hold"/>
                                        <p:tgtEl>
                                          <p:spTgt spid="18"/>
                                        </p:tgtEl>
                                        <p:attrNameLst>
                                          <p:attrName>ppt_x</p:attrName>
                                        </p:attrNameLst>
                                      </p:cBhvr>
                                      <p:tavLst>
                                        <p:tav tm="0">
                                          <p:val>
                                            <p:strVal val="#ppt_x"/>
                                          </p:val>
                                        </p:tav>
                                        <p:tav tm="100000">
                                          <p:val>
                                            <p:strVal val="#ppt_x"/>
                                          </p:val>
                                        </p:tav>
                                      </p:tavLst>
                                    </p:anim>
                                    <p:anim calcmode="lin" valueType="num">
                                      <p:cBhvr additive="base">
                                        <p:cTn id="32" dur="500" fill="hold"/>
                                        <p:tgtEl>
                                          <p:spTgt spid="18"/>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19"/>
                                        </p:tgtEl>
                                        <p:attrNameLst>
                                          <p:attrName>style.visibility</p:attrName>
                                        </p:attrNameLst>
                                      </p:cBhvr>
                                      <p:to>
                                        <p:strVal val="visible"/>
                                      </p:to>
                                    </p:set>
                                    <p:anim calcmode="lin" valueType="num">
                                      <p:cBhvr additive="base">
                                        <p:cTn id="35" dur="500" fill="hold"/>
                                        <p:tgtEl>
                                          <p:spTgt spid="19"/>
                                        </p:tgtEl>
                                        <p:attrNameLst>
                                          <p:attrName>ppt_x</p:attrName>
                                        </p:attrNameLst>
                                      </p:cBhvr>
                                      <p:tavLst>
                                        <p:tav tm="0">
                                          <p:val>
                                            <p:strVal val="#ppt_x"/>
                                          </p:val>
                                        </p:tav>
                                        <p:tav tm="100000">
                                          <p:val>
                                            <p:strVal val="#ppt_x"/>
                                          </p:val>
                                        </p:tav>
                                      </p:tavLst>
                                    </p:anim>
                                    <p:anim calcmode="lin" valueType="num">
                                      <p:cBhvr additive="base">
                                        <p:cTn id="36"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20"/>
                                        </p:tgtEl>
                                        <p:attrNameLst>
                                          <p:attrName>style.visibility</p:attrName>
                                        </p:attrNameLst>
                                      </p:cBhvr>
                                      <p:to>
                                        <p:strVal val="visible"/>
                                      </p:to>
                                    </p:set>
                                    <p:animEffect transition="in" filter="wipe(left)">
                                      <p:cBhvr>
                                        <p:cTn id="41" dur="500"/>
                                        <p:tgtEl>
                                          <p:spTgt spid="20"/>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nodeType="clickEffect">
                                  <p:stCondLst>
                                    <p:cond delay="0"/>
                                  </p:stCondLst>
                                  <p:childTnLst>
                                    <p:set>
                                      <p:cBhvr>
                                        <p:cTn id="45" dur="1" fill="hold">
                                          <p:stCondLst>
                                            <p:cond delay="0"/>
                                          </p:stCondLst>
                                        </p:cTn>
                                        <p:tgtEl>
                                          <p:spTgt spid="23"/>
                                        </p:tgtEl>
                                        <p:attrNameLst>
                                          <p:attrName>style.visibility</p:attrName>
                                        </p:attrNameLst>
                                      </p:cBhvr>
                                      <p:to>
                                        <p:strVal val="visible"/>
                                      </p:to>
                                    </p:set>
                                    <p:animEffect transition="in" filter="wipe(left)">
                                      <p:cBhvr>
                                        <p:cTn id="46" dur="500"/>
                                        <p:tgtEl>
                                          <p:spTgt spid="23"/>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nodeType="clickEffect">
                                  <p:stCondLst>
                                    <p:cond delay="0"/>
                                  </p:stCondLst>
                                  <p:childTnLst>
                                    <p:set>
                                      <p:cBhvr>
                                        <p:cTn id="50" dur="1" fill="hold">
                                          <p:stCondLst>
                                            <p:cond delay="0"/>
                                          </p:stCondLst>
                                        </p:cTn>
                                        <p:tgtEl>
                                          <p:spTgt spid="24"/>
                                        </p:tgtEl>
                                        <p:attrNameLst>
                                          <p:attrName>style.visibility</p:attrName>
                                        </p:attrNameLst>
                                      </p:cBhvr>
                                      <p:to>
                                        <p:strVal val="visible"/>
                                      </p:to>
                                    </p:set>
                                    <p:animEffect transition="in" filter="wipe(left)">
                                      <p:cBhvr>
                                        <p:cTn id="51"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ext Box 2">
            <a:extLst>
              <a:ext uri="{FF2B5EF4-FFF2-40B4-BE49-F238E27FC236}">
                <a16:creationId xmlns:a16="http://schemas.microsoft.com/office/drawing/2014/main" id="{E001B920-099D-4A99-A196-CC5B4BB142D1}"/>
              </a:ext>
            </a:extLst>
          </p:cNvPr>
          <p:cNvSpPr txBox="1">
            <a:spLocks noChangeArrowheads="1"/>
          </p:cNvSpPr>
          <p:nvPr/>
        </p:nvSpPr>
        <p:spPr bwMode="auto">
          <a:xfrm>
            <a:off x="1001713" y="3125788"/>
            <a:ext cx="73152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zh-CN" altLang="en-US" sz="2800" b="1">
                <a:latin typeface="Times New Roman" panose="02020603050405020304" pitchFamily="18" charset="0"/>
              </a:rPr>
              <a:t> </a:t>
            </a:r>
            <a:r>
              <a:rPr kumimoji="1" lang="zh-CN" altLang="en-US" sz="2800" b="1">
                <a:latin typeface="Times New Roman" panose="02020603050405020304" pitchFamily="18" charset="0"/>
                <a:sym typeface="Symbol" panose="05050102010706020507" pitchFamily="18" charset="2"/>
              </a:rPr>
              <a:t></a:t>
            </a:r>
            <a:r>
              <a:rPr kumimoji="1" lang="zh-CN" altLang="en-US" sz="2800" b="1">
                <a:latin typeface="Times New Roman" panose="02020603050405020304" pitchFamily="18" charset="0"/>
              </a:rPr>
              <a:t>射线是</a:t>
            </a:r>
            <a:r>
              <a:rPr kumimoji="1" lang="zh-CN" altLang="en-US" sz="2800" b="1">
                <a:latin typeface="Times New Roman" panose="02020603050405020304" pitchFamily="18" charset="0"/>
                <a:sym typeface="Symbol" panose="05050102010706020507" pitchFamily="18" charset="2"/>
              </a:rPr>
              <a:t></a:t>
            </a:r>
            <a:r>
              <a:rPr kumimoji="1" lang="zh-CN" altLang="en-US" sz="2800" b="1">
                <a:latin typeface="Times New Roman" panose="02020603050405020304" pitchFamily="18" charset="0"/>
              </a:rPr>
              <a:t>粒子流，是</a:t>
            </a:r>
            <a:r>
              <a:rPr kumimoji="1" lang="zh-CN" altLang="en-US" sz="2800" b="1">
                <a:solidFill>
                  <a:srgbClr val="202AF4"/>
                </a:solidFill>
                <a:latin typeface="Times New Roman" panose="02020603050405020304" pitchFamily="18" charset="0"/>
              </a:rPr>
              <a:t>带正电的氦核</a:t>
            </a:r>
            <a:r>
              <a:rPr kumimoji="1" lang="zh-CN" altLang="en-US" sz="2800" b="1">
                <a:latin typeface="Times New Roman" panose="02020603050405020304" pitchFamily="18" charset="0"/>
              </a:rPr>
              <a:t>。</a:t>
            </a:r>
          </a:p>
        </p:txBody>
      </p:sp>
      <p:sp>
        <p:nvSpPr>
          <p:cNvPr id="50180" name="Text Box 4">
            <a:extLst>
              <a:ext uri="{FF2B5EF4-FFF2-40B4-BE49-F238E27FC236}">
                <a16:creationId xmlns:a16="http://schemas.microsoft.com/office/drawing/2014/main" id="{8F275C89-25FA-4EBC-A79A-F960AB03F060}"/>
              </a:ext>
            </a:extLst>
          </p:cNvPr>
          <p:cNvSpPr txBox="1">
            <a:spLocks noChangeArrowheads="1"/>
          </p:cNvSpPr>
          <p:nvPr/>
        </p:nvSpPr>
        <p:spPr bwMode="auto">
          <a:xfrm>
            <a:off x="1042988" y="2405063"/>
            <a:ext cx="66960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a:latin typeface="Times New Roman" panose="02020603050405020304" pitchFamily="18" charset="0"/>
                <a:cs typeface="Times New Roman" panose="02020603050405020304" pitchFamily="18" charset="0"/>
              </a:rPr>
              <a:t>是不稳定核自发地</a:t>
            </a:r>
            <a:r>
              <a:rPr kumimoji="1" lang="zh-CN" altLang="en-US" sz="2800" b="1">
                <a:solidFill>
                  <a:srgbClr val="202AF4"/>
                </a:solidFill>
                <a:latin typeface="Times New Roman" panose="02020603050405020304" pitchFamily="18" charset="0"/>
                <a:cs typeface="Times New Roman" panose="02020603050405020304" pitchFamily="18" charset="0"/>
              </a:rPr>
              <a:t>放出氦核</a:t>
            </a:r>
            <a:r>
              <a:rPr kumimoji="1" lang="zh-CN" altLang="en-US" sz="2800" b="1">
                <a:latin typeface="Times New Roman" panose="02020603050405020304" pitchFamily="18" charset="0"/>
                <a:cs typeface="Times New Roman" panose="02020603050405020304" pitchFamily="18" charset="0"/>
              </a:rPr>
              <a:t>的过程。</a:t>
            </a:r>
          </a:p>
        </p:txBody>
      </p:sp>
      <p:sp>
        <p:nvSpPr>
          <p:cNvPr id="50181" name="Text Box 5">
            <a:extLst>
              <a:ext uri="{FF2B5EF4-FFF2-40B4-BE49-F238E27FC236}">
                <a16:creationId xmlns:a16="http://schemas.microsoft.com/office/drawing/2014/main" id="{48C39494-F838-447D-BA09-032877F9D2D3}"/>
              </a:ext>
            </a:extLst>
          </p:cNvPr>
          <p:cNvSpPr txBox="1">
            <a:spLocks noChangeArrowheads="1"/>
          </p:cNvSpPr>
          <p:nvPr/>
        </p:nvSpPr>
        <p:spPr bwMode="auto">
          <a:xfrm>
            <a:off x="539750" y="1700213"/>
            <a:ext cx="37639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a:solidFill>
                  <a:schemeClr val="accent2"/>
                </a:solidFill>
                <a:latin typeface="Times New Roman" panose="02020603050405020304" pitchFamily="18" charset="0"/>
                <a:cs typeface="Times New Roman" panose="02020603050405020304" pitchFamily="18" charset="0"/>
              </a:rPr>
              <a:t>1</a:t>
            </a:r>
            <a:r>
              <a:rPr kumimoji="1" lang="zh-CN" altLang="en-US" sz="2800" b="1">
                <a:solidFill>
                  <a:srgbClr val="202AF4"/>
                </a:solidFill>
                <a:latin typeface="Times New Roman" panose="02020603050405020304" pitchFamily="18" charset="0"/>
                <a:cs typeface="Times New Roman" panose="02020603050405020304" pitchFamily="18" charset="0"/>
              </a:rPr>
              <a:t>、</a:t>
            </a:r>
            <a:r>
              <a:rPr kumimoji="1" lang="zh-CN" altLang="en-US" sz="2800" b="1">
                <a:solidFill>
                  <a:srgbClr val="202AF4"/>
                </a:solidFill>
                <a:latin typeface="Times New Roman" panose="02020603050405020304" pitchFamily="18" charset="0"/>
                <a:sym typeface="Symbol" panose="05050102010706020507" pitchFamily="18" charset="2"/>
              </a:rPr>
              <a:t> </a:t>
            </a:r>
            <a:r>
              <a:rPr kumimoji="1" lang="zh-CN" altLang="en-US" sz="2800" b="1">
                <a:solidFill>
                  <a:srgbClr val="202AF4"/>
                </a:solidFill>
                <a:latin typeface="Times New Roman" panose="02020603050405020304" pitchFamily="18" charset="0"/>
                <a:cs typeface="Times New Roman" panose="02020603050405020304" pitchFamily="18" charset="0"/>
                <a:sym typeface="Mathematica1"/>
              </a:rPr>
              <a:t>粒子</a:t>
            </a:r>
            <a:r>
              <a:rPr kumimoji="1" lang="zh-CN" altLang="en-US" sz="2800" b="1">
                <a:solidFill>
                  <a:srgbClr val="202AF4"/>
                </a:solidFill>
                <a:latin typeface="Times New Roman" panose="02020603050405020304" pitchFamily="18" charset="0"/>
                <a:cs typeface="Times New Roman" panose="02020603050405020304" pitchFamily="18" charset="0"/>
              </a:rPr>
              <a:t>衰变</a:t>
            </a:r>
          </a:p>
        </p:txBody>
      </p:sp>
      <p:graphicFrame>
        <p:nvGraphicFramePr>
          <p:cNvPr id="50182" name="Object 6">
            <a:extLst>
              <a:ext uri="{FF2B5EF4-FFF2-40B4-BE49-F238E27FC236}">
                <a16:creationId xmlns:a16="http://schemas.microsoft.com/office/drawing/2014/main" id="{18ACD570-2184-4B9E-A50C-8860ED39E0CB}"/>
              </a:ext>
            </a:extLst>
          </p:cNvPr>
          <p:cNvGraphicFramePr>
            <a:graphicFrameLocks noChangeAspect="1"/>
          </p:cNvGraphicFramePr>
          <p:nvPr/>
        </p:nvGraphicFramePr>
        <p:xfrm>
          <a:off x="2951163" y="4670425"/>
          <a:ext cx="2924175" cy="703263"/>
        </p:xfrm>
        <a:graphic>
          <a:graphicData uri="http://schemas.openxmlformats.org/presentationml/2006/ole">
            <mc:AlternateContent xmlns:mc="http://schemas.openxmlformats.org/markup-compatibility/2006">
              <mc:Choice xmlns:v="urn:schemas-microsoft-com:vml" Requires="v">
                <p:oleObj spid="_x0000_s28687" name="Equation" r:id="rId3" imgW="1002865" imgH="241195" progId="Equation.DSMT4">
                  <p:embed/>
                </p:oleObj>
              </mc:Choice>
              <mc:Fallback>
                <p:oleObj name="Equation" r:id="rId3" imgW="1002865" imgH="241195" progId="Equation.DSMT4">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51163" y="4670425"/>
                        <a:ext cx="2924175" cy="703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0183" name="Text Box 7">
            <a:extLst>
              <a:ext uri="{FF2B5EF4-FFF2-40B4-BE49-F238E27FC236}">
                <a16:creationId xmlns:a16="http://schemas.microsoft.com/office/drawing/2014/main" id="{8B6A30F8-78BB-438A-840B-2563A46E3897}"/>
              </a:ext>
            </a:extLst>
          </p:cNvPr>
          <p:cNvSpPr txBox="1">
            <a:spLocks noChangeArrowheads="1"/>
          </p:cNvSpPr>
          <p:nvPr/>
        </p:nvSpPr>
        <p:spPr bwMode="auto">
          <a:xfrm>
            <a:off x="1042988" y="3832225"/>
            <a:ext cx="53482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a:latin typeface="Times New Roman" panose="02020603050405020304" pitchFamily="18" charset="0"/>
                <a:cs typeface="Times New Roman" panose="02020603050405020304" pitchFamily="18" charset="0"/>
              </a:rPr>
              <a:t>一般的过程可以表示为：</a:t>
            </a:r>
          </a:p>
        </p:txBody>
      </p:sp>
      <p:graphicFrame>
        <p:nvGraphicFramePr>
          <p:cNvPr id="50184" name="Object 8">
            <a:extLst>
              <a:ext uri="{FF2B5EF4-FFF2-40B4-BE49-F238E27FC236}">
                <a16:creationId xmlns:a16="http://schemas.microsoft.com/office/drawing/2014/main" id="{75451DEC-02A3-4D6A-8570-62AFCB657451}"/>
              </a:ext>
            </a:extLst>
          </p:cNvPr>
          <p:cNvGraphicFramePr>
            <a:graphicFrameLocks noChangeAspect="1"/>
          </p:cNvGraphicFramePr>
          <p:nvPr/>
        </p:nvGraphicFramePr>
        <p:xfrm>
          <a:off x="2627313" y="5734050"/>
          <a:ext cx="3584575" cy="642938"/>
        </p:xfrm>
        <a:graphic>
          <a:graphicData uri="http://schemas.openxmlformats.org/presentationml/2006/ole">
            <mc:AlternateContent xmlns:mc="http://schemas.openxmlformats.org/markup-compatibility/2006">
              <mc:Choice xmlns:v="urn:schemas-microsoft-com:vml" Requires="v">
                <p:oleObj spid="_x0000_s28688" name="Equation" r:id="rId5" imgW="1346200" imgH="241300" progId="Equation.DSMT4">
                  <p:embed/>
                </p:oleObj>
              </mc:Choice>
              <mc:Fallback>
                <p:oleObj name="Equation" r:id="rId5" imgW="1346200" imgH="241300" progId="Equation.DSMT4">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27313" y="5734050"/>
                        <a:ext cx="3584575" cy="642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7221" name="Text Box 5">
            <a:extLst>
              <a:ext uri="{FF2B5EF4-FFF2-40B4-BE49-F238E27FC236}">
                <a16:creationId xmlns:a16="http://schemas.microsoft.com/office/drawing/2014/main" id="{65A062FA-EC09-428D-8444-A0721CB677C0}"/>
              </a:ext>
            </a:extLst>
          </p:cNvPr>
          <p:cNvSpPr txBox="1">
            <a:spLocks noChangeArrowheads="1"/>
          </p:cNvSpPr>
          <p:nvPr/>
        </p:nvSpPr>
        <p:spPr bwMode="auto">
          <a:xfrm>
            <a:off x="107950" y="1125538"/>
            <a:ext cx="20875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a:solidFill>
                  <a:schemeClr val="accent2"/>
                </a:solidFill>
                <a:latin typeface="Times New Roman" panose="02020603050405020304" pitchFamily="18" charset="0"/>
                <a:cs typeface="Times New Roman" panose="02020603050405020304" pitchFamily="18" charset="0"/>
              </a:rPr>
              <a:t>3.1 </a:t>
            </a:r>
            <a:r>
              <a:rPr kumimoji="1" lang="zh-CN" altLang="en-US" sz="2800" b="1">
                <a:solidFill>
                  <a:srgbClr val="202AF4"/>
                </a:solidFill>
                <a:latin typeface="Times New Roman" panose="02020603050405020304" pitchFamily="18" charset="0"/>
                <a:cs typeface="Times New Roman" panose="02020603050405020304" pitchFamily="18" charset="0"/>
              </a:rPr>
              <a:t>核反应</a:t>
            </a:r>
          </a:p>
        </p:txBody>
      </p:sp>
      <p:sp>
        <p:nvSpPr>
          <p:cNvPr id="137235" name="Rectangle 19">
            <a:extLst>
              <a:ext uri="{FF2B5EF4-FFF2-40B4-BE49-F238E27FC236}">
                <a16:creationId xmlns:a16="http://schemas.microsoft.com/office/drawing/2014/main" id="{222DF750-7C38-4BF5-96F1-E81D4CA4A475}"/>
              </a:ext>
            </a:extLst>
          </p:cNvPr>
          <p:cNvSpPr>
            <a:spLocks noChangeArrowheads="1"/>
          </p:cNvSpPr>
          <p:nvPr/>
        </p:nvSpPr>
        <p:spPr bwMode="auto">
          <a:xfrm>
            <a:off x="1835150" y="312738"/>
            <a:ext cx="57594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latin typeface="Times New Roman" panose="02020603050405020304" pitchFamily="18" charset="0"/>
                <a:cs typeface="Times New Roman" panose="02020603050405020304" pitchFamily="18" charset="0"/>
              </a:rPr>
              <a:t> </a:t>
            </a:r>
            <a:r>
              <a:rPr kumimoji="1" lang="zh-CN" altLang="en-US" b="1">
                <a:latin typeface="Times New Roman" panose="02020603050405020304" pitchFamily="18" charset="0"/>
                <a:cs typeface="Times New Roman" panose="02020603050405020304" pitchFamily="18" charset="0"/>
              </a:rPr>
              <a:t>第</a:t>
            </a:r>
            <a:r>
              <a:rPr kumimoji="1" lang="en-US" altLang="zh-CN" b="1">
                <a:latin typeface="Times New Roman" panose="02020603050405020304" pitchFamily="18" charset="0"/>
                <a:cs typeface="Times New Roman" panose="02020603050405020304" pitchFamily="18" charset="0"/>
              </a:rPr>
              <a:t>3</a:t>
            </a:r>
            <a:r>
              <a:rPr kumimoji="1" lang="zh-CN" altLang="en-US" b="1">
                <a:latin typeface="Times New Roman" panose="02020603050405020304" pitchFamily="18" charset="0"/>
                <a:cs typeface="Times New Roman" panose="02020603050405020304" pitchFamily="18" charset="0"/>
              </a:rPr>
              <a:t>节 核反应与核能的利用</a:t>
            </a:r>
            <a:r>
              <a:rPr kumimoji="1" lang="zh-CN" altLang="en-US" b="1">
                <a:latin typeface="Times New Roman" panose="02020603050405020304" pitchFamily="18" charset="0"/>
                <a:ea typeface="楷体_GB2312"/>
                <a:cs typeface="Times New Roman" panose="02020603050405020304" pitchFamily="18" charset="0"/>
              </a:rPr>
              <a:t> </a:t>
            </a:r>
          </a:p>
        </p:txBody>
      </p:sp>
      <p:sp>
        <p:nvSpPr>
          <p:cNvPr id="28682" name="Text Box 29">
            <a:extLst>
              <a:ext uri="{FF2B5EF4-FFF2-40B4-BE49-F238E27FC236}">
                <a16:creationId xmlns:a16="http://schemas.microsoft.com/office/drawing/2014/main" id="{F7140CD8-456D-4D32-806C-E1D1E85908A3}"/>
              </a:ext>
            </a:extLst>
          </p:cNvPr>
          <p:cNvSpPr txBox="1">
            <a:spLocks noChangeArrowheads="1"/>
          </p:cNvSpPr>
          <p:nvPr/>
        </p:nvSpPr>
        <p:spPr bwMode="auto">
          <a:xfrm>
            <a:off x="8629650" y="6356350"/>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1">
                <a:latin typeface="Times New Roman" panose="02020603050405020304" pitchFamily="18" charset="0"/>
              </a:rPr>
              <a:t>20</a:t>
            </a:r>
            <a:endParaRPr lang="en-US" altLang="zh-CN" sz="18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withEffect">
                                  <p:stCondLst>
                                    <p:cond delay="0"/>
                                  </p:stCondLst>
                                  <p:childTnLst>
                                    <p:set>
                                      <p:cBhvr>
                                        <p:cTn id="6" dur="1" fill="hold">
                                          <p:stCondLst>
                                            <p:cond delay="0"/>
                                          </p:stCondLst>
                                        </p:cTn>
                                        <p:tgtEl>
                                          <p:spTgt spid="137235"/>
                                        </p:tgtEl>
                                        <p:attrNameLst>
                                          <p:attrName>style.visibility</p:attrName>
                                        </p:attrNameLst>
                                      </p:cBhvr>
                                      <p:to>
                                        <p:strVal val="visible"/>
                                      </p:to>
                                    </p:set>
                                    <p:anim calcmode="lin" valueType="num">
                                      <p:cBhvr>
                                        <p:cTn id="7" dur="500" fill="hold"/>
                                        <p:tgtEl>
                                          <p:spTgt spid="137235"/>
                                        </p:tgtEl>
                                        <p:attrNameLst>
                                          <p:attrName>ppt_w</p:attrName>
                                        </p:attrNameLst>
                                      </p:cBhvr>
                                      <p:tavLst>
                                        <p:tav tm="0">
                                          <p:val>
                                            <p:fltVal val="0"/>
                                          </p:val>
                                        </p:tav>
                                        <p:tav tm="100000">
                                          <p:val>
                                            <p:strVal val="#ppt_w"/>
                                          </p:val>
                                        </p:tav>
                                      </p:tavLst>
                                    </p:anim>
                                    <p:anim calcmode="lin" valueType="num">
                                      <p:cBhvr>
                                        <p:cTn id="8" dur="500" fill="hold"/>
                                        <p:tgtEl>
                                          <p:spTgt spid="137235"/>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137221"/>
                                        </p:tgtEl>
                                        <p:attrNameLst>
                                          <p:attrName>style.visibility</p:attrName>
                                        </p:attrNameLst>
                                      </p:cBhvr>
                                      <p:to>
                                        <p:strVal val="visible"/>
                                      </p:to>
                                    </p:set>
                                    <p:animEffect transition="in" filter="slide(fromBottom)">
                                      <p:cBhvr>
                                        <p:cTn id="13" dur="500"/>
                                        <p:tgtEl>
                                          <p:spTgt spid="137221"/>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50181"/>
                                        </p:tgtEl>
                                        <p:attrNameLst>
                                          <p:attrName>style.visibility</p:attrName>
                                        </p:attrNameLst>
                                      </p:cBhvr>
                                      <p:to>
                                        <p:strVal val="visible"/>
                                      </p:to>
                                    </p:set>
                                    <p:animEffect transition="in" filter="wipe(left)">
                                      <p:cBhvr>
                                        <p:cTn id="18" dur="500"/>
                                        <p:tgtEl>
                                          <p:spTgt spid="50181"/>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50180"/>
                                        </p:tgtEl>
                                        <p:attrNameLst>
                                          <p:attrName>style.visibility</p:attrName>
                                        </p:attrNameLst>
                                      </p:cBhvr>
                                      <p:to>
                                        <p:strVal val="visible"/>
                                      </p:to>
                                    </p:set>
                                    <p:animEffect transition="in" filter="wipe(left)">
                                      <p:cBhvr>
                                        <p:cTn id="23" dur="500"/>
                                        <p:tgtEl>
                                          <p:spTgt spid="50180"/>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50178"/>
                                        </p:tgtEl>
                                        <p:attrNameLst>
                                          <p:attrName>style.visibility</p:attrName>
                                        </p:attrNameLst>
                                      </p:cBhvr>
                                      <p:to>
                                        <p:strVal val="visible"/>
                                      </p:to>
                                    </p:set>
                                    <p:animEffect transition="in" filter="wipe(left)">
                                      <p:cBhvr>
                                        <p:cTn id="28" dur="500"/>
                                        <p:tgtEl>
                                          <p:spTgt spid="50178"/>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50183"/>
                                        </p:tgtEl>
                                        <p:attrNameLst>
                                          <p:attrName>style.visibility</p:attrName>
                                        </p:attrNameLst>
                                      </p:cBhvr>
                                      <p:to>
                                        <p:strVal val="visible"/>
                                      </p:to>
                                    </p:set>
                                    <p:animEffect transition="in" filter="wipe(left)">
                                      <p:cBhvr>
                                        <p:cTn id="33" dur="500"/>
                                        <p:tgtEl>
                                          <p:spTgt spid="50183"/>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nodeType="clickEffect">
                                  <p:stCondLst>
                                    <p:cond delay="0"/>
                                  </p:stCondLst>
                                  <p:childTnLst>
                                    <p:set>
                                      <p:cBhvr>
                                        <p:cTn id="37" dur="1" fill="hold">
                                          <p:stCondLst>
                                            <p:cond delay="0"/>
                                          </p:stCondLst>
                                        </p:cTn>
                                        <p:tgtEl>
                                          <p:spTgt spid="50182"/>
                                        </p:tgtEl>
                                        <p:attrNameLst>
                                          <p:attrName>style.visibility</p:attrName>
                                        </p:attrNameLst>
                                      </p:cBhvr>
                                      <p:to>
                                        <p:strVal val="visible"/>
                                      </p:to>
                                    </p:set>
                                    <p:animEffect transition="in" filter="wipe(left)">
                                      <p:cBhvr>
                                        <p:cTn id="38" dur="500"/>
                                        <p:tgtEl>
                                          <p:spTgt spid="50182"/>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nodeType="clickEffect">
                                  <p:stCondLst>
                                    <p:cond delay="0"/>
                                  </p:stCondLst>
                                  <p:childTnLst>
                                    <p:set>
                                      <p:cBhvr>
                                        <p:cTn id="42" dur="1" fill="hold">
                                          <p:stCondLst>
                                            <p:cond delay="0"/>
                                          </p:stCondLst>
                                        </p:cTn>
                                        <p:tgtEl>
                                          <p:spTgt spid="50184"/>
                                        </p:tgtEl>
                                        <p:attrNameLst>
                                          <p:attrName>style.visibility</p:attrName>
                                        </p:attrNameLst>
                                      </p:cBhvr>
                                      <p:to>
                                        <p:strVal val="visible"/>
                                      </p:to>
                                    </p:set>
                                    <p:animEffect transition="in" filter="wipe(left)">
                                      <p:cBhvr>
                                        <p:cTn id="43" dur="500"/>
                                        <p:tgtEl>
                                          <p:spTgt spid="501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78" grpId="0"/>
      <p:bldP spid="50180" grpId="0"/>
      <p:bldP spid="50181" grpId="0"/>
      <p:bldP spid="50183" grpId="0"/>
      <p:bldP spid="137221" grpId="0"/>
      <p:bldP spid="137235"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ext Box 2">
            <a:extLst>
              <a:ext uri="{FF2B5EF4-FFF2-40B4-BE49-F238E27FC236}">
                <a16:creationId xmlns:a16="http://schemas.microsoft.com/office/drawing/2014/main" id="{ECD22707-561B-45C6-8ACD-D3E9C8D74A80}"/>
              </a:ext>
            </a:extLst>
          </p:cNvPr>
          <p:cNvSpPr txBox="1">
            <a:spLocks noChangeArrowheads="1"/>
          </p:cNvSpPr>
          <p:nvPr/>
        </p:nvSpPr>
        <p:spPr bwMode="auto">
          <a:xfrm>
            <a:off x="942975" y="1038225"/>
            <a:ext cx="71580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zh-CN" altLang="en-US" sz="2800" b="1">
                <a:latin typeface="Times New Roman" panose="02020603050405020304" pitchFamily="18" charset="0"/>
                <a:sym typeface="Symbol" panose="05050102010706020507" pitchFamily="18" charset="2"/>
              </a:rPr>
              <a:t></a:t>
            </a:r>
            <a:r>
              <a:rPr kumimoji="1" lang="zh-CN" altLang="en-US" sz="2800" b="1">
                <a:latin typeface="Times New Roman" panose="02020603050405020304" pitchFamily="18" charset="0"/>
              </a:rPr>
              <a:t>射线是高速运动的</a:t>
            </a:r>
            <a:r>
              <a:rPr kumimoji="1" lang="zh-CN" altLang="en-US" sz="2800" b="1">
                <a:solidFill>
                  <a:srgbClr val="202AF4"/>
                </a:solidFill>
                <a:latin typeface="Times New Roman" panose="02020603050405020304" pitchFamily="18" charset="0"/>
              </a:rPr>
              <a:t>电子流</a:t>
            </a:r>
            <a:r>
              <a:rPr kumimoji="1" lang="zh-CN" altLang="en-US" sz="2800" b="1">
                <a:latin typeface="Times New Roman" panose="02020603050405020304" pitchFamily="18" charset="0"/>
              </a:rPr>
              <a:t>，分 </a:t>
            </a:r>
            <a:r>
              <a:rPr kumimoji="1" lang="zh-CN" altLang="en-US" sz="2800" b="1">
                <a:solidFill>
                  <a:srgbClr val="202AF4"/>
                </a:solidFill>
                <a:latin typeface="Times New Roman" panose="02020603050405020304" pitchFamily="18" charset="0"/>
                <a:sym typeface="Symbol" panose="05050102010706020507" pitchFamily="18" charset="2"/>
              </a:rPr>
              <a:t> </a:t>
            </a:r>
            <a:r>
              <a:rPr kumimoji="1" lang="en-US" altLang="zh-CN" sz="2800" b="1" baseline="30000">
                <a:solidFill>
                  <a:srgbClr val="202AF4"/>
                </a:solidFill>
                <a:latin typeface="Times New Roman" panose="02020603050405020304" pitchFamily="18" charset="0"/>
                <a:sym typeface="Symbol" panose="05050102010706020507" pitchFamily="18" charset="2"/>
              </a:rPr>
              <a:t>+</a:t>
            </a:r>
            <a:r>
              <a:rPr kumimoji="1" lang="zh-CN" altLang="en-US" sz="2800" b="1">
                <a:solidFill>
                  <a:srgbClr val="202AF4"/>
                </a:solidFill>
                <a:latin typeface="Times New Roman" panose="02020603050405020304" pitchFamily="18" charset="0"/>
                <a:sym typeface="Symbol" panose="05050102010706020507" pitchFamily="18" charset="2"/>
              </a:rPr>
              <a:t>和 </a:t>
            </a:r>
            <a:r>
              <a:rPr kumimoji="1" lang="en-US" altLang="zh-CN" sz="2800" b="1" baseline="30000">
                <a:solidFill>
                  <a:srgbClr val="202AF4"/>
                </a:solidFill>
                <a:latin typeface="Times New Roman" panose="02020603050405020304" pitchFamily="18" charset="0"/>
                <a:sym typeface="Symbol" panose="05050102010706020507" pitchFamily="18" charset="2"/>
              </a:rPr>
              <a:t>- </a:t>
            </a:r>
            <a:r>
              <a:rPr kumimoji="1" lang="zh-CN" altLang="en-US" sz="2800" b="1">
                <a:latin typeface="Times New Roman" panose="02020603050405020304" pitchFamily="18" charset="0"/>
                <a:sym typeface="Symbol" panose="05050102010706020507" pitchFamily="18" charset="2"/>
              </a:rPr>
              <a:t>两种</a:t>
            </a:r>
          </a:p>
        </p:txBody>
      </p:sp>
      <p:sp>
        <p:nvSpPr>
          <p:cNvPr id="52227" name="Text Box 3">
            <a:extLst>
              <a:ext uri="{FF2B5EF4-FFF2-40B4-BE49-F238E27FC236}">
                <a16:creationId xmlns:a16="http://schemas.microsoft.com/office/drawing/2014/main" id="{81F69F49-223A-4356-916E-43B6CC5835FE}"/>
              </a:ext>
            </a:extLst>
          </p:cNvPr>
          <p:cNvSpPr txBox="1">
            <a:spLocks noChangeArrowheads="1"/>
          </p:cNvSpPr>
          <p:nvPr/>
        </p:nvSpPr>
        <p:spPr bwMode="auto">
          <a:xfrm>
            <a:off x="684213" y="2505075"/>
            <a:ext cx="7848600"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50000"/>
              </a:spcBef>
              <a:buFontTx/>
              <a:buNone/>
            </a:pPr>
            <a:r>
              <a:rPr kumimoji="1" lang="zh-CN" altLang="en-US" sz="2800" b="1">
                <a:solidFill>
                  <a:srgbClr val="202AF4"/>
                </a:solidFill>
                <a:latin typeface="Times New Roman" panose="02020603050405020304" pitchFamily="18" charset="0"/>
                <a:sym typeface="Symbol" panose="05050102010706020507" pitchFamily="18" charset="2"/>
              </a:rPr>
              <a:t> </a:t>
            </a:r>
            <a:r>
              <a:rPr kumimoji="1" lang="en-US" altLang="zh-CN" sz="2800" b="1" baseline="30000">
                <a:solidFill>
                  <a:srgbClr val="202AF4"/>
                </a:solidFill>
                <a:latin typeface="Times New Roman" panose="02020603050405020304" pitchFamily="18" charset="0"/>
                <a:sym typeface="Symbol" panose="05050102010706020507" pitchFamily="18" charset="2"/>
              </a:rPr>
              <a:t>-</a:t>
            </a:r>
            <a:r>
              <a:rPr kumimoji="1" lang="zh-CN" altLang="en-US" sz="2800" b="1">
                <a:solidFill>
                  <a:srgbClr val="202AF4"/>
                </a:solidFill>
                <a:latin typeface="Times New Roman" panose="02020603050405020304" pitchFamily="18" charset="0"/>
                <a:sym typeface="Symbol" panose="05050102010706020507" pitchFamily="18" charset="2"/>
              </a:rPr>
              <a:t>衰变</a:t>
            </a:r>
            <a:r>
              <a:rPr kumimoji="1" lang="zh-CN" altLang="en-US" sz="2800" b="1">
                <a:latin typeface="Times New Roman" panose="02020603050405020304" pitchFamily="18" charset="0"/>
                <a:sym typeface="Symbol" panose="05050102010706020507" pitchFamily="18" charset="2"/>
              </a:rPr>
              <a:t>是原子核内</a:t>
            </a:r>
            <a:r>
              <a:rPr kumimoji="1" lang="zh-CN" altLang="en-US" sz="2800" b="1">
                <a:solidFill>
                  <a:srgbClr val="202AF4"/>
                </a:solidFill>
                <a:latin typeface="Times New Roman" panose="02020603050405020304" pitchFamily="18" charset="0"/>
                <a:sym typeface="Symbol" panose="05050102010706020507" pitchFamily="18" charset="2"/>
              </a:rPr>
              <a:t>中子转变成质子</a:t>
            </a:r>
            <a:r>
              <a:rPr kumimoji="1" lang="zh-CN" altLang="en-US" sz="2800" b="1">
                <a:latin typeface="Times New Roman" panose="02020603050405020304" pitchFamily="18" charset="0"/>
                <a:sym typeface="Symbol" panose="05050102010706020507" pitchFamily="18" charset="2"/>
              </a:rPr>
              <a:t>，同时放出</a:t>
            </a:r>
            <a:r>
              <a:rPr kumimoji="1" lang="zh-CN" altLang="en-US" sz="2800" b="1">
                <a:solidFill>
                  <a:schemeClr val="accent2"/>
                </a:solidFill>
                <a:latin typeface="Times New Roman" panose="02020603050405020304" pitchFamily="18" charset="0"/>
                <a:sym typeface="Symbol" panose="05050102010706020507" pitchFamily="18" charset="2"/>
              </a:rPr>
              <a:t>一个电子</a:t>
            </a:r>
            <a:r>
              <a:rPr kumimoji="1" lang="zh-CN" altLang="en-US" sz="2800" b="1">
                <a:latin typeface="Times New Roman" panose="02020603050405020304" pitchFamily="18" charset="0"/>
                <a:sym typeface="Symbol" panose="05050102010706020507" pitchFamily="18" charset="2"/>
              </a:rPr>
              <a:t>和与电子相联系的</a:t>
            </a:r>
            <a:r>
              <a:rPr kumimoji="1" lang="zh-CN" altLang="en-US" sz="2800" b="1">
                <a:solidFill>
                  <a:srgbClr val="202AF4"/>
                </a:solidFill>
                <a:latin typeface="Times New Roman" panose="02020603050405020304" pitchFamily="18" charset="0"/>
                <a:sym typeface="Symbol" panose="05050102010706020507" pitchFamily="18" charset="2"/>
              </a:rPr>
              <a:t>反中微子</a:t>
            </a:r>
          </a:p>
        </p:txBody>
      </p:sp>
      <p:sp>
        <p:nvSpPr>
          <p:cNvPr id="52228" name="Text Box 4">
            <a:extLst>
              <a:ext uri="{FF2B5EF4-FFF2-40B4-BE49-F238E27FC236}">
                <a16:creationId xmlns:a16="http://schemas.microsoft.com/office/drawing/2014/main" id="{91A6B7D5-121D-449D-8A03-0868B7357C40}"/>
              </a:ext>
            </a:extLst>
          </p:cNvPr>
          <p:cNvSpPr txBox="1">
            <a:spLocks noChangeArrowheads="1"/>
          </p:cNvSpPr>
          <p:nvPr/>
        </p:nvSpPr>
        <p:spPr bwMode="auto">
          <a:xfrm>
            <a:off x="727075" y="4462463"/>
            <a:ext cx="7732713"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50000"/>
              </a:spcBef>
              <a:buFontTx/>
              <a:buNone/>
            </a:pPr>
            <a:r>
              <a:rPr kumimoji="1" lang="zh-CN" altLang="en-US" sz="2800" b="1">
                <a:solidFill>
                  <a:srgbClr val="202AF4"/>
                </a:solidFill>
                <a:latin typeface="Times New Roman" panose="02020603050405020304" pitchFamily="18" charset="0"/>
                <a:sym typeface="Symbol" panose="05050102010706020507" pitchFamily="18" charset="2"/>
              </a:rPr>
              <a:t> </a:t>
            </a:r>
            <a:r>
              <a:rPr kumimoji="1" lang="en-US" altLang="zh-CN" sz="2800" b="1" baseline="30000">
                <a:solidFill>
                  <a:srgbClr val="202AF4"/>
                </a:solidFill>
                <a:latin typeface="Times New Roman" panose="02020603050405020304" pitchFamily="18" charset="0"/>
                <a:sym typeface="Symbol" panose="05050102010706020507" pitchFamily="18" charset="2"/>
              </a:rPr>
              <a:t>+</a:t>
            </a:r>
            <a:r>
              <a:rPr kumimoji="1" lang="zh-CN" altLang="en-US" sz="2800" b="1">
                <a:solidFill>
                  <a:srgbClr val="202AF4"/>
                </a:solidFill>
                <a:latin typeface="Times New Roman" panose="02020603050405020304" pitchFamily="18" charset="0"/>
                <a:sym typeface="Symbol" panose="05050102010706020507" pitchFamily="18" charset="2"/>
              </a:rPr>
              <a:t>衰变</a:t>
            </a:r>
            <a:r>
              <a:rPr kumimoji="1" lang="zh-CN" altLang="en-US" sz="2800" b="1">
                <a:latin typeface="Times New Roman" panose="02020603050405020304" pitchFamily="18" charset="0"/>
                <a:sym typeface="Symbol" panose="05050102010706020507" pitchFamily="18" charset="2"/>
              </a:rPr>
              <a:t>是原子核内</a:t>
            </a:r>
            <a:r>
              <a:rPr kumimoji="1" lang="zh-CN" altLang="en-US" sz="2800" b="1">
                <a:solidFill>
                  <a:srgbClr val="202AF4"/>
                </a:solidFill>
                <a:latin typeface="Times New Roman" panose="02020603050405020304" pitchFamily="18" charset="0"/>
                <a:sym typeface="Symbol" panose="05050102010706020507" pitchFamily="18" charset="2"/>
              </a:rPr>
              <a:t>质子转变成中子</a:t>
            </a:r>
            <a:r>
              <a:rPr kumimoji="1" lang="zh-CN" altLang="en-US" sz="2800" b="1">
                <a:latin typeface="Times New Roman" panose="02020603050405020304" pitchFamily="18" charset="0"/>
                <a:sym typeface="Symbol" panose="05050102010706020507" pitchFamily="18" charset="2"/>
              </a:rPr>
              <a:t>，同时放出</a:t>
            </a:r>
            <a:r>
              <a:rPr kumimoji="1" lang="zh-CN" altLang="en-US" sz="2800" b="1">
                <a:solidFill>
                  <a:srgbClr val="202AF4"/>
                </a:solidFill>
                <a:latin typeface="Times New Roman" panose="02020603050405020304" pitchFamily="18" charset="0"/>
                <a:sym typeface="Symbol" panose="05050102010706020507" pitchFamily="18" charset="2"/>
              </a:rPr>
              <a:t>一个正电子和一个中微子</a:t>
            </a:r>
          </a:p>
        </p:txBody>
      </p:sp>
      <p:sp>
        <p:nvSpPr>
          <p:cNvPr id="52229" name="Text Box 5">
            <a:extLst>
              <a:ext uri="{FF2B5EF4-FFF2-40B4-BE49-F238E27FC236}">
                <a16:creationId xmlns:a16="http://schemas.microsoft.com/office/drawing/2014/main" id="{CD05D2E3-5289-488C-B813-C93E2DFA9E69}"/>
              </a:ext>
            </a:extLst>
          </p:cNvPr>
          <p:cNvSpPr txBox="1">
            <a:spLocks noChangeArrowheads="1"/>
          </p:cNvSpPr>
          <p:nvPr/>
        </p:nvSpPr>
        <p:spPr bwMode="auto">
          <a:xfrm>
            <a:off x="665163" y="358775"/>
            <a:ext cx="28273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a:solidFill>
                  <a:srgbClr val="202AF4"/>
                </a:solidFill>
                <a:latin typeface="Times New Roman" panose="02020603050405020304" pitchFamily="18" charset="0"/>
                <a:cs typeface="Times New Roman" panose="02020603050405020304" pitchFamily="18" charset="0"/>
              </a:rPr>
              <a:t>2.</a:t>
            </a:r>
            <a:r>
              <a:rPr kumimoji="1" lang="zh-CN" altLang="en-US" sz="2800" b="1">
                <a:solidFill>
                  <a:srgbClr val="202AF4"/>
                </a:solidFill>
                <a:latin typeface="Times New Roman" panose="02020603050405020304" pitchFamily="18" charset="0"/>
                <a:cs typeface="Times New Roman" panose="02020603050405020304" pitchFamily="18" charset="0"/>
              </a:rPr>
              <a:t> </a:t>
            </a:r>
            <a:r>
              <a:rPr kumimoji="1" lang="zh-CN" altLang="en-US" sz="2800" b="1">
                <a:solidFill>
                  <a:srgbClr val="202AF4"/>
                </a:solidFill>
                <a:latin typeface="Times New Roman" panose="02020603050405020304" pitchFamily="18" charset="0"/>
                <a:cs typeface="Times New Roman" panose="02020603050405020304" pitchFamily="18" charset="0"/>
                <a:sym typeface="Symbol" panose="05050102010706020507" pitchFamily="18" charset="2"/>
              </a:rPr>
              <a:t> 衰变</a:t>
            </a:r>
          </a:p>
        </p:txBody>
      </p:sp>
      <p:graphicFrame>
        <p:nvGraphicFramePr>
          <p:cNvPr id="52230" name="Object 6">
            <a:extLst>
              <a:ext uri="{FF2B5EF4-FFF2-40B4-BE49-F238E27FC236}">
                <a16:creationId xmlns:a16="http://schemas.microsoft.com/office/drawing/2014/main" id="{0FE79370-8400-49B4-8A5D-A2D41B637B01}"/>
              </a:ext>
            </a:extLst>
          </p:cNvPr>
          <p:cNvGraphicFramePr>
            <a:graphicFrameLocks noChangeAspect="1"/>
          </p:cNvGraphicFramePr>
          <p:nvPr/>
        </p:nvGraphicFramePr>
        <p:xfrm>
          <a:off x="2755900" y="1793875"/>
          <a:ext cx="3705225" cy="627063"/>
        </p:xfrm>
        <a:graphic>
          <a:graphicData uri="http://schemas.openxmlformats.org/presentationml/2006/ole">
            <mc:AlternateContent xmlns:mc="http://schemas.openxmlformats.org/markup-compatibility/2006">
              <mc:Choice xmlns:v="urn:schemas-microsoft-com:vml" Requires="v">
                <p:oleObj spid="_x0000_s29712" name="Equation" r:id="rId3" imgW="1422400" imgH="241300" progId="Equation.DSMT4">
                  <p:embed/>
                </p:oleObj>
              </mc:Choice>
              <mc:Fallback>
                <p:oleObj name="Equation" r:id="rId3" imgW="1422400" imgH="241300" progId="Equation.DSMT4">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55900" y="1793875"/>
                        <a:ext cx="3705225" cy="627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2231" name="Object 7">
            <a:extLst>
              <a:ext uri="{FF2B5EF4-FFF2-40B4-BE49-F238E27FC236}">
                <a16:creationId xmlns:a16="http://schemas.microsoft.com/office/drawing/2014/main" id="{5777158E-6F10-4417-A8F5-9C2AE3A12D2C}"/>
              </a:ext>
            </a:extLst>
          </p:cNvPr>
          <p:cNvGraphicFramePr>
            <a:graphicFrameLocks noChangeAspect="1"/>
          </p:cNvGraphicFramePr>
          <p:nvPr/>
        </p:nvGraphicFramePr>
        <p:xfrm>
          <a:off x="2946400" y="3714750"/>
          <a:ext cx="3057525" cy="644525"/>
        </p:xfrm>
        <a:graphic>
          <a:graphicData uri="http://schemas.openxmlformats.org/presentationml/2006/ole">
            <mc:AlternateContent xmlns:mc="http://schemas.openxmlformats.org/markup-compatibility/2006">
              <mc:Choice xmlns:v="urn:schemas-microsoft-com:vml" Requires="v">
                <p:oleObj spid="_x0000_s29713" name="MathType 6.0 Equation" r:id="rId5" imgW="1143000" imgH="241300" progId="Equation.DSMT4">
                  <p:embed/>
                </p:oleObj>
              </mc:Choice>
              <mc:Fallback>
                <p:oleObj name="MathType 6.0 Equation" r:id="rId5" imgW="1143000" imgH="241300" progId="Equation.DSMT4">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46400" y="3714750"/>
                        <a:ext cx="3057525" cy="644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2232" name="Object 8">
            <a:extLst>
              <a:ext uri="{FF2B5EF4-FFF2-40B4-BE49-F238E27FC236}">
                <a16:creationId xmlns:a16="http://schemas.microsoft.com/office/drawing/2014/main" id="{1CB2A71F-B7A4-4E66-B13B-59FA71402267}"/>
              </a:ext>
            </a:extLst>
          </p:cNvPr>
          <p:cNvGraphicFramePr>
            <a:graphicFrameLocks noChangeAspect="1"/>
          </p:cNvGraphicFramePr>
          <p:nvPr/>
        </p:nvGraphicFramePr>
        <p:xfrm>
          <a:off x="2986088" y="5661025"/>
          <a:ext cx="2954337" cy="652463"/>
        </p:xfrm>
        <a:graphic>
          <a:graphicData uri="http://schemas.openxmlformats.org/presentationml/2006/ole">
            <mc:AlternateContent xmlns:mc="http://schemas.openxmlformats.org/markup-compatibility/2006">
              <mc:Choice xmlns:v="urn:schemas-microsoft-com:vml" Requires="v">
                <p:oleObj spid="_x0000_s29714" name="MathType 6.0 Equation" r:id="rId7" imgW="1091726" imgH="241195" progId="Equation.DSMT4">
                  <p:embed/>
                </p:oleObj>
              </mc:Choice>
              <mc:Fallback>
                <p:oleObj name="MathType 6.0 Equation" r:id="rId7" imgW="1091726" imgH="241195" progId="Equation.DSMT4">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86088" y="5661025"/>
                        <a:ext cx="2954337" cy="652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9705" name="Text Box 29">
            <a:extLst>
              <a:ext uri="{FF2B5EF4-FFF2-40B4-BE49-F238E27FC236}">
                <a16:creationId xmlns:a16="http://schemas.microsoft.com/office/drawing/2014/main" id="{22D440BF-53A0-48C9-8AC1-333C16A5DD14}"/>
              </a:ext>
            </a:extLst>
          </p:cNvPr>
          <p:cNvSpPr txBox="1">
            <a:spLocks noChangeArrowheads="1"/>
          </p:cNvSpPr>
          <p:nvPr/>
        </p:nvSpPr>
        <p:spPr bwMode="auto">
          <a:xfrm>
            <a:off x="8629650" y="6356350"/>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1">
                <a:latin typeface="Times New Roman" panose="02020603050405020304" pitchFamily="18" charset="0"/>
              </a:rPr>
              <a:t>21</a:t>
            </a:r>
            <a:endParaRPr lang="en-US" altLang="zh-CN" sz="18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2229"/>
                                        </p:tgtEl>
                                        <p:attrNameLst>
                                          <p:attrName>style.visibility</p:attrName>
                                        </p:attrNameLst>
                                      </p:cBhvr>
                                      <p:to>
                                        <p:strVal val="visible"/>
                                      </p:to>
                                    </p:set>
                                    <p:animEffect transition="in" filter="wipe(left)">
                                      <p:cBhvr>
                                        <p:cTn id="7" dur="500"/>
                                        <p:tgtEl>
                                          <p:spTgt spid="5222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2226">
                                            <p:txEl>
                                              <p:pRg st="0" end="0"/>
                                            </p:txEl>
                                          </p:spTgt>
                                        </p:tgtEl>
                                        <p:attrNameLst>
                                          <p:attrName>style.visibility</p:attrName>
                                        </p:attrNameLst>
                                      </p:cBhvr>
                                      <p:to>
                                        <p:strVal val="visible"/>
                                      </p:to>
                                    </p:set>
                                    <p:animEffect transition="in" filter="wipe(left)">
                                      <p:cBhvr>
                                        <p:cTn id="12" dur="500"/>
                                        <p:tgtEl>
                                          <p:spTgt spid="52226">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52230"/>
                                        </p:tgtEl>
                                        <p:attrNameLst>
                                          <p:attrName>style.visibility</p:attrName>
                                        </p:attrNameLst>
                                      </p:cBhvr>
                                      <p:to>
                                        <p:strVal val="visible"/>
                                      </p:to>
                                    </p:set>
                                    <p:animEffect transition="in" filter="wipe(left)">
                                      <p:cBhvr>
                                        <p:cTn id="17" dur="500"/>
                                        <p:tgtEl>
                                          <p:spTgt spid="5223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2227">
                                            <p:txEl>
                                              <p:pRg st="0" end="0"/>
                                            </p:txEl>
                                          </p:spTgt>
                                        </p:tgtEl>
                                        <p:attrNameLst>
                                          <p:attrName>style.visibility</p:attrName>
                                        </p:attrNameLst>
                                      </p:cBhvr>
                                      <p:to>
                                        <p:strVal val="visible"/>
                                      </p:to>
                                    </p:set>
                                    <p:animEffect transition="in" filter="wipe(left)">
                                      <p:cBhvr>
                                        <p:cTn id="22" dur="500"/>
                                        <p:tgtEl>
                                          <p:spTgt spid="52227">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52231"/>
                                        </p:tgtEl>
                                        <p:attrNameLst>
                                          <p:attrName>style.visibility</p:attrName>
                                        </p:attrNameLst>
                                      </p:cBhvr>
                                      <p:to>
                                        <p:strVal val="visible"/>
                                      </p:to>
                                    </p:set>
                                    <p:animEffect transition="in" filter="wipe(left)">
                                      <p:cBhvr>
                                        <p:cTn id="27" dur="500"/>
                                        <p:tgtEl>
                                          <p:spTgt spid="5223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2228">
                                            <p:txEl>
                                              <p:pRg st="0" end="0"/>
                                            </p:txEl>
                                          </p:spTgt>
                                        </p:tgtEl>
                                        <p:attrNameLst>
                                          <p:attrName>style.visibility</p:attrName>
                                        </p:attrNameLst>
                                      </p:cBhvr>
                                      <p:to>
                                        <p:strVal val="visible"/>
                                      </p:to>
                                    </p:set>
                                    <p:animEffect transition="in" filter="wipe(left)">
                                      <p:cBhvr>
                                        <p:cTn id="32" dur="500"/>
                                        <p:tgtEl>
                                          <p:spTgt spid="52228">
                                            <p:txEl>
                                              <p:pRg st="0" end="0"/>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52232"/>
                                        </p:tgtEl>
                                        <p:attrNameLst>
                                          <p:attrName>style.visibility</p:attrName>
                                        </p:attrNameLst>
                                      </p:cBhvr>
                                      <p:to>
                                        <p:strVal val="visible"/>
                                      </p:to>
                                    </p:set>
                                    <p:animEffect transition="in" filter="wipe(left)">
                                      <p:cBhvr>
                                        <p:cTn id="37" dur="500"/>
                                        <p:tgtEl>
                                          <p:spTgt spid="522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6" grpId="0" build="p" autoUpdateAnimBg="0"/>
      <p:bldP spid="52227" grpId="0" build="p" autoUpdateAnimBg="0"/>
      <p:bldP spid="52228" grpId="0" build="p" autoUpdateAnimBg="0"/>
      <p:bldP spid="52229"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ext Box 2">
            <a:extLst>
              <a:ext uri="{FF2B5EF4-FFF2-40B4-BE49-F238E27FC236}">
                <a16:creationId xmlns:a16="http://schemas.microsoft.com/office/drawing/2014/main" id="{EC5D631A-2DAF-46C6-8285-76C054992F74}"/>
              </a:ext>
            </a:extLst>
          </p:cNvPr>
          <p:cNvSpPr txBox="1">
            <a:spLocks noChangeArrowheads="1"/>
          </p:cNvSpPr>
          <p:nvPr/>
        </p:nvSpPr>
        <p:spPr bwMode="auto">
          <a:xfrm>
            <a:off x="755650" y="1268413"/>
            <a:ext cx="7940675"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a:latin typeface="Times New Roman" panose="02020603050405020304" pitchFamily="18" charset="0"/>
              </a:rPr>
              <a:t>一般情况下，原子核发生衰变时，原子核往往处于激发态。处于</a:t>
            </a:r>
            <a:r>
              <a:rPr kumimoji="1" lang="zh-CN" altLang="en-US" sz="2800" b="1">
                <a:solidFill>
                  <a:srgbClr val="202AF4"/>
                </a:solidFill>
                <a:latin typeface="Times New Roman" panose="02020603050405020304" pitchFamily="18" charset="0"/>
              </a:rPr>
              <a:t>激发态的原子核向低激发态或基态跃迁</a:t>
            </a:r>
            <a:r>
              <a:rPr kumimoji="1" lang="zh-CN" altLang="en-US" sz="2800" b="1">
                <a:latin typeface="Times New Roman" panose="02020603050405020304" pitchFamily="18" charset="0"/>
              </a:rPr>
              <a:t>过程中，会</a:t>
            </a:r>
            <a:r>
              <a:rPr kumimoji="1" lang="zh-CN" altLang="en-US" sz="2800" b="1">
                <a:solidFill>
                  <a:srgbClr val="202AF4"/>
                </a:solidFill>
                <a:latin typeface="Times New Roman" panose="02020603050405020304" pitchFamily="18" charset="0"/>
              </a:rPr>
              <a:t>放出光子</a:t>
            </a:r>
            <a:r>
              <a:rPr kumimoji="1" lang="zh-CN" altLang="en-US" sz="2800" b="1">
                <a:latin typeface="Times New Roman" panose="02020603050405020304" pitchFamily="18" charset="0"/>
              </a:rPr>
              <a:t>，这样的过程称为</a:t>
            </a:r>
            <a:r>
              <a:rPr kumimoji="1" lang="zh-CN" altLang="en-US" sz="2800" b="1">
                <a:solidFill>
                  <a:srgbClr val="202AF4"/>
                </a:solidFill>
                <a:latin typeface="Times New Roman" panose="02020603050405020304" pitchFamily="18" charset="0"/>
                <a:sym typeface="Symbol" panose="05050102010706020507" pitchFamily="18" charset="2"/>
              </a:rPr>
              <a:t></a:t>
            </a:r>
            <a:r>
              <a:rPr kumimoji="1" lang="zh-CN" altLang="en-US" sz="2800" b="1">
                <a:solidFill>
                  <a:srgbClr val="202AF4"/>
                </a:solidFill>
                <a:latin typeface="Times New Roman" panose="02020603050405020304" pitchFamily="18" charset="0"/>
              </a:rPr>
              <a:t>衰变</a:t>
            </a:r>
            <a:r>
              <a:rPr kumimoji="1" lang="zh-CN" altLang="en-US" sz="2800" b="1">
                <a:latin typeface="Times New Roman" panose="02020603050405020304" pitchFamily="18" charset="0"/>
              </a:rPr>
              <a:t>。</a:t>
            </a:r>
          </a:p>
        </p:txBody>
      </p:sp>
      <p:sp>
        <p:nvSpPr>
          <p:cNvPr id="53251" name="Text Box 3">
            <a:extLst>
              <a:ext uri="{FF2B5EF4-FFF2-40B4-BE49-F238E27FC236}">
                <a16:creationId xmlns:a16="http://schemas.microsoft.com/office/drawing/2014/main" id="{EC82E189-55F6-4402-A722-ADAE89CA9E00}"/>
              </a:ext>
            </a:extLst>
          </p:cNvPr>
          <p:cNvSpPr txBox="1">
            <a:spLocks noChangeArrowheads="1"/>
          </p:cNvSpPr>
          <p:nvPr/>
        </p:nvSpPr>
        <p:spPr bwMode="auto">
          <a:xfrm>
            <a:off x="736600" y="401638"/>
            <a:ext cx="27559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a:solidFill>
                  <a:schemeClr val="accent2"/>
                </a:solidFill>
                <a:latin typeface="Times New Roman" panose="02020603050405020304" pitchFamily="18" charset="0"/>
              </a:rPr>
              <a:t>3</a:t>
            </a:r>
            <a:r>
              <a:rPr kumimoji="1" lang="zh-CN" altLang="en-US" sz="2800" b="1">
                <a:solidFill>
                  <a:srgbClr val="202AF4"/>
                </a:solidFill>
                <a:latin typeface="Times New Roman" panose="02020603050405020304" pitchFamily="18" charset="0"/>
              </a:rPr>
              <a:t>、 </a:t>
            </a:r>
            <a:r>
              <a:rPr kumimoji="1" lang="zh-CN" altLang="en-US" sz="2800" b="1">
                <a:solidFill>
                  <a:srgbClr val="202AF4"/>
                </a:solidFill>
                <a:latin typeface="Times New Roman" panose="02020603050405020304" pitchFamily="18" charset="0"/>
                <a:sym typeface="Symbol" panose="05050102010706020507" pitchFamily="18" charset="2"/>
              </a:rPr>
              <a:t> 衰变</a:t>
            </a:r>
          </a:p>
        </p:txBody>
      </p:sp>
      <p:graphicFrame>
        <p:nvGraphicFramePr>
          <p:cNvPr id="53252" name="Object 4">
            <a:extLst>
              <a:ext uri="{FF2B5EF4-FFF2-40B4-BE49-F238E27FC236}">
                <a16:creationId xmlns:a16="http://schemas.microsoft.com/office/drawing/2014/main" id="{1603004D-53B1-4AF7-A0B9-AE38EB7B734D}"/>
              </a:ext>
            </a:extLst>
          </p:cNvPr>
          <p:cNvGraphicFramePr>
            <a:graphicFrameLocks noChangeAspect="1"/>
          </p:cNvGraphicFramePr>
          <p:nvPr/>
        </p:nvGraphicFramePr>
        <p:xfrm>
          <a:off x="1693863" y="4256088"/>
          <a:ext cx="5902325" cy="757237"/>
        </p:xfrm>
        <a:graphic>
          <a:graphicData uri="http://schemas.openxmlformats.org/presentationml/2006/ole">
            <mc:AlternateContent xmlns:mc="http://schemas.openxmlformats.org/markup-compatibility/2006">
              <mc:Choice xmlns:v="urn:schemas-microsoft-com:vml" Requires="v">
                <p:oleObj spid="_x0000_s30729" name="Equation" r:id="rId3" imgW="1879600" imgH="241300" progId="Equation.DSMT4">
                  <p:embed/>
                </p:oleObj>
              </mc:Choice>
              <mc:Fallback>
                <p:oleObj name="Equation" r:id="rId3" imgW="1879600" imgH="241300"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93863" y="4256088"/>
                        <a:ext cx="5902325" cy="757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3253" name="Text Box 5">
            <a:extLst>
              <a:ext uri="{FF2B5EF4-FFF2-40B4-BE49-F238E27FC236}">
                <a16:creationId xmlns:a16="http://schemas.microsoft.com/office/drawing/2014/main" id="{6E1BB47D-A96D-458F-BCB4-4FB640563E41}"/>
              </a:ext>
            </a:extLst>
          </p:cNvPr>
          <p:cNvSpPr txBox="1">
            <a:spLocks noChangeArrowheads="1"/>
          </p:cNvSpPr>
          <p:nvPr/>
        </p:nvSpPr>
        <p:spPr bwMode="auto">
          <a:xfrm>
            <a:off x="939800" y="3557588"/>
            <a:ext cx="125571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a:latin typeface="Times New Roman" panose="02020603050405020304" pitchFamily="18" charset="0"/>
              </a:rPr>
              <a:t>例如：</a:t>
            </a:r>
          </a:p>
        </p:txBody>
      </p:sp>
      <p:sp>
        <p:nvSpPr>
          <p:cNvPr id="30726" name="Text Box 29">
            <a:extLst>
              <a:ext uri="{FF2B5EF4-FFF2-40B4-BE49-F238E27FC236}">
                <a16:creationId xmlns:a16="http://schemas.microsoft.com/office/drawing/2014/main" id="{A2193805-E26E-4D57-A1A4-31AA5D270622}"/>
              </a:ext>
            </a:extLst>
          </p:cNvPr>
          <p:cNvSpPr txBox="1">
            <a:spLocks noChangeArrowheads="1"/>
          </p:cNvSpPr>
          <p:nvPr/>
        </p:nvSpPr>
        <p:spPr bwMode="auto">
          <a:xfrm>
            <a:off x="8629650" y="6356350"/>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1">
                <a:latin typeface="Times New Roman" panose="02020603050405020304" pitchFamily="18" charset="0"/>
              </a:rPr>
              <a:t>22</a:t>
            </a:r>
            <a:endParaRPr lang="en-US" altLang="zh-CN" sz="18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3251"/>
                                        </p:tgtEl>
                                        <p:attrNameLst>
                                          <p:attrName>style.visibility</p:attrName>
                                        </p:attrNameLst>
                                      </p:cBhvr>
                                      <p:to>
                                        <p:strVal val="visible"/>
                                      </p:to>
                                    </p:set>
                                    <p:animEffect transition="in" filter="wipe(left)">
                                      <p:cBhvr>
                                        <p:cTn id="7" dur="500"/>
                                        <p:tgtEl>
                                          <p:spTgt spid="5325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3250"/>
                                        </p:tgtEl>
                                        <p:attrNameLst>
                                          <p:attrName>style.visibility</p:attrName>
                                        </p:attrNameLst>
                                      </p:cBhvr>
                                      <p:to>
                                        <p:strVal val="visible"/>
                                      </p:to>
                                    </p:set>
                                    <p:animEffect transition="in" filter="wipe(left)">
                                      <p:cBhvr>
                                        <p:cTn id="12" dur="500"/>
                                        <p:tgtEl>
                                          <p:spTgt spid="5325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3253"/>
                                        </p:tgtEl>
                                        <p:attrNameLst>
                                          <p:attrName>style.visibility</p:attrName>
                                        </p:attrNameLst>
                                      </p:cBhvr>
                                      <p:to>
                                        <p:strVal val="visible"/>
                                      </p:to>
                                    </p:set>
                                    <p:animEffect transition="in" filter="wipe(left)">
                                      <p:cBhvr>
                                        <p:cTn id="17" dur="500"/>
                                        <p:tgtEl>
                                          <p:spTgt spid="5325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53252"/>
                                        </p:tgtEl>
                                        <p:attrNameLst>
                                          <p:attrName>style.visibility</p:attrName>
                                        </p:attrNameLst>
                                      </p:cBhvr>
                                      <p:to>
                                        <p:strVal val="visible"/>
                                      </p:to>
                                    </p:set>
                                    <p:animEffect transition="in" filter="wipe(left)">
                                      <p:cBhvr>
                                        <p:cTn id="22" dur="500"/>
                                        <p:tgtEl>
                                          <p:spTgt spid="532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0" grpId="0"/>
      <p:bldP spid="53251" grpId="0"/>
      <p:bldP spid="5325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ext Box 2">
            <a:extLst>
              <a:ext uri="{FF2B5EF4-FFF2-40B4-BE49-F238E27FC236}">
                <a16:creationId xmlns:a16="http://schemas.microsoft.com/office/drawing/2014/main" id="{DC1E3FB2-ECFE-4803-BC84-FCF12A8D7EBD}"/>
              </a:ext>
            </a:extLst>
          </p:cNvPr>
          <p:cNvSpPr txBox="1">
            <a:spLocks noChangeArrowheads="1"/>
          </p:cNvSpPr>
          <p:nvPr/>
        </p:nvSpPr>
        <p:spPr bwMode="auto">
          <a:xfrm>
            <a:off x="971550" y="4494213"/>
            <a:ext cx="41148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zh-CN" altLang="en-US" sz="2800" b="1">
                <a:latin typeface="Times New Roman" panose="02020603050405020304" pitchFamily="18" charset="0"/>
              </a:rPr>
              <a:t>半衰期为</a:t>
            </a:r>
            <a:r>
              <a:rPr kumimoji="1" lang="en-US" altLang="zh-CN" sz="2800" b="1">
                <a:latin typeface="Times New Roman" panose="02020603050405020304" pitchFamily="18" charset="0"/>
              </a:rPr>
              <a:t>87.84</a:t>
            </a:r>
            <a:r>
              <a:rPr kumimoji="1" lang="zh-CN" altLang="en-US" sz="2800" b="1">
                <a:latin typeface="Times New Roman" panose="02020603050405020304" pitchFamily="18" charset="0"/>
              </a:rPr>
              <a:t>年</a:t>
            </a:r>
          </a:p>
        </p:txBody>
      </p:sp>
      <p:sp>
        <p:nvSpPr>
          <p:cNvPr id="59396" name="Text Box 4">
            <a:extLst>
              <a:ext uri="{FF2B5EF4-FFF2-40B4-BE49-F238E27FC236}">
                <a16:creationId xmlns:a16="http://schemas.microsoft.com/office/drawing/2014/main" id="{837878F2-6A6C-4245-86A5-64D4BBF58435}"/>
              </a:ext>
            </a:extLst>
          </p:cNvPr>
          <p:cNvSpPr txBox="1">
            <a:spLocks noChangeArrowheads="1"/>
          </p:cNvSpPr>
          <p:nvPr/>
        </p:nvSpPr>
        <p:spPr bwMode="auto">
          <a:xfrm>
            <a:off x="684213" y="1196975"/>
            <a:ext cx="7508875"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a:latin typeface="Times New Roman" panose="02020603050405020304" pitchFamily="18" charset="0"/>
              </a:rPr>
              <a:t>原子核裂变最早是</a:t>
            </a:r>
            <a:r>
              <a:rPr kumimoji="1" lang="en-US" altLang="zh-CN" sz="2800" b="1">
                <a:latin typeface="Times New Roman" panose="02020603050405020304" pitchFamily="18" charset="0"/>
              </a:rPr>
              <a:t>1938</a:t>
            </a:r>
            <a:r>
              <a:rPr kumimoji="1" lang="zh-CN" altLang="en-US" sz="2800" b="1">
                <a:latin typeface="Times New Roman" panose="02020603050405020304" pitchFamily="18" charset="0"/>
              </a:rPr>
              <a:t>年由哈恩 </a:t>
            </a:r>
            <a:r>
              <a:rPr kumimoji="1" lang="en-US" altLang="zh-CN" sz="2800" b="1">
                <a:latin typeface="Times New Roman" panose="02020603050405020304" pitchFamily="18" charset="0"/>
              </a:rPr>
              <a:t>(O.Hahn)</a:t>
            </a:r>
            <a:r>
              <a:rPr kumimoji="1" lang="zh-CN" altLang="en-US" sz="2800" b="1">
                <a:latin typeface="Times New Roman" panose="02020603050405020304" pitchFamily="18" charset="0"/>
              </a:rPr>
              <a:t>和斯特拉斯曼</a:t>
            </a:r>
            <a:r>
              <a:rPr kumimoji="1" lang="en-US" altLang="zh-CN" sz="2800" b="1">
                <a:latin typeface="Times New Roman" panose="02020603050405020304" pitchFamily="18" charset="0"/>
              </a:rPr>
              <a:t>(F.Strassmann)</a:t>
            </a:r>
            <a:r>
              <a:rPr kumimoji="1" lang="zh-CN" altLang="en-US" sz="2800" b="1">
                <a:latin typeface="Times New Roman" panose="02020603050405020304" pitchFamily="18" charset="0"/>
              </a:rPr>
              <a:t>发现的。</a:t>
            </a:r>
            <a:r>
              <a:rPr kumimoji="1" lang="en-US" altLang="zh-CN" sz="2800" b="1">
                <a:latin typeface="Times New Roman" panose="02020603050405020304" pitchFamily="18" charset="0"/>
              </a:rPr>
              <a:t>1932</a:t>
            </a:r>
            <a:r>
              <a:rPr kumimoji="1" lang="zh-CN" altLang="en-US" sz="2800" b="1">
                <a:latin typeface="Times New Roman" panose="02020603050405020304" pitchFamily="18" charset="0"/>
              </a:rPr>
              <a:t>年查德威克发现中子后，人们用中子照射原子核产生了一些新的放射性元素。 </a:t>
            </a:r>
          </a:p>
        </p:txBody>
      </p:sp>
      <p:sp>
        <p:nvSpPr>
          <p:cNvPr id="137221" name="Text Box 5">
            <a:extLst>
              <a:ext uri="{FF2B5EF4-FFF2-40B4-BE49-F238E27FC236}">
                <a16:creationId xmlns:a16="http://schemas.microsoft.com/office/drawing/2014/main" id="{8D0A8C2E-6280-4315-A422-DB1BA5C1D9E2}"/>
              </a:ext>
            </a:extLst>
          </p:cNvPr>
          <p:cNvSpPr txBox="1">
            <a:spLocks noChangeArrowheads="1"/>
          </p:cNvSpPr>
          <p:nvPr/>
        </p:nvSpPr>
        <p:spPr bwMode="auto">
          <a:xfrm>
            <a:off x="179388" y="476250"/>
            <a:ext cx="29527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a:solidFill>
                  <a:schemeClr val="accent2"/>
                </a:solidFill>
                <a:latin typeface="Times New Roman" panose="02020603050405020304" pitchFamily="18" charset="0"/>
                <a:cs typeface="Times New Roman" panose="02020603050405020304" pitchFamily="18" charset="0"/>
              </a:rPr>
              <a:t>3.2 </a:t>
            </a:r>
            <a:r>
              <a:rPr kumimoji="1" lang="zh-CN" altLang="en-US" sz="2800" b="1">
                <a:solidFill>
                  <a:srgbClr val="202AF4"/>
                </a:solidFill>
                <a:latin typeface="Times New Roman" panose="02020603050405020304" pitchFamily="18" charset="0"/>
                <a:cs typeface="Times New Roman" panose="02020603050405020304" pitchFamily="18" charset="0"/>
              </a:rPr>
              <a:t>重核的裂变</a:t>
            </a:r>
          </a:p>
        </p:txBody>
      </p:sp>
      <p:sp>
        <p:nvSpPr>
          <p:cNvPr id="31749" name="Text Box 29">
            <a:extLst>
              <a:ext uri="{FF2B5EF4-FFF2-40B4-BE49-F238E27FC236}">
                <a16:creationId xmlns:a16="http://schemas.microsoft.com/office/drawing/2014/main" id="{0672628F-7A48-4992-A8A2-32E5618BCF95}"/>
              </a:ext>
            </a:extLst>
          </p:cNvPr>
          <p:cNvSpPr txBox="1">
            <a:spLocks noChangeArrowheads="1"/>
          </p:cNvSpPr>
          <p:nvPr/>
        </p:nvSpPr>
        <p:spPr bwMode="auto">
          <a:xfrm>
            <a:off x="8629650" y="6356350"/>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1">
                <a:latin typeface="Times New Roman" panose="02020603050405020304" pitchFamily="18" charset="0"/>
              </a:rPr>
              <a:t>23</a:t>
            </a:r>
            <a:endParaRPr lang="en-US" altLang="zh-CN" sz="1800"/>
          </a:p>
        </p:txBody>
      </p:sp>
      <p:grpSp>
        <p:nvGrpSpPr>
          <p:cNvPr id="2" name="Group 23">
            <a:extLst>
              <a:ext uri="{FF2B5EF4-FFF2-40B4-BE49-F238E27FC236}">
                <a16:creationId xmlns:a16="http://schemas.microsoft.com/office/drawing/2014/main" id="{3D61681A-3EF1-4CF6-A08B-7DD0338BE96C}"/>
              </a:ext>
            </a:extLst>
          </p:cNvPr>
          <p:cNvGrpSpPr>
            <a:grpSpLocks/>
          </p:cNvGrpSpPr>
          <p:nvPr/>
        </p:nvGrpSpPr>
        <p:grpSpPr bwMode="auto">
          <a:xfrm>
            <a:off x="2268538" y="3573463"/>
            <a:ext cx="4319587" cy="565150"/>
            <a:chOff x="1565" y="2296"/>
            <a:chExt cx="2721" cy="356"/>
          </a:xfrm>
        </p:grpSpPr>
        <p:sp>
          <p:nvSpPr>
            <p:cNvPr id="31751" name="Rectangle 24">
              <a:extLst>
                <a:ext uri="{FF2B5EF4-FFF2-40B4-BE49-F238E27FC236}">
                  <a16:creationId xmlns:a16="http://schemas.microsoft.com/office/drawing/2014/main" id="{55944952-D3C5-4E80-9AEA-69B0F7934790}"/>
                </a:ext>
              </a:extLst>
            </p:cNvPr>
            <p:cNvSpPr>
              <a:spLocks noChangeArrowheads="1"/>
            </p:cNvSpPr>
            <p:nvPr/>
          </p:nvSpPr>
          <p:spPr bwMode="auto">
            <a:xfrm>
              <a:off x="3588" y="2329"/>
              <a:ext cx="69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600" b="1">
                  <a:solidFill>
                    <a:srgbClr val="FF0000"/>
                  </a:solidFill>
                  <a:latin typeface="Times New Roman" panose="02020603050405020304" pitchFamily="18" charset="0"/>
                </a:rPr>
                <a:t>5.6MeV</a:t>
              </a:r>
              <a:endParaRPr kumimoji="1" lang="en-US" altLang="zh-CN" sz="2800" b="1">
                <a:solidFill>
                  <a:srgbClr val="FF0000"/>
                </a:solidFill>
                <a:latin typeface="Times New Roman" panose="02020603050405020304" pitchFamily="18" charset="0"/>
              </a:endParaRPr>
            </a:p>
          </p:txBody>
        </p:sp>
        <p:sp>
          <p:nvSpPr>
            <p:cNvPr id="31752" name="Rectangle 25">
              <a:extLst>
                <a:ext uri="{FF2B5EF4-FFF2-40B4-BE49-F238E27FC236}">
                  <a16:creationId xmlns:a16="http://schemas.microsoft.com/office/drawing/2014/main" id="{0C4EEA6E-1791-4FBE-9732-A0E8F7BA1B60}"/>
                </a:ext>
              </a:extLst>
            </p:cNvPr>
            <p:cNvSpPr>
              <a:spLocks noChangeArrowheads="1"/>
            </p:cNvSpPr>
            <p:nvPr/>
          </p:nvSpPr>
          <p:spPr bwMode="auto">
            <a:xfrm>
              <a:off x="3103" y="2329"/>
              <a:ext cx="25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600" b="1">
                  <a:solidFill>
                    <a:srgbClr val="FF0000"/>
                  </a:solidFill>
                  <a:latin typeface="Times New Roman" panose="02020603050405020304" pitchFamily="18" charset="0"/>
                </a:rPr>
                <a:t>He</a:t>
              </a:r>
              <a:endParaRPr kumimoji="1" lang="en-US" altLang="zh-CN" sz="2800" b="1">
                <a:solidFill>
                  <a:srgbClr val="FF0000"/>
                </a:solidFill>
                <a:latin typeface="Times New Roman" panose="02020603050405020304" pitchFamily="18" charset="0"/>
              </a:endParaRPr>
            </a:p>
          </p:txBody>
        </p:sp>
        <p:sp>
          <p:nvSpPr>
            <p:cNvPr id="31753" name="Rectangle 26">
              <a:extLst>
                <a:ext uri="{FF2B5EF4-FFF2-40B4-BE49-F238E27FC236}">
                  <a16:creationId xmlns:a16="http://schemas.microsoft.com/office/drawing/2014/main" id="{EA8D22C1-E106-4B50-BE30-717F7CC68DA0}"/>
                </a:ext>
              </a:extLst>
            </p:cNvPr>
            <p:cNvSpPr>
              <a:spLocks noChangeArrowheads="1"/>
            </p:cNvSpPr>
            <p:nvPr/>
          </p:nvSpPr>
          <p:spPr bwMode="auto">
            <a:xfrm>
              <a:off x="2611" y="2329"/>
              <a:ext cx="15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600" b="1">
                  <a:solidFill>
                    <a:srgbClr val="FF0000"/>
                  </a:solidFill>
                  <a:latin typeface="Times New Roman" panose="02020603050405020304" pitchFamily="18" charset="0"/>
                </a:rPr>
                <a:t>U</a:t>
              </a:r>
              <a:endParaRPr kumimoji="1" lang="en-US" altLang="zh-CN" sz="2800" b="1">
                <a:solidFill>
                  <a:srgbClr val="FF0000"/>
                </a:solidFill>
                <a:latin typeface="Times New Roman" panose="02020603050405020304" pitchFamily="18" charset="0"/>
              </a:endParaRPr>
            </a:p>
          </p:txBody>
        </p:sp>
        <p:sp>
          <p:nvSpPr>
            <p:cNvPr id="31754" name="Rectangle 27">
              <a:extLst>
                <a:ext uri="{FF2B5EF4-FFF2-40B4-BE49-F238E27FC236}">
                  <a16:creationId xmlns:a16="http://schemas.microsoft.com/office/drawing/2014/main" id="{5A92595B-D70B-4217-8D55-EA6FDF41FFB9}"/>
                </a:ext>
              </a:extLst>
            </p:cNvPr>
            <p:cNvSpPr>
              <a:spLocks noChangeArrowheads="1"/>
            </p:cNvSpPr>
            <p:nvPr/>
          </p:nvSpPr>
          <p:spPr bwMode="auto">
            <a:xfrm>
              <a:off x="1795" y="2329"/>
              <a:ext cx="24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600" b="1">
                  <a:solidFill>
                    <a:srgbClr val="FF0000"/>
                  </a:solidFill>
                  <a:latin typeface="Times New Roman" panose="02020603050405020304" pitchFamily="18" charset="0"/>
                </a:rPr>
                <a:t>Pu</a:t>
              </a:r>
              <a:endParaRPr kumimoji="1" lang="en-US" altLang="zh-CN" sz="2400" b="1">
                <a:solidFill>
                  <a:srgbClr val="FF0000"/>
                </a:solidFill>
                <a:latin typeface="Times New Roman" panose="02020603050405020304" pitchFamily="18" charset="0"/>
              </a:endParaRPr>
            </a:p>
          </p:txBody>
        </p:sp>
        <p:sp>
          <p:nvSpPr>
            <p:cNvPr id="31755" name="Rectangle 28">
              <a:extLst>
                <a:ext uri="{FF2B5EF4-FFF2-40B4-BE49-F238E27FC236}">
                  <a16:creationId xmlns:a16="http://schemas.microsoft.com/office/drawing/2014/main" id="{80242911-34A8-46EF-82EE-766F8CD05A21}"/>
                </a:ext>
              </a:extLst>
            </p:cNvPr>
            <p:cNvSpPr>
              <a:spLocks noChangeArrowheads="1"/>
            </p:cNvSpPr>
            <p:nvPr/>
          </p:nvSpPr>
          <p:spPr bwMode="auto">
            <a:xfrm>
              <a:off x="3017" y="2306"/>
              <a:ext cx="6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1500" b="1">
                  <a:solidFill>
                    <a:srgbClr val="FF0000"/>
                  </a:solidFill>
                  <a:latin typeface="Times New Roman" panose="02020603050405020304" pitchFamily="18" charset="0"/>
                </a:rPr>
                <a:t>4</a:t>
              </a:r>
              <a:endParaRPr kumimoji="1" lang="en-US" altLang="zh-CN" sz="2800" b="1">
                <a:solidFill>
                  <a:srgbClr val="FF0000"/>
                </a:solidFill>
                <a:latin typeface="Times New Roman" panose="02020603050405020304" pitchFamily="18" charset="0"/>
              </a:endParaRPr>
            </a:p>
          </p:txBody>
        </p:sp>
        <p:sp>
          <p:nvSpPr>
            <p:cNvPr id="31756" name="Rectangle 29">
              <a:extLst>
                <a:ext uri="{FF2B5EF4-FFF2-40B4-BE49-F238E27FC236}">
                  <a16:creationId xmlns:a16="http://schemas.microsoft.com/office/drawing/2014/main" id="{E510F238-BCDF-499C-BD31-8DBB9467D769}"/>
                </a:ext>
              </a:extLst>
            </p:cNvPr>
            <p:cNvSpPr>
              <a:spLocks noChangeArrowheads="1"/>
            </p:cNvSpPr>
            <p:nvPr/>
          </p:nvSpPr>
          <p:spPr bwMode="auto">
            <a:xfrm>
              <a:off x="3017" y="2507"/>
              <a:ext cx="6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1500" b="1">
                  <a:solidFill>
                    <a:srgbClr val="FF0000"/>
                  </a:solidFill>
                  <a:latin typeface="Times New Roman" panose="02020603050405020304" pitchFamily="18" charset="0"/>
                </a:rPr>
                <a:t>2</a:t>
              </a:r>
              <a:endParaRPr kumimoji="1" lang="en-US" altLang="zh-CN" sz="2800" b="1">
                <a:solidFill>
                  <a:srgbClr val="FF0000"/>
                </a:solidFill>
                <a:latin typeface="Times New Roman" panose="02020603050405020304" pitchFamily="18" charset="0"/>
              </a:endParaRPr>
            </a:p>
          </p:txBody>
        </p:sp>
        <p:sp>
          <p:nvSpPr>
            <p:cNvPr id="31757" name="Rectangle 30">
              <a:extLst>
                <a:ext uri="{FF2B5EF4-FFF2-40B4-BE49-F238E27FC236}">
                  <a16:creationId xmlns:a16="http://schemas.microsoft.com/office/drawing/2014/main" id="{E67398CA-8F6D-4D38-B72E-25A400BCAE16}"/>
                </a:ext>
              </a:extLst>
            </p:cNvPr>
            <p:cNvSpPr>
              <a:spLocks noChangeArrowheads="1"/>
            </p:cNvSpPr>
            <p:nvPr/>
          </p:nvSpPr>
          <p:spPr bwMode="auto">
            <a:xfrm>
              <a:off x="2382" y="2306"/>
              <a:ext cx="18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1500" b="1">
                  <a:solidFill>
                    <a:srgbClr val="FF0000"/>
                  </a:solidFill>
                  <a:latin typeface="Times New Roman" panose="02020603050405020304" pitchFamily="18" charset="0"/>
                </a:rPr>
                <a:t>234</a:t>
              </a:r>
              <a:endParaRPr kumimoji="1" lang="en-US" altLang="zh-CN" sz="2800" b="1">
                <a:solidFill>
                  <a:srgbClr val="FF0000"/>
                </a:solidFill>
                <a:latin typeface="Times New Roman" panose="02020603050405020304" pitchFamily="18" charset="0"/>
              </a:endParaRPr>
            </a:p>
          </p:txBody>
        </p:sp>
        <p:sp>
          <p:nvSpPr>
            <p:cNvPr id="31758" name="Rectangle 31">
              <a:extLst>
                <a:ext uri="{FF2B5EF4-FFF2-40B4-BE49-F238E27FC236}">
                  <a16:creationId xmlns:a16="http://schemas.microsoft.com/office/drawing/2014/main" id="{5544CDFE-862B-4BCA-9EAD-E4FCD9211313}"/>
                </a:ext>
              </a:extLst>
            </p:cNvPr>
            <p:cNvSpPr>
              <a:spLocks noChangeArrowheads="1"/>
            </p:cNvSpPr>
            <p:nvPr/>
          </p:nvSpPr>
          <p:spPr bwMode="auto">
            <a:xfrm>
              <a:off x="2450" y="2507"/>
              <a:ext cx="121" cy="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1500" b="1">
                  <a:solidFill>
                    <a:srgbClr val="FF0000"/>
                  </a:solidFill>
                  <a:latin typeface="Times New Roman" panose="02020603050405020304" pitchFamily="18" charset="0"/>
                </a:rPr>
                <a:t>92</a:t>
              </a:r>
              <a:endParaRPr kumimoji="1" lang="en-US" altLang="zh-CN" sz="2800" b="1">
                <a:solidFill>
                  <a:srgbClr val="FF0000"/>
                </a:solidFill>
                <a:latin typeface="Times New Roman" panose="02020603050405020304" pitchFamily="18" charset="0"/>
              </a:endParaRPr>
            </a:p>
          </p:txBody>
        </p:sp>
        <p:sp>
          <p:nvSpPr>
            <p:cNvPr id="31759" name="Rectangle 32">
              <a:extLst>
                <a:ext uri="{FF2B5EF4-FFF2-40B4-BE49-F238E27FC236}">
                  <a16:creationId xmlns:a16="http://schemas.microsoft.com/office/drawing/2014/main" id="{1C881BCE-6C05-4512-946D-6790830E9695}"/>
                </a:ext>
              </a:extLst>
            </p:cNvPr>
            <p:cNvSpPr>
              <a:spLocks noChangeArrowheads="1"/>
            </p:cNvSpPr>
            <p:nvPr/>
          </p:nvSpPr>
          <p:spPr bwMode="auto">
            <a:xfrm>
              <a:off x="1565" y="2306"/>
              <a:ext cx="18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1500" b="1">
                  <a:solidFill>
                    <a:srgbClr val="FF0000"/>
                  </a:solidFill>
                  <a:latin typeface="Times New Roman" panose="02020603050405020304" pitchFamily="18" charset="0"/>
                </a:rPr>
                <a:t>238</a:t>
              </a:r>
              <a:endParaRPr kumimoji="1" lang="en-US" altLang="zh-CN" sz="2800" b="1">
                <a:solidFill>
                  <a:srgbClr val="FF0000"/>
                </a:solidFill>
                <a:latin typeface="Times New Roman" panose="02020603050405020304" pitchFamily="18" charset="0"/>
              </a:endParaRPr>
            </a:p>
          </p:txBody>
        </p:sp>
        <p:sp>
          <p:nvSpPr>
            <p:cNvPr id="31760" name="Rectangle 33">
              <a:extLst>
                <a:ext uri="{FF2B5EF4-FFF2-40B4-BE49-F238E27FC236}">
                  <a16:creationId xmlns:a16="http://schemas.microsoft.com/office/drawing/2014/main" id="{B0BBC30A-C7AE-46B2-9D4C-E6C3DF26E0F6}"/>
                </a:ext>
              </a:extLst>
            </p:cNvPr>
            <p:cNvSpPr>
              <a:spLocks noChangeArrowheads="1"/>
            </p:cNvSpPr>
            <p:nvPr/>
          </p:nvSpPr>
          <p:spPr bwMode="auto">
            <a:xfrm>
              <a:off x="1630" y="2507"/>
              <a:ext cx="12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1500" b="1">
                  <a:solidFill>
                    <a:srgbClr val="FF0000"/>
                  </a:solidFill>
                  <a:latin typeface="Times New Roman" panose="02020603050405020304" pitchFamily="18" charset="0"/>
                </a:rPr>
                <a:t>94</a:t>
              </a:r>
              <a:endParaRPr kumimoji="1" lang="en-US" altLang="zh-CN" sz="2800" b="1">
                <a:solidFill>
                  <a:srgbClr val="FF0000"/>
                </a:solidFill>
                <a:latin typeface="Times New Roman" panose="02020603050405020304" pitchFamily="18" charset="0"/>
              </a:endParaRPr>
            </a:p>
          </p:txBody>
        </p:sp>
        <p:sp>
          <p:nvSpPr>
            <p:cNvPr id="31761" name="Rectangle 34">
              <a:extLst>
                <a:ext uri="{FF2B5EF4-FFF2-40B4-BE49-F238E27FC236}">
                  <a16:creationId xmlns:a16="http://schemas.microsoft.com/office/drawing/2014/main" id="{FEA5308F-E264-4B81-BCDF-D026A2AA89D0}"/>
                </a:ext>
              </a:extLst>
            </p:cNvPr>
            <p:cNvSpPr>
              <a:spLocks noChangeArrowheads="1"/>
            </p:cNvSpPr>
            <p:nvPr/>
          </p:nvSpPr>
          <p:spPr bwMode="auto">
            <a:xfrm>
              <a:off x="3425" y="2296"/>
              <a:ext cx="11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600" b="1">
                  <a:solidFill>
                    <a:srgbClr val="FF0000"/>
                  </a:solidFill>
                  <a:latin typeface="Symbol" panose="05050102010706020507" pitchFamily="18" charset="2"/>
                </a:rPr>
                <a:t>+</a:t>
              </a:r>
              <a:endParaRPr kumimoji="1" lang="en-US" altLang="zh-CN" sz="2800" b="1">
                <a:solidFill>
                  <a:srgbClr val="FF0000"/>
                </a:solidFill>
                <a:latin typeface="Times New Roman" panose="02020603050405020304" pitchFamily="18" charset="0"/>
              </a:endParaRPr>
            </a:p>
          </p:txBody>
        </p:sp>
        <p:sp>
          <p:nvSpPr>
            <p:cNvPr id="31762" name="Rectangle 35">
              <a:extLst>
                <a:ext uri="{FF2B5EF4-FFF2-40B4-BE49-F238E27FC236}">
                  <a16:creationId xmlns:a16="http://schemas.microsoft.com/office/drawing/2014/main" id="{D18B52B3-0B7F-454D-A9FC-07E119CA0B61}"/>
                </a:ext>
              </a:extLst>
            </p:cNvPr>
            <p:cNvSpPr>
              <a:spLocks noChangeArrowheads="1"/>
            </p:cNvSpPr>
            <p:nvPr/>
          </p:nvSpPr>
          <p:spPr bwMode="auto">
            <a:xfrm>
              <a:off x="2835" y="2296"/>
              <a:ext cx="11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600" b="1">
                  <a:solidFill>
                    <a:srgbClr val="FF0000"/>
                  </a:solidFill>
                  <a:latin typeface="Symbol" panose="05050102010706020507" pitchFamily="18" charset="2"/>
                </a:rPr>
                <a:t>+</a:t>
              </a:r>
              <a:endParaRPr kumimoji="1" lang="en-US" altLang="zh-CN" sz="2800" b="1">
                <a:solidFill>
                  <a:srgbClr val="FF0000"/>
                </a:solidFill>
                <a:latin typeface="Times New Roman" panose="02020603050405020304" pitchFamily="18" charset="0"/>
              </a:endParaRPr>
            </a:p>
          </p:txBody>
        </p:sp>
        <p:sp>
          <p:nvSpPr>
            <p:cNvPr id="31763" name="Rectangle 36">
              <a:extLst>
                <a:ext uri="{FF2B5EF4-FFF2-40B4-BE49-F238E27FC236}">
                  <a16:creationId xmlns:a16="http://schemas.microsoft.com/office/drawing/2014/main" id="{678CE8BD-049F-4400-AEA9-4995268B9963}"/>
                </a:ext>
              </a:extLst>
            </p:cNvPr>
            <p:cNvSpPr>
              <a:spLocks noChangeArrowheads="1"/>
            </p:cNvSpPr>
            <p:nvPr/>
          </p:nvSpPr>
          <p:spPr bwMode="auto">
            <a:xfrm flipH="1">
              <a:off x="2104" y="2318"/>
              <a:ext cx="18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600" b="1">
                  <a:solidFill>
                    <a:srgbClr val="FF0000"/>
                  </a:solidFill>
                  <a:latin typeface="Symbol" panose="05050102010706020507" pitchFamily="18" charset="2"/>
                </a:rPr>
                <a:t>®</a:t>
              </a:r>
              <a:endParaRPr kumimoji="1" lang="en-US" altLang="zh-CN" sz="2800" b="1">
                <a:solidFill>
                  <a:srgbClr val="FF0000"/>
                </a:solidFill>
                <a:latin typeface="Times New Roman" panose="02020603050405020304"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4" fill="hold" grpId="0" nodeType="withEffect">
                                  <p:stCondLst>
                                    <p:cond delay="0"/>
                                  </p:stCondLst>
                                  <p:childTnLst>
                                    <p:set>
                                      <p:cBhvr>
                                        <p:cTn id="6" dur="1" fill="hold">
                                          <p:stCondLst>
                                            <p:cond delay="0"/>
                                          </p:stCondLst>
                                        </p:cTn>
                                        <p:tgtEl>
                                          <p:spTgt spid="137221"/>
                                        </p:tgtEl>
                                        <p:attrNameLst>
                                          <p:attrName>style.visibility</p:attrName>
                                        </p:attrNameLst>
                                      </p:cBhvr>
                                      <p:to>
                                        <p:strVal val="visible"/>
                                      </p:to>
                                    </p:set>
                                    <p:animEffect transition="in" filter="slide(fromBottom)">
                                      <p:cBhvr>
                                        <p:cTn id="7" dur="500"/>
                                        <p:tgtEl>
                                          <p:spTgt spid="13722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9396"/>
                                        </p:tgtEl>
                                        <p:attrNameLst>
                                          <p:attrName>style.visibility</p:attrName>
                                        </p:attrNameLst>
                                      </p:cBhvr>
                                      <p:to>
                                        <p:strVal val="visible"/>
                                      </p:to>
                                    </p:set>
                                    <p:animEffect transition="in" filter="wipe(left)">
                                      <p:cBhvr>
                                        <p:cTn id="12" dur="500"/>
                                        <p:tgtEl>
                                          <p:spTgt spid="5939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500" fill="hold"/>
                                        <p:tgtEl>
                                          <p:spTgt spid="2"/>
                                        </p:tgtEl>
                                        <p:attrNameLst>
                                          <p:attrName>ppt_x</p:attrName>
                                        </p:attrNameLst>
                                      </p:cBhvr>
                                      <p:tavLst>
                                        <p:tav tm="0">
                                          <p:val>
                                            <p:strVal val="#ppt_x"/>
                                          </p:val>
                                        </p:tav>
                                        <p:tav tm="100000">
                                          <p:val>
                                            <p:strVal val="#ppt_x"/>
                                          </p:val>
                                        </p:tav>
                                      </p:tavLst>
                                    </p:anim>
                                    <p:anim calcmode="lin" valueType="num">
                                      <p:cBhvr additive="base">
                                        <p:cTn id="1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59394">
                                            <p:txEl>
                                              <p:pRg st="0" end="0"/>
                                            </p:txEl>
                                          </p:spTgt>
                                        </p:tgtEl>
                                        <p:attrNameLst>
                                          <p:attrName>style.visibility</p:attrName>
                                        </p:attrNameLst>
                                      </p:cBhvr>
                                      <p:to>
                                        <p:strVal val="visible"/>
                                      </p:to>
                                    </p:set>
                                    <p:animEffect transition="in" filter="wipe(left)">
                                      <p:cBhvr>
                                        <p:cTn id="23" dur="500"/>
                                        <p:tgtEl>
                                          <p:spTgt spid="5939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4" grpId="0" build="p" autoUpdateAnimBg="0"/>
      <p:bldP spid="59396" grpId="0"/>
      <p:bldP spid="137221"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0418" name="Object 2">
            <a:extLst>
              <a:ext uri="{FF2B5EF4-FFF2-40B4-BE49-F238E27FC236}">
                <a16:creationId xmlns:a16="http://schemas.microsoft.com/office/drawing/2014/main" id="{3330ABFF-CA64-406C-BBBD-B8CA9C123C5E}"/>
              </a:ext>
            </a:extLst>
          </p:cNvPr>
          <p:cNvGraphicFramePr>
            <a:graphicFrameLocks noChangeAspect="1"/>
          </p:cNvGraphicFramePr>
          <p:nvPr/>
        </p:nvGraphicFramePr>
        <p:xfrm>
          <a:off x="2300288" y="3113088"/>
          <a:ext cx="5029200" cy="747712"/>
        </p:xfrm>
        <a:graphic>
          <a:graphicData uri="http://schemas.openxmlformats.org/presentationml/2006/ole">
            <mc:AlternateContent xmlns:mc="http://schemas.openxmlformats.org/markup-compatibility/2006">
              <mc:Choice xmlns:v="urn:schemas-microsoft-com:vml" Requires="v">
                <p:oleObj spid="_x0000_s32785" name="Equation" r:id="rId3" imgW="1600200" imgH="241300" progId="Equation.DSMT4">
                  <p:embed/>
                </p:oleObj>
              </mc:Choice>
              <mc:Fallback>
                <p:oleObj name="Equation" r:id="rId3" imgW="1600200" imgH="241300" progId="Equation.DSMT4">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00288" y="3113088"/>
                        <a:ext cx="5029200" cy="747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2" name="Group 11">
            <a:extLst>
              <a:ext uri="{FF2B5EF4-FFF2-40B4-BE49-F238E27FC236}">
                <a16:creationId xmlns:a16="http://schemas.microsoft.com/office/drawing/2014/main" id="{088DA7C6-D0E5-4F0D-B2F8-F4D5BD8DBA43}"/>
              </a:ext>
            </a:extLst>
          </p:cNvPr>
          <p:cNvGrpSpPr>
            <a:grpSpLocks/>
          </p:cNvGrpSpPr>
          <p:nvPr/>
        </p:nvGrpSpPr>
        <p:grpSpPr bwMode="auto">
          <a:xfrm>
            <a:off x="373063" y="620713"/>
            <a:ext cx="8375650" cy="1373187"/>
            <a:chOff x="235" y="391"/>
            <a:chExt cx="5276" cy="865"/>
          </a:xfrm>
        </p:grpSpPr>
        <p:sp>
          <p:nvSpPr>
            <p:cNvPr id="32776" name="Rectangle 4">
              <a:extLst>
                <a:ext uri="{FF2B5EF4-FFF2-40B4-BE49-F238E27FC236}">
                  <a16:creationId xmlns:a16="http://schemas.microsoft.com/office/drawing/2014/main" id="{67AD0827-369E-4BEC-A9C2-733B5B267E5B}"/>
                </a:ext>
              </a:extLst>
            </p:cNvPr>
            <p:cNvSpPr>
              <a:spLocks noChangeArrowheads="1"/>
            </p:cNvSpPr>
            <p:nvPr/>
          </p:nvSpPr>
          <p:spPr bwMode="auto">
            <a:xfrm>
              <a:off x="235" y="391"/>
              <a:ext cx="5216" cy="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a:latin typeface="Times New Roman" panose="02020603050405020304" pitchFamily="18" charset="0"/>
                </a:rPr>
                <a:t>1939</a:t>
              </a:r>
              <a:r>
                <a:rPr kumimoji="1" lang="zh-CN" altLang="en-US" sz="2800" b="1">
                  <a:latin typeface="Times New Roman" panose="02020603050405020304" pitchFamily="18" charset="0"/>
                </a:rPr>
                <a:t>年，哈恩和斯特拉斯曼从反应物中分离出了</a:t>
              </a:r>
            </a:p>
            <a:p>
              <a:pPr eaLnBrk="1" hangingPunct="1">
                <a:spcBef>
                  <a:spcPct val="0"/>
                </a:spcBef>
                <a:buFontTx/>
                <a:buNone/>
              </a:pPr>
              <a:r>
                <a:rPr kumimoji="1" lang="zh-CN" altLang="en-US" sz="2800" b="1">
                  <a:latin typeface="Times New Roman" panose="02020603050405020304" pitchFamily="18" charset="0"/>
                </a:rPr>
                <a:t>和          的同位素，并认为它们是由超铀元素分裂出来的。</a:t>
              </a:r>
            </a:p>
          </p:txBody>
        </p:sp>
        <p:graphicFrame>
          <p:nvGraphicFramePr>
            <p:cNvPr id="32777" name="Object 5">
              <a:extLst>
                <a:ext uri="{FF2B5EF4-FFF2-40B4-BE49-F238E27FC236}">
                  <a16:creationId xmlns:a16="http://schemas.microsoft.com/office/drawing/2014/main" id="{046FCEE1-471C-482B-9B3F-F8021C716D91}"/>
                </a:ext>
              </a:extLst>
            </p:cNvPr>
            <p:cNvGraphicFramePr>
              <a:graphicFrameLocks noChangeAspect="1"/>
            </p:cNvGraphicFramePr>
            <p:nvPr/>
          </p:nvGraphicFramePr>
          <p:xfrm>
            <a:off x="4998" y="395"/>
            <a:ext cx="513" cy="363"/>
          </p:xfrm>
          <a:graphic>
            <a:graphicData uri="http://schemas.openxmlformats.org/presentationml/2006/ole">
              <mc:AlternateContent xmlns:mc="http://schemas.openxmlformats.org/markup-compatibility/2006">
                <mc:Choice xmlns:v="urn:schemas-microsoft-com:vml" Requires="v">
                  <p:oleObj spid="_x0000_s32786" name="Equation" r:id="rId5" imgW="317362" imgH="228501" progId="Equation.DSMT4">
                    <p:embed/>
                  </p:oleObj>
                </mc:Choice>
                <mc:Fallback>
                  <p:oleObj name="Equation" r:id="rId5" imgW="317362" imgH="228501" progId="Equation.DSMT4">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98" y="395"/>
                          <a:ext cx="513"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2778" name="Object 6">
              <a:extLst>
                <a:ext uri="{FF2B5EF4-FFF2-40B4-BE49-F238E27FC236}">
                  <a16:creationId xmlns:a16="http://schemas.microsoft.com/office/drawing/2014/main" id="{E669E653-2DA8-4785-847F-A382BEED46C0}"/>
                </a:ext>
              </a:extLst>
            </p:cNvPr>
            <p:cNvGraphicFramePr>
              <a:graphicFrameLocks noChangeAspect="1"/>
            </p:cNvGraphicFramePr>
            <p:nvPr/>
          </p:nvGraphicFramePr>
          <p:xfrm>
            <a:off x="563" y="663"/>
            <a:ext cx="534" cy="363"/>
          </p:xfrm>
          <a:graphic>
            <a:graphicData uri="http://schemas.openxmlformats.org/presentationml/2006/ole">
              <mc:AlternateContent xmlns:mc="http://schemas.openxmlformats.org/markup-compatibility/2006">
                <mc:Choice xmlns:v="urn:schemas-microsoft-com:vml" Requires="v">
                  <p:oleObj spid="_x0000_s32787" name="Equation" r:id="rId7" imgW="330200" imgH="228600" progId="Equation.DSMT4">
                    <p:embed/>
                  </p:oleObj>
                </mc:Choice>
                <mc:Fallback>
                  <p:oleObj name="Equation" r:id="rId7" imgW="330200" imgH="228600" progId="Equation.DSMT4">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63" y="663"/>
                          <a:ext cx="534"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60423" name="Text Box 7">
            <a:extLst>
              <a:ext uri="{FF2B5EF4-FFF2-40B4-BE49-F238E27FC236}">
                <a16:creationId xmlns:a16="http://schemas.microsoft.com/office/drawing/2014/main" id="{02D4D6D2-EDA5-4957-B08C-77CA8418DDCC}"/>
              </a:ext>
            </a:extLst>
          </p:cNvPr>
          <p:cNvSpPr txBox="1">
            <a:spLocks noChangeArrowheads="1"/>
          </p:cNvSpPr>
          <p:nvPr/>
        </p:nvSpPr>
        <p:spPr bwMode="auto">
          <a:xfrm>
            <a:off x="468313" y="2205038"/>
            <a:ext cx="66452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a:latin typeface="Times New Roman" panose="02020603050405020304" pitchFamily="18" charset="0"/>
              </a:rPr>
              <a:t>一个典型的重核的裂变过程是</a:t>
            </a:r>
            <a:r>
              <a:rPr kumimoji="1" lang="en-US" altLang="zh-CN" sz="2800" b="1">
                <a:latin typeface="Times New Roman" panose="02020603050405020304" pitchFamily="18" charset="0"/>
              </a:rPr>
              <a:t>:</a:t>
            </a:r>
          </a:p>
        </p:txBody>
      </p:sp>
      <p:sp>
        <p:nvSpPr>
          <p:cNvPr id="60424" name="Rectangle 8">
            <a:extLst>
              <a:ext uri="{FF2B5EF4-FFF2-40B4-BE49-F238E27FC236}">
                <a16:creationId xmlns:a16="http://schemas.microsoft.com/office/drawing/2014/main" id="{3067AE7D-0EF6-49E3-9C6E-4F0F9D53A586}"/>
              </a:ext>
            </a:extLst>
          </p:cNvPr>
          <p:cNvSpPr>
            <a:spLocks noChangeArrowheads="1"/>
          </p:cNvSpPr>
          <p:nvPr/>
        </p:nvSpPr>
        <p:spPr bwMode="auto">
          <a:xfrm>
            <a:off x="827088" y="4149725"/>
            <a:ext cx="53419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a:latin typeface="Times New Roman" panose="02020603050405020304" pitchFamily="18" charset="0"/>
                <a:cs typeface="Times New Roman" panose="02020603050405020304" pitchFamily="18" charset="0"/>
              </a:rPr>
              <a:t>其中</a:t>
            </a:r>
            <a:r>
              <a:rPr kumimoji="1" lang="en-US" altLang="zh-CN" sz="2800" b="1">
                <a:latin typeface="Times New Roman" panose="02020603050405020304" pitchFamily="18" charset="0"/>
                <a:cs typeface="Times New Roman" panose="02020603050405020304" pitchFamily="18" charset="0"/>
              </a:rPr>
              <a:t>X</a:t>
            </a:r>
            <a:r>
              <a:rPr kumimoji="1" lang="zh-CN" altLang="en-US" sz="2800" b="1">
                <a:latin typeface="Times New Roman" panose="02020603050405020304" pitchFamily="18" charset="0"/>
                <a:cs typeface="Times New Roman" panose="02020603050405020304" pitchFamily="18" charset="0"/>
              </a:rPr>
              <a:t>、</a:t>
            </a:r>
            <a:r>
              <a:rPr kumimoji="1" lang="en-US" altLang="zh-CN" sz="2800" b="1">
                <a:latin typeface="Times New Roman" panose="02020603050405020304" pitchFamily="18" charset="0"/>
                <a:cs typeface="Times New Roman" panose="02020603050405020304" pitchFamily="18" charset="0"/>
              </a:rPr>
              <a:t>Y</a:t>
            </a:r>
            <a:r>
              <a:rPr kumimoji="1" lang="zh-CN" altLang="en-US" sz="2800" b="1">
                <a:latin typeface="Times New Roman" panose="02020603050405020304" pitchFamily="18" charset="0"/>
                <a:cs typeface="Times New Roman" panose="02020603050405020304" pitchFamily="18" charset="0"/>
              </a:rPr>
              <a:t>是可能的核裂变碎片对</a:t>
            </a:r>
          </a:p>
        </p:txBody>
      </p:sp>
      <p:sp>
        <p:nvSpPr>
          <p:cNvPr id="60425" name="Rectangle 9">
            <a:extLst>
              <a:ext uri="{FF2B5EF4-FFF2-40B4-BE49-F238E27FC236}">
                <a16:creationId xmlns:a16="http://schemas.microsoft.com/office/drawing/2014/main" id="{ED0BF1D0-AC08-4C19-A618-36CB3B7613A6}"/>
              </a:ext>
            </a:extLst>
          </p:cNvPr>
          <p:cNvSpPr>
            <a:spLocks noChangeArrowheads="1"/>
          </p:cNvSpPr>
          <p:nvPr/>
        </p:nvSpPr>
        <p:spPr bwMode="auto">
          <a:xfrm>
            <a:off x="858838" y="4854575"/>
            <a:ext cx="57292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i="1">
                <a:latin typeface="Times New Roman" panose="02020603050405020304" pitchFamily="18" charset="0"/>
                <a:cs typeface="Times New Roman" panose="02020603050405020304" pitchFamily="18" charset="0"/>
              </a:rPr>
              <a:t>i</a:t>
            </a:r>
            <a:r>
              <a:rPr kumimoji="1" lang="zh-CN" altLang="en-US" sz="2800" b="1">
                <a:latin typeface="Times New Roman" panose="02020603050405020304" pitchFamily="18" charset="0"/>
                <a:cs typeface="Times New Roman" panose="02020603050405020304" pitchFamily="18" charset="0"/>
              </a:rPr>
              <a:t>是裂变过程中可能放出的中子数目 </a:t>
            </a:r>
          </a:p>
        </p:txBody>
      </p:sp>
      <p:sp>
        <p:nvSpPr>
          <p:cNvPr id="32775" name="Text Box 29">
            <a:extLst>
              <a:ext uri="{FF2B5EF4-FFF2-40B4-BE49-F238E27FC236}">
                <a16:creationId xmlns:a16="http://schemas.microsoft.com/office/drawing/2014/main" id="{B21480F1-9680-47C1-9351-4ACA7BEA0914}"/>
              </a:ext>
            </a:extLst>
          </p:cNvPr>
          <p:cNvSpPr txBox="1">
            <a:spLocks noChangeArrowheads="1"/>
          </p:cNvSpPr>
          <p:nvPr/>
        </p:nvSpPr>
        <p:spPr bwMode="auto">
          <a:xfrm>
            <a:off x="8629650" y="6356350"/>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1">
                <a:latin typeface="Times New Roman" panose="02020603050405020304" pitchFamily="18" charset="0"/>
              </a:rPr>
              <a:t>24</a:t>
            </a:r>
            <a:endParaRPr lang="en-US" altLang="zh-CN" sz="18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0423"/>
                                        </p:tgtEl>
                                        <p:attrNameLst>
                                          <p:attrName>style.visibility</p:attrName>
                                        </p:attrNameLst>
                                      </p:cBhvr>
                                      <p:to>
                                        <p:strVal val="visible"/>
                                      </p:to>
                                    </p:set>
                                    <p:animEffect transition="in" filter="wipe(left)">
                                      <p:cBhvr>
                                        <p:cTn id="12" dur="500"/>
                                        <p:tgtEl>
                                          <p:spTgt spid="6042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60418"/>
                                        </p:tgtEl>
                                        <p:attrNameLst>
                                          <p:attrName>style.visibility</p:attrName>
                                        </p:attrNameLst>
                                      </p:cBhvr>
                                      <p:to>
                                        <p:strVal val="visible"/>
                                      </p:to>
                                    </p:set>
                                    <p:animEffect transition="in" filter="wipe(left)">
                                      <p:cBhvr>
                                        <p:cTn id="17" dur="500"/>
                                        <p:tgtEl>
                                          <p:spTgt spid="6041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0424"/>
                                        </p:tgtEl>
                                        <p:attrNameLst>
                                          <p:attrName>style.visibility</p:attrName>
                                        </p:attrNameLst>
                                      </p:cBhvr>
                                      <p:to>
                                        <p:strVal val="visible"/>
                                      </p:to>
                                    </p:set>
                                    <p:animEffect transition="in" filter="wipe(left)">
                                      <p:cBhvr>
                                        <p:cTn id="22" dur="500"/>
                                        <p:tgtEl>
                                          <p:spTgt spid="6042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60425"/>
                                        </p:tgtEl>
                                        <p:attrNameLst>
                                          <p:attrName>style.visibility</p:attrName>
                                        </p:attrNameLst>
                                      </p:cBhvr>
                                      <p:to>
                                        <p:strVal val="visible"/>
                                      </p:to>
                                    </p:set>
                                    <p:animEffect transition="in" filter="wipe(left)">
                                      <p:cBhvr>
                                        <p:cTn id="27" dur="500"/>
                                        <p:tgtEl>
                                          <p:spTgt spid="604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23" grpId="0"/>
      <p:bldP spid="60424" grpId="0"/>
      <p:bldP spid="6042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3" name="Text Box 3">
            <a:extLst>
              <a:ext uri="{FF2B5EF4-FFF2-40B4-BE49-F238E27FC236}">
                <a16:creationId xmlns:a16="http://schemas.microsoft.com/office/drawing/2014/main" id="{30938219-3BD4-49A9-ADFC-930BC2DCEF32}"/>
              </a:ext>
            </a:extLst>
          </p:cNvPr>
          <p:cNvSpPr txBox="1">
            <a:spLocks noChangeArrowheads="1"/>
          </p:cNvSpPr>
          <p:nvPr/>
        </p:nvSpPr>
        <p:spPr bwMode="auto">
          <a:xfrm>
            <a:off x="684213" y="1038225"/>
            <a:ext cx="7559675"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zh-CN" altLang="en-US" sz="2800" b="1">
                <a:latin typeface="Times New Roman" panose="02020603050405020304" pitchFamily="18" charset="0"/>
              </a:rPr>
              <a:t>由于轻核的比结合能很小，因此当轻核通过核反应结合成质量较大的原子核时也能释放出巨大的能量。这种核反应称为</a:t>
            </a:r>
            <a:r>
              <a:rPr kumimoji="1" lang="zh-CN" altLang="en-US" sz="2800" b="1">
                <a:solidFill>
                  <a:srgbClr val="202AF4"/>
                </a:solidFill>
                <a:latin typeface="Times New Roman" panose="02020603050405020304" pitchFamily="18" charset="0"/>
              </a:rPr>
              <a:t>轻核聚变</a:t>
            </a:r>
            <a:r>
              <a:rPr kumimoji="1" lang="zh-CN" altLang="en-US" sz="2800" b="1">
                <a:latin typeface="Times New Roman" panose="02020603050405020304" pitchFamily="18" charset="0"/>
              </a:rPr>
              <a:t>。</a:t>
            </a:r>
          </a:p>
        </p:txBody>
      </p:sp>
      <p:grpSp>
        <p:nvGrpSpPr>
          <p:cNvPr id="2" name="Group 4">
            <a:extLst>
              <a:ext uri="{FF2B5EF4-FFF2-40B4-BE49-F238E27FC236}">
                <a16:creationId xmlns:a16="http://schemas.microsoft.com/office/drawing/2014/main" id="{65CE7C75-8BE6-464A-979F-5CF5631A2FD5}"/>
              </a:ext>
            </a:extLst>
          </p:cNvPr>
          <p:cNvGrpSpPr>
            <a:grpSpLocks/>
          </p:cNvGrpSpPr>
          <p:nvPr/>
        </p:nvGrpSpPr>
        <p:grpSpPr bwMode="auto">
          <a:xfrm>
            <a:off x="1892300" y="3249613"/>
            <a:ext cx="5397500" cy="2627312"/>
            <a:chOff x="-76" y="1866"/>
            <a:chExt cx="1346" cy="588"/>
          </a:xfrm>
        </p:grpSpPr>
        <p:graphicFrame>
          <p:nvGraphicFramePr>
            <p:cNvPr id="33799" name="Object 5">
              <a:extLst>
                <a:ext uri="{FF2B5EF4-FFF2-40B4-BE49-F238E27FC236}">
                  <a16:creationId xmlns:a16="http://schemas.microsoft.com/office/drawing/2014/main" id="{B075C428-031B-4279-9E6B-D2FB2B595916}"/>
                </a:ext>
              </a:extLst>
            </p:cNvPr>
            <p:cNvGraphicFramePr>
              <a:graphicFrameLocks noChangeAspect="1"/>
            </p:cNvGraphicFramePr>
            <p:nvPr/>
          </p:nvGraphicFramePr>
          <p:xfrm>
            <a:off x="-64" y="1866"/>
            <a:ext cx="1286" cy="150"/>
          </p:xfrm>
          <a:graphic>
            <a:graphicData uri="http://schemas.openxmlformats.org/presentationml/2006/ole">
              <mc:AlternateContent xmlns:mc="http://schemas.openxmlformats.org/markup-compatibility/2006">
                <mc:Choice xmlns:v="urn:schemas-microsoft-com:vml" Requires="v">
                  <p:oleObj spid="_x0000_s33811" name="Equation" r:id="rId3" imgW="2044700" imgH="241300" progId="Equation.DSMT4">
                    <p:embed/>
                  </p:oleObj>
                </mc:Choice>
                <mc:Fallback>
                  <p:oleObj name="Equation" r:id="rId3" imgW="2044700" imgH="241300" progId="Equation.DSMT4">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 y="1866"/>
                          <a:ext cx="1286" cy="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3800" name="Object 6">
              <a:extLst>
                <a:ext uri="{FF2B5EF4-FFF2-40B4-BE49-F238E27FC236}">
                  <a16:creationId xmlns:a16="http://schemas.microsoft.com/office/drawing/2014/main" id="{71F99081-8B17-470A-9C7B-9DE1405D38F1}"/>
                </a:ext>
              </a:extLst>
            </p:cNvPr>
            <p:cNvGraphicFramePr>
              <a:graphicFrameLocks noChangeAspect="1"/>
            </p:cNvGraphicFramePr>
            <p:nvPr/>
          </p:nvGraphicFramePr>
          <p:xfrm>
            <a:off x="-76" y="2012"/>
            <a:ext cx="1346" cy="152"/>
          </p:xfrm>
          <a:graphic>
            <a:graphicData uri="http://schemas.openxmlformats.org/presentationml/2006/ole">
              <mc:AlternateContent xmlns:mc="http://schemas.openxmlformats.org/markup-compatibility/2006">
                <mc:Choice xmlns:v="urn:schemas-microsoft-com:vml" Requires="v">
                  <p:oleObj spid="_x0000_s33812" name="Equation" r:id="rId5" imgW="2133600" imgH="241300" progId="Equation.DSMT4">
                    <p:embed/>
                  </p:oleObj>
                </mc:Choice>
                <mc:Fallback>
                  <p:oleObj name="Equation" r:id="rId5" imgW="2133600" imgH="241300" progId="Equation.DSMT4">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 y="2012"/>
                          <a:ext cx="1346" cy="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3801" name="Object 7">
              <a:extLst>
                <a:ext uri="{FF2B5EF4-FFF2-40B4-BE49-F238E27FC236}">
                  <a16:creationId xmlns:a16="http://schemas.microsoft.com/office/drawing/2014/main" id="{973506A1-42CA-43B5-9D63-A64EE7B82915}"/>
                </a:ext>
              </a:extLst>
            </p:cNvPr>
            <p:cNvGraphicFramePr>
              <a:graphicFrameLocks noChangeAspect="1"/>
            </p:cNvGraphicFramePr>
            <p:nvPr/>
          </p:nvGraphicFramePr>
          <p:xfrm>
            <a:off x="-76" y="2156"/>
            <a:ext cx="1256" cy="152"/>
          </p:xfrm>
          <a:graphic>
            <a:graphicData uri="http://schemas.openxmlformats.org/presentationml/2006/ole">
              <mc:AlternateContent xmlns:mc="http://schemas.openxmlformats.org/markup-compatibility/2006">
                <mc:Choice xmlns:v="urn:schemas-microsoft-com:vml" Requires="v">
                  <p:oleObj spid="_x0000_s33813" name="Equation" r:id="rId7" imgW="1993900" imgH="241300" progId="Equation.DSMT4">
                    <p:embed/>
                  </p:oleObj>
                </mc:Choice>
                <mc:Fallback>
                  <p:oleObj name="Equation" r:id="rId7" imgW="1993900" imgH="241300" progId="Equation.DSMT4">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6" y="2156"/>
                          <a:ext cx="1256" cy="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3802" name="Object 8">
              <a:extLst>
                <a:ext uri="{FF2B5EF4-FFF2-40B4-BE49-F238E27FC236}">
                  <a16:creationId xmlns:a16="http://schemas.microsoft.com/office/drawing/2014/main" id="{37DEE2F0-F9EC-41A1-8DAE-34167ED32E3A}"/>
                </a:ext>
              </a:extLst>
            </p:cNvPr>
            <p:cNvGraphicFramePr>
              <a:graphicFrameLocks noChangeAspect="1"/>
            </p:cNvGraphicFramePr>
            <p:nvPr/>
          </p:nvGraphicFramePr>
          <p:xfrm>
            <a:off x="-72" y="2304"/>
            <a:ext cx="1302" cy="150"/>
          </p:xfrm>
          <a:graphic>
            <a:graphicData uri="http://schemas.openxmlformats.org/presentationml/2006/ole">
              <mc:AlternateContent xmlns:mc="http://schemas.openxmlformats.org/markup-compatibility/2006">
                <mc:Choice xmlns:v="urn:schemas-microsoft-com:vml" Requires="v">
                  <p:oleObj spid="_x0000_s33814" name="Equation" r:id="rId9" imgW="2070100" imgH="241300" progId="Equation.DSMT4">
                    <p:embed/>
                  </p:oleObj>
                </mc:Choice>
                <mc:Fallback>
                  <p:oleObj name="Equation" r:id="rId9" imgW="2070100" imgH="241300" progId="Equation.DSMT4">
                    <p:embed/>
                    <p:pic>
                      <p:nvPicPr>
                        <p:cNvPr id="0"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2" y="2304"/>
                          <a:ext cx="1302" cy="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61449" name="Text Box 9">
            <a:extLst>
              <a:ext uri="{FF2B5EF4-FFF2-40B4-BE49-F238E27FC236}">
                <a16:creationId xmlns:a16="http://schemas.microsoft.com/office/drawing/2014/main" id="{A7471245-5268-4FA4-B5FF-8A4E1110D3F7}"/>
              </a:ext>
            </a:extLst>
          </p:cNvPr>
          <p:cNvSpPr txBox="1">
            <a:spLocks noChangeArrowheads="1"/>
          </p:cNvSpPr>
          <p:nvPr/>
        </p:nvSpPr>
        <p:spPr bwMode="auto">
          <a:xfrm>
            <a:off x="755650" y="2549525"/>
            <a:ext cx="68611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a:latin typeface="Times New Roman" panose="02020603050405020304" pitchFamily="18" charset="0"/>
              </a:rPr>
              <a:t>典型的核聚变反应过程有： </a:t>
            </a:r>
          </a:p>
        </p:txBody>
      </p:sp>
      <p:sp>
        <p:nvSpPr>
          <p:cNvPr id="137221" name="Text Box 5">
            <a:extLst>
              <a:ext uri="{FF2B5EF4-FFF2-40B4-BE49-F238E27FC236}">
                <a16:creationId xmlns:a16="http://schemas.microsoft.com/office/drawing/2014/main" id="{9517C668-5163-4DF5-A185-DD15582E9620}"/>
              </a:ext>
            </a:extLst>
          </p:cNvPr>
          <p:cNvSpPr txBox="1">
            <a:spLocks noChangeArrowheads="1"/>
          </p:cNvSpPr>
          <p:nvPr/>
        </p:nvSpPr>
        <p:spPr bwMode="auto">
          <a:xfrm>
            <a:off x="179388" y="476250"/>
            <a:ext cx="29527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a:solidFill>
                  <a:schemeClr val="accent2"/>
                </a:solidFill>
                <a:latin typeface="Times New Roman" panose="02020603050405020304" pitchFamily="18" charset="0"/>
                <a:cs typeface="Times New Roman" panose="02020603050405020304" pitchFamily="18" charset="0"/>
              </a:rPr>
              <a:t>3.3 </a:t>
            </a:r>
            <a:r>
              <a:rPr kumimoji="1" lang="zh-CN" altLang="en-US" sz="2800" b="1">
                <a:solidFill>
                  <a:srgbClr val="202AF4"/>
                </a:solidFill>
                <a:latin typeface="Times New Roman" panose="02020603050405020304" pitchFamily="18" charset="0"/>
                <a:cs typeface="Times New Roman" panose="02020603050405020304" pitchFamily="18" charset="0"/>
              </a:rPr>
              <a:t>轻核的聚变</a:t>
            </a:r>
          </a:p>
        </p:txBody>
      </p:sp>
      <p:sp>
        <p:nvSpPr>
          <p:cNvPr id="33798" name="Text Box 29">
            <a:extLst>
              <a:ext uri="{FF2B5EF4-FFF2-40B4-BE49-F238E27FC236}">
                <a16:creationId xmlns:a16="http://schemas.microsoft.com/office/drawing/2014/main" id="{DE4E1C16-BCE4-4662-8123-F50992F2C437}"/>
              </a:ext>
            </a:extLst>
          </p:cNvPr>
          <p:cNvSpPr txBox="1">
            <a:spLocks noChangeArrowheads="1"/>
          </p:cNvSpPr>
          <p:nvPr/>
        </p:nvSpPr>
        <p:spPr bwMode="auto">
          <a:xfrm>
            <a:off x="8629650" y="6356350"/>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1">
                <a:latin typeface="Times New Roman" panose="02020603050405020304" pitchFamily="18" charset="0"/>
              </a:rPr>
              <a:t>25</a:t>
            </a:r>
            <a:endParaRPr lang="en-US" altLang="zh-CN" sz="18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4" fill="hold" grpId="0" nodeType="withEffect">
                                  <p:stCondLst>
                                    <p:cond delay="0"/>
                                  </p:stCondLst>
                                  <p:childTnLst>
                                    <p:set>
                                      <p:cBhvr>
                                        <p:cTn id="6" dur="1" fill="hold">
                                          <p:stCondLst>
                                            <p:cond delay="0"/>
                                          </p:stCondLst>
                                        </p:cTn>
                                        <p:tgtEl>
                                          <p:spTgt spid="137221"/>
                                        </p:tgtEl>
                                        <p:attrNameLst>
                                          <p:attrName>style.visibility</p:attrName>
                                        </p:attrNameLst>
                                      </p:cBhvr>
                                      <p:to>
                                        <p:strVal val="visible"/>
                                      </p:to>
                                    </p:set>
                                    <p:animEffect transition="in" filter="slide(fromBottom)">
                                      <p:cBhvr>
                                        <p:cTn id="7" dur="500"/>
                                        <p:tgtEl>
                                          <p:spTgt spid="13722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1443">
                                            <p:txEl>
                                              <p:pRg st="0" end="0"/>
                                            </p:txEl>
                                          </p:spTgt>
                                        </p:tgtEl>
                                        <p:attrNameLst>
                                          <p:attrName>style.visibility</p:attrName>
                                        </p:attrNameLst>
                                      </p:cBhvr>
                                      <p:to>
                                        <p:strVal val="visible"/>
                                      </p:to>
                                    </p:set>
                                    <p:animEffect transition="in" filter="wipe(left)">
                                      <p:cBhvr>
                                        <p:cTn id="12" dur="500"/>
                                        <p:tgtEl>
                                          <p:spTgt spid="61443">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1449"/>
                                        </p:tgtEl>
                                        <p:attrNameLst>
                                          <p:attrName>style.visibility</p:attrName>
                                        </p:attrNameLst>
                                      </p:cBhvr>
                                      <p:to>
                                        <p:strVal val="visible"/>
                                      </p:to>
                                    </p:set>
                                    <p:animEffect transition="in" filter="wipe(left)">
                                      <p:cBhvr>
                                        <p:cTn id="17" dur="500"/>
                                        <p:tgtEl>
                                          <p:spTgt spid="6144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left)">
                                      <p:cBhvr>
                                        <p:cTn id="2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3" grpId="0" build="p" autoUpdateAnimBg="0"/>
      <p:bldP spid="61449" grpId="0"/>
      <p:bldP spid="137221"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F87F264A-79E5-4E59-AE53-7773E3D905EE}"/>
              </a:ext>
            </a:extLst>
          </p:cNvPr>
          <p:cNvSpPr/>
          <p:nvPr/>
        </p:nvSpPr>
        <p:spPr>
          <a:xfrm>
            <a:off x="1619250" y="4067175"/>
            <a:ext cx="5761038" cy="2674938"/>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63490" name="Text Box 2">
            <a:extLst>
              <a:ext uri="{FF2B5EF4-FFF2-40B4-BE49-F238E27FC236}">
                <a16:creationId xmlns:a16="http://schemas.microsoft.com/office/drawing/2014/main" id="{6A20889F-C8E9-4C63-A850-F0195939E0BD}"/>
              </a:ext>
            </a:extLst>
          </p:cNvPr>
          <p:cNvSpPr txBox="1">
            <a:spLocks noChangeArrowheads="1"/>
          </p:cNvSpPr>
          <p:nvPr/>
        </p:nvSpPr>
        <p:spPr bwMode="auto">
          <a:xfrm>
            <a:off x="179388" y="173038"/>
            <a:ext cx="5334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800" b="1">
                <a:solidFill>
                  <a:schemeClr val="accent2"/>
                </a:solidFill>
                <a:latin typeface="Times New Roman" panose="02020603050405020304" pitchFamily="18" charset="0"/>
              </a:rPr>
              <a:t>3.4 </a:t>
            </a:r>
            <a:r>
              <a:rPr kumimoji="1" lang="zh-CN" altLang="en-US" sz="2800" b="1">
                <a:solidFill>
                  <a:srgbClr val="202AF4"/>
                </a:solidFill>
                <a:latin typeface="Times New Roman" panose="02020603050405020304" pitchFamily="18" charset="0"/>
              </a:rPr>
              <a:t>原子核能的利用</a:t>
            </a:r>
          </a:p>
        </p:txBody>
      </p:sp>
      <p:sp>
        <p:nvSpPr>
          <p:cNvPr id="63491" name="Text Box 3">
            <a:extLst>
              <a:ext uri="{FF2B5EF4-FFF2-40B4-BE49-F238E27FC236}">
                <a16:creationId xmlns:a16="http://schemas.microsoft.com/office/drawing/2014/main" id="{DD55E7B7-9178-46DB-ABA8-F387E03CB8FC}"/>
              </a:ext>
            </a:extLst>
          </p:cNvPr>
          <p:cNvSpPr txBox="1">
            <a:spLocks noChangeArrowheads="1"/>
          </p:cNvSpPr>
          <p:nvPr/>
        </p:nvSpPr>
        <p:spPr bwMode="auto">
          <a:xfrm>
            <a:off x="698500" y="822325"/>
            <a:ext cx="4953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800" b="1">
                <a:latin typeface="宋体" panose="02010600030101010101" pitchFamily="2" charset="-122"/>
              </a:rPr>
              <a:t>1</a:t>
            </a:r>
            <a:r>
              <a:rPr kumimoji="1" lang="zh-CN" altLang="en-US" sz="2800" b="1">
                <a:latin typeface="宋体" panose="02010600030101010101" pitchFamily="2" charset="-122"/>
              </a:rPr>
              <a:t>、核反应堆</a:t>
            </a:r>
          </a:p>
        </p:txBody>
      </p:sp>
      <p:sp>
        <p:nvSpPr>
          <p:cNvPr id="63492" name="Text Box 4">
            <a:extLst>
              <a:ext uri="{FF2B5EF4-FFF2-40B4-BE49-F238E27FC236}">
                <a16:creationId xmlns:a16="http://schemas.microsoft.com/office/drawing/2014/main" id="{FE886849-1C67-43A0-888F-7882EBEB7B67}"/>
              </a:ext>
            </a:extLst>
          </p:cNvPr>
          <p:cNvSpPr txBox="1">
            <a:spLocks noChangeArrowheads="1"/>
          </p:cNvSpPr>
          <p:nvPr/>
        </p:nvSpPr>
        <p:spPr bwMode="auto">
          <a:xfrm>
            <a:off x="609600" y="4483100"/>
            <a:ext cx="533400"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zh-CN" altLang="en-US" sz="2800" b="1">
                <a:latin typeface="黑体" panose="02010609060101010101" pitchFamily="49" charset="-122"/>
                <a:ea typeface="黑体" panose="02010609060101010101" pitchFamily="49" charset="-122"/>
              </a:rPr>
              <a:t>链式反应</a:t>
            </a:r>
          </a:p>
        </p:txBody>
      </p:sp>
      <p:sp>
        <p:nvSpPr>
          <p:cNvPr id="63493" name="Text Box 5">
            <a:extLst>
              <a:ext uri="{FF2B5EF4-FFF2-40B4-BE49-F238E27FC236}">
                <a16:creationId xmlns:a16="http://schemas.microsoft.com/office/drawing/2014/main" id="{667F9B9F-999E-4F47-861C-5AE6553E222E}"/>
              </a:ext>
            </a:extLst>
          </p:cNvPr>
          <p:cNvSpPr txBox="1">
            <a:spLocks noChangeArrowheads="1"/>
          </p:cNvSpPr>
          <p:nvPr/>
        </p:nvSpPr>
        <p:spPr bwMode="auto">
          <a:xfrm>
            <a:off x="990600" y="1435100"/>
            <a:ext cx="7620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zh-CN" altLang="en-US" sz="2800" b="1">
                <a:latin typeface="Times New Roman" panose="02020603050405020304" pitchFamily="18" charset="0"/>
              </a:rPr>
              <a:t>利用中子诱发重核裂变从而释放原子核能</a:t>
            </a:r>
          </a:p>
        </p:txBody>
      </p:sp>
      <p:graphicFrame>
        <p:nvGraphicFramePr>
          <p:cNvPr id="63494" name="Object 6">
            <a:extLst>
              <a:ext uri="{FF2B5EF4-FFF2-40B4-BE49-F238E27FC236}">
                <a16:creationId xmlns:a16="http://schemas.microsoft.com/office/drawing/2014/main" id="{1C8D9316-2F84-43DE-A633-06ED05EE49CA}"/>
              </a:ext>
            </a:extLst>
          </p:cNvPr>
          <p:cNvGraphicFramePr>
            <a:graphicFrameLocks noChangeAspect="1"/>
          </p:cNvGraphicFramePr>
          <p:nvPr/>
        </p:nvGraphicFramePr>
        <p:xfrm>
          <a:off x="2036763" y="1989138"/>
          <a:ext cx="4421187" cy="541337"/>
        </p:xfrm>
        <a:graphic>
          <a:graphicData uri="http://schemas.openxmlformats.org/presentationml/2006/ole">
            <mc:AlternateContent xmlns:mc="http://schemas.openxmlformats.org/markup-compatibility/2006">
              <mc:Choice xmlns:v="urn:schemas-microsoft-com:vml" Requires="v">
                <p:oleObj spid="_x0000_s34900" name="Equation" r:id="rId3" imgW="1968500" imgH="241300" progId="Equation.DSMT4">
                  <p:embed/>
                </p:oleObj>
              </mc:Choice>
              <mc:Fallback>
                <p:oleObj name="Equation" r:id="rId3" imgW="1968500" imgH="241300" progId="Equation.DSMT4">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36763" y="1989138"/>
                        <a:ext cx="4421187" cy="541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3495" name="Object 7">
            <a:extLst>
              <a:ext uri="{FF2B5EF4-FFF2-40B4-BE49-F238E27FC236}">
                <a16:creationId xmlns:a16="http://schemas.microsoft.com/office/drawing/2014/main" id="{3206A4E9-5A46-4628-8B62-A9C14FFC2B2C}"/>
              </a:ext>
            </a:extLst>
          </p:cNvPr>
          <p:cNvGraphicFramePr>
            <a:graphicFrameLocks noChangeAspect="1"/>
          </p:cNvGraphicFramePr>
          <p:nvPr/>
        </p:nvGraphicFramePr>
        <p:xfrm>
          <a:off x="957263" y="2563813"/>
          <a:ext cx="6221412" cy="957262"/>
        </p:xfrm>
        <a:graphic>
          <a:graphicData uri="http://schemas.openxmlformats.org/presentationml/2006/ole">
            <mc:AlternateContent xmlns:mc="http://schemas.openxmlformats.org/markup-compatibility/2006">
              <mc:Choice xmlns:v="urn:schemas-microsoft-com:vml" Requires="v">
                <p:oleObj spid="_x0000_s34901" name="Equation" r:id="rId5" imgW="2806700" imgH="431800" progId="Equation.DSMT4">
                  <p:embed/>
                </p:oleObj>
              </mc:Choice>
              <mc:Fallback>
                <p:oleObj name="Equation" r:id="rId5" imgW="2806700" imgH="431800" progId="Equation.DSMT4">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57263" y="2563813"/>
                        <a:ext cx="6221412" cy="957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3496" name="Object 8">
            <a:extLst>
              <a:ext uri="{FF2B5EF4-FFF2-40B4-BE49-F238E27FC236}">
                <a16:creationId xmlns:a16="http://schemas.microsoft.com/office/drawing/2014/main" id="{3A6D0F39-759B-4C0A-B2F9-A3E20AE7A99B}"/>
              </a:ext>
            </a:extLst>
          </p:cNvPr>
          <p:cNvGraphicFramePr>
            <a:graphicFrameLocks noChangeAspect="1"/>
          </p:cNvGraphicFramePr>
          <p:nvPr/>
        </p:nvGraphicFramePr>
        <p:xfrm>
          <a:off x="7151688" y="3068638"/>
          <a:ext cx="1466850" cy="388937"/>
        </p:xfrm>
        <a:graphic>
          <a:graphicData uri="http://schemas.openxmlformats.org/presentationml/2006/ole">
            <mc:AlternateContent xmlns:mc="http://schemas.openxmlformats.org/markup-compatibility/2006">
              <mc:Choice xmlns:v="urn:schemas-microsoft-com:vml" Requires="v">
                <p:oleObj spid="_x0000_s34902" name="Equation" r:id="rId7" imgW="672516" imgH="177646" progId="Equation.DSMT4">
                  <p:embed/>
                </p:oleObj>
              </mc:Choice>
              <mc:Fallback>
                <p:oleObj name="Equation" r:id="rId7" imgW="672516" imgH="177646" progId="Equation.DSMT4">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151688" y="3068638"/>
                        <a:ext cx="1466850" cy="388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3497" name="Object 9">
            <a:extLst>
              <a:ext uri="{FF2B5EF4-FFF2-40B4-BE49-F238E27FC236}">
                <a16:creationId xmlns:a16="http://schemas.microsoft.com/office/drawing/2014/main" id="{E97CAE64-B85F-44FE-B217-BEB7A36D8D0E}"/>
              </a:ext>
            </a:extLst>
          </p:cNvPr>
          <p:cNvGraphicFramePr>
            <a:graphicFrameLocks noChangeAspect="1"/>
          </p:cNvGraphicFramePr>
          <p:nvPr/>
        </p:nvGraphicFramePr>
        <p:xfrm>
          <a:off x="900113" y="3584575"/>
          <a:ext cx="5556250" cy="396875"/>
        </p:xfrm>
        <a:graphic>
          <a:graphicData uri="http://schemas.openxmlformats.org/presentationml/2006/ole">
            <mc:AlternateContent xmlns:mc="http://schemas.openxmlformats.org/markup-compatibility/2006">
              <mc:Choice xmlns:v="urn:schemas-microsoft-com:vml" Requires="v">
                <p:oleObj spid="_x0000_s34903" name="Equation" r:id="rId9" imgW="2489200" imgH="177800" progId="Equation.DSMT4">
                  <p:embed/>
                </p:oleObj>
              </mc:Choice>
              <mc:Fallback>
                <p:oleObj name="Equation" r:id="rId9" imgW="2489200" imgH="177800" progId="Equation.DSMT4">
                  <p:embed/>
                  <p:pic>
                    <p:nvPicPr>
                      <p:cNvPr id="0"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00113" y="3584575"/>
                        <a:ext cx="55562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 name="Group 10">
            <a:extLst>
              <a:ext uri="{FF2B5EF4-FFF2-40B4-BE49-F238E27FC236}">
                <a16:creationId xmlns:a16="http://schemas.microsoft.com/office/drawing/2014/main" id="{7C9A68FF-6C38-4077-A86A-D2559DAB7919}"/>
              </a:ext>
            </a:extLst>
          </p:cNvPr>
          <p:cNvGrpSpPr>
            <a:grpSpLocks/>
          </p:cNvGrpSpPr>
          <p:nvPr/>
        </p:nvGrpSpPr>
        <p:grpSpPr bwMode="auto">
          <a:xfrm>
            <a:off x="5292725" y="3992563"/>
            <a:ext cx="1752600" cy="2605087"/>
            <a:chOff x="3312" y="2602"/>
            <a:chExt cx="1104" cy="1641"/>
          </a:xfrm>
        </p:grpSpPr>
        <p:grpSp>
          <p:nvGrpSpPr>
            <p:cNvPr id="34862" name="Group 11">
              <a:extLst>
                <a:ext uri="{FF2B5EF4-FFF2-40B4-BE49-F238E27FC236}">
                  <a16:creationId xmlns:a16="http://schemas.microsoft.com/office/drawing/2014/main" id="{0BBEA3E6-DDD3-44DB-968F-5442B2562A77}"/>
                </a:ext>
              </a:extLst>
            </p:cNvPr>
            <p:cNvGrpSpPr>
              <a:grpSpLocks/>
            </p:cNvGrpSpPr>
            <p:nvPr/>
          </p:nvGrpSpPr>
          <p:grpSpPr bwMode="auto">
            <a:xfrm>
              <a:off x="3696" y="2736"/>
              <a:ext cx="240" cy="1440"/>
              <a:chOff x="3696" y="2736"/>
              <a:chExt cx="240" cy="1440"/>
            </a:xfrm>
          </p:grpSpPr>
          <p:sp>
            <p:nvSpPr>
              <p:cNvPr id="34888" name="Oval 12" descr="小棋盘">
                <a:extLst>
                  <a:ext uri="{FF2B5EF4-FFF2-40B4-BE49-F238E27FC236}">
                    <a16:creationId xmlns:a16="http://schemas.microsoft.com/office/drawing/2014/main" id="{4060189E-72AA-4BF8-86AF-70CDBA18E4F5}"/>
                  </a:ext>
                </a:extLst>
              </p:cNvPr>
              <p:cNvSpPr>
                <a:spLocks noChangeArrowheads="1"/>
              </p:cNvSpPr>
              <p:nvPr/>
            </p:nvSpPr>
            <p:spPr bwMode="auto">
              <a:xfrm>
                <a:off x="3696" y="2736"/>
                <a:ext cx="240" cy="240"/>
              </a:xfrm>
              <a:prstGeom prst="ellipse">
                <a:avLst/>
              </a:prstGeom>
              <a:blipFill dpi="0" rotWithShape="0">
                <a:blip r:embed="rId11"/>
                <a:srcRect/>
                <a:tile tx="0" ty="0" sx="100000" sy="100000" flip="none" algn="tl"/>
              </a:blipFill>
              <a:ln w="9525">
                <a:solidFill>
                  <a:schemeClr val="bg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34889" name="Oval 13" descr="小棋盘">
                <a:extLst>
                  <a:ext uri="{FF2B5EF4-FFF2-40B4-BE49-F238E27FC236}">
                    <a16:creationId xmlns:a16="http://schemas.microsoft.com/office/drawing/2014/main" id="{9CB07949-0FF4-4963-909A-C85958DA02C9}"/>
                  </a:ext>
                </a:extLst>
              </p:cNvPr>
              <p:cNvSpPr>
                <a:spLocks noChangeArrowheads="1"/>
              </p:cNvSpPr>
              <p:nvPr/>
            </p:nvSpPr>
            <p:spPr bwMode="auto">
              <a:xfrm>
                <a:off x="3696" y="3168"/>
                <a:ext cx="240" cy="240"/>
              </a:xfrm>
              <a:prstGeom prst="ellipse">
                <a:avLst/>
              </a:prstGeom>
              <a:blipFill dpi="0" rotWithShape="0">
                <a:blip r:embed="rId11"/>
                <a:srcRect/>
                <a:tile tx="0" ty="0" sx="100000" sy="100000" flip="none" algn="tl"/>
              </a:blipFill>
              <a:ln w="9525">
                <a:solidFill>
                  <a:schemeClr val="bg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34890" name="Oval 14" descr="小棋盘">
                <a:extLst>
                  <a:ext uri="{FF2B5EF4-FFF2-40B4-BE49-F238E27FC236}">
                    <a16:creationId xmlns:a16="http://schemas.microsoft.com/office/drawing/2014/main" id="{6410B088-4968-4113-84FE-AC4F252E42AB}"/>
                  </a:ext>
                </a:extLst>
              </p:cNvPr>
              <p:cNvSpPr>
                <a:spLocks noChangeArrowheads="1"/>
              </p:cNvSpPr>
              <p:nvPr/>
            </p:nvSpPr>
            <p:spPr bwMode="auto">
              <a:xfrm>
                <a:off x="3696" y="3552"/>
                <a:ext cx="240" cy="240"/>
              </a:xfrm>
              <a:prstGeom prst="ellipse">
                <a:avLst/>
              </a:prstGeom>
              <a:blipFill dpi="0" rotWithShape="0">
                <a:blip r:embed="rId11"/>
                <a:srcRect/>
                <a:tile tx="0" ty="0" sx="100000" sy="100000" flip="none" algn="tl"/>
              </a:blipFill>
              <a:ln w="9525">
                <a:solidFill>
                  <a:schemeClr val="bg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34891" name="Oval 15" descr="小棋盘">
                <a:extLst>
                  <a:ext uri="{FF2B5EF4-FFF2-40B4-BE49-F238E27FC236}">
                    <a16:creationId xmlns:a16="http://schemas.microsoft.com/office/drawing/2014/main" id="{C896EED3-F99F-43AF-8261-2460D7E75950}"/>
                  </a:ext>
                </a:extLst>
              </p:cNvPr>
              <p:cNvSpPr>
                <a:spLocks noChangeArrowheads="1"/>
              </p:cNvSpPr>
              <p:nvPr/>
            </p:nvSpPr>
            <p:spPr bwMode="auto">
              <a:xfrm>
                <a:off x="3696" y="3936"/>
                <a:ext cx="240" cy="240"/>
              </a:xfrm>
              <a:prstGeom prst="ellipse">
                <a:avLst/>
              </a:prstGeom>
              <a:blipFill dpi="0" rotWithShape="0">
                <a:blip r:embed="rId11"/>
                <a:srcRect/>
                <a:tile tx="0" ty="0" sx="100000" sy="100000" flip="none" algn="tl"/>
              </a:blipFill>
              <a:ln w="9525">
                <a:solidFill>
                  <a:schemeClr val="bg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pSp>
        <p:sp>
          <p:nvSpPr>
            <p:cNvPr id="34863" name="Line 16">
              <a:extLst>
                <a:ext uri="{FF2B5EF4-FFF2-40B4-BE49-F238E27FC236}">
                  <a16:creationId xmlns:a16="http://schemas.microsoft.com/office/drawing/2014/main" id="{EB0DC39A-CA80-41ED-80FA-B778F7B8761E}"/>
                </a:ext>
              </a:extLst>
            </p:cNvPr>
            <p:cNvSpPr>
              <a:spLocks noChangeShapeType="1"/>
            </p:cNvSpPr>
            <p:nvPr/>
          </p:nvSpPr>
          <p:spPr bwMode="auto">
            <a:xfrm flipV="1">
              <a:off x="3312" y="2880"/>
              <a:ext cx="384" cy="192"/>
            </a:xfrm>
            <a:prstGeom prst="line">
              <a:avLst/>
            </a:prstGeom>
            <a:noFill/>
            <a:ln w="9525">
              <a:solidFill>
                <a:schemeClr val="bg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4864" name="Line 17">
              <a:extLst>
                <a:ext uri="{FF2B5EF4-FFF2-40B4-BE49-F238E27FC236}">
                  <a16:creationId xmlns:a16="http://schemas.microsoft.com/office/drawing/2014/main" id="{1D8940B5-4003-498E-91F5-5284EEC4B708}"/>
                </a:ext>
              </a:extLst>
            </p:cNvPr>
            <p:cNvSpPr>
              <a:spLocks noChangeShapeType="1"/>
            </p:cNvSpPr>
            <p:nvPr/>
          </p:nvSpPr>
          <p:spPr bwMode="auto">
            <a:xfrm>
              <a:off x="3360" y="3168"/>
              <a:ext cx="336" cy="96"/>
            </a:xfrm>
            <a:prstGeom prst="line">
              <a:avLst/>
            </a:prstGeom>
            <a:noFill/>
            <a:ln w="9525">
              <a:solidFill>
                <a:schemeClr val="bg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4865" name="Line 18">
              <a:extLst>
                <a:ext uri="{FF2B5EF4-FFF2-40B4-BE49-F238E27FC236}">
                  <a16:creationId xmlns:a16="http://schemas.microsoft.com/office/drawing/2014/main" id="{0A6C7DF8-AAA2-4185-98C3-9CCFB102A0AD}"/>
                </a:ext>
              </a:extLst>
            </p:cNvPr>
            <p:cNvSpPr>
              <a:spLocks noChangeShapeType="1"/>
            </p:cNvSpPr>
            <p:nvPr/>
          </p:nvSpPr>
          <p:spPr bwMode="auto">
            <a:xfrm flipV="1">
              <a:off x="3360" y="3648"/>
              <a:ext cx="336" cy="96"/>
            </a:xfrm>
            <a:prstGeom prst="line">
              <a:avLst/>
            </a:prstGeom>
            <a:noFill/>
            <a:ln w="9525">
              <a:solidFill>
                <a:schemeClr val="bg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4866" name="Line 19">
              <a:extLst>
                <a:ext uri="{FF2B5EF4-FFF2-40B4-BE49-F238E27FC236}">
                  <a16:creationId xmlns:a16="http://schemas.microsoft.com/office/drawing/2014/main" id="{F98F577C-CB69-4BAF-8B12-B87EAFFC9987}"/>
                </a:ext>
              </a:extLst>
            </p:cNvPr>
            <p:cNvSpPr>
              <a:spLocks noChangeShapeType="1"/>
            </p:cNvSpPr>
            <p:nvPr/>
          </p:nvSpPr>
          <p:spPr bwMode="auto">
            <a:xfrm>
              <a:off x="3360" y="3888"/>
              <a:ext cx="336" cy="144"/>
            </a:xfrm>
            <a:prstGeom prst="line">
              <a:avLst/>
            </a:prstGeom>
            <a:noFill/>
            <a:ln w="9525">
              <a:solidFill>
                <a:schemeClr val="bg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34867" name="Group 20">
              <a:extLst>
                <a:ext uri="{FF2B5EF4-FFF2-40B4-BE49-F238E27FC236}">
                  <a16:creationId xmlns:a16="http://schemas.microsoft.com/office/drawing/2014/main" id="{82655A87-7F62-4EA6-9C9C-91FACFA7BA1F}"/>
                </a:ext>
              </a:extLst>
            </p:cNvPr>
            <p:cNvGrpSpPr>
              <a:grpSpLocks/>
            </p:cNvGrpSpPr>
            <p:nvPr/>
          </p:nvGrpSpPr>
          <p:grpSpPr bwMode="auto">
            <a:xfrm>
              <a:off x="4080" y="2602"/>
              <a:ext cx="336" cy="1641"/>
              <a:chOff x="4080" y="2602"/>
              <a:chExt cx="336" cy="1641"/>
            </a:xfrm>
          </p:grpSpPr>
          <p:sp>
            <p:nvSpPr>
              <p:cNvPr id="34868" name="Oval 21">
                <a:extLst>
                  <a:ext uri="{FF2B5EF4-FFF2-40B4-BE49-F238E27FC236}">
                    <a16:creationId xmlns:a16="http://schemas.microsoft.com/office/drawing/2014/main" id="{4D470381-BA1B-4B77-AD54-EE13F909C260}"/>
                  </a:ext>
                </a:extLst>
              </p:cNvPr>
              <p:cNvSpPr>
                <a:spLocks noChangeArrowheads="1"/>
              </p:cNvSpPr>
              <p:nvPr/>
            </p:nvSpPr>
            <p:spPr bwMode="auto">
              <a:xfrm>
                <a:off x="4080" y="2880"/>
                <a:ext cx="144" cy="144"/>
              </a:xfrm>
              <a:prstGeom prst="ellipse">
                <a:avLst/>
              </a:prstGeom>
              <a:noFill/>
              <a:ln w="9525">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34869" name="Oval 22">
                <a:extLst>
                  <a:ext uri="{FF2B5EF4-FFF2-40B4-BE49-F238E27FC236}">
                    <a16:creationId xmlns:a16="http://schemas.microsoft.com/office/drawing/2014/main" id="{08C9BA1F-F96A-4780-BBCA-29ACF807309D}"/>
                  </a:ext>
                </a:extLst>
              </p:cNvPr>
              <p:cNvSpPr>
                <a:spLocks noChangeArrowheads="1"/>
              </p:cNvSpPr>
              <p:nvPr/>
            </p:nvSpPr>
            <p:spPr bwMode="auto">
              <a:xfrm>
                <a:off x="4080" y="3120"/>
                <a:ext cx="144" cy="144"/>
              </a:xfrm>
              <a:prstGeom prst="ellipse">
                <a:avLst/>
              </a:prstGeom>
              <a:noFill/>
              <a:ln w="9525">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34870" name="Oval 23">
                <a:extLst>
                  <a:ext uri="{FF2B5EF4-FFF2-40B4-BE49-F238E27FC236}">
                    <a16:creationId xmlns:a16="http://schemas.microsoft.com/office/drawing/2014/main" id="{38A42C74-7B6D-4BF2-ADA3-6685B2628FDE}"/>
                  </a:ext>
                </a:extLst>
              </p:cNvPr>
              <p:cNvSpPr>
                <a:spLocks noChangeArrowheads="1"/>
              </p:cNvSpPr>
              <p:nvPr/>
            </p:nvSpPr>
            <p:spPr bwMode="auto">
              <a:xfrm>
                <a:off x="4080" y="3648"/>
                <a:ext cx="144" cy="144"/>
              </a:xfrm>
              <a:prstGeom prst="ellipse">
                <a:avLst/>
              </a:prstGeom>
              <a:noFill/>
              <a:ln w="9525">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34871" name="Oval 24">
                <a:extLst>
                  <a:ext uri="{FF2B5EF4-FFF2-40B4-BE49-F238E27FC236}">
                    <a16:creationId xmlns:a16="http://schemas.microsoft.com/office/drawing/2014/main" id="{FD18F4DE-4648-4E2A-BB78-5691730F5905}"/>
                  </a:ext>
                </a:extLst>
              </p:cNvPr>
              <p:cNvSpPr>
                <a:spLocks noChangeArrowheads="1"/>
              </p:cNvSpPr>
              <p:nvPr/>
            </p:nvSpPr>
            <p:spPr bwMode="auto">
              <a:xfrm>
                <a:off x="4080" y="3888"/>
                <a:ext cx="144" cy="144"/>
              </a:xfrm>
              <a:prstGeom prst="ellipse">
                <a:avLst/>
              </a:prstGeom>
              <a:noFill/>
              <a:ln w="9525">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34872" name="Line 25">
                <a:extLst>
                  <a:ext uri="{FF2B5EF4-FFF2-40B4-BE49-F238E27FC236}">
                    <a16:creationId xmlns:a16="http://schemas.microsoft.com/office/drawing/2014/main" id="{AE093F44-FD01-4A0D-8F9F-D2A860F3815A}"/>
                  </a:ext>
                </a:extLst>
              </p:cNvPr>
              <p:cNvSpPr>
                <a:spLocks noChangeShapeType="1"/>
              </p:cNvSpPr>
              <p:nvPr/>
            </p:nvSpPr>
            <p:spPr bwMode="auto">
              <a:xfrm flipV="1">
                <a:off x="4224" y="2803"/>
                <a:ext cx="153" cy="77"/>
              </a:xfrm>
              <a:prstGeom prst="line">
                <a:avLst/>
              </a:prstGeom>
              <a:noFill/>
              <a:ln w="9525">
                <a:solidFill>
                  <a:schemeClr val="bg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4873" name="Line 26">
                <a:extLst>
                  <a:ext uri="{FF2B5EF4-FFF2-40B4-BE49-F238E27FC236}">
                    <a16:creationId xmlns:a16="http://schemas.microsoft.com/office/drawing/2014/main" id="{7DD9B333-E22F-472D-AB7B-20D8A05A7F2C}"/>
                  </a:ext>
                </a:extLst>
              </p:cNvPr>
              <p:cNvSpPr>
                <a:spLocks noChangeShapeType="1"/>
              </p:cNvSpPr>
              <p:nvPr/>
            </p:nvSpPr>
            <p:spPr bwMode="auto">
              <a:xfrm>
                <a:off x="4224" y="3216"/>
                <a:ext cx="192" cy="48"/>
              </a:xfrm>
              <a:prstGeom prst="line">
                <a:avLst/>
              </a:prstGeom>
              <a:noFill/>
              <a:ln w="9525">
                <a:solidFill>
                  <a:schemeClr val="bg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4874" name="Line 27">
                <a:extLst>
                  <a:ext uri="{FF2B5EF4-FFF2-40B4-BE49-F238E27FC236}">
                    <a16:creationId xmlns:a16="http://schemas.microsoft.com/office/drawing/2014/main" id="{A9AFAF2D-D57B-400A-A4BE-CB2DED5A985E}"/>
                  </a:ext>
                </a:extLst>
              </p:cNvPr>
              <p:cNvSpPr>
                <a:spLocks noChangeShapeType="1"/>
              </p:cNvSpPr>
              <p:nvPr/>
            </p:nvSpPr>
            <p:spPr bwMode="auto">
              <a:xfrm flipV="1">
                <a:off x="4224" y="3504"/>
                <a:ext cx="192" cy="144"/>
              </a:xfrm>
              <a:prstGeom prst="line">
                <a:avLst/>
              </a:prstGeom>
              <a:noFill/>
              <a:ln w="9525">
                <a:solidFill>
                  <a:schemeClr val="bg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4875" name="Line 28">
                <a:extLst>
                  <a:ext uri="{FF2B5EF4-FFF2-40B4-BE49-F238E27FC236}">
                    <a16:creationId xmlns:a16="http://schemas.microsoft.com/office/drawing/2014/main" id="{05388AB1-394E-4C82-94C7-FA1215A1EF78}"/>
                  </a:ext>
                </a:extLst>
              </p:cNvPr>
              <p:cNvSpPr>
                <a:spLocks noChangeShapeType="1"/>
              </p:cNvSpPr>
              <p:nvPr/>
            </p:nvSpPr>
            <p:spPr bwMode="auto">
              <a:xfrm>
                <a:off x="4224" y="3984"/>
                <a:ext cx="192" cy="96"/>
              </a:xfrm>
              <a:prstGeom prst="line">
                <a:avLst/>
              </a:prstGeom>
              <a:noFill/>
              <a:ln w="9525">
                <a:solidFill>
                  <a:schemeClr val="bg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34876" name="Group 29">
                <a:extLst>
                  <a:ext uri="{FF2B5EF4-FFF2-40B4-BE49-F238E27FC236}">
                    <a16:creationId xmlns:a16="http://schemas.microsoft.com/office/drawing/2014/main" id="{F9006F18-D951-47E7-89E0-398C25D2D302}"/>
                  </a:ext>
                </a:extLst>
              </p:cNvPr>
              <p:cNvGrpSpPr>
                <a:grpSpLocks noChangeAspect="1"/>
              </p:cNvGrpSpPr>
              <p:nvPr/>
            </p:nvGrpSpPr>
            <p:grpSpPr bwMode="auto">
              <a:xfrm>
                <a:off x="4080" y="2602"/>
                <a:ext cx="184" cy="250"/>
                <a:chOff x="4080" y="2602"/>
                <a:chExt cx="184" cy="250"/>
              </a:xfrm>
            </p:grpSpPr>
            <p:sp>
              <p:nvSpPr>
                <p:cNvPr id="34886" name="AutoShape 30">
                  <a:extLst>
                    <a:ext uri="{FF2B5EF4-FFF2-40B4-BE49-F238E27FC236}">
                      <a16:creationId xmlns:a16="http://schemas.microsoft.com/office/drawing/2014/main" id="{552D7A6C-279F-4F21-A77A-0802947109BD}"/>
                    </a:ext>
                  </a:extLst>
                </p:cNvPr>
                <p:cNvSpPr>
                  <a:spLocks noChangeAspect="1" noChangeArrowheads="1" noTextEdit="1"/>
                </p:cNvSpPr>
                <p:nvPr/>
              </p:nvSpPr>
              <p:spPr bwMode="auto">
                <a:xfrm>
                  <a:off x="4080" y="2649"/>
                  <a:ext cx="184" cy="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4887" name="Rectangle 31">
                  <a:extLst>
                    <a:ext uri="{FF2B5EF4-FFF2-40B4-BE49-F238E27FC236}">
                      <a16:creationId xmlns:a16="http://schemas.microsoft.com/office/drawing/2014/main" id="{CD98464A-D765-4B52-AF39-1F3E375BBD57}"/>
                    </a:ext>
                  </a:extLst>
                </p:cNvPr>
                <p:cNvSpPr>
                  <a:spLocks noChangeArrowheads="1"/>
                </p:cNvSpPr>
                <p:nvPr/>
              </p:nvSpPr>
              <p:spPr bwMode="auto">
                <a:xfrm>
                  <a:off x="4113" y="2602"/>
                  <a:ext cx="10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600">
                      <a:solidFill>
                        <a:schemeClr val="bg1"/>
                      </a:solidFill>
                      <a:latin typeface="Times New Roman" panose="02020603050405020304" pitchFamily="18" charset="0"/>
                    </a:rPr>
                    <a:t>n</a:t>
                  </a:r>
                  <a:endParaRPr kumimoji="1" lang="en-US" altLang="zh-CN" sz="2800" b="1">
                    <a:solidFill>
                      <a:schemeClr val="bg1"/>
                    </a:solidFill>
                    <a:latin typeface="Times New Roman" panose="02020603050405020304" pitchFamily="18" charset="0"/>
                  </a:endParaRPr>
                </a:p>
              </p:txBody>
            </p:sp>
          </p:grpSp>
          <p:grpSp>
            <p:nvGrpSpPr>
              <p:cNvPr id="34877" name="Group 32">
                <a:extLst>
                  <a:ext uri="{FF2B5EF4-FFF2-40B4-BE49-F238E27FC236}">
                    <a16:creationId xmlns:a16="http://schemas.microsoft.com/office/drawing/2014/main" id="{16E99887-49C2-4373-A256-D5EA65CDCFD9}"/>
                  </a:ext>
                </a:extLst>
              </p:cNvPr>
              <p:cNvGrpSpPr>
                <a:grpSpLocks noChangeAspect="1"/>
              </p:cNvGrpSpPr>
              <p:nvPr/>
            </p:nvGrpSpPr>
            <p:grpSpPr bwMode="auto">
              <a:xfrm>
                <a:off x="4080" y="3225"/>
                <a:ext cx="184" cy="250"/>
                <a:chOff x="4080" y="3225"/>
                <a:chExt cx="184" cy="250"/>
              </a:xfrm>
            </p:grpSpPr>
            <p:sp>
              <p:nvSpPr>
                <p:cNvPr id="34884" name="AutoShape 33">
                  <a:extLst>
                    <a:ext uri="{FF2B5EF4-FFF2-40B4-BE49-F238E27FC236}">
                      <a16:creationId xmlns:a16="http://schemas.microsoft.com/office/drawing/2014/main" id="{326D853A-698C-4448-AEF9-676774D009D4}"/>
                    </a:ext>
                  </a:extLst>
                </p:cNvPr>
                <p:cNvSpPr>
                  <a:spLocks noChangeAspect="1" noChangeArrowheads="1" noTextEdit="1"/>
                </p:cNvSpPr>
                <p:nvPr/>
              </p:nvSpPr>
              <p:spPr bwMode="auto">
                <a:xfrm>
                  <a:off x="4080" y="3272"/>
                  <a:ext cx="184"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4885" name="Rectangle 34">
                  <a:extLst>
                    <a:ext uri="{FF2B5EF4-FFF2-40B4-BE49-F238E27FC236}">
                      <a16:creationId xmlns:a16="http://schemas.microsoft.com/office/drawing/2014/main" id="{4F28F9C5-9B9F-4A10-BD37-B59971F8CE22}"/>
                    </a:ext>
                  </a:extLst>
                </p:cNvPr>
                <p:cNvSpPr>
                  <a:spLocks noChangeArrowheads="1"/>
                </p:cNvSpPr>
                <p:nvPr/>
              </p:nvSpPr>
              <p:spPr bwMode="auto">
                <a:xfrm>
                  <a:off x="4113" y="3225"/>
                  <a:ext cx="10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600">
                      <a:solidFill>
                        <a:schemeClr val="bg1"/>
                      </a:solidFill>
                      <a:latin typeface="Times New Roman" panose="02020603050405020304" pitchFamily="18" charset="0"/>
                    </a:rPr>
                    <a:t>n</a:t>
                  </a:r>
                  <a:endParaRPr kumimoji="1" lang="en-US" altLang="zh-CN" sz="2800" b="1">
                    <a:solidFill>
                      <a:schemeClr val="bg1"/>
                    </a:solidFill>
                    <a:latin typeface="Times New Roman" panose="02020603050405020304" pitchFamily="18" charset="0"/>
                  </a:endParaRPr>
                </a:p>
              </p:txBody>
            </p:sp>
          </p:grpSp>
          <p:grpSp>
            <p:nvGrpSpPr>
              <p:cNvPr id="34878" name="Group 35">
                <a:extLst>
                  <a:ext uri="{FF2B5EF4-FFF2-40B4-BE49-F238E27FC236}">
                    <a16:creationId xmlns:a16="http://schemas.microsoft.com/office/drawing/2014/main" id="{15490CC4-109B-4058-B670-7A6E4822A67E}"/>
                  </a:ext>
                </a:extLst>
              </p:cNvPr>
              <p:cNvGrpSpPr>
                <a:grpSpLocks noChangeAspect="1"/>
              </p:cNvGrpSpPr>
              <p:nvPr/>
            </p:nvGrpSpPr>
            <p:grpSpPr bwMode="auto">
              <a:xfrm>
                <a:off x="4080" y="3417"/>
                <a:ext cx="184" cy="250"/>
                <a:chOff x="4080" y="3417"/>
                <a:chExt cx="184" cy="250"/>
              </a:xfrm>
            </p:grpSpPr>
            <p:sp>
              <p:nvSpPr>
                <p:cNvPr id="34882" name="AutoShape 36">
                  <a:extLst>
                    <a:ext uri="{FF2B5EF4-FFF2-40B4-BE49-F238E27FC236}">
                      <a16:creationId xmlns:a16="http://schemas.microsoft.com/office/drawing/2014/main" id="{15737F1A-04FD-4572-9CC7-3714AD536D88}"/>
                    </a:ext>
                  </a:extLst>
                </p:cNvPr>
                <p:cNvSpPr>
                  <a:spLocks noChangeAspect="1" noChangeArrowheads="1" noTextEdit="1"/>
                </p:cNvSpPr>
                <p:nvPr/>
              </p:nvSpPr>
              <p:spPr bwMode="auto">
                <a:xfrm>
                  <a:off x="4080" y="3464"/>
                  <a:ext cx="184" cy="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4883" name="Rectangle 37">
                  <a:extLst>
                    <a:ext uri="{FF2B5EF4-FFF2-40B4-BE49-F238E27FC236}">
                      <a16:creationId xmlns:a16="http://schemas.microsoft.com/office/drawing/2014/main" id="{256B7600-5AC3-4386-A648-264DF01E5826}"/>
                    </a:ext>
                  </a:extLst>
                </p:cNvPr>
                <p:cNvSpPr>
                  <a:spLocks noChangeArrowheads="1"/>
                </p:cNvSpPr>
                <p:nvPr/>
              </p:nvSpPr>
              <p:spPr bwMode="auto">
                <a:xfrm>
                  <a:off x="4113" y="3417"/>
                  <a:ext cx="10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600">
                      <a:solidFill>
                        <a:schemeClr val="bg1"/>
                      </a:solidFill>
                      <a:latin typeface="Times New Roman" panose="02020603050405020304" pitchFamily="18" charset="0"/>
                    </a:rPr>
                    <a:t>n</a:t>
                  </a:r>
                  <a:endParaRPr kumimoji="1" lang="en-US" altLang="zh-CN" sz="2800" b="1">
                    <a:solidFill>
                      <a:schemeClr val="bg1"/>
                    </a:solidFill>
                    <a:latin typeface="Times New Roman" panose="02020603050405020304" pitchFamily="18" charset="0"/>
                  </a:endParaRPr>
                </a:p>
              </p:txBody>
            </p:sp>
          </p:grpSp>
          <p:grpSp>
            <p:nvGrpSpPr>
              <p:cNvPr id="34879" name="Group 38">
                <a:extLst>
                  <a:ext uri="{FF2B5EF4-FFF2-40B4-BE49-F238E27FC236}">
                    <a16:creationId xmlns:a16="http://schemas.microsoft.com/office/drawing/2014/main" id="{7FE8048A-39F6-4C66-BBAA-DE516CE5C722}"/>
                  </a:ext>
                </a:extLst>
              </p:cNvPr>
              <p:cNvGrpSpPr>
                <a:grpSpLocks noChangeAspect="1"/>
              </p:cNvGrpSpPr>
              <p:nvPr/>
            </p:nvGrpSpPr>
            <p:grpSpPr bwMode="auto">
              <a:xfrm>
                <a:off x="4080" y="3993"/>
                <a:ext cx="184" cy="250"/>
                <a:chOff x="4080" y="3993"/>
                <a:chExt cx="184" cy="250"/>
              </a:xfrm>
            </p:grpSpPr>
            <p:sp>
              <p:nvSpPr>
                <p:cNvPr id="34880" name="AutoShape 39">
                  <a:extLst>
                    <a:ext uri="{FF2B5EF4-FFF2-40B4-BE49-F238E27FC236}">
                      <a16:creationId xmlns:a16="http://schemas.microsoft.com/office/drawing/2014/main" id="{F57CABE7-33EC-4B49-BDFD-8F29763E8843}"/>
                    </a:ext>
                  </a:extLst>
                </p:cNvPr>
                <p:cNvSpPr>
                  <a:spLocks noChangeAspect="1" noChangeArrowheads="1" noTextEdit="1"/>
                </p:cNvSpPr>
                <p:nvPr/>
              </p:nvSpPr>
              <p:spPr bwMode="auto">
                <a:xfrm>
                  <a:off x="4080" y="4040"/>
                  <a:ext cx="184"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4881" name="Rectangle 40">
                  <a:extLst>
                    <a:ext uri="{FF2B5EF4-FFF2-40B4-BE49-F238E27FC236}">
                      <a16:creationId xmlns:a16="http://schemas.microsoft.com/office/drawing/2014/main" id="{53E82AD6-9CAC-4FF8-8C25-3B7F68BDD396}"/>
                    </a:ext>
                  </a:extLst>
                </p:cNvPr>
                <p:cNvSpPr>
                  <a:spLocks noChangeArrowheads="1"/>
                </p:cNvSpPr>
                <p:nvPr/>
              </p:nvSpPr>
              <p:spPr bwMode="auto">
                <a:xfrm>
                  <a:off x="4113" y="3993"/>
                  <a:ext cx="10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600">
                      <a:solidFill>
                        <a:schemeClr val="bg1"/>
                      </a:solidFill>
                      <a:latin typeface="Times New Roman" panose="02020603050405020304" pitchFamily="18" charset="0"/>
                    </a:rPr>
                    <a:t>n</a:t>
                  </a:r>
                  <a:endParaRPr kumimoji="1" lang="en-US" altLang="zh-CN" sz="2800" b="1">
                    <a:solidFill>
                      <a:schemeClr val="bg1"/>
                    </a:solidFill>
                    <a:latin typeface="Times New Roman" panose="02020603050405020304" pitchFamily="18" charset="0"/>
                  </a:endParaRPr>
                </a:p>
              </p:txBody>
            </p:sp>
          </p:grpSp>
        </p:grpSp>
      </p:grpSp>
      <p:grpSp>
        <p:nvGrpSpPr>
          <p:cNvPr id="9" name="Group 41">
            <a:extLst>
              <a:ext uri="{FF2B5EF4-FFF2-40B4-BE49-F238E27FC236}">
                <a16:creationId xmlns:a16="http://schemas.microsoft.com/office/drawing/2014/main" id="{69278724-8A45-42EB-9B2E-25E6DA9D2051}"/>
              </a:ext>
            </a:extLst>
          </p:cNvPr>
          <p:cNvGrpSpPr>
            <a:grpSpLocks/>
          </p:cNvGrpSpPr>
          <p:nvPr/>
        </p:nvGrpSpPr>
        <p:grpSpPr bwMode="auto">
          <a:xfrm>
            <a:off x="3995738" y="4711700"/>
            <a:ext cx="1371600" cy="1524000"/>
            <a:chOff x="2517" y="2976"/>
            <a:chExt cx="864" cy="960"/>
          </a:xfrm>
        </p:grpSpPr>
        <p:sp>
          <p:nvSpPr>
            <p:cNvPr id="34852" name="Oval 42">
              <a:extLst>
                <a:ext uri="{FF2B5EF4-FFF2-40B4-BE49-F238E27FC236}">
                  <a16:creationId xmlns:a16="http://schemas.microsoft.com/office/drawing/2014/main" id="{6903D802-ABB5-403C-8E35-F7BCB53F0853}"/>
                </a:ext>
              </a:extLst>
            </p:cNvPr>
            <p:cNvSpPr>
              <a:spLocks noChangeArrowheads="1"/>
            </p:cNvSpPr>
            <p:nvPr/>
          </p:nvSpPr>
          <p:spPr bwMode="auto">
            <a:xfrm>
              <a:off x="3045" y="2976"/>
              <a:ext cx="336" cy="336"/>
            </a:xfrm>
            <a:prstGeom prst="ellipse">
              <a:avLst/>
            </a:prstGeom>
            <a:noFill/>
            <a:ln w="9525">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34853" name="Oval 43">
              <a:extLst>
                <a:ext uri="{FF2B5EF4-FFF2-40B4-BE49-F238E27FC236}">
                  <a16:creationId xmlns:a16="http://schemas.microsoft.com/office/drawing/2014/main" id="{A1E71771-48FF-4879-AC38-3688CEE10D05}"/>
                </a:ext>
              </a:extLst>
            </p:cNvPr>
            <p:cNvSpPr>
              <a:spLocks noChangeArrowheads="1"/>
            </p:cNvSpPr>
            <p:nvPr/>
          </p:nvSpPr>
          <p:spPr bwMode="auto">
            <a:xfrm>
              <a:off x="3045" y="3600"/>
              <a:ext cx="336" cy="336"/>
            </a:xfrm>
            <a:prstGeom prst="ellipse">
              <a:avLst/>
            </a:prstGeom>
            <a:noFill/>
            <a:ln w="9525">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34854" name="Line 44">
              <a:extLst>
                <a:ext uri="{FF2B5EF4-FFF2-40B4-BE49-F238E27FC236}">
                  <a16:creationId xmlns:a16="http://schemas.microsoft.com/office/drawing/2014/main" id="{4B51C261-D808-48B3-9E9B-5D34AFC8B937}"/>
                </a:ext>
              </a:extLst>
            </p:cNvPr>
            <p:cNvSpPr>
              <a:spLocks noChangeShapeType="1"/>
            </p:cNvSpPr>
            <p:nvPr/>
          </p:nvSpPr>
          <p:spPr bwMode="auto">
            <a:xfrm flipV="1">
              <a:off x="2517" y="3120"/>
              <a:ext cx="528" cy="192"/>
            </a:xfrm>
            <a:prstGeom prst="line">
              <a:avLst/>
            </a:prstGeom>
            <a:noFill/>
            <a:ln w="9525">
              <a:solidFill>
                <a:schemeClr val="bg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4855" name="Line 45">
              <a:extLst>
                <a:ext uri="{FF2B5EF4-FFF2-40B4-BE49-F238E27FC236}">
                  <a16:creationId xmlns:a16="http://schemas.microsoft.com/office/drawing/2014/main" id="{BA945B5A-915D-49F6-B343-DF4CFD840306}"/>
                </a:ext>
              </a:extLst>
            </p:cNvPr>
            <p:cNvSpPr>
              <a:spLocks noChangeShapeType="1"/>
            </p:cNvSpPr>
            <p:nvPr/>
          </p:nvSpPr>
          <p:spPr bwMode="auto">
            <a:xfrm>
              <a:off x="2517" y="3648"/>
              <a:ext cx="528" cy="144"/>
            </a:xfrm>
            <a:prstGeom prst="line">
              <a:avLst/>
            </a:prstGeom>
            <a:noFill/>
            <a:ln w="9525">
              <a:solidFill>
                <a:schemeClr val="bg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34856" name="Group 46">
              <a:extLst>
                <a:ext uri="{FF2B5EF4-FFF2-40B4-BE49-F238E27FC236}">
                  <a16:creationId xmlns:a16="http://schemas.microsoft.com/office/drawing/2014/main" id="{CC8C052B-3B86-4364-BE96-EF0D2B0D3E94}"/>
                </a:ext>
              </a:extLst>
            </p:cNvPr>
            <p:cNvGrpSpPr>
              <a:grpSpLocks noChangeAspect="1"/>
            </p:cNvGrpSpPr>
            <p:nvPr/>
          </p:nvGrpSpPr>
          <p:grpSpPr bwMode="auto">
            <a:xfrm>
              <a:off x="3113" y="3047"/>
              <a:ext cx="240" cy="255"/>
              <a:chOff x="3113" y="3047"/>
              <a:chExt cx="240" cy="255"/>
            </a:xfrm>
          </p:grpSpPr>
          <p:sp>
            <p:nvSpPr>
              <p:cNvPr id="34860" name="AutoShape 47">
                <a:extLst>
                  <a:ext uri="{FF2B5EF4-FFF2-40B4-BE49-F238E27FC236}">
                    <a16:creationId xmlns:a16="http://schemas.microsoft.com/office/drawing/2014/main" id="{1F8AF823-F544-449E-AA3A-18BFC2A78DBD}"/>
                  </a:ext>
                </a:extLst>
              </p:cNvPr>
              <p:cNvSpPr>
                <a:spLocks noChangeAspect="1" noChangeArrowheads="1" noTextEdit="1"/>
              </p:cNvSpPr>
              <p:nvPr/>
            </p:nvSpPr>
            <p:spPr bwMode="auto">
              <a:xfrm>
                <a:off x="3113" y="3047"/>
                <a:ext cx="240"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4861" name="Rectangle 48">
                <a:extLst>
                  <a:ext uri="{FF2B5EF4-FFF2-40B4-BE49-F238E27FC236}">
                    <a16:creationId xmlns:a16="http://schemas.microsoft.com/office/drawing/2014/main" id="{B6A3F0F6-2606-45B7-92D3-65F98B3886D1}"/>
                  </a:ext>
                </a:extLst>
              </p:cNvPr>
              <p:cNvSpPr>
                <a:spLocks noChangeArrowheads="1"/>
              </p:cNvSpPr>
              <p:nvPr/>
            </p:nvSpPr>
            <p:spPr bwMode="auto">
              <a:xfrm>
                <a:off x="3150" y="3052"/>
                <a:ext cx="15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600">
                    <a:solidFill>
                      <a:schemeClr val="bg1"/>
                    </a:solidFill>
                    <a:latin typeface="Times New Roman" panose="02020603050405020304" pitchFamily="18" charset="0"/>
                  </a:rPr>
                  <a:t>U</a:t>
                </a:r>
                <a:endParaRPr kumimoji="1" lang="en-US" altLang="zh-CN" sz="2800" b="1">
                  <a:solidFill>
                    <a:schemeClr val="bg1"/>
                  </a:solidFill>
                  <a:latin typeface="Times New Roman" panose="02020603050405020304" pitchFamily="18" charset="0"/>
                </a:endParaRPr>
              </a:p>
            </p:txBody>
          </p:sp>
        </p:grpSp>
        <p:grpSp>
          <p:nvGrpSpPr>
            <p:cNvPr id="34857" name="Group 49">
              <a:extLst>
                <a:ext uri="{FF2B5EF4-FFF2-40B4-BE49-F238E27FC236}">
                  <a16:creationId xmlns:a16="http://schemas.microsoft.com/office/drawing/2014/main" id="{F159FCC6-9E18-49B1-A2A9-D701092AAD9E}"/>
                </a:ext>
              </a:extLst>
            </p:cNvPr>
            <p:cNvGrpSpPr>
              <a:grpSpLocks noChangeAspect="1"/>
            </p:cNvGrpSpPr>
            <p:nvPr/>
          </p:nvGrpSpPr>
          <p:grpSpPr bwMode="auto">
            <a:xfrm>
              <a:off x="3113" y="3671"/>
              <a:ext cx="240" cy="255"/>
              <a:chOff x="3113" y="3671"/>
              <a:chExt cx="240" cy="255"/>
            </a:xfrm>
          </p:grpSpPr>
          <p:sp>
            <p:nvSpPr>
              <p:cNvPr id="34858" name="AutoShape 50">
                <a:extLst>
                  <a:ext uri="{FF2B5EF4-FFF2-40B4-BE49-F238E27FC236}">
                    <a16:creationId xmlns:a16="http://schemas.microsoft.com/office/drawing/2014/main" id="{EDF8DAB1-A6F7-46AD-99F9-BBFCF9959378}"/>
                  </a:ext>
                </a:extLst>
              </p:cNvPr>
              <p:cNvSpPr>
                <a:spLocks noChangeAspect="1" noChangeArrowheads="1" noTextEdit="1"/>
              </p:cNvSpPr>
              <p:nvPr/>
            </p:nvSpPr>
            <p:spPr bwMode="auto">
              <a:xfrm>
                <a:off x="3113" y="3671"/>
                <a:ext cx="240"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4859" name="Rectangle 51">
                <a:extLst>
                  <a:ext uri="{FF2B5EF4-FFF2-40B4-BE49-F238E27FC236}">
                    <a16:creationId xmlns:a16="http://schemas.microsoft.com/office/drawing/2014/main" id="{7FD23338-B44A-4662-BA11-98C1829449D6}"/>
                  </a:ext>
                </a:extLst>
              </p:cNvPr>
              <p:cNvSpPr>
                <a:spLocks noChangeArrowheads="1"/>
              </p:cNvSpPr>
              <p:nvPr/>
            </p:nvSpPr>
            <p:spPr bwMode="auto">
              <a:xfrm>
                <a:off x="3150" y="3676"/>
                <a:ext cx="15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600">
                    <a:solidFill>
                      <a:schemeClr val="bg1"/>
                    </a:solidFill>
                    <a:latin typeface="Times New Roman" panose="02020603050405020304" pitchFamily="18" charset="0"/>
                  </a:rPr>
                  <a:t>U</a:t>
                </a:r>
                <a:endParaRPr kumimoji="1" lang="en-US" altLang="zh-CN" sz="2800" b="1">
                  <a:solidFill>
                    <a:schemeClr val="bg1"/>
                  </a:solidFill>
                  <a:latin typeface="Times New Roman" panose="02020603050405020304" pitchFamily="18" charset="0"/>
                </a:endParaRPr>
              </a:p>
            </p:txBody>
          </p:sp>
        </p:grpSp>
      </p:grpSp>
      <p:grpSp>
        <p:nvGrpSpPr>
          <p:cNvPr id="12" name="Group 52">
            <a:extLst>
              <a:ext uri="{FF2B5EF4-FFF2-40B4-BE49-F238E27FC236}">
                <a16:creationId xmlns:a16="http://schemas.microsoft.com/office/drawing/2014/main" id="{2276D877-D914-4E6D-8976-C5AD954ACFE5}"/>
              </a:ext>
            </a:extLst>
          </p:cNvPr>
          <p:cNvGrpSpPr>
            <a:grpSpLocks/>
          </p:cNvGrpSpPr>
          <p:nvPr/>
        </p:nvGrpSpPr>
        <p:grpSpPr bwMode="auto">
          <a:xfrm>
            <a:off x="1689100" y="4803775"/>
            <a:ext cx="2336800" cy="1463675"/>
            <a:chOff x="1064" y="3034"/>
            <a:chExt cx="1472" cy="922"/>
          </a:xfrm>
        </p:grpSpPr>
        <p:sp>
          <p:nvSpPr>
            <p:cNvPr id="34831" name="Oval 53">
              <a:extLst>
                <a:ext uri="{FF2B5EF4-FFF2-40B4-BE49-F238E27FC236}">
                  <a16:creationId xmlns:a16="http://schemas.microsoft.com/office/drawing/2014/main" id="{B6A59A39-4CC7-4A64-8EB8-D63383AD938F}"/>
                </a:ext>
              </a:extLst>
            </p:cNvPr>
            <p:cNvSpPr>
              <a:spLocks noChangeArrowheads="1"/>
            </p:cNvSpPr>
            <p:nvPr/>
          </p:nvSpPr>
          <p:spPr bwMode="auto">
            <a:xfrm>
              <a:off x="1440" y="3312"/>
              <a:ext cx="336" cy="336"/>
            </a:xfrm>
            <a:prstGeom prst="ellipse">
              <a:avLst/>
            </a:prstGeom>
            <a:noFill/>
            <a:ln w="9525">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34832" name="Oval 54">
              <a:extLst>
                <a:ext uri="{FF2B5EF4-FFF2-40B4-BE49-F238E27FC236}">
                  <a16:creationId xmlns:a16="http://schemas.microsoft.com/office/drawing/2014/main" id="{9D219B60-E111-4F23-B055-29DB6EC0E2C9}"/>
                </a:ext>
              </a:extLst>
            </p:cNvPr>
            <p:cNvSpPr>
              <a:spLocks noChangeArrowheads="1"/>
            </p:cNvSpPr>
            <p:nvPr/>
          </p:nvSpPr>
          <p:spPr bwMode="auto">
            <a:xfrm>
              <a:off x="1104" y="3408"/>
              <a:ext cx="144" cy="144"/>
            </a:xfrm>
            <a:prstGeom prst="ellipse">
              <a:avLst/>
            </a:prstGeom>
            <a:noFill/>
            <a:ln w="9525">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34833" name="Oval 55" descr="小棋盘">
              <a:extLst>
                <a:ext uri="{FF2B5EF4-FFF2-40B4-BE49-F238E27FC236}">
                  <a16:creationId xmlns:a16="http://schemas.microsoft.com/office/drawing/2014/main" id="{AF586294-0D09-4A98-96BE-DE6169FAF34C}"/>
                </a:ext>
              </a:extLst>
            </p:cNvPr>
            <p:cNvSpPr>
              <a:spLocks noChangeArrowheads="1"/>
            </p:cNvSpPr>
            <p:nvPr/>
          </p:nvSpPr>
          <p:spPr bwMode="auto">
            <a:xfrm>
              <a:off x="2064" y="3072"/>
              <a:ext cx="240" cy="240"/>
            </a:xfrm>
            <a:prstGeom prst="ellipse">
              <a:avLst/>
            </a:prstGeom>
            <a:solidFill>
              <a:schemeClr val="bg1"/>
            </a:solidFill>
            <a:ln w="9525">
              <a:solidFill>
                <a:schemeClr val="bg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34834" name="Oval 56">
              <a:extLst>
                <a:ext uri="{FF2B5EF4-FFF2-40B4-BE49-F238E27FC236}">
                  <a16:creationId xmlns:a16="http://schemas.microsoft.com/office/drawing/2014/main" id="{23BD519F-B458-40A4-BC80-9F64D4870259}"/>
                </a:ext>
              </a:extLst>
            </p:cNvPr>
            <p:cNvSpPr>
              <a:spLocks noChangeArrowheads="1"/>
            </p:cNvSpPr>
            <p:nvPr/>
          </p:nvSpPr>
          <p:spPr bwMode="auto">
            <a:xfrm>
              <a:off x="2352" y="3312"/>
              <a:ext cx="144" cy="144"/>
            </a:xfrm>
            <a:prstGeom prst="ellipse">
              <a:avLst/>
            </a:prstGeom>
            <a:noFill/>
            <a:ln w="9525">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34835" name="Oval 57">
              <a:extLst>
                <a:ext uri="{FF2B5EF4-FFF2-40B4-BE49-F238E27FC236}">
                  <a16:creationId xmlns:a16="http://schemas.microsoft.com/office/drawing/2014/main" id="{CE310C18-7F55-4318-BC6A-C05B998F55A7}"/>
                </a:ext>
              </a:extLst>
            </p:cNvPr>
            <p:cNvSpPr>
              <a:spLocks noChangeArrowheads="1"/>
            </p:cNvSpPr>
            <p:nvPr/>
          </p:nvSpPr>
          <p:spPr bwMode="auto">
            <a:xfrm>
              <a:off x="2352" y="3552"/>
              <a:ext cx="144" cy="144"/>
            </a:xfrm>
            <a:prstGeom prst="ellipse">
              <a:avLst/>
            </a:prstGeom>
            <a:noFill/>
            <a:ln w="9525">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34836" name="Oval 58" descr="小棋盘">
              <a:extLst>
                <a:ext uri="{FF2B5EF4-FFF2-40B4-BE49-F238E27FC236}">
                  <a16:creationId xmlns:a16="http://schemas.microsoft.com/office/drawing/2014/main" id="{7C1A2340-9C18-4409-B01D-129DE5DF0740}"/>
                </a:ext>
              </a:extLst>
            </p:cNvPr>
            <p:cNvSpPr>
              <a:spLocks noChangeArrowheads="1"/>
            </p:cNvSpPr>
            <p:nvPr/>
          </p:nvSpPr>
          <p:spPr bwMode="auto">
            <a:xfrm>
              <a:off x="2064" y="3648"/>
              <a:ext cx="240" cy="240"/>
            </a:xfrm>
            <a:prstGeom prst="ellipse">
              <a:avLst/>
            </a:prstGeom>
            <a:blipFill dpi="0" rotWithShape="0">
              <a:blip r:embed="rId11"/>
              <a:srcRect/>
              <a:tile tx="0" ty="0" sx="100000" sy="100000" flip="none" algn="tl"/>
            </a:blipFill>
            <a:ln w="9525">
              <a:solidFill>
                <a:schemeClr val="bg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34837" name="Line 59">
              <a:extLst>
                <a:ext uri="{FF2B5EF4-FFF2-40B4-BE49-F238E27FC236}">
                  <a16:creationId xmlns:a16="http://schemas.microsoft.com/office/drawing/2014/main" id="{25BD0CEF-7F30-487D-BAA4-CC529EE91387}"/>
                </a:ext>
              </a:extLst>
            </p:cNvPr>
            <p:cNvSpPr>
              <a:spLocks noChangeShapeType="1"/>
            </p:cNvSpPr>
            <p:nvPr/>
          </p:nvSpPr>
          <p:spPr bwMode="auto">
            <a:xfrm>
              <a:off x="1248" y="3504"/>
              <a:ext cx="192" cy="0"/>
            </a:xfrm>
            <a:prstGeom prst="line">
              <a:avLst/>
            </a:prstGeom>
            <a:noFill/>
            <a:ln w="9525">
              <a:solidFill>
                <a:schemeClr val="bg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4838" name="Line 60">
              <a:extLst>
                <a:ext uri="{FF2B5EF4-FFF2-40B4-BE49-F238E27FC236}">
                  <a16:creationId xmlns:a16="http://schemas.microsoft.com/office/drawing/2014/main" id="{D25017D2-B1E4-4638-8B5D-736F95C3FB83}"/>
                </a:ext>
              </a:extLst>
            </p:cNvPr>
            <p:cNvSpPr>
              <a:spLocks noChangeShapeType="1"/>
            </p:cNvSpPr>
            <p:nvPr/>
          </p:nvSpPr>
          <p:spPr bwMode="auto">
            <a:xfrm flipV="1">
              <a:off x="1728" y="3216"/>
              <a:ext cx="336" cy="144"/>
            </a:xfrm>
            <a:prstGeom prst="line">
              <a:avLst/>
            </a:prstGeom>
            <a:noFill/>
            <a:ln w="9525">
              <a:solidFill>
                <a:schemeClr val="bg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4839" name="Line 61">
              <a:extLst>
                <a:ext uri="{FF2B5EF4-FFF2-40B4-BE49-F238E27FC236}">
                  <a16:creationId xmlns:a16="http://schemas.microsoft.com/office/drawing/2014/main" id="{BD1C696C-BA87-4B83-98D3-0B5890D44169}"/>
                </a:ext>
              </a:extLst>
            </p:cNvPr>
            <p:cNvSpPr>
              <a:spLocks noChangeShapeType="1"/>
            </p:cNvSpPr>
            <p:nvPr/>
          </p:nvSpPr>
          <p:spPr bwMode="auto">
            <a:xfrm>
              <a:off x="1776" y="3600"/>
              <a:ext cx="288" cy="144"/>
            </a:xfrm>
            <a:prstGeom prst="line">
              <a:avLst/>
            </a:prstGeom>
            <a:noFill/>
            <a:ln w="9525">
              <a:solidFill>
                <a:schemeClr val="bg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34840" name="Group 62">
              <a:extLst>
                <a:ext uri="{FF2B5EF4-FFF2-40B4-BE49-F238E27FC236}">
                  <a16:creationId xmlns:a16="http://schemas.microsoft.com/office/drawing/2014/main" id="{A72AC511-0989-4DEA-AF73-D578B94B0148}"/>
                </a:ext>
              </a:extLst>
            </p:cNvPr>
            <p:cNvGrpSpPr>
              <a:grpSpLocks noChangeAspect="1"/>
            </p:cNvGrpSpPr>
            <p:nvPr/>
          </p:nvGrpSpPr>
          <p:grpSpPr bwMode="auto">
            <a:xfrm>
              <a:off x="2352" y="3706"/>
              <a:ext cx="184" cy="250"/>
              <a:chOff x="2352" y="3706"/>
              <a:chExt cx="184" cy="250"/>
            </a:xfrm>
          </p:grpSpPr>
          <p:sp>
            <p:nvSpPr>
              <p:cNvPr id="34850" name="AutoShape 63">
                <a:extLst>
                  <a:ext uri="{FF2B5EF4-FFF2-40B4-BE49-F238E27FC236}">
                    <a16:creationId xmlns:a16="http://schemas.microsoft.com/office/drawing/2014/main" id="{0BD4FB6B-E85E-4513-ABBD-79E04498B624}"/>
                  </a:ext>
                </a:extLst>
              </p:cNvPr>
              <p:cNvSpPr>
                <a:spLocks noChangeAspect="1" noChangeArrowheads="1" noTextEdit="1"/>
              </p:cNvSpPr>
              <p:nvPr/>
            </p:nvSpPr>
            <p:spPr bwMode="auto">
              <a:xfrm>
                <a:off x="2352" y="3753"/>
                <a:ext cx="184" cy="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4851" name="Rectangle 64">
                <a:extLst>
                  <a:ext uri="{FF2B5EF4-FFF2-40B4-BE49-F238E27FC236}">
                    <a16:creationId xmlns:a16="http://schemas.microsoft.com/office/drawing/2014/main" id="{04E968A6-9468-4095-BDFE-5FDECC4869CD}"/>
                  </a:ext>
                </a:extLst>
              </p:cNvPr>
              <p:cNvSpPr>
                <a:spLocks noChangeArrowheads="1"/>
              </p:cNvSpPr>
              <p:nvPr/>
            </p:nvSpPr>
            <p:spPr bwMode="auto">
              <a:xfrm>
                <a:off x="2385" y="3706"/>
                <a:ext cx="10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600">
                    <a:solidFill>
                      <a:schemeClr val="bg1"/>
                    </a:solidFill>
                    <a:latin typeface="Times New Roman" panose="02020603050405020304" pitchFamily="18" charset="0"/>
                  </a:rPr>
                  <a:t>n</a:t>
                </a:r>
                <a:endParaRPr kumimoji="1" lang="en-US" altLang="zh-CN" sz="2800" b="1">
                  <a:solidFill>
                    <a:schemeClr val="bg1"/>
                  </a:solidFill>
                  <a:latin typeface="Times New Roman" panose="02020603050405020304" pitchFamily="18" charset="0"/>
                </a:endParaRPr>
              </a:p>
            </p:txBody>
          </p:sp>
        </p:grpSp>
        <p:grpSp>
          <p:nvGrpSpPr>
            <p:cNvPr id="34841" name="Group 65">
              <a:extLst>
                <a:ext uri="{FF2B5EF4-FFF2-40B4-BE49-F238E27FC236}">
                  <a16:creationId xmlns:a16="http://schemas.microsoft.com/office/drawing/2014/main" id="{DD23FA7B-403C-410D-BFBF-9F76097ABB15}"/>
                </a:ext>
              </a:extLst>
            </p:cNvPr>
            <p:cNvGrpSpPr>
              <a:grpSpLocks noChangeAspect="1"/>
            </p:cNvGrpSpPr>
            <p:nvPr/>
          </p:nvGrpSpPr>
          <p:grpSpPr bwMode="auto">
            <a:xfrm>
              <a:off x="2352" y="3034"/>
              <a:ext cx="184" cy="250"/>
              <a:chOff x="2352" y="3034"/>
              <a:chExt cx="184" cy="250"/>
            </a:xfrm>
          </p:grpSpPr>
          <p:sp>
            <p:nvSpPr>
              <p:cNvPr id="34848" name="AutoShape 66">
                <a:extLst>
                  <a:ext uri="{FF2B5EF4-FFF2-40B4-BE49-F238E27FC236}">
                    <a16:creationId xmlns:a16="http://schemas.microsoft.com/office/drawing/2014/main" id="{53A2379A-8635-486A-82BC-4ABDC0A386E0}"/>
                  </a:ext>
                </a:extLst>
              </p:cNvPr>
              <p:cNvSpPr>
                <a:spLocks noChangeAspect="1" noChangeArrowheads="1" noTextEdit="1"/>
              </p:cNvSpPr>
              <p:nvPr/>
            </p:nvSpPr>
            <p:spPr bwMode="auto">
              <a:xfrm>
                <a:off x="2352" y="3081"/>
                <a:ext cx="184" cy="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4849" name="Rectangle 67">
                <a:extLst>
                  <a:ext uri="{FF2B5EF4-FFF2-40B4-BE49-F238E27FC236}">
                    <a16:creationId xmlns:a16="http://schemas.microsoft.com/office/drawing/2014/main" id="{EF395E5E-0599-458E-B222-4E9B74EAB0E3}"/>
                  </a:ext>
                </a:extLst>
              </p:cNvPr>
              <p:cNvSpPr>
                <a:spLocks noChangeArrowheads="1"/>
              </p:cNvSpPr>
              <p:nvPr/>
            </p:nvSpPr>
            <p:spPr bwMode="auto">
              <a:xfrm>
                <a:off x="2385" y="3034"/>
                <a:ext cx="10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600">
                    <a:solidFill>
                      <a:schemeClr val="bg1"/>
                    </a:solidFill>
                    <a:latin typeface="Times New Roman" panose="02020603050405020304" pitchFamily="18" charset="0"/>
                  </a:rPr>
                  <a:t>n</a:t>
                </a:r>
                <a:endParaRPr kumimoji="1" lang="en-US" altLang="zh-CN" sz="2800" b="1">
                  <a:solidFill>
                    <a:schemeClr val="bg1"/>
                  </a:solidFill>
                  <a:latin typeface="Times New Roman" panose="02020603050405020304" pitchFamily="18" charset="0"/>
                </a:endParaRPr>
              </a:p>
            </p:txBody>
          </p:sp>
        </p:grpSp>
        <p:grpSp>
          <p:nvGrpSpPr>
            <p:cNvPr id="34842" name="Group 68">
              <a:extLst>
                <a:ext uri="{FF2B5EF4-FFF2-40B4-BE49-F238E27FC236}">
                  <a16:creationId xmlns:a16="http://schemas.microsoft.com/office/drawing/2014/main" id="{58BDD9C5-969B-4EFB-BFC9-AC454078057F}"/>
                </a:ext>
              </a:extLst>
            </p:cNvPr>
            <p:cNvGrpSpPr>
              <a:grpSpLocks noChangeAspect="1"/>
            </p:cNvGrpSpPr>
            <p:nvPr/>
          </p:nvGrpSpPr>
          <p:grpSpPr bwMode="auto">
            <a:xfrm>
              <a:off x="1488" y="3360"/>
              <a:ext cx="240" cy="256"/>
              <a:chOff x="1488" y="3360"/>
              <a:chExt cx="240" cy="256"/>
            </a:xfrm>
          </p:grpSpPr>
          <p:sp>
            <p:nvSpPr>
              <p:cNvPr id="34846" name="AutoShape 69">
                <a:extLst>
                  <a:ext uri="{FF2B5EF4-FFF2-40B4-BE49-F238E27FC236}">
                    <a16:creationId xmlns:a16="http://schemas.microsoft.com/office/drawing/2014/main" id="{2E868FCD-F652-4ACC-9C10-237CD397557F}"/>
                  </a:ext>
                </a:extLst>
              </p:cNvPr>
              <p:cNvSpPr>
                <a:spLocks noChangeAspect="1" noChangeArrowheads="1" noTextEdit="1"/>
              </p:cNvSpPr>
              <p:nvPr/>
            </p:nvSpPr>
            <p:spPr bwMode="auto">
              <a:xfrm>
                <a:off x="1488" y="3360"/>
                <a:ext cx="240"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4847" name="Rectangle 70">
                <a:extLst>
                  <a:ext uri="{FF2B5EF4-FFF2-40B4-BE49-F238E27FC236}">
                    <a16:creationId xmlns:a16="http://schemas.microsoft.com/office/drawing/2014/main" id="{B68783A2-F9A8-4166-A0A0-2D9AD7CC8823}"/>
                  </a:ext>
                </a:extLst>
              </p:cNvPr>
              <p:cNvSpPr>
                <a:spLocks noChangeArrowheads="1"/>
              </p:cNvSpPr>
              <p:nvPr/>
            </p:nvSpPr>
            <p:spPr bwMode="auto">
              <a:xfrm>
                <a:off x="1525" y="3366"/>
                <a:ext cx="15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600">
                    <a:solidFill>
                      <a:schemeClr val="bg1"/>
                    </a:solidFill>
                    <a:latin typeface="Times New Roman" panose="02020603050405020304" pitchFamily="18" charset="0"/>
                  </a:rPr>
                  <a:t>U</a:t>
                </a:r>
                <a:endParaRPr kumimoji="1" lang="en-US" altLang="zh-CN" sz="2800" b="1">
                  <a:solidFill>
                    <a:schemeClr val="bg1"/>
                  </a:solidFill>
                  <a:latin typeface="Times New Roman" panose="02020603050405020304" pitchFamily="18" charset="0"/>
                </a:endParaRPr>
              </a:p>
            </p:txBody>
          </p:sp>
        </p:grpSp>
        <p:grpSp>
          <p:nvGrpSpPr>
            <p:cNvPr id="34843" name="Group 71">
              <a:extLst>
                <a:ext uri="{FF2B5EF4-FFF2-40B4-BE49-F238E27FC236}">
                  <a16:creationId xmlns:a16="http://schemas.microsoft.com/office/drawing/2014/main" id="{E11E1866-D151-4697-BB2B-17C8D2092DDA}"/>
                </a:ext>
              </a:extLst>
            </p:cNvPr>
            <p:cNvGrpSpPr>
              <a:grpSpLocks noChangeAspect="1"/>
            </p:cNvGrpSpPr>
            <p:nvPr/>
          </p:nvGrpSpPr>
          <p:grpSpPr bwMode="auto">
            <a:xfrm>
              <a:off x="1064" y="3178"/>
              <a:ext cx="184" cy="250"/>
              <a:chOff x="1064" y="3178"/>
              <a:chExt cx="184" cy="250"/>
            </a:xfrm>
          </p:grpSpPr>
          <p:sp>
            <p:nvSpPr>
              <p:cNvPr id="34844" name="AutoShape 72">
                <a:extLst>
                  <a:ext uri="{FF2B5EF4-FFF2-40B4-BE49-F238E27FC236}">
                    <a16:creationId xmlns:a16="http://schemas.microsoft.com/office/drawing/2014/main" id="{207BACBE-8FA3-4DD6-8447-3059D315A80D}"/>
                  </a:ext>
                </a:extLst>
              </p:cNvPr>
              <p:cNvSpPr>
                <a:spLocks noChangeAspect="1" noChangeArrowheads="1" noTextEdit="1"/>
              </p:cNvSpPr>
              <p:nvPr/>
            </p:nvSpPr>
            <p:spPr bwMode="auto">
              <a:xfrm>
                <a:off x="1064" y="3225"/>
                <a:ext cx="184" cy="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4845" name="Rectangle 73">
                <a:extLst>
                  <a:ext uri="{FF2B5EF4-FFF2-40B4-BE49-F238E27FC236}">
                    <a16:creationId xmlns:a16="http://schemas.microsoft.com/office/drawing/2014/main" id="{17117A1A-D1D5-4AD1-AF6B-80D4274DACF5}"/>
                  </a:ext>
                </a:extLst>
              </p:cNvPr>
              <p:cNvSpPr>
                <a:spLocks noChangeArrowheads="1"/>
              </p:cNvSpPr>
              <p:nvPr/>
            </p:nvSpPr>
            <p:spPr bwMode="auto">
              <a:xfrm>
                <a:off x="1097" y="3178"/>
                <a:ext cx="10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600">
                    <a:solidFill>
                      <a:schemeClr val="bg1"/>
                    </a:solidFill>
                    <a:latin typeface="Times New Roman" panose="02020603050405020304" pitchFamily="18" charset="0"/>
                  </a:rPr>
                  <a:t>n</a:t>
                </a:r>
                <a:endParaRPr kumimoji="1" lang="en-US" altLang="zh-CN" sz="2800" b="1">
                  <a:solidFill>
                    <a:schemeClr val="bg1"/>
                  </a:solidFill>
                  <a:latin typeface="Times New Roman" panose="02020603050405020304" pitchFamily="18" charset="0"/>
                </a:endParaRPr>
              </a:p>
            </p:txBody>
          </p:sp>
        </p:grpSp>
      </p:grpSp>
      <p:sp>
        <p:nvSpPr>
          <p:cNvPr id="34830" name="Text Box 29">
            <a:extLst>
              <a:ext uri="{FF2B5EF4-FFF2-40B4-BE49-F238E27FC236}">
                <a16:creationId xmlns:a16="http://schemas.microsoft.com/office/drawing/2014/main" id="{07D9F864-A064-4D61-8463-2691C383EC1D}"/>
              </a:ext>
            </a:extLst>
          </p:cNvPr>
          <p:cNvSpPr txBox="1">
            <a:spLocks noChangeArrowheads="1"/>
          </p:cNvSpPr>
          <p:nvPr/>
        </p:nvSpPr>
        <p:spPr bwMode="auto">
          <a:xfrm>
            <a:off x="8629650" y="6356350"/>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1">
                <a:latin typeface="Times New Roman" panose="02020603050405020304" pitchFamily="18" charset="0"/>
              </a:rPr>
              <a:t>26</a:t>
            </a:r>
            <a:endParaRPr lang="en-US" altLang="zh-CN" sz="18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3490">
                                            <p:txEl>
                                              <p:pRg st="0" end="0"/>
                                            </p:txEl>
                                          </p:spTgt>
                                        </p:tgtEl>
                                        <p:attrNameLst>
                                          <p:attrName>style.visibility</p:attrName>
                                        </p:attrNameLst>
                                      </p:cBhvr>
                                      <p:to>
                                        <p:strVal val="visible"/>
                                      </p:to>
                                    </p:set>
                                    <p:animEffect transition="in" filter="wipe(left)">
                                      <p:cBhvr>
                                        <p:cTn id="7" dur="500"/>
                                        <p:tgtEl>
                                          <p:spTgt spid="6349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3491">
                                            <p:txEl>
                                              <p:pRg st="0" end="0"/>
                                            </p:txEl>
                                          </p:spTgt>
                                        </p:tgtEl>
                                        <p:attrNameLst>
                                          <p:attrName>style.visibility</p:attrName>
                                        </p:attrNameLst>
                                      </p:cBhvr>
                                      <p:to>
                                        <p:strVal val="visible"/>
                                      </p:to>
                                    </p:set>
                                    <p:animEffect transition="in" filter="wipe(left)">
                                      <p:cBhvr>
                                        <p:cTn id="12" dur="500"/>
                                        <p:tgtEl>
                                          <p:spTgt spid="63491">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3493">
                                            <p:txEl>
                                              <p:pRg st="0" end="0"/>
                                            </p:txEl>
                                          </p:spTgt>
                                        </p:tgtEl>
                                        <p:attrNameLst>
                                          <p:attrName>style.visibility</p:attrName>
                                        </p:attrNameLst>
                                      </p:cBhvr>
                                      <p:to>
                                        <p:strVal val="visible"/>
                                      </p:to>
                                    </p:set>
                                    <p:animEffect transition="in" filter="wipe(left)">
                                      <p:cBhvr>
                                        <p:cTn id="17" dur="500"/>
                                        <p:tgtEl>
                                          <p:spTgt spid="63493">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63494"/>
                                        </p:tgtEl>
                                        <p:attrNameLst>
                                          <p:attrName>style.visibility</p:attrName>
                                        </p:attrNameLst>
                                      </p:cBhvr>
                                      <p:to>
                                        <p:strVal val="visible"/>
                                      </p:to>
                                    </p:set>
                                    <p:animEffect transition="in" filter="wipe(left)">
                                      <p:cBhvr>
                                        <p:cTn id="22" dur="500"/>
                                        <p:tgtEl>
                                          <p:spTgt spid="6349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63495"/>
                                        </p:tgtEl>
                                        <p:attrNameLst>
                                          <p:attrName>style.visibility</p:attrName>
                                        </p:attrNameLst>
                                      </p:cBhvr>
                                      <p:to>
                                        <p:strVal val="visible"/>
                                      </p:to>
                                    </p:set>
                                    <p:animEffect transition="in" filter="wipe(left)">
                                      <p:cBhvr>
                                        <p:cTn id="27" dur="500"/>
                                        <p:tgtEl>
                                          <p:spTgt spid="6349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63496"/>
                                        </p:tgtEl>
                                        <p:attrNameLst>
                                          <p:attrName>style.visibility</p:attrName>
                                        </p:attrNameLst>
                                      </p:cBhvr>
                                      <p:to>
                                        <p:strVal val="visible"/>
                                      </p:to>
                                    </p:set>
                                    <p:animEffect transition="in" filter="wipe(left)">
                                      <p:cBhvr>
                                        <p:cTn id="32" dur="500"/>
                                        <p:tgtEl>
                                          <p:spTgt spid="6349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63497"/>
                                        </p:tgtEl>
                                        <p:attrNameLst>
                                          <p:attrName>style.visibility</p:attrName>
                                        </p:attrNameLst>
                                      </p:cBhvr>
                                      <p:to>
                                        <p:strVal val="visible"/>
                                      </p:to>
                                    </p:set>
                                    <p:animEffect transition="in" filter="wipe(left)">
                                      <p:cBhvr>
                                        <p:cTn id="37" dur="500"/>
                                        <p:tgtEl>
                                          <p:spTgt spid="63497"/>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63492">
                                            <p:txEl>
                                              <p:pRg st="0" end="0"/>
                                            </p:txEl>
                                          </p:spTgt>
                                        </p:tgtEl>
                                        <p:attrNameLst>
                                          <p:attrName>style.visibility</p:attrName>
                                        </p:attrNameLst>
                                      </p:cBhvr>
                                      <p:to>
                                        <p:strVal val="visible"/>
                                      </p:to>
                                    </p:set>
                                    <p:animEffect transition="in" filter="wipe(left)">
                                      <p:cBhvr>
                                        <p:cTn id="42" dur="500"/>
                                        <p:tgtEl>
                                          <p:spTgt spid="63492">
                                            <p:txEl>
                                              <p:pRg st="0" end="0"/>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nodeType="clickEffect">
                                  <p:stCondLst>
                                    <p:cond delay="0"/>
                                  </p:stCondLst>
                                  <p:childTnLst>
                                    <p:set>
                                      <p:cBhvr>
                                        <p:cTn id="50" dur="1" fill="hold">
                                          <p:stCondLst>
                                            <p:cond delay="0"/>
                                          </p:stCondLst>
                                        </p:cTn>
                                        <p:tgtEl>
                                          <p:spTgt spid="12"/>
                                        </p:tgtEl>
                                        <p:attrNameLst>
                                          <p:attrName>style.visibility</p:attrName>
                                        </p:attrNameLst>
                                      </p:cBhvr>
                                      <p:to>
                                        <p:strVal val="visible"/>
                                      </p:to>
                                    </p:set>
                                    <p:animEffect transition="in" filter="wipe(left)">
                                      <p:cBhvr>
                                        <p:cTn id="51" dur="500"/>
                                        <p:tgtEl>
                                          <p:spTgt spid="12"/>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nodeType="clickEffect">
                                  <p:stCondLst>
                                    <p:cond delay="0"/>
                                  </p:stCondLst>
                                  <p:childTnLst>
                                    <p:set>
                                      <p:cBhvr>
                                        <p:cTn id="55" dur="1" fill="hold">
                                          <p:stCondLst>
                                            <p:cond delay="0"/>
                                          </p:stCondLst>
                                        </p:cTn>
                                        <p:tgtEl>
                                          <p:spTgt spid="9"/>
                                        </p:tgtEl>
                                        <p:attrNameLst>
                                          <p:attrName>style.visibility</p:attrName>
                                        </p:attrNameLst>
                                      </p:cBhvr>
                                      <p:to>
                                        <p:strVal val="visible"/>
                                      </p:to>
                                    </p:set>
                                    <p:animEffect transition="in" filter="wipe(left)">
                                      <p:cBhvr>
                                        <p:cTn id="56" dur="500"/>
                                        <p:tgtEl>
                                          <p:spTgt spid="9"/>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8" fill="hold" nodeType="clickEffect">
                                  <p:stCondLst>
                                    <p:cond delay="0"/>
                                  </p:stCondLst>
                                  <p:childTnLst>
                                    <p:set>
                                      <p:cBhvr>
                                        <p:cTn id="60" dur="1" fill="hold">
                                          <p:stCondLst>
                                            <p:cond delay="0"/>
                                          </p:stCondLst>
                                        </p:cTn>
                                        <p:tgtEl>
                                          <p:spTgt spid="2"/>
                                        </p:tgtEl>
                                        <p:attrNameLst>
                                          <p:attrName>style.visibility</p:attrName>
                                        </p:attrNameLst>
                                      </p:cBhvr>
                                      <p:to>
                                        <p:strVal val="visible"/>
                                      </p:to>
                                    </p:set>
                                    <p:animEffect transition="in" filter="wipe(left)">
                                      <p:cBhvr>
                                        <p:cTn id="6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3490" grpId="0" build="p" autoUpdateAnimBg="0"/>
      <p:bldP spid="63491" grpId="0" build="p" autoUpdateAnimBg="0"/>
      <p:bldP spid="63492" grpId="0" build="p" autoUpdateAnimBg="0"/>
      <p:bldP spid="63493" grpId="0" build="p"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ext Box 2">
            <a:extLst>
              <a:ext uri="{FF2B5EF4-FFF2-40B4-BE49-F238E27FC236}">
                <a16:creationId xmlns:a16="http://schemas.microsoft.com/office/drawing/2014/main" id="{4A2C65C6-B2B9-42D5-8FDB-15613022F956}"/>
              </a:ext>
            </a:extLst>
          </p:cNvPr>
          <p:cNvSpPr txBox="1">
            <a:spLocks noChangeArrowheads="1"/>
          </p:cNvSpPr>
          <p:nvPr/>
        </p:nvSpPr>
        <p:spPr bwMode="auto">
          <a:xfrm>
            <a:off x="179388" y="188913"/>
            <a:ext cx="2614612"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zh-CN" altLang="en-US" b="1">
                <a:latin typeface="Times New Roman" panose="02020603050405020304" pitchFamily="18" charset="0"/>
              </a:rPr>
              <a:t>核反应堆：</a:t>
            </a:r>
          </a:p>
        </p:txBody>
      </p:sp>
      <p:sp>
        <p:nvSpPr>
          <p:cNvPr id="64515" name="Text Box 3">
            <a:extLst>
              <a:ext uri="{FF2B5EF4-FFF2-40B4-BE49-F238E27FC236}">
                <a16:creationId xmlns:a16="http://schemas.microsoft.com/office/drawing/2014/main" id="{642CB5A3-E936-4094-926B-47156D01E385}"/>
              </a:ext>
            </a:extLst>
          </p:cNvPr>
          <p:cNvSpPr txBox="1">
            <a:spLocks noChangeArrowheads="1"/>
          </p:cNvSpPr>
          <p:nvPr/>
        </p:nvSpPr>
        <p:spPr bwMode="auto">
          <a:xfrm>
            <a:off x="904875" y="765175"/>
            <a:ext cx="742315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zh-CN" altLang="en-US" sz="2800" b="1">
                <a:latin typeface="Times New Roman" panose="02020603050405020304" pitchFamily="18" charset="0"/>
              </a:rPr>
              <a:t>人工方法控制链式反应使原子核能和平利用的设备。</a:t>
            </a:r>
          </a:p>
        </p:txBody>
      </p:sp>
      <p:sp>
        <p:nvSpPr>
          <p:cNvPr id="64516" name="Text Box 4">
            <a:extLst>
              <a:ext uri="{FF2B5EF4-FFF2-40B4-BE49-F238E27FC236}">
                <a16:creationId xmlns:a16="http://schemas.microsoft.com/office/drawing/2014/main" id="{D0A8EDDF-584D-4A4A-B6B5-8DB3D9AE04D0}"/>
              </a:ext>
            </a:extLst>
          </p:cNvPr>
          <p:cNvSpPr txBox="1">
            <a:spLocks noChangeArrowheads="1"/>
          </p:cNvSpPr>
          <p:nvPr/>
        </p:nvSpPr>
        <p:spPr bwMode="auto">
          <a:xfrm>
            <a:off x="901700" y="1773238"/>
            <a:ext cx="7570788"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zh-CN" altLang="en-US" sz="2800" b="1">
                <a:latin typeface="Times New Roman" panose="02020603050405020304" pitchFamily="18" charset="0"/>
              </a:rPr>
              <a:t>利用减速剂（慢化剂）将裂变的快中子减速为热中子</a:t>
            </a:r>
          </a:p>
        </p:txBody>
      </p:sp>
      <p:sp>
        <p:nvSpPr>
          <p:cNvPr id="64517" name="Text Box 5">
            <a:extLst>
              <a:ext uri="{FF2B5EF4-FFF2-40B4-BE49-F238E27FC236}">
                <a16:creationId xmlns:a16="http://schemas.microsoft.com/office/drawing/2014/main" id="{6CF8D71C-8129-4DD0-8936-F667BA5747E1}"/>
              </a:ext>
            </a:extLst>
          </p:cNvPr>
          <p:cNvSpPr txBox="1">
            <a:spLocks noChangeArrowheads="1"/>
          </p:cNvSpPr>
          <p:nvPr/>
        </p:nvSpPr>
        <p:spPr bwMode="auto">
          <a:xfrm>
            <a:off x="312738" y="3060700"/>
            <a:ext cx="8075612" cy="989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80000"/>
              </a:lnSpc>
              <a:spcBef>
                <a:spcPct val="50000"/>
              </a:spcBef>
              <a:buFontTx/>
              <a:buNone/>
            </a:pPr>
            <a:r>
              <a:rPr kumimoji="1" lang="zh-CN" altLang="en-US" sz="2800" b="1">
                <a:latin typeface="Times New Roman" panose="02020603050405020304" pitchFamily="18" charset="0"/>
              </a:rPr>
              <a:t>主要组成部分：</a:t>
            </a:r>
          </a:p>
          <a:p>
            <a:pPr eaLnBrk="1" hangingPunct="1">
              <a:lnSpc>
                <a:spcPct val="80000"/>
              </a:lnSpc>
              <a:spcBef>
                <a:spcPct val="50000"/>
              </a:spcBef>
              <a:buFontTx/>
              <a:buNone/>
            </a:pPr>
            <a:r>
              <a:rPr kumimoji="1" lang="zh-CN" altLang="en-US" sz="2800" b="1">
                <a:latin typeface="Times New Roman" panose="02020603050405020304" pitchFamily="18" charset="0"/>
              </a:rPr>
              <a:t>      堆芯、中子反射层、冷却系统、控制系统</a:t>
            </a:r>
          </a:p>
        </p:txBody>
      </p:sp>
      <p:sp>
        <p:nvSpPr>
          <p:cNvPr id="64518" name="Text Box 6">
            <a:extLst>
              <a:ext uri="{FF2B5EF4-FFF2-40B4-BE49-F238E27FC236}">
                <a16:creationId xmlns:a16="http://schemas.microsoft.com/office/drawing/2014/main" id="{E157DDFC-08A0-4B82-A57E-0675394B5EDC}"/>
              </a:ext>
            </a:extLst>
          </p:cNvPr>
          <p:cNvSpPr txBox="1">
            <a:spLocks noChangeArrowheads="1"/>
          </p:cNvSpPr>
          <p:nvPr/>
        </p:nvSpPr>
        <p:spPr bwMode="auto">
          <a:xfrm>
            <a:off x="539750" y="4264025"/>
            <a:ext cx="3455988" cy="56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50000"/>
              </a:spcBef>
              <a:buFontTx/>
              <a:buNone/>
            </a:pPr>
            <a:r>
              <a:rPr kumimoji="1" lang="en-US" altLang="zh-CN" sz="2800" b="1">
                <a:latin typeface="Times New Roman" panose="02020603050405020304" pitchFamily="18" charset="0"/>
              </a:rPr>
              <a:t>2</a:t>
            </a:r>
            <a:r>
              <a:rPr kumimoji="1" lang="zh-CN" altLang="en-US" sz="2800" b="1">
                <a:latin typeface="Times New Roman" panose="02020603050405020304" pitchFamily="18" charset="0"/>
              </a:rPr>
              <a:t>、受控核聚变</a:t>
            </a:r>
          </a:p>
        </p:txBody>
      </p:sp>
      <p:sp>
        <p:nvSpPr>
          <p:cNvPr id="64519" name="Text Box 7">
            <a:extLst>
              <a:ext uri="{FF2B5EF4-FFF2-40B4-BE49-F238E27FC236}">
                <a16:creationId xmlns:a16="http://schemas.microsoft.com/office/drawing/2014/main" id="{72C2B8D5-50FA-42E0-B94A-63E5B2D01788}"/>
              </a:ext>
            </a:extLst>
          </p:cNvPr>
          <p:cNvSpPr txBox="1">
            <a:spLocks noChangeArrowheads="1"/>
          </p:cNvSpPr>
          <p:nvPr/>
        </p:nvSpPr>
        <p:spPr bwMode="auto">
          <a:xfrm>
            <a:off x="900113" y="5022850"/>
            <a:ext cx="7459662" cy="150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10000"/>
              </a:lnSpc>
              <a:spcBef>
                <a:spcPct val="50000"/>
              </a:spcBef>
              <a:buFontTx/>
              <a:buNone/>
            </a:pPr>
            <a:r>
              <a:rPr kumimoji="1" lang="zh-CN" altLang="en-US" sz="2800" b="1">
                <a:latin typeface="Times New Roman" panose="02020603050405020304" pitchFamily="18" charset="0"/>
              </a:rPr>
              <a:t>    将氘核加热，使氘核在无规则运动中相互碰撞，使氘核热运动动能能克服相互接触时的库仑势能发生聚变反应，称为热核反应。</a:t>
            </a:r>
          </a:p>
        </p:txBody>
      </p:sp>
      <p:sp>
        <p:nvSpPr>
          <p:cNvPr id="35848" name="Text Box 29">
            <a:extLst>
              <a:ext uri="{FF2B5EF4-FFF2-40B4-BE49-F238E27FC236}">
                <a16:creationId xmlns:a16="http://schemas.microsoft.com/office/drawing/2014/main" id="{72C5EC1A-6419-437F-9FA3-9B67BC9FBD10}"/>
              </a:ext>
            </a:extLst>
          </p:cNvPr>
          <p:cNvSpPr txBox="1">
            <a:spLocks noChangeArrowheads="1"/>
          </p:cNvSpPr>
          <p:nvPr/>
        </p:nvSpPr>
        <p:spPr bwMode="auto">
          <a:xfrm>
            <a:off x="8629650" y="6356350"/>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1">
                <a:latin typeface="Times New Roman" panose="02020603050405020304" pitchFamily="18" charset="0"/>
              </a:rPr>
              <a:t>27</a:t>
            </a:r>
            <a:endParaRPr lang="en-US" altLang="zh-CN" sz="18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4514">
                                            <p:txEl>
                                              <p:pRg st="0" end="0"/>
                                            </p:txEl>
                                          </p:spTgt>
                                        </p:tgtEl>
                                        <p:attrNameLst>
                                          <p:attrName>style.visibility</p:attrName>
                                        </p:attrNameLst>
                                      </p:cBhvr>
                                      <p:to>
                                        <p:strVal val="visible"/>
                                      </p:to>
                                    </p:set>
                                    <p:animEffect transition="in" filter="wipe(left)">
                                      <p:cBhvr>
                                        <p:cTn id="7" dur="500"/>
                                        <p:tgtEl>
                                          <p:spTgt spid="6451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4515">
                                            <p:txEl>
                                              <p:pRg st="0" end="0"/>
                                            </p:txEl>
                                          </p:spTgt>
                                        </p:tgtEl>
                                        <p:attrNameLst>
                                          <p:attrName>style.visibility</p:attrName>
                                        </p:attrNameLst>
                                      </p:cBhvr>
                                      <p:to>
                                        <p:strVal val="visible"/>
                                      </p:to>
                                    </p:set>
                                    <p:animEffect transition="in" filter="wipe(left)">
                                      <p:cBhvr>
                                        <p:cTn id="12" dur="500"/>
                                        <p:tgtEl>
                                          <p:spTgt spid="64515">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4516">
                                            <p:txEl>
                                              <p:pRg st="0" end="0"/>
                                            </p:txEl>
                                          </p:spTgt>
                                        </p:tgtEl>
                                        <p:attrNameLst>
                                          <p:attrName>style.visibility</p:attrName>
                                        </p:attrNameLst>
                                      </p:cBhvr>
                                      <p:to>
                                        <p:strVal val="visible"/>
                                      </p:to>
                                    </p:set>
                                    <p:animEffect transition="in" filter="wipe(left)">
                                      <p:cBhvr>
                                        <p:cTn id="17" dur="500"/>
                                        <p:tgtEl>
                                          <p:spTgt spid="64516">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4517">
                                            <p:txEl>
                                              <p:pRg st="0" end="0"/>
                                            </p:txEl>
                                          </p:spTgt>
                                        </p:tgtEl>
                                        <p:attrNameLst>
                                          <p:attrName>style.visibility</p:attrName>
                                        </p:attrNameLst>
                                      </p:cBhvr>
                                      <p:to>
                                        <p:strVal val="visible"/>
                                      </p:to>
                                    </p:set>
                                    <p:animEffect transition="in" filter="wipe(left)">
                                      <p:cBhvr>
                                        <p:cTn id="22" dur="500"/>
                                        <p:tgtEl>
                                          <p:spTgt spid="64517">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64517">
                                            <p:txEl>
                                              <p:pRg st="1" end="1"/>
                                            </p:txEl>
                                          </p:spTgt>
                                        </p:tgtEl>
                                        <p:attrNameLst>
                                          <p:attrName>style.visibility</p:attrName>
                                        </p:attrNameLst>
                                      </p:cBhvr>
                                      <p:to>
                                        <p:strVal val="visible"/>
                                      </p:to>
                                    </p:set>
                                    <p:animEffect transition="in" filter="wipe(left)">
                                      <p:cBhvr>
                                        <p:cTn id="27" dur="500"/>
                                        <p:tgtEl>
                                          <p:spTgt spid="64517">
                                            <p:txEl>
                                              <p:pRg st="1" end="1"/>
                                            </p:txEl>
                                          </p:spTgt>
                                        </p:tgtEl>
                                      </p:cBhvr>
                                    </p:animEffect>
                                  </p:childTnLst>
                                </p:cTn>
                              </p:par>
                            </p:childTnLst>
                          </p:cTn>
                        </p:par>
                        <p:par>
                          <p:cTn id="28" fill="hold" nodeType="afterGroup">
                            <p:stCondLst>
                              <p:cond delay="500"/>
                            </p:stCondLst>
                            <p:childTnLst>
                              <p:par>
                                <p:cTn id="29" presetID="22" presetClass="entr" presetSubtype="8" fill="hold" grpId="0" nodeType="afterEffect">
                                  <p:stCondLst>
                                    <p:cond delay="0"/>
                                  </p:stCondLst>
                                  <p:childTnLst>
                                    <p:set>
                                      <p:cBhvr>
                                        <p:cTn id="30" dur="1" fill="hold">
                                          <p:stCondLst>
                                            <p:cond delay="0"/>
                                          </p:stCondLst>
                                        </p:cTn>
                                        <p:tgtEl>
                                          <p:spTgt spid="64518">
                                            <p:txEl>
                                              <p:pRg st="0" end="0"/>
                                            </p:txEl>
                                          </p:spTgt>
                                        </p:tgtEl>
                                        <p:attrNameLst>
                                          <p:attrName>style.visibility</p:attrName>
                                        </p:attrNameLst>
                                      </p:cBhvr>
                                      <p:to>
                                        <p:strVal val="visible"/>
                                      </p:to>
                                    </p:set>
                                    <p:animEffect transition="in" filter="wipe(left)">
                                      <p:cBhvr>
                                        <p:cTn id="31" dur="500"/>
                                        <p:tgtEl>
                                          <p:spTgt spid="64518">
                                            <p:txEl>
                                              <p:pRg st="0" end="0"/>
                                            </p:txEl>
                                          </p:spTgt>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64519">
                                            <p:txEl>
                                              <p:pRg st="0" end="0"/>
                                            </p:txEl>
                                          </p:spTgt>
                                        </p:tgtEl>
                                        <p:attrNameLst>
                                          <p:attrName>style.visibility</p:attrName>
                                        </p:attrNameLst>
                                      </p:cBhvr>
                                      <p:to>
                                        <p:strVal val="visible"/>
                                      </p:to>
                                    </p:set>
                                    <p:animEffect transition="in" filter="wipe(left)">
                                      <p:cBhvr>
                                        <p:cTn id="36" dur="500"/>
                                        <p:tgtEl>
                                          <p:spTgt spid="6451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4" grpId="0" build="p" autoUpdateAnimBg="0"/>
      <p:bldP spid="64515" grpId="0" build="p" autoUpdateAnimBg="0"/>
      <p:bldP spid="64516" grpId="0" build="p" autoUpdateAnimBg="0"/>
      <p:bldP spid="64517" grpId="0" build="p" autoUpdateAnimBg="0"/>
      <p:bldP spid="64518" grpId="0" build="p" autoUpdateAnimBg="0"/>
      <p:bldP spid="64519" grpId="0" build="p"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9">
            <a:extLst>
              <a:ext uri="{FF2B5EF4-FFF2-40B4-BE49-F238E27FC236}">
                <a16:creationId xmlns:a16="http://schemas.microsoft.com/office/drawing/2014/main" id="{D4F3B8A5-9F2A-4DAD-8671-2A66284AC081}"/>
              </a:ext>
            </a:extLst>
          </p:cNvPr>
          <p:cNvSpPr>
            <a:spLocks noChangeArrowheads="1"/>
          </p:cNvSpPr>
          <p:nvPr/>
        </p:nvSpPr>
        <p:spPr bwMode="auto">
          <a:xfrm>
            <a:off x="1835150" y="476250"/>
            <a:ext cx="57594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latin typeface="Times New Roman" panose="02020603050405020304" pitchFamily="18" charset="0"/>
                <a:cs typeface="Times New Roman" panose="02020603050405020304" pitchFamily="18" charset="0"/>
              </a:rPr>
              <a:t> </a:t>
            </a:r>
            <a:r>
              <a:rPr kumimoji="1" lang="zh-CN" altLang="en-US" b="1">
                <a:latin typeface="Times New Roman" panose="02020603050405020304" pitchFamily="18" charset="0"/>
                <a:cs typeface="Times New Roman" panose="02020603050405020304" pitchFamily="18" charset="0"/>
              </a:rPr>
              <a:t>第</a:t>
            </a:r>
            <a:r>
              <a:rPr kumimoji="1" lang="en-US" altLang="zh-CN" b="1">
                <a:latin typeface="Times New Roman" panose="02020603050405020304" pitchFamily="18" charset="0"/>
                <a:cs typeface="Times New Roman" panose="02020603050405020304" pitchFamily="18" charset="0"/>
              </a:rPr>
              <a:t>4</a:t>
            </a:r>
            <a:r>
              <a:rPr kumimoji="1" lang="zh-CN" altLang="en-US" b="1">
                <a:latin typeface="Times New Roman" panose="02020603050405020304" pitchFamily="18" charset="0"/>
                <a:cs typeface="Times New Roman" panose="02020603050405020304" pitchFamily="18" charset="0"/>
              </a:rPr>
              <a:t>节 放射性的应用和防护</a:t>
            </a:r>
            <a:r>
              <a:rPr kumimoji="1" lang="zh-CN" altLang="en-US" b="1">
                <a:latin typeface="Times New Roman" panose="02020603050405020304" pitchFamily="18" charset="0"/>
                <a:ea typeface="楷体_GB2312"/>
                <a:cs typeface="Times New Roman" panose="02020603050405020304" pitchFamily="18" charset="0"/>
              </a:rPr>
              <a:t> </a:t>
            </a:r>
          </a:p>
        </p:txBody>
      </p:sp>
      <p:pic>
        <p:nvPicPr>
          <p:cNvPr id="36867" name="Picture 25" descr="三种射线的穿透本领">
            <a:extLst>
              <a:ext uri="{FF2B5EF4-FFF2-40B4-BE49-F238E27FC236}">
                <a16:creationId xmlns:a16="http://schemas.microsoft.com/office/drawing/2014/main" id="{73546F2A-99EE-45A7-97D6-5C8C73AD7B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8888" y="1628775"/>
            <a:ext cx="6659562" cy="4468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extBox 1">
            <a:extLst>
              <a:ext uri="{FF2B5EF4-FFF2-40B4-BE49-F238E27FC236}">
                <a16:creationId xmlns:a16="http://schemas.microsoft.com/office/drawing/2014/main" id="{6CD2105B-362E-4918-97B8-8E3AC9E49DE9}"/>
              </a:ext>
            </a:extLst>
          </p:cNvPr>
          <p:cNvSpPr txBox="1">
            <a:spLocks noChangeArrowheads="1"/>
          </p:cNvSpPr>
          <p:nvPr/>
        </p:nvSpPr>
        <p:spPr bwMode="auto">
          <a:xfrm>
            <a:off x="827088" y="476250"/>
            <a:ext cx="532923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 typeface="Wingdings" panose="05000000000000000000" pitchFamily="2" charset="2"/>
              <a:buChar char="Ø"/>
            </a:pPr>
            <a:r>
              <a:rPr lang="zh-CN" altLang="en-US" sz="2800" b="1">
                <a:solidFill>
                  <a:srgbClr val="202AF4"/>
                </a:solidFill>
                <a:latin typeface="仿宋" panose="02010609060101010101" pitchFamily="49" charset="-122"/>
                <a:ea typeface="仿宋" panose="02010609060101010101" pitchFamily="49" charset="-122"/>
              </a:rPr>
              <a:t>人工放射性同位素</a:t>
            </a:r>
          </a:p>
        </p:txBody>
      </p:sp>
      <p:sp>
        <p:nvSpPr>
          <p:cNvPr id="3" name="Text Box 15">
            <a:extLst>
              <a:ext uri="{FF2B5EF4-FFF2-40B4-BE49-F238E27FC236}">
                <a16:creationId xmlns:a16="http://schemas.microsoft.com/office/drawing/2014/main" id="{5DF1E4D9-61DE-454A-8893-EDFF3E122A0B}"/>
              </a:ext>
            </a:extLst>
          </p:cNvPr>
          <p:cNvSpPr txBox="1">
            <a:spLocks noChangeArrowheads="1"/>
          </p:cNvSpPr>
          <p:nvPr/>
        </p:nvSpPr>
        <p:spPr bwMode="auto">
          <a:xfrm>
            <a:off x="1330325" y="3789363"/>
            <a:ext cx="7273925" cy="203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14350" indent="-51435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nSpc>
                <a:spcPct val="150000"/>
              </a:lnSpc>
              <a:spcBef>
                <a:spcPct val="0"/>
              </a:spcBef>
              <a:buFontTx/>
              <a:buAutoNum type="arabicPeriod"/>
            </a:pPr>
            <a:r>
              <a:rPr lang="zh-CN" altLang="en-US" sz="2800" b="1">
                <a:latin typeface="仿宋" panose="02010609060101010101" pitchFamily="49" charset="-122"/>
                <a:ea typeface="仿宋" panose="02010609060101010101" pitchFamily="49" charset="-122"/>
              </a:rPr>
              <a:t>放射强度容易控制</a:t>
            </a:r>
          </a:p>
          <a:p>
            <a:pPr>
              <a:lnSpc>
                <a:spcPct val="150000"/>
              </a:lnSpc>
              <a:spcBef>
                <a:spcPct val="0"/>
              </a:spcBef>
              <a:buFontTx/>
              <a:buAutoNum type="arabicPeriod"/>
            </a:pPr>
            <a:r>
              <a:rPr lang="zh-CN" altLang="en-US" sz="2800" b="1">
                <a:latin typeface="仿宋" panose="02010609060101010101" pitchFamily="49" charset="-122"/>
                <a:ea typeface="仿宋" panose="02010609060101010101" pitchFamily="49" charset="-122"/>
              </a:rPr>
              <a:t>可以制成各种需要的形状</a:t>
            </a:r>
          </a:p>
          <a:p>
            <a:pPr>
              <a:lnSpc>
                <a:spcPct val="150000"/>
              </a:lnSpc>
              <a:spcBef>
                <a:spcPct val="0"/>
              </a:spcBef>
              <a:buFontTx/>
              <a:buAutoNum type="arabicPeriod"/>
            </a:pPr>
            <a:r>
              <a:rPr lang="zh-CN" altLang="en-US" sz="2800" b="1">
                <a:latin typeface="仿宋" panose="02010609060101010101" pitchFamily="49" charset="-122"/>
                <a:ea typeface="仿宋" panose="02010609060101010101" pitchFamily="49" charset="-122"/>
              </a:rPr>
              <a:t>半衰期更短</a:t>
            </a:r>
            <a:r>
              <a:rPr lang="en-US" altLang="zh-CN" sz="2800" b="1">
                <a:latin typeface="仿宋" panose="02010609060101010101" pitchFamily="49" charset="-122"/>
                <a:ea typeface="仿宋" panose="02010609060101010101" pitchFamily="49" charset="-122"/>
              </a:rPr>
              <a:t>,</a:t>
            </a:r>
            <a:r>
              <a:rPr lang="zh-CN" altLang="en-US" sz="2800" b="1">
                <a:latin typeface="仿宋" panose="02010609060101010101" pitchFamily="49" charset="-122"/>
                <a:ea typeface="仿宋" panose="02010609060101010101" pitchFamily="49" charset="-122"/>
              </a:rPr>
              <a:t>放射性废料容易处理</a:t>
            </a:r>
          </a:p>
        </p:txBody>
      </p:sp>
      <p:graphicFrame>
        <p:nvGraphicFramePr>
          <p:cNvPr id="5" name="Object 2">
            <a:extLst>
              <a:ext uri="{FF2B5EF4-FFF2-40B4-BE49-F238E27FC236}">
                <a16:creationId xmlns:a16="http://schemas.microsoft.com/office/drawing/2014/main" id="{CC6ADA58-8AED-48FB-B429-85EBBEFEEA7B}"/>
              </a:ext>
            </a:extLst>
          </p:cNvPr>
          <p:cNvGraphicFramePr>
            <a:graphicFrameLocks noChangeAspect="1"/>
          </p:cNvGraphicFramePr>
          <p:nvPr/>
        </p:nvGraphicFramePr>
        <p:xfrm>
          <a:off x="2506663" y="2492375"/>
          <a:ext cx="4562475" cy="892175"/>
        </p:xfrm>
        <a:graphic>
          <a:graphicData uri="http://schemas.openxmlformats.org/presentationml/2006/ole">
            <mc:AlternateContent xmlns:mc="http://schemas.openxmlformats.org/markup-compatibility/2006">
              <mc:Choice xmlns:v="urn:schemas-microsoft-com:vml" Requires="v">
                <p:oleObj spid="_x0000_s37896" name="公式" r:id="rId3" imgW="1076210" imgH="104760" progId="Equation.3">
                  <p:embed/>
                </p:oleObj>
              </mc:Choice>
              <mc:Fallback>
                <p:oleObj name="公式" r:id="rId3" imgW="1076210" imgH="10476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06663" y="2492375"/>
                        <a:ext cx="4562475" cy="892175"/>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7893" name="Text Box 5">
            <a:extLst>
              <a:ext uri="{FF2B5EF4-FFF2-40B4-BE49-F238E27FC236}">
                <a16:creationId xmlns:a16="http://schemas.microsoft.com/office/drawing/2014/main" id="{4B4FC056-7849-4D26-AE5A-7900E37BF2DD}"/>
              </a:ext>
            </a:extLst>
          </p:cNvPr>
          <p:cNvSpPr txBox="1">
            <a:spLocks noChangeArrowheads="1"/>
          </p:cNvSpPr>
          <p:nvPr/>
        </p:nvSpPr>
        <p:spPr bwMode="auto">
          <a:xfrm>
            <a:off x="1258888" y="1196975"/>
            <a:ext cx="7345362" cy="954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kumimoji="1" lang="en-US" altLang="zh-CN" sz="2800" b="1">
                <a:latin typeface="Times New Roman" panose="02020603050405020304" pitchFamily="18" charset="0"/>
                <a:ea typeface="仿宋" panose="02010609060101010101" pitchFamily="49" charset="-122"/>
                <a:cs typeface="Times New Roman" panose="02020603050405020304" pitchFamily="18" charset="0"/>
              </a:rPr>
              <a:t>1934</a:t>
            </a:r>
            <a:r>
              <a:rPr kumimoji="1" lang="zh-CN" altLang="en-US" sz="2800" b="1">
                <a:latin typeface="Times New Roman" panose="02020603050405020304" pitchFamily="18" charset="0"/>
                <a:ea typeface="仿宋" panose="02010609060101010101" pitchFamily="49" charset="-122"/>
                <a:cs typeface="Times New Roman" panose="02020603050405020304" pitchFamily="18" charset="0"/>
              </a:rPr>
              <a:t>年，约里奥</a:t>
            </a:r>
            <a:r>
              <a:rPr kumimoji="1" lang="en-US" altLang="zh-CN" sz="2800" b="1">
                <a:latin typeface="Times New Roman" panose="02020603050405020304" pitchFamily="18" charset="0"/>
                <a:ea typeface="仿宋" panose="02010609060101010101" pitchFamily="49" charset="-122"/>
                <a:cs typeface="Times New Roman" panose="02020603050405020304" pitchFamily="18" charset="0"/>
              </a:rPr>
              <a:t>·</a:t>
            </a:r>
            <a:r>
              <a:rPr kumimoji="1" lang="zh-CN" altLang="en-US" sz="2800" b="1">
                <a:latin typeface="Times New Roman" panose="02020603050405020304" pitchFamily="18" charset="0"/>
                <a:ea typeface="仿宋" panose="02010609060101010101" pitchFamily="49" charset="-122"/>
                <a:cs typeface="Times New Roman" panose="02020603050405020304" pitchFamily="18" charset="0"/>
              </a:rPr>
              <a:t>居里和伊丽芙</a:t>
            </a:r>
            <a:r>
              <a:rPr kumimoji="1" lang="en-US" altLang="zh-CN" sz="2800" b="1">
                <a:latin typeface="Times New Roman" panose="02020603050405020304" pitchFamily="18" charset="0"/>
                <a:ea typeface="仿宋" panose="02010609060101010101" pitchFamily="49" charset="-122"/>
                <a:cs typeface="Times New Roman" panose="02020603050405020304" pitchFamily="18" charset="0"/>
              </a:rPr>
              <a:t>·</a:t>
            </a:r>
            <a:r>
              <a:rPr kumimoji="1" lang="zh-CN" altLang="en-US" sz="2800" b="1">
                <a:latin typeface="Times New Roman" panose="02020603050405020304" pitchFamily="18" charset="0"/>
                <a:ea typeface="仿宋" panose="02010609060101010101" pitchFamily="49" charset="-122"/>
                <a:cs typeface="Times New Roman" panose="02020603050405020304" pitchFamily="18" charset="0"/>
              </a:rPr>
              <a:t>居里发现经过</a:t>
            </a:r>
            <a:r>
              <a:rPr kumimoji="1" lang="en-US" altLang="zh-CN" sz="2800" b="1" i="1">
                <a:latin typeface="Times New Roman" panose="02020603050405020304" pitchFamily="18" charset="0"/>
                <a:ea typeface="仿宋" panose="02010609060101010101" pitchFamily="49" charset="-122"/>
                <a:cs typeface="Times New Roman" panose="02020603050405020304" pitchFamily="18" charset="0"/>
              </a:rPr>
              <a:t>α</a:t>
            </a:r>
            <a:r>
              <a:rPr kumimoji="1" lang="zh-CN" altLang="en-US" sz="2800" b="1">
                <a:latin typeface="Times New Roman" panose="02020603050405020304" pitchFamily="18" charset="0"/>
                <a:ea typeface="仿宋" panose="02010609060101010101" pitchFamily="49" charset="-122"/>
                <a:cs typeface="Times New Roman" panose="02020603050405020304" pitchFamily="18" charset="0"/>
              </a:rPr>
              <a:t>粒子轰击的铝片中含有放射性磷</a:t>
            </a:r>
            <a:r>
              <a:rPr kumimoji="1" lang="en-US" altLang="zh-CN" sz="2800" b="1" baseline="30000">
                <a:latin typeface="Times New Roman" panose="02020603050405020304" pitchFamily="18" charset="0"/>
                <a:ea typeface="仿宋" panose="02010609060101010101" pitchFamily="49" charset="-122"/>
                <a:cs typeface="Times New Roman" panose="02020603050405020304" pitchFamily="18" charset="0"/>
              </a:rPr>
              <a:t>30</a:t>
            </a:r>
            <a:r>
              <a:rPr kumimoji="1" lang="en-US" altLang="zh-CN" sz="2800" b="1">
                <a:latin typeface="Times New Roman" panose="02020603050405020304" pitchFamily="18" charset="0"/>
                <a:ea typeface="仿宋" panose="02010609060101010101" pitchFamily="49" charset="-122"/>
                <a:cs typeface="Times New Roman" panose="02020603050405020304" pitchFamily="18" charset="0"/>
              </a:rPr>
              <a:t>P</a:t>
            </a:r>
            <a:endParaRPr kumimoji="1" lang="zh-CN" altLang="en-US" sz="2800" b="1">
              <a:latin typeface="Times New Roman" panose="02020603050405020304" pitchFamily="18" charset="0"/>
              <a:ea typeface="仿宋"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ox(in)">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3">
            <a:extLst>
              <a:ext uri="{FF2B5EF4-FFF2-40B4-BE49-F238E27FC236}">
                <a16:creationId xmlns:a16="http://schemas.microsoft.com/office/drawing/2014/main" id="{CF3855E6-6771-4E2A-AB47-379E1D92B48F}"/>
              </a:ext>
            </a:extLst>
          </p:cNvPr>
          <p:cNvSpPr txBox="1">
            <a:spLocks noChangeArrowheads="1"/>
          </p:cNvSpPr>
          <p:nvPr/>
        </p:nvSpPr>
        <p:spPr bwMode="auto">
          <a:xfrm>
            <a:off x="1270000" y="1020763"/>
            <a:ext cx="7543800" cy="954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kumimoji="1" lang="zh-CN" altLang="en-US" sz="2800" b="1" kern="0" dirty="0">
                <a:latin typeface="仿宋" pitchFamily="49" charset="-122"/>
                <a:ea typeface="仿宋" pitchFamily="49" charset="-122"/>
              </a:rPr>
              <a:t>放射性同位素在农业、医疗卫生、和科学研究等许多方面得到了广泛的应用．</a:t>
            </a:r>
          </a:p>
        </p:txBody>
      </p:sp>
      <p:sp>
        <p:nvSpPr>
          <p:cNvPr id="5" name="Text Box 6">
            <a:extLst>
              <a:ext uri="{FF2B5EF4-FFF2-40B4-BE49-F238E27FC236}">
                <a16:creationId xmlns:a16="http://schemas.microsoft.com/office/drawing/2014/main" id="{9D77986C-9703-468C-B6B3-DC97BB82871A}"/>
              </a:ext>
            </a:extLst>
          </p:cNvPr>
          <p:cNvSpPr txBox="1">
            <a:spLocks noChangeArrowheads="1"/>
          </p:cNvSpPr>
          <p:nvPr/>
        </p:nvSpPr>
        <p:spPr bwMode="auto">
          <a:xfrm>
            <a:off x="1343025" y="2970213"/>
            <a:ext cx="1881188" cy="369887"/>
          </a:xfrm>
          <a:prstGeom prst="rect">
            <a:avLst/>
          </a:prstGeom>
          <a:noFill/>
          <a:ln w="19050">
            <a:solidFill>
              <a:srgbClr val="9999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kumimoji="1" lang="en-US" altLang="zh-CN" sz="1800" b="1">
                <a:latin typeface="仿宋" panose="02010609060101010101" pitchFamily="49" charset="-122"/>
                <a:ea typeface="仿宋" panose="02010609060101010101" pitchFamily="49" charset="-122"/>
              </a:rPr>
              <a:t>1</a:t>
            </a:r>
            <a:r>
              <a:rPr kumimoji="1" lang="zh-CN" altLang="en-US" sz="1800" b="1">
                <a:latin typeface="仿宋" panose="02010609060101010101" pitchFamily="49" charset="-122"/>
                <a:ea typeface="仿宋" panose="02010609060101010101" pitchFamily="49" charset="-122"/>
              </a:rPr>
              <a:t>、射线应用</a:t>
            </a:r>
          </a:p>
        </p:txBody>
      </p:sp>
      <p:sp>
        <p:nvSpPr>
          <p:cNvPr id="6" name="Text Box 7">
            <a:extLst>
              <a:ext uri="{FF2B5EF4-FFF2-40B4-BE49-F238E27FC236}">
                <a16:creationId xmlns:a16="http://schemas.microsoft.com/office/drawing/2014/main" id="{044C8989-8838-43B6-A21B-D2EF9CF2E644}"/>
              </a:ext>
            </a:extLst>
          </p:cNvPr>
          <p:cNvSpPr txBox="1">
            <a:spLocks noChangeArrowheads="1"/>
          </p:cNvSpPr>
          <p:nvPr/>
        </p:nvSpPr>
        <p:spPr bwMode="auto">
          <a:xfrm>
            <a:off x="1414463" y="4951413"/>
            <a:ext cx="1885950" cy="369887"/>
          </a:xfrm>
          <a:prstGeom prst="rect">
            <a:avLst/>
          </a:prstGeom>
          <a:noFill/>
          <a:ln w="19050">
            <a:solidFill>
              <a:srgbClr val="9999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kumimoji="1" lang="en-US" altLang="zh-CN" sz="1800" b="1">
                <a:latin typeface="仿宋" panose="02010609060101010101" pitchFamily="49" charset="-122"/>
                <a:ea typeface="仿宋" panose="02010609060101010101" pitchFamily="49" charset="-122"/>
              </a:rPr>
              <a:t>2</a:t>
            </a:r>
            <a:r>
              <a:rPr kumimoji="1" lang="zh-CN" altLang="en-US" sz="1800" b="1">
                <a:latin typeface="仿宋" panose="02010609060101010101" pitchFamily="49" charset="-122"/>
                <a:ea typeface="仿宋" panose="02010609060101010101" pitchFamily="49" charset="-122"/>
              </a:rPr>
              <a:t>、示踪原子</a:t>
            </a:r>
          </a:p>
        </p:txBody>
      </p:sp>
      <p:sp>
        <p:nvSpPr>
          <p:cNvPr id="7" name="Line 8">
            <a:extLst>
              <a:ext uri="{FF2B5EF4-FFF2-40B4-BE49-F238E27FC236}">
                <a16:creationId xmlns:a16="http://schemas.microsoft.com/office/drawing/2014/main" id="{1864573A-2298-40CD-B86E-118791D5AC7E}"/>
              </a:ext>
            </a:extLst>
          </p:cNvPr>
          <p:cNvSpPr>
            <a:spLocks noChangeShapeType="1"/>
          </p:cNvSpPr>
          <p:nvPr/>
        </p:nvSpPr>
        <p:spPr bwMode="auto">
          <a:xfrm>
            <a:off x="3224213" y="3217863"/>
            <a:ext cx="762000" cy="0"/>
          </a:xfrm>
          <a:prstGeom prst="line">
            <a:avLst/>
          </a:prstGeom>
          <a:noFill/>
          <a:ln w="28575">
            <a:solidFill>
              <a:srgbClr val="9999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 name="Line 9">
            <a:extLst>
              <a:ext uri="{FF2B5EF4-FFF2-40B4-BE49-F238E27FC236}">
                <a16:creationId xmlns:a16="http://schemas.microsoft.com/office/drawing/2014/main" id="{942F7259-55CC-4CED-885B-F9BB78A039C3}"/>
              </a:ext>
            </a:extLst>
          </p:cNvPr>
          <p:cNvSpPr>
            <a:spLocks noChangeShapeType="1"/>
          </p:cNvSpPr>
          <p:nvPr/>
        </p:nvSpPr>
        <p:spPr bwMode="auto">
          <a:xfrm>
            <a:off x="3681413" y="2532063"/>
            <a:ext cx="0" cy="1371600"/>
          </a:xfrm>
          <a:prstGeom prst="line">
            <a:avLst/>
          </a:prstGeom>
          <a:noFill/>
          <a:ln w="28575">
            <a:solidFill>
              <a:srgbClr val="9999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 name="Line 10">
            <a:extLst>
              <a:ext uri="{FF2B5EF4-FFF2-40B4-BE49-F238E27FC236}">
                <a16:creationId xmlns:a16="http://schemas.microsoft.com/office/drawing/2014/main" id="{61DFFC67-CD43-40EC-A23A-8A41434C73D2}"/>
              </a:ext>
            </a:extLst>
          </p:cNvPr>
          <p:cNvSpPr>
            <a:spLocks noChangeShapeType="1"/>
          </p:cNvSpPr>
          <p:nvPr/>
        </p:nvSpPr>
        <p:spPr bwMode="auto">
          <a:xfrm>
            <a:off x="3681413" y="2532063"/>
            <a:ext cx="304800" cy="0"/>
          </a:xfrm>
          <a:prstGeom prst="line">
            <a:avLst/>
          </a:prstGeom>
          <a:noFill/>
          <a:ln w="28575">
            <a:solidFill>
              <a:srgbClr val="9999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 name="Line 11">
            <a:extLst>
              <a:ext uri="{FF2B5EF4-FFF2-40B4-BE49-F238E27FC236}">
                <a16:creationId xmlns:a16="http://schemas.microsoft.com/office/drawing/2014/main" id="{8340900E-B199-44C2-9328-3CEF9B87E04C}"/>
              </a:ext>
            </a:extLst>
          </p:cNvPr>
          <p:cNvSpPr>
            <a:spLocks noChangeShapeType="1"/>
          </p:cNvSpPr>
          <p:nvPr/>
        </p:nvSpPr>
        <p:spPr bwMode="auto">
          <a:xfrm>
            <a:off x="3681413" y="3903663"/>
            <a:ext cx="304800" cy="0"/>
          </a:xfrm>
          <a:prstGeom prst="line">
            <a:avLst/>
          </a:prstGeom>
          <a:noFill/>
          <a:ln w="28575">
            <a:solidFill>
              <a:srgbClr val="9999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 name="Text Box 12">
            <a:extLst>
              <a:ext uri="{FF2B5EF4-FFF2-40B4-BE49-F238E27FC236}">
                <a16:creationId xmlns:a16="http://schemas.microsoft.com/office/drawing/2014/main" id="{50C52BC6-7038-4E18-B8FC-03AEAA848B48}"/>
              </a:ext>
            </a:extLst>
          </p:cNvPr>
          <p:cNvSpPr txBox="1">
            <a:spLocks noChangeArrowheads="1"/>
          </p:cNvSpPr>
          <p:nvPr/>
        </p:nvSpPr>
        <p:spPr bwMode="auto">
          <a:xfrm>
            <a:off x="4062413" y="2303463"/>
            <a:ext cx="1447800" cy="369887"/>
          </a:xfrm>
          <a:prstGeom prst="rect">
            <a:avLst/>
          </a:prstGeom>
          <a:noFill/>
          <a:ln w="19050">
            <a:solidFill>
              <a:srgbClr val="9999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50000"/>
              </a:spcBef>
              <a:buFontTx/>
              <a:buNone/>
            </a:pPr>
            <a:r>
              <a:rPr kumimoji="1" lang="zh-CN" altLang="en-US" sz="1800" b="1">
                <a:latin typeface="仿宋" panose="02010609060101010101" pitchFamily="49" charset="-122"/>
                <a:ea typeface="仿宋" panose="02010609060101010101" pitchFamily="49" charset="-122"/>
              </a:rPr>
              <a:t>探伤仪</a:t>
            </a:r>
          </a:p>
        </p:txBody>
      </p:sp>
      <p:sp>
        <p:nvSpPr>
          <p:cNvPr id="12" name="Text Box 13">
            <a:extLst>
              <a:ext uri="{FF2B5EF4-FFF2-40B4-BE49-F238E27FC236}">
                <a16:creationId xmlns:a16="http://schemas.microsoft.com/office/drawing/2014/main" id="{2B22909F-7E40-40E1-9C8A-50AFAEE1B117}"/>
              </a:ext>
            </a:extLst>
          </p:cNvPr>
          <p:cNvSpPr txBox="1">
            <a:spLocks noChangeArrowheads="1"/>
          </p:cNvSpPr>
          <p:nvPr/>
        </p:nvSpPr>
        <p:spPr bwMode="auto">
          <a:xfrm>
            <a:off x="4062413" y="2913063"/>
            <a:ext cx="1447800" cy="369887"/>
          </a:xfrm>
          <a:prstGeom prst="rect">
            <a:avLst/>
          </a:prstGeom>
          <a:noFill/>
          <a:ln w="19050">
            <a:solidFill>
              <a:srgbClr val="9999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50000"/>
              </a:spcBef>
              <a:buFontTx/>
              <a:buNone/>
            </a:pPr>
            <a:r>
              <a:rPr kumimoji="1" lang="zh-CN" altLang="en-US" sz="1800" b="1">
                <a:latin typeface="仿宋" panose="02010609060101010101" pitchFamily="49" charset="-122"/>
                <a:ea typeface="仿宋" panose="02010609060101010101" pitchFamily="49" charset="-122"/>
              </a:rPr>
              <a:t>培育新种</a:t>
            </a:r>
          </a:p>
        </p:txBody>
      </p:sp>
      <p:sp>
        <p:nvSpPr>
          <p:cNvPr id="13" name="Text Box 14">
            <a:extLst>
              <a:ext uri="{FF2B5EF4-FFF2-40B4-BE49-F238E27FC236}">
                <a16:creationId xmlns:a16="http://schemas.microsoft.com/office/drawing/2014/main" id="{32FE77AD-5E8E-474E-9665-B3963BE1B1C3}"/>
              </a:ext>
            </a:extLst>
          </p:cNvPr>
          <p:cNvSpPr txBox="1">
            <a:spLocks noChangeArrowheads="1"/>
          </p:cNvSpPr>
          <p:nvPr/>
        </p:nvSpPr>
        <p:spPr bwMode="auto">
          <a:xfrm>
            <a:off x="4062413" y="3598863"/>
            <a:ext cx="1447800" cy="369887"/>
          </a:xfrm>
          <a:prstGeom prst="rect">
            <a:avLst/>
          </a:prstGeom>
          <a:noFill/>
          <a:ln w="19050">
            <a:solidFill>
              <a:srgbClr val="9999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50000"/>
              </a:spcBef>
              <a:buFontTx/>
              <a:buNone/>
            </a:pPr>
            <a:r>
              <a:rPr kumimoji="1" lang="zh-CN" altLang="en-US" sz="1800" b="1">
                <a:latin typeface="仿宋" panose="02010609060101010101" pitchFamily="49" charset="-122"/>
                <a:ea typeface="仿宋" panose="02010609060101010101" pitchFamily="49" charset="-122"/>
              </a:rPr>
              <a:t>保存食物</a:t>
            </a:r>
          </a:p>
        </p:txBody>
      </p:sp>
      <p:sp>
        <p:nvSpPr>
          <p:cNvPr id="14" name="Text Box 15">
            <a:extLst>
              <a:ext uri="{FF2B5EF4-FFF2-40B4-BE49-F238E27FC236}">
                <a16:creationId xmlns:a16="http://schemas.microsoft.com/office/drawing/2014/main" id="{6FD2D3FE-875B-4A72-88CF-7207BD77A7FE}"/>
              </a:ext>
            </a:extLst>
          </p:cNvPr>
          <p:cNvSpPr txBox="1">
            <a:spLocks noChangeArrowheads="1"/>
          </p:cNvSpPr>
          <p:nvPr/>
        </p:nvSpPr>
        <p:spPr bwMode="auto">
          <a:xfrm>
            <a:off x="5815013" y="2303463"/>
            <a:ext cx="2057400" cy="369887"/>
          </a:xfrm>
          <a:prstGeom prst="rect">
            <a:avLst/>
          </a:prstGeom>
          <a:noFill/>
          <a:ln w="19050">
            <a:solidFill>
              <a:srgbClr val="9999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50000"/>
              </a:spcBef>
              <a:buFontTx/>
              <a:buNone/>
            </a:pPr>
            <a:r>
              <a:rPr kumimoji="1" lang="zh-CN" altLang="en-US" sz="1800" b="1">
                <a:latin typeface="仿宋" panose="02010609060101010101" pitchFamily="49" charset="-122"/>
                <a:ea typeface="仿宋" panose="02010609060101010101" pitchFamily="49" charset="-122"/>
              </a:rPr>
              <a:t>消除有害静电</a:t>
            </a:r>
          </a:p>
        </p:txBody>
      </p:sp>
      <p:sp>
        <p:nvSpPr>
          <p:cNvPr id="15" name="Text Box 16">
            <a:extLst>
              <a:ext uri="{FF2B5EF4-FFF2-40B4-BE49-F238E27FC236}">
                <a16:creationId xmlns:a16="http://schemas.microsoft.com/office/drawing/2014/main" id="{453502F3-32CD-455A-9F26-AA655DF0B050}"/>
              </a:ext>
            </a:extLst>
          </p:cNvPr>
          <p:cNvSpPr txBox="1">
            <a:spLocks noChangeArrowheads="1"/>
          </p:cNvSpPr>
          <p:nvPr/>
        </p:nvSpPr>
        <p:spPr bwMode="auto">
          <a:xfrm>
            <a:off x="5815013" y="2913063"/>
            <a:ext cx="1447800" cy="369887"/>
          </a:xfrm>
          <a:prstGeom prst="rect">
            <a:avLst/>
          </a:prstGeom>
          <a:noFill/>
          <a:ln w="19050">
            <a:solidFill>
              <a:srgbClr val="9999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50000"/>
              </a:spcBef>
              <a:buFontTx/>
              <a:buNone/>
            </a:pPr>
            <a:r>
              <a:rPr kumimoji="1" lang="zh-CN" altLang="en-US" sz="1800" b="1">
                <a:latin typeface="仿宋" panose="02010609060101010101" pitchFamily="49" charset="-122"/>
                <a:ea typeface="仿宋" panose="02010609060101010101" pitchFamily="49" charset="-122"/>
              </a:rPr>
              <a:t>消灭害虫</a:t>
            </a:r>
          </a:p>
        </p:txBody>
      </p:sp>
      <p:sp>
        <p:nvSpPr>
          <p:cNvPr id="16" name="Text Box 17">
            <a:extLst>
              <a:ext uri="{FF2B5EF4-FFF2-40B4-BE49-F238E27FC236}">
                <a16:creationId xmlns:a16="http://schemas.microsoft.com/office/drawing/2014/main" id="{2B511CE5-465E-4327-8861-00BE7F4C7B1C}"/>
              </a:ext>
            </a:extLst>
          </p:cNvPr>
          <p:cNvSpPr txBox="1">
            <a:spLocks noChangeArrowheads="1"/>
          </p:cNvSpPr>
          <p:nvPr/>
        </p:nvSpPr>
        <p:spPr bwMode="auto">
          <a:xfrm>
            <a:off x="5815013" y="3598863"/>
            <a:ext cx="2057400" cy="369887"/>
          </a:xfrm>
          <a:prstGeom prst="rect">
            <a:avLst/>
          </a:prstGeom>
          <a:noFill/>
          <a:ln w="19050">
            <a:solidFill>
              <a:srgbClr val="9999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50000"/>
              </a:spcBef>
              <a:buFontTx/>
              <a:buNone/>
            </a:pPr>
            <a:r>
              <a:rPr kumimoji="1" lang="zh-CN" altLang="en-US" sz="1800" b="1">
                <a:latin typeface="仿宋" panose="02010609060101010101" pitchFamily="49" charset="-122"/>
                <a:ea typeface="仿宋" panose="02010609060101010101" pitchFamily="49" charset="-122"/>
              </a:rPr>
              <a:t>治疗恶性肿瘤</a:t>
            </a:r>
          </a:p>
        </p:txBody>
      </p:sp>
      <p:sp>
        <p:nvSpPr>
          <p:cNvPr id="17" name="Line 18">
            <a:extLst>
              <a:ext uri="{FF2B5EF4-FFF2-40B4-BE49-F238E27FC236}">
                <a16:creationId xmlns:a16="http://schemas.microsoft.com/office/drawing/2014/main" id="{5CC26C85-DAEC-4E85-AA4C-22447C70A0FB}"/>
              </a:ext>
            </a:extLst>
          </p:cNvPr>
          <p:cNvSpPr>
            <a:spLocks noChangeShapeType="1"/>
          </p:cNvSpPr>
          <p:nvPr/>
        </p:nvSpPr>
        <p:spPr bwMode="auto">
          <a:xfrm>
            <a:off x="3300413" y="5199063"/>
            <a:ext cx="762000" cy="0"/>
          </a:xfrm>
          <a:prstGeom prst="line">
            <a:avLst/>
          </a:prstGeom>
          <a:noFill/>
          <a:ln w="28575">
            <a:solidFill>
              <a:srgbClr val="9999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 name="Line 19">
            <a:extLst>
              <a:ext uri="{FF2B5EF4-FFF2-40B4-BE49-F238E27FC236}">
                <a16:creationId xmlns:a16="http://schemas.microsoft.com/office/drawing/2014/main" id="{EA3A4A3C-09C9-400A-9D48-A87009FCA00C}"/>
              </a:ext>
            </a:extLst>
          </p:cNvPr>
          <p:cNvSpPr>
            <a:spLocks noChangeShapeType="1"/>
          </p:cNvSpPr>
          <p:nvPr/>
        </p:nvSpPr>
        <p:spPr bwMode="auto">
          <a:xfrm>
            <a:off x="3757613" y="4513263"/>
            <a:ext cx="0" cy="1371600"/>
          </a:xfrm>
          <a:prstGeom prst="line">
            <a:avLst/>
          </a:prstGeom>
          <a:noFill/>
          <a:ln w="28575">
            <a:solidFill>
              <a:srgbClr val="9999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 name="Line 20">
            <a:extLst>
              <a:ext uri="{FF2B5EF4-FFF2-40B4-BE49-F238E27FC236}">
                <a16:creationId xmlns:a16="http://schemas.microsoft.com/office/drawing/2014/main" id="{7693AE20-ACFE-4F36-B5CB-59C835F910C0}"/>
              </a:ext>
            </a:extLst>
          </p:cNvPr>
          <p:cNvSpPr>
            <a:spLocks noChangeShapeType="1"/>
          </p:cNvSpPr>
          <p:nvPr/>
        </p:nvSpPr>
        <p:spPr bwMode="auto">
          <a:xfrm>
            <a:off x="3757613" y="4513263"/>
            <a:ext cx="304800" cy="0"/>
          </a:xfrm>
          <a:prstGeom prst="line">
            <a:avLst/>
          </a:prstGeom>
          <a:noFill/>
          <a:ln w="28575">
            <a:solidFill>
              <a:srgbClr val="9999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 name="Line 21">
            <a:extLst>
              <a:ext uri="{FF2B5EF4-FFF2-40B4-BE49-F238E27FC236}">
                <a16:creationId xmlns:a16="http://schemas.microsoft.com/office/drawing/2014/main" id="{535B91F9-87D5-4E6E-8DE4-7287E60B1D37}"/>
              </a:ext>
            </a:extLst>
          </p:cNvPr>
          <p:cNvSpPr>
            <a:spLocks noChangeShapeType="1"/>
          </p:cNvSpPr>
          <p:nvPr/>
        </p:nvSpPr>
        <p:spPr bwMode="auto">
          <a:xfrm>
            <a:off x="3757613" y="5884863"/>
            <a:ext cx="304800" cy="0"/>
          </a:xfrm>
          <a:prstGeom prst="line">
            <a:avLst/>
          </a:prstGeom>
          <a:noFill/>
          <a:ln w="28575">
            <a:solidFill>
              <a:srgbClr val="9999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 name="Text Box 22">
            <a:extLst>
              <a:ext uri="{FF2B5EF4-FFF2-40B4-BE49-F238E27FC236}">
                <a16:creationId xmlns:a16="http://schemas.microsoft.com/office/drawing/2014/main" id="{BE3DEE48-39C4-4E27-A2BA-2E565479173D}"/>
              </a:ext>
            </a:extLst>
          </p:cNvPr>
          <p:cNvSpPr txBox="1">
            <a:spLocks noChangeArrowheads="1"/>
          </p:cNvSpPr>
          <p:nvPr/>
        </p:nvSpPr>
        <p:spPr bwMode="auto">
          <a:xfrm>
            <a:off x="4214813" y="4360863"/>
            <a:ext cx="1752600" cy="369887"/>
          </a:xfrm>
          <a:prstGeom prst="rect">
            <a:avLst/>
          </a:prstGeom>
          <a:noFill/>
          <a:ln w="19050">
            <a:solidFill>
              <a:srgbClr val="9999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50000"/>
              </a:spcBef>
              <a:buFontTx/>
              <a:buNone/>
            </a:pPr>
            <a:r>
              <a:rPr kumimoji="1" lang="zh-CN" altLang="en-US" sz="1800" b="1">
                <a:latin typeface="仿宋" panose="02010609060101010101" pitchFamily="49" charset="-122"/>
                <a:ea typeface="仿宋" panose="02010609060101010101" pitchFamily="49" charset="-122"/>
              </a:rPr>
              <a:t>农作物检测</a:t>
            </a:r>
          </a:p>
        </p:txBody>
      </p:sp>
      <p:sp>
        <p:nvSpPr>
          <p:cNvPr id="22" name="Text Box 23">
            <a:extLst>
              <a:ext uri="{FF2B5EF4-FFF2-40B4-BE49-F238E27FC236}">
                <a16:creationId xmlns:a16="http://schemas.microsoft.com/office/drawing/2014/main" id="{7ABE10A9-3CE1-4C8B-A3F5-831513ACC068}"/>
              </a:ext>
            </a:extLst>
          </p:cNvPr>
          <p:cNvSpPr txBox="1">
            <a:spLocks noChangeArrowheads="1"/>
          </p:cNvSpPr>
          <p:nvPr/>
        </p:nvSpPr>
        <p:spPr bwMode="auto">
          <a:xfrm>
            <a:off x="4214813" y="4970463"/>
            <a:ext cx="3810000" cy="369887"/>
          </a:xfrm>
          <a:prstGeom prst="rect">
            <a:avLst/>
          </a:prstGeom>
          <a:noFill/>
          <a:ln w="19050">
            <a:solidFill>
              <a:srgbClr val="9999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50000"/>
              </a:spcBef>
              <a:buFontTx/>
              <a:buNone/>
            </a:pPr>
            <a:r>
              <a:rPr kumimoji="1" lang="zh-CN" altLang="en-US" sz="1800" b="1">
                <a:latin typeface="仿宋" panose="02010609060101010101" pitchFamily="49" charset="-122"/>
                <a:ea typeface="仿宋" panose="02010609060101010101" pitchFamily="49" charset="-122"/>
              </a:rPr>
              <a:t>诊断器质性和功能性疾病</a:t>
            </a:r>
          </a:p>
        </p:txBody>
      </p:sp>
      <p:sp>
        <p:nvSpPr>
          <p:cNvPr id="23" name="Text Box 24">
            <a:extLst>
              <a:ext uri="{FF2B5EF4-FFF2-40B4-BE49-F238E27FC236}">
                <a16:creationId xmlns:a16="http://schemas.microsoft.com/office/drawing/2014/main" id="{F5E073EF-02D8-4B07-9265-50BA9DFEEDD5}"/>
              </a:ext>
            </a:extLst>
          </p:cNvPr>
          <p:cNvSpPr txBox="1">
            <a:spLocks noChangeArrowheads="1"/>
          </p:cNvSpPr>
          <p:nvPr/>
        </p:nvSpPr>
        <p:spPr bwMode="auto">
          <a:xfrm>
            <a:off x="4214813" y="5580063"/>
            <a:ext cx="3886200" cy="369887"/>
          </a:xfrm>
          <a:prstGeom prst="rect">
            <a:avLst/>
          </a:prstGeom>
          <a:noFill/>
          <a:ln w="19050">
            <a:solidFill>
              <a:srgbClr val="9999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50000"/>
              </a:spcBef>
              <a:buFontTx/>
              <a:buNone/>
            </a:pPr>
            <a:r>
              <a:rPr kumimoji="1" lang="zh-CN" altLang="en-US" sz="1800" b="1">
                <a:latin typeface="仿宋" panose="02010609060101010101" pitchFamily="49" charset="-122"/>
                <a:ea typeface="仿宋" panose="02010609060101010101" pitchFamily="49" charset="-122"/>
              </a:rPr>
              <a:t>生物大分子结构及功能研究</a:t>
            </a:r>
          </a:p>
        </p:txBody>
      </p:sp>
      <p:sp>
        <p:nvSpPr>
          <p:cNvPr id="38934" name="TextBox 23">
            <a:extLst>
              <a:ext uri="{FF2B5EF4-FFF2-40B4-BE49-F238E27FC236}">
                <a16:creationId xmlns:a16="http://schemas.microsoft.com/office/drawing/2014/main" id="{DF2056BC-1E83-4C88-AEE3-C3FA576363F9}"/>
              </a:ext>
            </a:extLst>
          </p:cNvPr>
          <p:cNvSpPr txBox="1">
            <a:spLocks noChangeArrowheads="1"/>
          </p:cNvSpPr>
          <p:nvPr/>
        </p:nvSpPr>
        <p:spPr bwMode="auto">
          <a:xfrm>
            <a:off x="827088" y="476250"/>
            <a:ext cx="532923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 typeface="Wingdings" panose="05000000000000000000" pitchFamily="2" charset="2"/>
              <a:buChar char="Ø"/>
            </a:pPr>
            <a:r>
              <a:rPr lang="zh-CN" altLang="en-US" sz="2800" b="1">
                <a:latin typeface="仿宋" panose="02010609060101010101" pitchFamily="49" charset="-122"/>
                <a:ea typeface="仿宋" panose="02010609060101010101" pitchFamily="49" charset="-122"/>
              </a:rPr>
              <a:t>人工放射性同位素的应用</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par>
                          <p:cTn id="8" fill="hold" nodeType="afterGroup">
                            <p:stCondLst>
                              <p:cond delay="500"/>
                            </p:stCondLst>
                            <p:childTnLst>
                              <p:par>
                                <p:cTn id="9" presetID="4" presetClass="entr" presetSubtype="16"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box(in)">
                                      <p:cBhvr>
                                        <p:cTn id="11" dur="500"/>
                                        <p:tgtEl>
                                          <p:spTgt spid="5"/>
                                        </p:tgtEl>
                                      </p:cBhvr>
                                    </p:animEffect>
                                  </p:childTnLst>
                                </p:cTn>
                              </p:par>
                            </p:childTnLst>
                          </p:cTn>
                        </p:par>
                        <p:par>
                          <p:cTn id="12" fill="hold" nodeType="afterGroup">
                            <p:stCondLst>
                              <p:cond delay="1000"/>
                            </p:stCondLst>
                            <p:childTnLst>
                              <p:par>
                                <p:cTn id="13" presetID="4" presetClass="entr" presetSubtype="16"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box(in)">
                                      <p:cBhvr>
                                        <p:cTn id="15" dur="500"/>
                                        <p:tgtEl>
                                          <p:spTgt spid="6"/>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wipe(left)">
                                      <p:cBhvr>
                                        <p:cTn id="20" dur="500"/>
                                        <p:tgtEl>
                                          <p:spTgt spid="7"/>
                                        </p:tgtEl>
                                      </p:cBhvr>
                                    </p:animEffect>
                                  </p:childTnLst>
                                </p:cTn>
                              </p:par>
                            </p:childTnLst>
                          </p:cTn>
                        </p:par>
                        <p:par>
                          <p:cTn id="21" fill="hold" nodeType="afterGroup">
                            <p:stCondLst>
                              <p:cond delay="500"/>
                            </p:stCondLst>
                            <p:childTnLst>
                              <p:par>
                                <p:cTn id="22" presetID="9" presetClass="entr" presetSubtype="0" fill="hold" nodeType="after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dissolve">
                                      <p:cBhvr>
                                        <p:cTn id="24" dur="500"/>
                                        <p:tgtEl>
                                          <p:spTgt spid="8"/>
                                        </p:tgtEl>
                                      </p:cBhvr>
                                    </p:animEffect>
                                  </p:childTnLst>
                                </p:cTn>
                              </p:par>
                            </p:childTnLst>
                          </p:cTn>
                        </p:par>
                        <p:par>
                          <p:cTn id="25" fill="hold" nodeType="afterGroup">
                            <p:stCondLst>
                              <p:cond delay="1000"/>
                            </p:stCondLst>
                            <p:childTnLst>
                              <p:par>
                                <p:cTn id="26" presetID="22" presetClass="entr" presetSubtype="8" fill="hold" nodeType="after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wipe(left)">
                                      <p:cBhvr>
                                        <p:cTn id="28" dur="500"/>
                                        <p:tgtEl>
                                          <p:spTgt spid="9"/>
                                        </p:tgtEl>
                                      </p:cBhvr>
                                    </p:animEffect>
                                  </p:childTnLst>
                                </p:cTn>
                              </p:par>
                            </p:childTnLst>
                          </p:cTn>
                        </p:par>
                        <p:par>
                          <p:cTn id="29" fill="hold" nodeType="afterGroup">
                            <p:stCondLst>
                              <p:cond delay="1500"/>
                            </p:stCondLst>
                            <p:childTnLst>
                              <p:par>
                                <p:cTn id="30" presetID="22" presetClass="entr" presetSubtype="8" fill="hold" nodeType="after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wipe(left)">
                                      <p:cBhvr>
                                        <p:cTn id="32" dur="500"/>
                                        <p:tgtEl>
                                          <p:spTgt spid="1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wipe(left)">
                                      <p:cBhvr>
                                        <p:cTn id="37" dur="500"/>
                                        <p:tgtEl>
                                          <p:spTgt spid="17"/>
                                        </p:tgtEl>
                                      </p:cBhvr>
                                    </p:animEffect>
                                  </p:childTnLst>
                                </p:cTn>
                              </p:par>
                            </p:childTnLst>
                          </p:cTn>
                        </p:par>
                        <p:par>
                          <p:cTn id="38" fill="hold" nodeType="afterGroup">
                            <p:stCondLst>
                              <p:cond delay="500"/>
                            </p:stCondLst>
                            <p:childTnLst>
                              <p:par>
                                <p:cTn id="39" presetID="9" presetClass="entr" presetSubtype="0" fill="hold" nodeType="after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dissolve">
                                      <p:cBhvr>
                                        <p:cTn id="41" dur="500"/>
                                        <p:tgtEl>
                                          <p:spTgt spid="18"/>
                                        </p:tgtEl>
                                      </p:cBhvr>
                                    </p:animEffect>
                                  </p:childTnLst>
                                </p:cTn>
                              </p:par>
                            </p:childTnLst>
                          </p:cTn>
                        </p:par>
                        <p:par>
                          <p:cTn id="42" fill="hold" nodeType="afterGroup">
                            <p:stCondLst>
                              <p:cond delay="1000"/>
                            </p:stCondLst>
                            <p:childTnLst>
                              <p:par>
                                <p:cTn id="43" presetID="22" presetClass="entr" presetSubtype="8" fill="hold" nodeType="afterEffect">
                                  <p:stCondLst>
                                    <p:cond delay="0"/>
                                  </p:stCondLst>
                                  <p:childTnLst>
                                    <p:set>
                                      <p:cBhvr>
                                        <p:cTn id="44" dur="1" fill="hold">
                                          <p:stCondLst>
                                            <p:cond delay="0"/>
                                          </p:stCondLst>
                                        </p:cTn>
                                        <p:tgtEl>
                                          <p:spTgt spid="19"/>
                                        </p:tgtEl>
                                        <p:attrNameLst>
                                          <p:attrName>style.visibility</p:attrName>
                                        </p:attrNameLst>
                                      </p:cBhvr>
                                      <p:to>
                                        <p:strVal val="visible"/>
                                      </p:to>
                                    </p:set>
                                    <p:animEffect transition="in" filter="wipe(left)">
                                      <p:cBhvr>
                                        <p:cTn id="45" dur="500"/>
                                        <p:tgtEl>
                                          <p:spTgt spid="19"/>
                                        </p:tgtEl>
                                      </p:cBhvr>
                                    </p:animEffect>
                                  </p:childTnLst>
                                </p:cTn>
                              </p:par>
                            </p:childTnLst>
                          </p:cTn>
                        </p:par>
                        <p:par>
                          <p:cTn id="46" fill="hold" nodeType="afterGroup">
                            <p:stCondLst>
                              <p:cond delay="1500"/>
                            </p:stCondLst>
                            <p:childTnLst>
                              <p:par>
                                <p:cTn id="47" presetID="22" presetClass="entr" presetSubtype="8" fill="hold" nodeType="after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wipe(left)">
                                      <p:cBhvr>
                                        <p:cTn id="49" dur="500"/>
                                        <p:tgtEl>
                                          <p:spTgt spid="20"/>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9" presetClass="entr" presetSubtype="0" fill="hold" grpId="0" nodeType="clickEffect">
                                  <p:stCondLst>
                                    <p:cond delay="0"/>
                                  </p:stCondLst>
                                  <p:childTnLst>
                                    <p:set>
                                      <p:cBhvr>
                                        <p:cTn id="53" dur="1" fill="hold">
                                          <p:stCondLst>
                                            <p:cond delay="0"/>
                                          </p:stCondLst>
                                        </p:cTn>
                                        <p:tgtEl>
                                          <p:spTgt spid="11"/>
                                        </p:tgtEl>
                                        <p:attrNameLst>
                                          <p:attrName>style.visibility</p:attrName>
                                        </p:attrNameLst>
                                      </p:cBhvr>
                                      <p:to>
                                        <p:strVal val="visible"/>
                                      </p:to>
                                    </p:set>
                                    <p:animEffect transition="in" filter="dissolve">
                                      <p:cBhvr>
                                        <p:cTn id="54" dur="500"/>
                                        <p:tgtEl>
                                          <p:spTgt spid="11"/>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9" presetClass="entr" presetSubtype="0" fill="hold" grpId="0" nodeType="clickEffect">
                                  <p:stCondLst>
                                    <p:cond delay="0"/>
                                  </p:stCondLst>
                                  <p:childTnLst>
                                    <p:set>
                                      <p:cBhvr>
                                        <p:cTn id="58" dur="1" fill="hold">
                                          <p:stCondLst>
                                            <p:cond delay="0"/>
                                          </p:stCondLst>
                                        </p:cTn>
                                        <p:tgtEl>
                                          <p:spTgt spid="12"/>
                                        </p:tgtEl>
                                        <p:attrNameLst>
                                          <p:attrName>style.visibility</p:attrName>
                                        </p:attrNameLst>
                                      </p:cBhvr>
                                      <p:to>
                                        <p:strVal val="visible"/>
                                      </p:to>
                                    </p:set>
                                    <p:animEffect transition="in" filter="dissolve">
                                      <p:cBhvr>
                                        <p:cTn id="59" dur="500"/>
                                        <p:tgtEl>
                                          <p:spTgt spid="12"/>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9" presetClass="entr" presetSubtype="0" fill="hold" grpId="0" nodeType="clickEffect">
                                  <p:stCondLst>
                                    <p:cond delay="0"/>
                                  </p:stCondLst>
                                  <p:childTnLst>
                                    <p:set>
                                      <p:cBhvr>
                                        <p:cTn id="63" dur="1" fill="hold">
                                          <p:stCondLst>
                                            <p:cond delay="0"/>
                                          </p:stCondLst>
                                        </p:cTn>
                                        <p:tgtEl>
                                          <p:spTgt spid="13"/>
                                        </p:tgtEl>
                                        <p:attrNameLst>
                                          <p:attrName>style.visibility</p:attrName>
                                        </p:attrNameLst>
                                      </p:cBhvr>
                                      <p:to>
                                        <p:strVal val="visible"/>
                                      </p:to>
                                    </p:set>
                                    <p:animEffect transition="in" filter="dissolve">
                                      <p:cBhvr>
                                        <p:cTn id="64" dur="500"/>
                                        <p:tgtEl>
                                          <p:spTgt spid="13"/>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9" presetClass="entr" presetSubtype="0" fill="hold" grpId="0" nodeType="clickEffect">
                                  <p:stCondLst>
                                    <p:cond delay="0"/>
                                  </p:stCondLst>
                                  <p:childTnLst>
                                    <p:set>
                                      <p:cBhvr>
                                        <p:cTn id="68" dur="1" fill="hold">
                                          <p:stCondLst>
                                            <p:cond delay="0"/>
                                          </p:stCondLst>
                                        </p:cTn>
                                        <p:tgtEl>
                                          <p:spTgt spid="14"/>
                                        </p:tgtEl>
                                        <p:attrNameLst>
                                          <p:attrName>style.visibility</p:attrName>
                                        </p:attrNameLst>
                                      </p:cBhvr>
                                      <p:to>
                                        <p:strVal val="visible"/>
                                      </p:to>
                                    </p:set>
                                    <p:animEffect transition="in" filter="dissolve">
                                      <p:cBhvr>
                                        <p:cTn id="69" dur="500"/>
                                        <p:tgtEl>
                                          <p:spTgt spid="14"/>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9" presetClass="entr" presetSubtype="0" fill="hold" grpId="0" nodeType="clickEffect">
                                  <p:stCondLst>
                                    <p:cond delay="0"/>
                                  </p:stCondLst>
                                  <p:childTnLst>
                                    <p:set>
                                      <p:cBhvr>
                                        <p:cTn id="73" dur="1" fill="hold">
                                          <p:stCondLst>
                                            <p:cond delay="0"/>
                                          </p:stCondLst>
                                        </p:cTn>
                                        <p:tgtEl>
                                          <p:spTgt spid="15"/>
                                        </p:tgtEl>
                                        <p:attrNameLst>
                                          <p:attrName>style.visibility</p:attrName>
                                        </p:attrNameLst>
                                      </p:cBhvr>
                                      <p:to>
                                        <p:strVal val="visible"/>
                                      </p:to>
                                    </p:set>
                                    <p:animEffect transition="in" filter="dissolve">
                                      <p:cBhvr>
                                        <p:cTn id="74" dur="500"/>
                                        <p:tgtEl>
                                          <p:spTgt spid="15"/>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9" presetClass="entr" presetSubtype="0" fill="hold" grpId="0" nodeType="clickEffect">
                                  <p:stCondLst>
                                    <p:cond delay="0"/>
                                  </p:stCondLst>
                                  <p:childTnLst>
                                    <p:set>
                                      <p:cBhvr>
                                        <p:cTn id="78" dur="1" fill="hold">
                                          <p:stCondLst>
                                            <p:cond delay="0"/>
                                          </p:stCondLst>
                                        </p:cTn>
                                        <p:tgtEl>
                                          <p:spTgt spid="16"/>
                                        </p:tgtEl>
                                        <p:attrNameLst>
                                          <p:attrName>style.visibility</p:attrName>
                                        </p:attrNameLst>
                                      </p:cBhvr>
                                      <p:to>
                                        <p:strVal val="visible"/>
                                      </p:to>
                                    </p:set>
                                    <p:animEffect transition="in" filter="dissolve">
                                      <p:cBhvr>
                                        <p:cTn id="79" dur="500"/>
                                        <p:tgtEl>
                                          <p:spTgt spid="16"/>
                                        </p:tgtEl>
                                      </p:cBhvr>
                                    </p:animEffect>
                                  </p:childTnLst>
                                </p:cTn>
                              </p:par>
                            </p:childTnLst>
                          </p:cTn>
                        </p:par>
                      </p:childTnLst>
                    </p:cTn>
                  </p:par>
                  <p:par>
                    <p:cTn id="80" fill="hold" nodeType="clickPar">
                      <p:stCondLst>
                        <p:cond delay="indefinite"/>
                      </p:stCondLst>
                      <p:childTnLst>
                        <p:par>
                          <p:cTn id="81" fill="hold" nodeType="withGroup">
                            <p:stCondLst>
                              <p:cond delay="0"/>
                            </p:stCondLst>
                            <p:childTnLst>
                              <p:par>
                                <p:cTn id="82" presetID="9" presetClass="entr" presetSubtype="0" fill="hold" grpId="0" nodeType="clickEffect">
                                  <p:stCondLst>
                                    <p:cond delay="0"/>
                                  </p:stCondLst>
                                  <p:childTnLst>
                                    <p:set>
                                      <p:cBhvr>
                                        <p:cTn id="83" dur="1" fill="hold">
                                          <p:stCondLst>
                                            <p:cond delay="0"/>
                                          </p:stCondLst>
                                        </p:cTn>
                                        <p:tgtEl>
                                          <p:spTgt spid="21"/>
                                        </p:tgtEl>
                                        <p:attrNameLst>
                                          <p:attrName>style.visibility</p:attrName>
                                        </p:attrNameLst>
                                      </p:cBhvr>
                                      <p:to>
                                        <p:strVal val="visible"/>
                                      </p:to>
                                    </p:set>
                                    <p:animEffect transition="in" filter="dissolve">
                                      <p:cBhvr>
                                        <p:cTn id="84" dur="500"/>
                                        <p:tgtEl>
                                          <p:spTgt spid="21"/>
                                        </p:tgtEl>
                                      </p:cBhvr>
                                    </p:animEffect>
                                  </p:childTnLst>
                                </p:cTn>
                              </p:par>
                            </p:childTnLst>
                          </p:cTn>
                        </p:par>
                      </p:childTnLst>
                    </p:cTn>
                  </p:par>
                  <p:par>
                    <p:cTn id="85" fill="hold" nodeType="clickPar">
                      <p:stCondLst>
                        <p:cond delay="indefinite"/>
                      </p:stCondLst>
                      <p:childTnLst>
                        <p:par>
                          <p:cTn id="86" fill="hold" nodeType="withGroup">
                            <p:stCondLst>
                              <p:cond delay="0"/>
                            </p:stCondLst>
                            <p:childTnLst>
                              <p:par>
                                <p:cTn id="87" presetID="9" presetClass="entr" presetSubtype="0" fill="hold" grpId="0" nodeType="clickEffect">
                                  <p:stCondLst>
                                    <p:cond delay="0"/>
                                  </p:stCondLst>
                                  <p:childTnLst>
                                    <p:set>
                                      <p:cBhvr>
                                        <p:cTn id="88" dur="1" fill="hold">
                                          <p:stCondLst>
                                            <p:cond delay="0"/>
                                          </p:stCondLst>
                                        </p:cTn>
                                        <p:tgtEl>
                                          <p:spTgt spid="22"/>
                                        </p:tgtEl>
                                        <p:attrNameLst>
                                          <p:attrName>style.visibility</p:attrName>
                                        </p:attrNameLst>
                                      </p:cBhvr>
                                      <p:to>
                                        <p:strVal val="visible"/>
                                      </p:to>
                                    </p:set>
                                    <p:animEffect transition="in" filter="dissolve">
                                      <p:cBhvr>
                                        <p:cTn id="89" dur="500"/>
                                        <p:tgtEl>
                                          <p:spTgt spid="22"/>
                                        </p:tgtEl>
                                      </p:cBhvr>
                                    </p:animEffect>
                                  </p:childTnLst>
                                </p:cTn>
                              </p:par>
                            </p:childTnLst>
                          </p:cTn>
                        </p:par>
                      </p:childTnLst>
                    </p:cTn>
                  </p:par>
                  <p:par>
                    <p:cTn id="90" fill="hold" nodeType="clickPar">
                      <p:stCondLst>
                        <p:cond delay="indefinite"/>
                      </p:stCondLst>
                      <p:childTnLst>
                        <p:par>
                          <p:cTn id="91" fill="hold" nodeType="withGroup">
                            <p:stCondLst>
                              <p:cond delay="0"/>
                            </p:stCondLst>
                            <p:childTnLst>
                              <p:par>
                                <p:cTn id="92" presetID="9" presetClass="entr" presetSubtype="0" fill="hold" grpId="0" nodeType="clickEffect">
                                  <p:stCondLst>
                                    <p:cond delay="0"/>
                                  </p:stCondLst>
                                  <p:childTnLst>
                                    <p:set>
                                      <p:cBhvr>
                                        <p:cTn id="93" dur="1" fill="hold">
                                          <p:stCondLst>
                                            <p:cond delay="0"/>
                                          </p:stCondLst>
                                        </p:cTn>
                                        <p:tgtEl>
                                          <p:spTgt spid="23"/>
                                        </p:tgtEl>
                                        <p:attrNameLst>
                                          <p:attrName>style.visibility</p:attrName>
                                        </p:attrNameLst>
                                      </p:cBhvr>
                                      <p:to>
                                        <p:strVal val="visible"/>
                                      </p:to>
                                    </p:set>
                                    <p:animEffect transition="in" filter="dissolve">
                                      <p:cBhvr>
                                        <p:cTn id="94"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p:bldP spid="5" grpId="0" animBg="1" autoUpdateAnimBg="0"/>
      <p:bldP spid="6" grpId="0" animBg="1" autoUpdateAnimBg="0"/>
      <p:bldP spid="11" grpId="0" animBg="1" autoUpdateAnimBg="0"/>
      <p:bldP spid="12" grpId="0" animBg="1" autoUpdateAnimBg="0"/>
      <p:bldP spid="13" grpId="0" animBg="1" autoUpdateAnimBg="0"/>
      <p:bldP spid="14" grpId="0" animBg="1" autoUpdateAnimBg="0"/>
      <p:bldP spid="15" grpId="0" animBg="1" autoUpdateAnimBg="0"/>
      <p:bldP spid="16" grpId="0" animBg="1" autoUpdateAnimBg="0"/>
      <p:bldP spid="21" grpId="0" animBg="1" autoUpdateAnimBg="0"/>
      <p:bldP spid="22" grpId="0" animBg="1" autoUpdateAnimBg="0"/>
      <p:bldP spid="23" grpId="0" animBg="1"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8">
            <a:extLst>
              <a:ext uri="{FF2B5EF4-FFF2-40B4-BE49-F238E27FC236}">
                <a16:creationId xmlns:a16="http://schemas.microsoft.com/office/drawing/2014/main" id="{2E2815B7-55DF-4764-98C0-80FBE6E7A31D}"/>
              </a:ext>
            </a:extLst>
          </p:cNvPr>
          <p:cNvGrpSpPr>
            <a:grpSpLocks/>
          </p:cNvGrpSpPr>
          <p:nvPr/>
        </p:nvGrpSpPr>
        <p:grpSpPr bwMode="auto">
          <a:xfrm>
            <a:off x="755650" y="887413"/>
            <a:ext cx="2708275" cy="1209675"/>
            <a:chOff x="975" y="1498"/>
            <a:chExt cx="1451" cy="586"/>
          </a:xfrm>
        </p:grpSpPr>
        <p:graphicFrame>
          <p:nvGraphicFramePr>
            <p:cNvPr id="39956" name="Object 10">
              <a:extLst>
                <a:ext uri="{FF2B5EF4-FFF2-40B4-BE49-F238E27FC236}">
                  <a16:creationId xmlns:a16="http://schemas.microsoft.com/office/drawing/2014/main" id="{8A4A4C6B-AE07-464C-B2B6-1CB74DD1254A}"/>
                </a:ext>
              </a:extLst>
            </p:cNvPr>
            <p:cNvGraphicFramePr>
              <a:graphicFrameLocks noChangeAspect="1"/>
            </p:cNvGraphicFramePr>
            <p:nvPr/>
          </p:nvGraphicFramePr>
          <p:xfrm>
            <a:off x="975" y="1498"/>
            <a:ext cx="1451" cy="254"/>
          </p:xfrm>
          <a:graphic>
            <a:graphicData uri="http://schemas.openxmlformats.org/presentationml/2006/ole">
              <mc:AlternateContent xmlns:mc="http://schemas.openxmlformats.org/markup-compatibility/2006">
                <mc:Choice xmlns:v="urn:schemas-microsoft-com:vml" Requires="v">
                  <p:oleObj spid="_x0000_s39966" name="Equation" r:id="rId3" imgW="1257300" imgH="241300" progId="Equation.DSMT4">
                    <p:embed/>
                  </p:oleObj>
                </mc:Choice>
                <mc:Fallback>
                  <p:oleObj name="Equation" r:id="rId3" imgW="1257300" imgH="241300" progId="Equation.DSMT4">
                    <p:embed/>
                    <p:pic>
                      <p:nvPicPr>
                        <p:cNvPr id="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5" y="1498"/>
                          <a:ext cx="1451" cy="2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9957" name="Object 11">
              <a:extLst>
                <a:ext uri="{FF2B5EF4-FFF2-40B4-BE49-F238E27FC236}">
                  <a16:creationId xmlns:a16="http://schemas.microsoft.com/office/drawing/2014/main" id="{B47D8C06-7555-4692-B8CC-EB5F73208BBE}"/>
                </a:ext>
              </a:extLst>
            </p:cNvPr>
            <p:cNvGraphicFramePr>
              <a:graphicFrameLocks noChangeAspect="1"/>
            </p:cNvGraphicFramePr>
            <p:nvPr/>
          </p:nvGraphicFramePr>
          <p:xfrm>
            <a:off x="975" y="1797"/>
            <a:ext cx="1179" cy="287"/>
          </p:xfrm>
          <a:graphic>
            <a:graphicData uri="http://schemas.openxmlformats.org/presentationml/2006/ole">
              <mc:AlternateContent xmlns:mc="http://schemas.openxmlformats.org/markup-compatibility/2006">
                <mc:Choice xmlns:v="urn:schemas-microsoft-com:vml" Requires="v">
                  <p:oleObj spid="_x0000_s39967" name="Equation" r:id="rId5" imgW="990170" imgH="241195" progId="Equation.DSMT4">
                    <p:embed/>
                  </p:oleObj>
                </mc:Choice>
                <mc:Fallback>
                  <p:oleObj name="Equation" r:id="rId5" imgW="990170" imgH="241195" progId="Equation.DSMT4">
                    <p:embed/>
                    <p:pic>
                      <p:nvPicPr>
                        <p:cNvPr id="0"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75" y="1797"/>
                          <a:ext cx="1179"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6" name="Group 12">
            <a:extLst>
              <a:ext uri="{FF2B5EF4-FFF2-40B4-BE49-F238E27FC236}">
                <a16:creationId xmlns:a16="http://schemas.microsoft.com/office/drawing/2014/main" id="{C82BC3DE-F5CD-4D7B-9286-6D32A2F3A973}"/>
              </a:ext>
            </a:extLst>
          </p:cNvPr>
          <p:cNvGrpSpPr>
            <a:grpSpLocks/>
          </p:cNvGrpSpPr>
          <p:nvPr/>
        </p:nvGrpSpPr>
        <p:grpSpPr bwMode="auto">
          <a:xfrm>
            <a:off x="625475" y="2381250"/>
            <a:ext cx="5513388" cy="504825"/>
            <a:chOff x="2043" y="1821"/>
            <a:chExt cx="3473" cy="318"/>
          </a:xfrm>
        </p:grpSpPr>
        <p:sp>
          <p:nvSpPr>
            <p:cNvPr id="7" name="Text Box 13">
              <a:extLst>
                <a:ext uri="{FF2B5EF4-FFF2-40B4-BE49-F238E27FC236}">
                  <a16:creationId xmlns:a16="http://schemas.microsoft.com/office/drawing/2014/main" id="{7901A922-00AC-4ED3-B6DC-B61C7064ABBF}"/>
                </a:ext>
              </a:extLst>
            </p:cNvPr>
            <p:cNvSpPr txBox="1">
              <a:spLocks noChangeArrowheads="1"/>
            </p:cNvSpPr>
            <p:nvPr/>
          </p:nvSpPr>
          <p:spPr bwMode="auto">
            <a:xfrm>
              <a:off x="2043" y="1821"/>
              <a:ext cx="3473"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defRPr/>
              </a:pPr>
              <a:r>
                <a:rPr lang="zh-CN" altLang="en-US" sz="2400" b="1" dirty="0">
                  <a:latin typeface="Times New Roman" panose="02020603050405020304" pitchFamily="18" charset="0"/>
                  <a:ea typeface="+mn-ea"/>
                  <a:cs typeface="Times New Roman" panose="02020603050405020304" pitchFamily="18" charset="0"/>
                </a:rPr>
                <a:t>       是放射性同位素</a:t>
              </a:r>
              <a:r>
                <a:rPr lang="en-US" altLang="zh-CN" sz="2400" b="1" dirty="0">
                  <a:latin typeface="Times New Roman" panose="02020603050405020304" pitchFamily="18" charset="0"/>
                  <a:ea typeface="+mn-ea"/>
                  <a:cs typeface="Times New Roman" panose="02020603050405020304" pitchFamily="18" charset="0"/>
                </a:rPr>
                <a:t>, </a:t>
              </a:r>
              <a:r>
                <a:rPr lang="zh-CN" altLang="en-US" sz="2400" b="1" dirty="0">
                  <a:latin typeface="Times New Roman" panose="02020603050405020304" pitchFamily="18" charset="0"/>
                  <a:ea typeface="+mn-ea"/>
                  <a:cs typeface="Times New Roman" panose="02020603050405020304" pitchFamily="18" charset="0"/>
                </a:rPr>
                <a:t>半衰期约为</a:t>
              </a:r>
              <a:r>
                <a:rPr lang="en-US" altLang="zh-CN" sz="2400" b="1" dirty="0">
                  <a:latin typeface="Times New Roman" panose="02020603050405020304" pitchFamily="18" charset="0"/>
                  <a:ea typeface="+mn-ea"/>
                  <a:cs typeface="Times New Roman" panose="02020603050405020304" pitchFamily="18" charset="0"/>
                </a:rPr>
                <a:t>5730 a </a:t>
              </a:r>
            </a:p>
          </p:txBody>
        </p:sp>
        <p:graphicFrame>
          <p:nvGraphicFramePr>
            <p:cNvPr id="39955" name="Object 14">
              <a:extLst>
                <a:ext uri="{FF2B5EF4-FFF2-40B4-BE49-F238E27FC236}">
                  <a16:creationId xmlns:a16="http://schemas.microsoft.com/office/drawing/2014/main" id="{386BAD3E-E926-4B60-8E6B-C43210033ECF}"/>
                </a:ext>
              </a:extLst>
            </p:cNvPr>
            <p:cNvGraphicFramePr>
              <a:graphicFrameLocks noChangeAspect="1"/>
            </p:cNvGraphicFramePr>
            <p:nvPr/>
          </p:nvGraphicFramePr>
          <p:xfrm>
            <a:off x="2147" y="1852"/>
            <a:ext cx="287" cy="287"/>
          </p:xfrm>
          <a:graphic>
            <a:graphicData uri="http://schemas.openxmlformats.org/presentationml/2006/ole">
              <mc:AlternateContent xmlns:mc="http://schemas.openxmlformats.org/markup-compatibility/2006">
                <mc:Choice xmlns:v="urn:schemas-microsoft-com:vml" Requires="v">
                  <p:oleObj spid="_x0000_s39968" name="Equation" r:id="rId7" imgW="241195" imgH="241195" progId="Equation.DSMT4">
                    <p:embed/>
                  </p:oleObj>
                </mc:Choice>
                <mc:Fallback>
                  <p:oleObj name="Equation" r:id="rId7" imgW="241195" imgH="241195" progId="Equation.DSMT4">
                    <p:embed/>
                    <p:pic>
                      <p:nvPicPr>
                        <p:cNvPr id="0" name="Object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47" y="1852"/>
                          <a:ext cx="287"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9" name="Group 16">
            <a:extLst>
              <a:ext uri="{FF2B5EF4-FFF2-40B4-BE49-F238E27FC236}">
                <a16:creationId xmlns:a16="http://schemas.microsoft.com/office/drawing/2014/main" id="{D0B6B9E4-E9D9-4CA6-97AF-5754A976B65C}"/>
              </a:ext>
            </a:extLst>
          </p:cNvPr>
          <p:cNvGrpSpPr>
            <a:grpSpLocks/>
          </p:cNvGrpSpPr>
          <p:nvPr/>
        </p:nvGrpSpPr>
        <p:grpSpPr bwMode="auto">
          <a:xfrm>
            <a:off x="350838" y="3048000"/>
            <a:ext cx="8550275" cy="457200"/>
            <a:chOff x="249" y="2099"/>
            <a:chExt cx="5386" cy="288"/>
          </a:xfrm>
        </p:grpSpPr>
        <p:sp>
          <p:nvSpPr>
            <p:cNvPr id="10" name="Text Box 17">
              <a:extLst>
                <a:ext uri="{FF2B5EF4-FFF2-40B4-BE49-F238E27FC236}">
                  <a16:creationId xmlns:a16="http://schemas.microsoft.com/office/drawing/2014/main" id="{23482868-205B-4971-A299-FC42A6F1328D}"/>
                </a:ext>
              </a:extLst>
            </p:cNvPr>
            <p:cNvSpPr txBox="1">
              <a:spLocks noChangeArrowheads="1"/>
            </p:cNvSpPr>
            <p:nvPr/>
          </p:nvSpPr>
          <p:spPr bwMode="auto">
            <a:xfrm>
              <a:off x="249" y="2099"/>
              <a:ext cx="538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lang="zh-CN" altLang="en-US" sz="2400" b="1" dirty="0">
                  <a:latin typeface="Times New Roman" panose="02020603050405020304" pitchFamily="18" charset="0"/>
                  <a:ea typeface="+mn-ea"/>
                  <a:cs typeface="Times New Roman" panose="02020603050405020304" pitchFamily="18" charset="0"/>
                </a:rPr>
                <a:t>多年后地球大气中的</a:t>
              </a:r>
              <a:r>
                <a:rPr lang="en-US" altLang="zh-CN" sz="2400" b="1" baseline="30000" dirty="0">
                  <a:latin typeface="Times New Roman" panose="02020603050405020304" pitchFamily="18" charset="0"/>
                  <a:ea typeface="+mn-ea"/>
                  <a:cs typeface="Times New Roman" panose="02020603050405020304" pitchFamily="18" charset="0"/>
                </a:rPr>
                <a:t>14</a:t>
              </a:r>
              <a:r>
                <a:rPr lang="en-US" altLang="zh-CN" sz="2400" b="1" dirty="0">
                  <a:latin typeface="Times New Roman" panose="02020603050405020304" pitchFamily="18" charset="0"/>
                  <a:ea typeface="+mn-ea"/>
                  <a:cs typeface="Times New Roman" panose="02020603050405020304" pitchFamily="18" charset="0"/>
                </a:rPr>
                <a:t>C</a:t>
              </a:r>
              <a:r>
                <a:rPr lang="zh-CN" altLang="en-US" sz="2400" b="1" dirty="0">
                  <a:latin typeface="Times New Roman" panose="02020603050405020304" pitchFamily="18" charset="0"/>
                  <a:ea typeface="+mn-ea"/>
                  <a:cs typeface="Times New Roman" panose="02020603050405020304" pitchFamily="18" charset="0"/>
                </a:rPr>
                <a:t>已达到了恒定的丰度，约为 </a:t>
              </a:r>
            </a:p>
          </p:txBody>
        </p:sp>
        <p:graphicFrame>
          <p:nvGraphicFramePr>
            <p:cNvPr id="39953" name="Object 18">
              <a:extLst>
                <a:ext uri="{FF2B5EF4-FFF2-40B4-BE49-F238E27FC236}">
                  <a16:creationId xmlns:a16="http://schemas.microsoft.com/office/drawing/2014/main" id="{165CB029-C0F0-4ABE-9CFA-019754129FF6}"/>
                </a:ext>
              </a:extLst>
            </p:cNvPr>
            <p:cNvGraphicFramePr>
              <a:graphicFrameLocks noChangeAspect="1"/>
            </p:cNvGraphicFramePr>
            <p:nvPr/>
          </p:nvGraphicFramePr>
          <p:xfrm>
            <a:off x="4604" y="2112"/>
            <a:ext cx="907" cy="241"/>
          </p:xfrm>
          <a:graphic>
            <a:graphicData uri="http://schemas.openxmlformats.org/presentationml/2006/ole">
              <mc:AlternateContent xmlns:mc="http://schemas.openxmlformats.org/markup-compatibility/2006">
                <mc:Choice xmlns:v="urn:schemas-microsoft-com:vml" Requires="v">
                  <p:oleObj spid="_x0000_s39969" name="Equation" r:id="rId9" imgW="748975" imgH="203112" progId="Equation.DSMT4">
                    <p:embed/>
                  </p:oleObj>
                </mc:Choice>
                <mc:Fallback>
                  <p:oleObj name="Equation" r:id="rId9" imgW="748975" imgH="203112" progId="Equation.DSMT4">
                    <p:embed/>
                    <p:pic>
                      <p:nvPicPr>
                        <p:cNvPr id="0" name="Object 1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604" y="2112"/>
                          <a:ext cx="907"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12" name="Group 19">
            <a:extLst>
              <a:ext uri="{FF2B5EF4-FFF2-40B4-BE49-F238E27FC236}">
                <a16:creationId xmlns:a16="http://schemas.microsoft.com/office/drawing/2014/main" id="{6D75FA6A-105B-4C59-810A-61FDF0B8B98D}"/>
              </a:ext>
            </a:extLst>
          </p:cNvPr>
          <p:cNvGrpSpPr>
            <a:grpSpLocks/>
          </p:cNvGrpSpPr>
          <p:nvPr/>
        </p:nvGrpSpPr>
        <p:grpSpPr bwMode="auto">
          <a:xfrm>
            <a:off x="28575" y="3605213"/>
            <a:ext cx="8820150" cy="2203450"/>
            <a:chOff x="46" y="2450"/>
            <a:chExt cx="5556" cy="1388"/>
          </a:xfrm>
        </p:grpSpPr>
        <p:sp>
          <p:nvSpPr>
            <p:cNvPr id="13" name="Rectangle 20">
              <a:extLst>
                <a:ext uri="{FF2B5EF4-FFF2-40B4-BE49-F238E27FC236}">
                  <a16:creationId xmlns:a16="http://schemas.microsoft.com/office/drawing/2014/main" id="{2ADA5F3C-2F51-4BF3-B60A-4066B7D96DA6}"/>
                </a:ext>
              </a:extLst>
            </p:cNvPr>
            <p:cNvSpPr>
              <a:spLocks noChangeArrowheads="1"/>
            </p:cNvSpPr>
            <p:nvPr/>
          </p:nvSpPr>
          <p:spPr bwMode="auto">
            <a:xfrm>
              <a:off x="46" y="2450"/>
              <a:ext cx="5556" cy="1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lgn="l">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nSpc>
                  <a:spcPct val="105000"/>
                </a:lnSpc>
                <a:spcBef>
                  <a:spcPct val="0"/>
                </a:spcBef>
                <a:buFont typeface="Monotype Sorts" pitchFamily="2" charset="2"/>
                <a:buNone/>
                <a:defRPr/>
              </a:pPr>
              <a:r>
                <a:rPr lang="zh-CN" altLang="en-US" sz="2400" b="1" dirty="0">
                  <a:ea typeface="+mn-ea"/>
                  <a:cs typeface="Times New Roman" panose="02020603050405020304" pitchFamily="18" charset="0"/>
                </a:rPr>
                <a:t>                               根据射线能使物质的原子、分子电离</a:t>
              </a:r>
              <a:r>
                <a:rPr lang="en-US" altLang="zh-CN" sz="2400" b="1" dirty="0">
                  <a:ea typeface="+mn-ea"/>
                  <a:cs typeface="Times New Roman" panose="02020603050405020304" pitchFamily="18" charset="0"/>
                </a:rPr>
                <a:t>,</a:t>
              </a:r>
              <a:r>
                <a:rPr lang="zh-CN" altLang="en-US" sz="2400" b="1" dirty="0">
                  <a:ea typeface="+mn-ea"/>
                  <a:cs typeface="Times New Roman" panose="02020603050405020304" pitchFamily="18" charset="0"/>
                </a:rPr>
                <a:t>将射线的能量转变为电流或电压信号，供电子仪器采集。目前使用的射线探测器种类很多，从射线在探测器内产生的效应和探测器的工作介质，可分为气体电离室、闪烁探测器、半导体探测器和热释光剂量计等。例如：盖革计数器。</a:t>
              </a:r>
            </a:p>
          </p:txBody>
        </p:sp>
        <p:grpSp>
          <p:nvGrpSpPr>
            <p:cNvPr id="39949" name="Group 21">
              <a:extLst>
                <a:ext uri="{FF2B5EF4-FFF2-40B4-BE49-F238E27FC236}">
                  <a16:creationId xmlns:a16="http://schemas.microsoft.com/office/drawing/2014/main" id="{250CA128-C529-44D1-9790-E5963736F7A4}"/>
                </a:ext>
              </a:extLst>
            </p:cNvPr>
            <p:cNvGrpSpPr>
              <a:grpSpLocks/>
            </p:cNvGrpSpPr>
            <p:nvPr/>
          </p:nvGrpSpPr>
          <p:grpSpPr bwMode="auto">
            <a:xfrm>
              <a:off x="340" y="2521"/>
              <a:ext cx="1179" cy="181"/>
              <a:chOff x="295" y="1879"/>
              <a:chExt cx="1179" cy="181"/>
            </a:xfrm>
          </p:grpSpPr>
          <p:sp>
            <p:nvSpPr>
              <p:cNvPr id="15" name="AutoShape 22">
                <a:extLst>
                  <a:ext uri="{FF2B5EF4-FFF2-40B4-BE49-F238E27FC236}">
                    <a16:creationId xmlns:a16="http://schemas.microsoft.com/office/drawing/2014/main" id="{F930EC6E-74B3-40CF-AE75-D3486FE1C20B}"/>
                  </a:ext>
                </a:extLst>
              </p:cNvPr>
              <p:cNvSpPr>
                <a:spLocks noChangeArrowheads="1"/>
              </p:cNvSpPr>
              <p:nvPr/>
            </p:nvSpPr>
            <p:spPr bwMode="auto">
              <a:xfrm>
                <a:off x="295" y="1888"/>
                <a:ext cx="164" cy="136"/>
              </a:xfrm>
              <a:prstGeom prst="triangle">
                <a:avLst>
                  <a:gd name="adj" fmla="val 50000"/>
                </a:avLst>
              </a:prstGeom>
              <a:solidFill>
                <a:schemeClr val="accent1"/>
              </a:solidFill>
              <a:ln w="9525">
                <a:solidFill>
                  <a:srgbClr val="008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Times New Roman" panose="02020603050405020304" pitchFamily="18" charset="0"/>
                  <a:ea typeface="+mn-ea"/>
                  <a:cs typeface="Times New Roman" panose="02020603050405020304" pitchFamily="18" charset="0"/>
                </a:endParaRPr>
              </a:p>
            </p:txBody>
          </p:sp>
          <p:sp>
            <p:nvSpPr>
              <p:cNvPr id="41999" name="WordArt 23">
                <a:extLst>
                  <a:ext uri="{FF2B5EF4-FFF2-40B4-BE49-F238E27FC236}">
                    <a16:creationId xmlns:a16="http://schemas.microsoft.com/office/drawing/2014/main" id="{A34ED303-EF6C-4FE6-BF6C-84F47504A342}"/>
                  </a:ext>
                </a:extLst>
              </p:cNvPr>
              <p:cNvSpPr>
                <a:spLocks noChangeArrowheads="1" noChangeShapeType="1" noTextEdit="1"/>
              </p:cNvSpPr>
              <p:nvPr/>
            </p:nvSpPr>
            <p:spPr bwMode="auto">
              <a:xfrm>
                <a:off x="612" y="1879"/>
                <a:ext cx="862" cy="181"/>
              </a:xfrm>
              <a:prstGeom prst="rect">
                <a:avLst/>
              </a:prstGeom>
            </p:spPr>
            <p:txBody>
              <a:bodyPr wrap="none" fromWordArt="1">
                <a:prstTxWarp prst="textPlain">
                  <a:avLst>
                    <a:gd name="adj" fmla="val 50000"/>
                  </a:avLst>
                </a:prstTxWarp>
              </a:bodyPr>
              <a:lstStyle/>
              <a:p>
                <a:pPr>
                  <a:defRPr/>
                </a:pPr>
                <a:r>
                  <a:rPr lang="zh-CN" altLang="en-US" sz="3600" b="1" kern="10" dirty="0">
                    <a:ln w="9525">
                      <a:solidFill>
                        <a:srgbClr val="333399"/>
                      </a:solidFill>
                      <a:round/>
                      <a:headEnd/>
                      <a:tailEnd/>
                    </a:ln>
                    <a:solidFill>
                      <a:srgbClr val="202AF4"/>
                    </a:solidFill>
                    <a:latin typeface="+mn-ea"/>
                    <a:ea typeface="+mn-ea"/>
                    <a:cs typeface="+mn-ea"/>
                  </a:rPr>
                  <a:t>测量原理</a:t>
                </a:r>
                <a:r>
                  <a:rPr lang="zh-CN" altLang="en-US" sz="3600" b="1" kern="10" dirty="0">
                    <a:ln w="9525">
                      <a:solidFill>
                        <a:srgbClr val="333399"/>
                      </a:solidFill>
                      <a:round/>
                      <a:headEnd/>
                      <a:tailEnd/>
                    </a:ln>
                    <a:latin typeface="+mn-ea"/>
                    <a:ea typeface="+mn-ea"/>
                    <a:cs typeface="+mn-ea"/>
                  </a:rPr>
                  <a:t>：</a:t>
                </a:r>
              </a:p>
            </p:txBody>
          </p:sp>
        </p:grpSp>
      </p:grpSp>
      <p:grpSp>
        <p:nvGrpSpPr>
          <p:cNvPr id="17" name="Group 24">
            <a:extLst>
              <a:ext uri="{FF2B5EF4-FFF2-40B4-BE49-F238E27FC236}">
                <a16:creationId xmlns:a16="http://schemas.microsoft.com/office/drawing/2014/main" id="{AD45F640-6409-48FF-AF14-4067090E1D75}"/>
              </a:ext>
            </a:extLst>
          </p:cNvPr>
          <p:cNvGrpSpPr>
            <a:grpSpLocks/>
          </p:cNvGrpSpPr>
          <p:nvPr/>
        </p:nvGrpSpPr>
        <p:grpSpPr bwMode="auto">
          <a:xfrm>
            <a:off x="495300" y="5703888"/>
            <a:ext cx="8577263" cy="461962"/>
            <a:chOff x="340" y="3772"/>
            <a:chExt cx="5403" cy="291"/>
          </a:xfrm>
        </p:grpSpPr>
        <p:grpSp>
          <p:nvGrpSpPr>
            <p:cNvPr id="39944" name="Group 25">
              <a:extLst>
                <a:ext uri="{FF2B5EF4-FFF2-40B4-BE49-F238E27FC236}">
                  <a16:creationId xmlns:a16="http://schemas.microsoft.com/office/drawing/2014/main" id="{20C97C1A-D50F-4D5C-986C-82FC4458F149}"/>
                </a:ext>
              </a:extLst>
            </p:cNvPr>
            <p:cNvGrpSpPr>
              <a:grpSpLocks/>
            </p:cNvGrpSpPr>
            <p:nvPr/>
          </p:nvGrpSpPr>
          <p:grpSpPr bwMode="auto">
            <a:xfrm>
              <a:off x="340" y="3839"/>
              <a:ext cx="1179" cy="181"/>
              <a:chOff x="295" y="1881"/>
              <a:chExt cx="1179" cy="181"/>
            </a:xfrm>
          </p:grpSpPr>
          <p:sp>
            <p:nvSpPr>
              <p:cNvPr id="20" name="AutoShape 26">
                <a:extLst>
                  <a:ext uri="{FF2B5EF4-FFF2-40B4-BE49-F238E27FC236}">
                    <a16:creationId xmlns:a16="http://schemas.microsoft.com/office/drawing/2014/main" id="{C2012681-4179-4686-BCCF-90F000C497E9}"/>
                  </a:ext>
                </a:extLst>
              </p:cNvPr>
              <p:cNvSpPr>
                <a:spLocks noChangeArrowheads="1"/>
              </p:cNvSpPr>
              <p:nvPr/>
            </p:nvSpPr>
            <p:spPr bwMode="auto">
              <a:xfrm>
                <a:off x="295" y="1888"/>
                <a:ext cx="164" cy="136"/>
              </a:xfrm>
              <a:prstGeom prst="triangle">
                <a:avLst>
                  <a:gd name="adj" fmla="val 50000"/>
                </a:avLst>
              </a:prstGeom>
              <a:solidFill>
                <a:schemeClr val="accent1"/>
              </a:solidFill>
              <a:ln w="9525">
                <a:solidFill>
                  <a:srgbClr val="008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Times New Roman" panose="02020603050405020304" pitchFamily="18" charset="0"/>
                  <a:ea typeface="+mn-ea"/>
                  <a:cs typeface="Times New Roman" panose="02020603050405020304" pitchFamily="18" charset="0"/>
                </a:endParaRPr>
              </a:p>
            </p:txBody>
          </p:sp>
          <p:sp>
            <p:nvSpPr>
              <p:cNvPr id="41995" name="WordArt 27">
                <a:extLst>
                  <a:ext uri="{FF2B5EF4-FFF2-40B4-BE49-F238E27FC236}">
                    <a16:creationId xmlns:a16="http://schemas.microsoft.com/office/drawing/2014/main" id="{7625E7E2-B02F-4945-825F-2C3E048C8713}"/>
                  </a:ext>
                </a:extLst>
              </p:cNvPr>
              <p:cNvSpPr>
                <a:spLocks noChangeArrowheads="1" noChangeShapeType="1" noTextEdit="1"/>
              </p:cNvSpPr>
              <p:nvPr/>
            </p:nvSpPr>
            <p:spPr bwMode="auto">
              <a:xfrm>
                <a:off x="612" y="1881"/>
                <a:ext cx="862" cy="181"/>
              </a:xfrm>
              <a:prstGeom prst="rect">
                <a:avLst/>
              </a:prstGeom>
            </p:spPr>
            <p:txBody>
              <a:bodyPr wrap="none" fromWordArt="1">
                <a:prstTxWarp prst="textPlain">
                  <a:avLst>
                    <a:gd name="adj" fmla="val 50000"/>
                  </a:avLst>
                </a:prstTxWarp>
              </a:bodyPr>
              <a:lstStyle/>
              <a:p>
                <a:pPr>
                  <a:defRPr/>
                </a:pPr>
                <a:r>
                  <a:rPr lang="zh-CN" altLang="en-US" sz="3600" b="1" kern="10" dirty="0">
                    <a:ln w="9525">
                      <a:solidFill>
                        <a:srgbClr val="333399"/>
                      </a:solidFill>
                      <a:round/>
                      <a:headEnd/>
                      <a:tailEnd/>
                    </a:ln>
                    <a:solidFill>
                      <a:srgbClr val="202AF4"/>
                    </a:solidFill>
                    <a:latin typeface="+mn-ea"/>
                    <a:ea typeface="+mn-ea"/>
                    <a:cs typeface="+mn-ea"/>
                  </a:rPr>
                  <a:t>应用举例</a:t>
                </a:r>
                <a:r>
                  <a:rPr lang="zh-CN" altLang="en-US" sz="3600" b="1" kern="10" dirty="0">
                    <a:ln w="9525">
                      <a:solidFill>
                        <a:srgbClr val="333399"/>
                      </a:solidFill>
                      <a:round/>
                      <a:headEnd/>
                      <a:tailEnd/>
                    </a:ln>
                    <a:latin typeface="+mn-ea"/>
                    <a:ea typeface="+mn-ea"/>
                    <a:cs typeface="+mn-ea"/>
                  </a:rPr>
                  <a:t>：</a:t>
                </a:r>
              </a:p>
            </p:txBody>
          </p:sp>
        </p:grpSp>
        <p:sp>
          <p:nvSpPr>
            <p:cNvPr id="19" name="Text Box 28">
              <a:extLst>
                <a:ext uri="{FF2B5EF4-FFF2-40B4-BE49-F238E27FC236}">
                  <a16:creationId xmlns:a16="http://schemas.microsoft.com/office/drawing/2014/main" id="{0F78D5DA-A29C-4A35-A4AE-E14FDBBA25B9}"/>
                </a:ext>
              </a:extLst>
            </p:cNvPr>
            <p:cNvSpPr txBox="1">
              <a:spLocks noChangeArrowheads="1"/>
            </p:cNvSpPr>
            <p:nvPr/>
          </p:nvSpPr>
          <p:spPr bwMode="auto">
            <a:xfrm>
              <a:off x="1683" y="3772"/>
              <a:ext cx="406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2400" b="1" dirty="0">
                  <a:latin typeface="Times New Roman" panose="02020603050405020304" pitchFamily="18" charset="0"/>
                  <a:ea typeface="+mn-ea"/>
                  <a:cs typeface="Times New Roman" panose="02020603050405020304" pitchFamily="18" charset="0"/>
                </a:rPr>
                <a:t>—— </a:t>
              </a:r>
              <a:r>
                <a:rPr lang="zh-CN" altLang="en-US" sz="2400" b="1" dirty="0">
                  <a:latin typeface="Times New Roman" panose="02020603050405020304" pitchFamily="18" charset="0"/>
                  <a:ea typeface="+mn-ea"/>
                  <a:cs typeface="Times New Roman" panose="02020603050405020304" pitchFamily="18" charset="0"/>
                </a:rPr>
                <a:t>放射性的一个重要应用是</a:t>
              </a:r>
              <a:r>
                <a:rPr lang="zh-CN" altLang="en-US" sz="2400" b="1" dirty="0">
                  <a:solidFill>
                    <a:srgbClr val="00B050"/>
                  </a:solidFill>
                  <a:latin typeface="Times New Roman" panose="02020603050405020304" pitchFamily="18" charset="0"/>
                  <a:ea typeface="+mn-ea"/>
                  <a:cs typeface="Times New Roman" panose="02020603050405020304" pitchFamily="18" charset="0"/>
                </a:rPr>
                <a:t>鉴定古物年龄。</a:t>
              </a:r>
            </a:p>
          </p:txBody>
        </p:sp>
      </p:grpSp>
      <p:sp>
        <p:nvSpPr>
          <p:cNvPr id="22" name="Rectangle 9">
            <a:extLst>
              <a:ext uri="{FF2B5EF4-FFF2-40B4-BE49-F238E27FC236}">
                <a16:creationId xmlns:a16="http://schemas.microsoft.com/office/drawing/2014/main" id="{F494B2C0-CB1E-48B7-A6CC-ADBE5FE4BDDB}"/>
              </a:ext>
            </a:extLst>
          </p:cNvPr>
          <p:cNvSpPr>
            <a:spLocks noChangeArrowheads="1"/>
          </p:cNvSpPr>
          <p:nvPr/>
        </p:nvSpPr>
        <p:spPr bwMode="auto">
          <a:xfrm>
            <a:off x="376238" y="325438"/>
            <a:ext cx="1189037"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defRPr/>
            </a:pPr>
            <a:r>
              <a:rPr lang="zh-CN" altLang="en-US" sz="2400" b="1" dirty="0">
                <a:latin typeface="Times New Roman" panose="02020603050405020304" pitchFamily="18" charset="0"/>
                <a:ea typeface="+mn-ea"/>
                <a:cs typeface="Times New Roman" panose="02020603050405020304" pitchFamily="18" charset="0"/>
              </a:rPr>
              <a:t>例如：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par>
                          <p:cTn id="10" fill="hold" nodeType="afterGroup">
                            <p:stCondLst>
                              <p:cond delay="500"/>
                            </p:stCondLst>
                            <p:childTnLst>
                              <p:par>
                                <p:cTn id="11" presetID="3" presetClass="entr" presetSubtype="10" fill="hold"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blinds(horizontal)">
                                      <p:cBhvr>
                                        <p:cTn id="13" dur="500"/>
                                        <p:tgtEl>
                                          <p:spTgt spid="6"/>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blinds(horizontal)">
                                      <p:cBhvr>
                                        <p:cTn id="18" dur="500"/>
                                        <p:tgtEl>
                                          <p:spTgt spid="9"/>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4" presetClass="entr" presetSubtype="10"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randombar(horizontal)">
                                      <p:cBhvr>
                                        <p:cTn id="23" dur="500"/>
                                        <p:tgtEl>
                                          <p:spTgt spid="12"/>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ipe(left)">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a:extLst>
              <a:ext uri="{FF2B5EF4-FFF2-40B4-BE49-F238E27FC236}">
                <a16:creationId xmlns:a16="http://schemas.microsoft.com/office/drawing/2014/main" id="{65AFA70F-D255-4362-8ACE-0617B55965FA}"/>
              </a:ext>
            </a:extLst>
          </p:cNvPr>
          <p:cNvSpPr/>
          <p:nvPr/>
        </p:nvSpPr>
        <p:spPr>
          <a:xfrm>
            <a:off x="6372225" y="1331913"/>
            <a:ext cx="1671638" cy="873125"/>
          </a:xfrm>
          <a:prstGeom prst="rect">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 name="Text Box 16">
            <a:extLst>
              <a:ext uri="{FF2B5EF4-FFF2-40B4-BE49-F238E27FC236}">
                <a16:creationId xmlns:a16="http://schemas.microsoft.com/office/drawing/2014/main" id="{C15A8EF7-C4E9-4E3C-8728-9B5529281D38}"/>
              </a:ext>
            </a:extLst>
          </p:cNvPr>
          <p:cNvSpPr txBox="1">
            <a:spLocks noChangeArrowheads="1"/>
          </p:cNvSpPr>
          <p:nvPr/>
        </p:nvSpPr>
        <p:spPr bwMode="auto">
          <a:xfrm>
            <a:off x="338138" y="115888"/>
            <a:ext cx="8428037" cy="1708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25000"/>
              </a:lnSpc>
              <a:defRPr/>
            </a:pPr>
            <a:r>
              <a:rPr lang="zh-CN" altLang="en-US" sz="2800" b="1" dirty="0">
                <a:solidFill>
                  <a:srgbClr val="00B050"/>
                </a:solidFill>
                <a:latin typeface="Times New Roman" panose="02020603050405020304" pitchFamily="18" charset="0"/>
                <a:ea typeface="+mn-ea"/>
                <a:cs typeface="Times New Roman" panose="02020603050405020304" pitchFamily="18" charset="0"/>
              </a:rPr>
              <a:t>例</a:t>
            </a:r>
            <a:r>
              <a:rPr lang="en-US" altLang="zh-CN" sz="2800" b="1" dirty="0">
                <a:solidFill>
                  <a:srgbClr val="00B050"/>
                </a:solidFill>
                <a:latin typeface="Times New Roman" panose="02020603050405020304" pitchFamily="18" charset="0"/>
                <a:ea typeface="+mn-ea"/>
                <a:cs typeface="Times New Roman" panose="02020603050405020304" pitchFamily="18" charset="0"/>
              </a:rPr>
              <a:t>2. </a:t>
            </a:r>
            <a:r>
              <a:rPr lang="zh-CN" altLang="en-US" sz="2800" b="1" dirty="0">
                <a:latin typeface="Times New Roman" panose="02020603050405020304" pitchFamily="18" charset="0"/>
                <a:ea typeface="+mn-ea"/>
                <a:cs typeface="Times New Roman" panose="02020603050405020304" pitchFamily="18" charset="0"/>
              </a:rPr>
              <a:t>已知</a:t>
            </a:r>
            <a:r>
              <a:rPr lang="en-US" altLang="zh-CN" sz="2800" b="1" dirty="0">
                <a:latin typeface="Times New Roman" panose="02020603050405020304" pitchFamily="18" charset="0"/>
                <a:ea typeface="+mn-ea"/>
                <a:cs typeface="Times New Roman" panose="02020603050405020304" pitchFamily="18" charset="0"/>
              </a:rPr>
              <a:t>2003</a:t>
            </a:r>
            <a:r>
              <a:rPr lang="zh-CN" altLang="en-US" sz="2800" b="1" dirty="0">
                <a:latin typeface="Times New Roman" panose="02020603050405020304" pitchFamily="18" charset="0"/>
                <a:ea typeface="+mn-ea"/>
                <a:cs typeface="Times New Roman" panose="02020603050405020304" pitchFamily="18" charset="0"/>
              </a:rPr>
              <a:t>年河北省某地考古遗迹中发现有古时的粟。一些这种粟的样品中含有</a:t>
            </a:r>
            <a:r>
              <a:rPr lang="en-US" altLang="zh-CN" sz="2800" b="1" dirty="0">
                <a:solidFill>
                  <a:srgbClr val="00B050"/>
                </a:solidFill>
                <a:latin typeface="Times New Roman" panose="02020603050405020304" pitchFamily="18" charset="0"/>
                <a:ea typeface="+mn-ea"/>
                <a:cs typeface="Times New Roman" panose="02020603050405020304" pitchFamily="18" charset="0"/>
              </a:rPr>
              <a:t>1 g </a:t>
            </a:r>
            <a:r>
              <a:rPr lang="zh-CN" altLang="en-US" sz="2800" b="1" dirty="0">
                <a:solidFill>
                  <a:srgbClr val="00B050"/>
                </a:solidFill>
                <a:latin typeface="Times New Roman" panose="02020603050405020304" pitchFamily="18" charset="0"/>
                <a:ea typeface="+mn-ea"/>
                <a:cs typeface="Times New Roman" panose="02020603050405020304" pitchFamily="18" charset="0"/>
              </a:rPr>
              <a:t>碳</a:t>
            </a:r>
            <a:r>
              <a:rPr lang="zh-CN" altLang="en-US" sz="2800" b="1" dirty="0">
                <a:latin typeface="Times New Roman" panose="02020603050405020304" pitchFamily="18" charset="0"/>
                <a:ea typeface="+mn-ea"/>
                <a:cs typeface="Times New Roman" panose="02020603050405020304" pitchFamily="18" charset="0"/>
              </a:rPr>
              <a:t>，它的</a:t>
            </a:r>
            <a:r>
              <a:rPr lang="zh-CN" altLang="en-US" sz="2800" b="1" dirty="0">
                <a:solidFill>
                  <a:srgbClr val="00B050"/>
                </a:solidFill>
                <a:latin typeface="Times New Roman" panose="02020603050405020304" pitchFamily="18" charset="0"/>
                <a:ea typeface="+mn-ea"/>
                <a:cs typeface="Times New Roman" panose="02020603050405020304" pitchFamily="18" charset="0"/>
              </a:rPr>
              <a:t>活度经测定为 </a:t>
            </a:r>
            <a:r>
              <a:rPr lang="en-US" altLang="zh-CN" sz="2800" b="1" dirty="0">
                <a:solidFill>
                  <a:srgbClr val="00B050"/>
                </a:solidFill>
                <a:latin typeface="Times New Roman" panose="02020603050405020304" pitchFamily="18" charset="0"/>
                <a:ea typeface="+mn-ea"/>
                <a:cs typeface="Times New Roman" panose="02020603050405020304" pitchFamily="18" charset="0"/>
              </a:rPr>
              <a:t>2.8</a:t>
            </a:r>
            <a:r>
              <a:rPr lang="en-US" altLang="zh-CN" sz="2800" b="1" dirty="0">
                <a:solidFill>
                  <a:srgbClr val="00B050"/>
                </a:solidFill>
                <a:latin typeface="Times New Roman" panose="02020603050405020304" pitchFamily="18" charset="0"/>
                <a:ea typeface="+mn-ea"/>
                <a:cs typeface="Times New Roman" panose="02020603050405020304" pitchFamily="18" charset="0"/>
                <a:sym typeface="Symbol" panose="05050102010706020507" pitchFamily="18" charset="2"/>
              </a:rPr>
              <a:t>10</a:t>
            </a:r>
            <a:r>
              <a:rPr lang="en-US" altLang="zh-CN" sz="2800" b="1" baseline="30000" dirty="0">
                <a:solidFill>
                  <a:srgbClr val="00B050"/>
                </a:solidFill>
                <a:latin typeface="Times New Roman" panose="02020603050405020304" pitchFamily="18" charset="0"/>
                <a:ea typeface="+mn-ea"/>
                <a:cs typeface="Times New Roman" panose="02020603050405020304" pitchFamily="18" charset="0"/>
                <a:sym typeface="Symbol" panose="05050102010706020507" pitchFamily="18" charset="2"/>
              </a:rPr>
              <a:t>12</a:t>
            </a:r>
            <a:r>
              <a:rPr lang="en-US" altLang="zh-CN" sz="2800" b="1" dirty="0">
                <a:solidFill>
                  <a:srgbClr val="00B050"/>
                </a:solidFill>
                <a:latin typeface="Times New Roman" panose="02020603050405020304" pitchFamily="18" charset="0"/>
                <a:ea typeface="+mn-ea"/>
                <a:cs typeface="Times New Roman" panose="02020603050405020304" pitchFamily="18" charset="0"/>
                <a:sym typeface="Symbol" panose="05050102010706020507" pitchFamily="18" charset="2"/>
              </a:rPr>
              <a:t> </a:t>
            </a:r>
            <a:r>
              <a:rPr lang="en-US" altLang="zh-CN" sz="2800" b="1" dirty="0" err="1">
                <a:solidFill>
                  <a:srgbClr val="00B050"/>
                </a:solidFill>
                <a:latin typeface="Times New Roman" panose="02020603050405020304" pitchFamily="18" charset="0"/>
                <a:ea typeface="+mn-ea"/>
                <a:cs typeface="Times New Roman" panose="02020603050405020304" pitchFamily="18" charset="0"/>
                <a:sym typeface="Symbol" panose="05050102010706020507" pitchFamily="18" charset="2"/>
              </a:rPr>
              <a:t>Ci</a:t>
            </a:r>
            <a:r>
              <a:rPr lang="zh-CN" altLang="en-US" sz="2800" b="1" dirty="0">
                <a:latin typeface="Times New Roman" panose="02020603050405020304" pitchFamily="18" charset="0"/>
                <a:ea typeface="+mn-ea"/>
                <a:cs typeface="Times New Roman" panose="02020603050405020304" pitchFamily="18" charset="0"/>
                <a:sym typeface="Symbol" panose="05050102010706020507" pitchFamily="18" charset="2"/>
              </a:rPr>
              <a:t>，求</a:t>
            </a:r>
            <a:r>
              <a:rPr lang="zh-CN" altLang="en-US" sz="2800" b="1" dirty="0">
                <a:latin typeface="Times New Roman" panose="02020603050405020304" pitchFamily="18" charset="0"/>
                <a:ea typeface="+mn-ea"/>
                <a:cs typeface="Times New Roman" panose="02020603050405020304" pitchFamily="18" charset="0"/>
              </a:rPr>
              <a:t>这些粟的年龄？ </a:t>
            </a:r>
          </a:p>
        </p:txBody>
      </p:sp>
      <p:sp>
        <p:nvSpPr>
          <p:cNvPr id="4" name="Text Box 21">
            <a:extLst>
              <a:ext uri="{FF2B5EF4-FFF2-40B4-BE49-F238E27FC236}">
                <a16:creationId xmlns:a16="http://schemas.microsoft.com/office/drawing/2014/main" id="{B845AE2A-9124-432F-B25F-CA4F9EAED2BE}"/>
              </a:ext>
            </a:extLst>
          </p:cNvPr>
          <p:cNvSpPr txBox="1">
            <a:spLocks noChangeArrowheads="1"/>
          </p:cNvSpPr>
          <p:nvPr/>
        </p:nvSpPr>
        <p:spPr bwMode="auto">
          <a:xfrm>
            <a:off x="1187450" y="1885950"/>
            <a:ext cx="4013200"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en-US" altLang="zh-CN" sz="2400" b="1" dirty="0">
                <a:latin typeface="Times New Roman" panose="02020603050405020304" pitchFamily="18" charset="0"/>
                <a:ea typeface="+mn-ea"/>
                <a:cs typeface="Times New Roman" panose="02020603050405020304" pitchFamily="18" charset="0"/>
              </a:rPr>
              <a:t>1g </a:t>
            </a:r>
            <a:r>
              <a:rPr lang="zh-CN" altLang="en-US" sz="2400" b="1" dirty="0">
                <a:latin typeface="Times New Roman" panose="02020603050405020304" pitchFamily="18" charset="0"/>
                <a:ea typeface="+mn-ea"/>
                <a:cs typeface="Times New Roman" panose="02020603050405020304" pitchFamily="18" charset="0"/>
              </a:rPr>
              <a:t>新鲜碳中的 </a:t>
            </a:r>
            <a:r>
              <a:rPr lang="en-US" altLang="zh-CN" sz="2400" b="1" baseline="30000" dirty="0">
                <a:latin typeface="Times New Roman" panose="02020603050405020304" pitchFamily="18" charset="0"/>
                <a:ea typeface="+mn-ea"/>
                <a:cs typeface="Times New Roman" panose="02020603050405020304" pitchFamily="18" charset="0"/>
              </a:rPr>
              <a:t>14</a:t>
            </a:r>
            <a:r>
              <a:rPr lang="en-US" altLang="zh-CN" sz="2400" b="1" dirty="0">
                <a:latin typeface="Times New Roman" panose="02020603050405020304" pitchFamily="18" charset="0"/>
                <a:ea typeface="+mn-ea"/>
                <a:cs typeface="Times New Roman" panose="02020603050405020304" pitchFamily="18" charset="0"/>
              </a:rPr>
              <a:t>C </a:t>
            </a:r>
            <a:r>
              <a:rPr lang="zh-CN" altLang="en-US" sz="2400" b="1" dirty="0">
                <a:latin typeface="Times New Roman" panose="02020603050405020304" pitchFamily="18" charset="0"/>
                <a:ea typeface="+mn-ea"/>
                <a:cs typeface="Times New Roman" panose="02020603050405020304" pitchFamily="18" charset="0"/>
              </a:rPr>
              <a:t>核数为 ：</a:t>
            </a:r>
          </a:p>
        </p:txBody>
      </p:sp>
      <p:sp>
        <p:nvSpPr>
          <p:cNvPr id="5" name="Rectangle 25">
            <a:extLst>
              <a:ext uri="{FF2B5EF4-FFF2-40B4-BE49-F238E27FC236}">
                <a16:creationId xmlns:a16="http://schemas.microsoft.com/office/drawing/2014/main" id="{F2E0231C-0148-45E3-8D41-D90163AA5DFF}"/>
              </a:ext>
            </a:extLst>
          </p:cNvPr>
          <p:cNvSpPr>
            <a:spLocks noChangeArrowheads="1"/>
          </p:cNvSpPr>
          <p:nvPr/>
        </p:nvSpPr>
        <p:spPr bwMode="auto">
          <a:xfrm>
            <a:off x="1168400" y="2954338"/>
            <a:ext cx="53927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zh-CN" altLang="en-US" sz="2400" b="1" dirty="0">
                <a:latin typeface="Times New Roman" panose="02020603050405020304" pitchFamily="18" charset="0"/>
                <a:ea typeface="+mn-ea"/>
                <a:cs typeface="Times New Roman" panose="02020603050405020304" pitchFamily="18" charset="0"/>
              </a:rPr>
              <a:t>这些粟的样品活着的时候，活度应为：</a:t>
            </a:r>
          </a:p>
        </p:txBody>
      </p:sp>
      <p:sp>
        <p:nvSpPr>
          <p:cNvPr id="6" name="Text Box 29">
            <a:extLst>
              <a:ext uri="{FF2B5EF4-FFF2-40B4-BE49-F238E27FC236}">
                <a16:creationId xmlns:a16="http://schemas.microsoft.com/office/drawing/2014/main" id="{60AE34D3-536B-4819-902E-479897B062F5}"/>
              </a:ext>
            </a:extLst>
          </p:cNvPr>
          <p:cNvSpPr txBox="1">
            <a:spLocks noChangeArrowheads="1"/>
          </p:cNvSpPr>
          <p:nvPr/>
        </p:nvSpPr>
        <p:spPr bwMode="auto">
          <a:xfrm>
            <a:off x="1187450" y="4594225"/>
            <a:ext cx="3886200"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zh-CN" altLang="en-US" sz="2400" b="1">
                <a:latin typeface="Times New Roman" panose="02020603050405020304" pitchFamily="18" charset="0"/>
                <a:ea typeface="+mn-ea"/>
                <a:cs typeface="Times New Roman" panose="02020603050405020304" pitchFamily="18" charset="0"/>
              </a:rPr>
              <a:t>由于</a:t>
            </a:r>
            <a:r>
              <a:rPr lang="en-US" altLang="zh-CN" sz="2400" b="1" i="1">
                <a:latin typeface="Times New Roman" panose="02020603050405020304" pitchFamily="18" charset="0"/>
                <a:ea typeface="+mn-ea"/>
                <a:cs typeface="Times New Roman" panose="02020603050405020304" pitchFamily="18" charset="0"/>
              </a:rPr>
              <a:t>A</a:t>
            </a:r>
            <a:r>
              <a:rPr lang="en-US" altLang="zh-CN" sz="2400" b="1" i="1" baseline="-25000">
                <a:latin typeface="Times New Roman" panose="02020603050405020304" pitchFamily="18" charset="0"/>
                <a:ea typeface="+mn-ea"/>
                <a:cs typeface="Times New Roman" panose="02020603050405020304" pitchFamily="18" charset="0"/>
              </a:rPr>
              <a:t>t</a:t>
            </a:r>
            <a:r>
              <a:rPr lang="en-US" altLang="zh-CN" sz="2400" b="1">
                <a:latin typeface="Times New Roman" panose="02020603050405020304" pitchFamily="18" charset="0"/>
                <a:ea typeface="+mn-ea"/>
                <a:cs typeface="Times New Roman" panose="02020603050405020304" pitchFamily="18" charset="0"/>
              </a:rPr>
              <a:t>= 2.8</a:t>
            </a:r>
            <a:r>
              <a:rPr lang="en-US" altLang="zh-CN" sz="2400" b="1">
                <a:latin typeface="Times New Roman" panose="02020603050405020304" pitchFamily="18" charset="0"/>
                <a:ea typeface="+mn-ea"/>
                <a:cs typeface="Times New Roman" panose="02020603050405020304" pitchFamily="18" charset="0"/>
                <a:sym typeface="Symbol" panose="05050102010706020507" pitchFamily="18" charset="2"/>
              </a:rPr>
              <a:t>10</a:t>
            </a:r>
            <a:r>
              <a:rPr lang="en-US" altLang="zh-CN" sz="2400" b="1" baseline="30000">
                <a:latin typeface="Times New Roman" panose="02020603050405020304" pitchFamily="18" charset="0"/>
                <a:ea typeface="+mn-ea"/>
                <a:cs typeface="Times New Roman" panose="02020603050405020304" pitchFamily="18" charset="0"/>
                <a:sym typeface="Symbol" panose="05050102010706020507" pitchFamily="18" charset="2"/>
              </a:rPr>
              <a:t>12</a:t>
            </a:r>
            <a:r>
              <a:rPr lang="en-US" altLang="zh-CN" sz="2400" b="1">
                <a:latin typeface="Times New Roman" panose="02020603050405020304" pitchFamily="18" charset="0"/>
                <a:ea typeface="+mn-ea"/>
                <a:cs typeface="Times New Roman" panose="02020603050405020304" pitchFamily="18" charset="0"/>
                <a:sym typeface="Symbol" panose="05050102010706020507" pitchFamily="18" charset="2"/>
              </a:rPr>
              <a:t> Ci</a:t>
            </a:r>
            <a:r>
              <a:rPr lang="en-US" altLang="zh-CN" sz="2400" b="1">
                <a:latin typeface="Times New Roman" panose="02020603050405020304" pitchFamily="18" charset="0"/>
                <a:ea typeface="+mn-ea"/>
                <a:cs typeface="Times New Roman" panose="02020603050405020304" pitchFamily="18" charset="0"/>
              </a:rPr>
              <a:t> </a:t>
            </a:r>
            <a:r>
              <a:rPr lang="zh-CN" altLang="en-US" sz="2400" b="1">
                <a:latin typeface="Times New Roman" panose="02020603050405020304" pitchFamily="18" charset="0"/>
                <a:ea typeface="+mn-ea"/>
                <a:cs typeface="Times New Roman" panose="02020603050405020304" pitchFamily="18" charset="0"/>
              </a:rPr>
              <a:t>，根据</a:t>
            </a:r>
            <a:endParaRPr lang="en-US" altLang="zh-CN" sz="2400" b="1">
              <a:latin typeface="Times New Roman" panose="02020603050405020304" pitchFamily="18" charset="0"/>
              <a:ea typeface="+mn-ea"/>
              <a:cs typeface="Times New Roman" panose="02020603050405020304" pitchFamily="18" charset="0"/>
            </a:endParaRPr>
          </a:p>
        </p:txBody>
      </p:sp>
      <p:sp>
        <p:nvSpPr>
          <p:cNvPr id="7" name="Rectangle 34">
            <a:extLst>
              <a:ext uri="{FF2B5EF4-FFF2-40B4-BE49-F238E27FC236}">
                <a16:creationId xmlns:a16="http://schemas.microsoft.com/office/drawing/2014/main" id="{733D7826-3B2B-40FC-80C8-A16BC84FC101}"/>
              </a:ext>
            </a:extLst>
          </p:cNvPr>
          <p:cNvSpPr>
            <a:spLocks noChangeArrowheads="1"/>
          </p:cNvSpPr>
          <p:nvPr/>
        </p:nvSpPr>
        <p:spPr bwMode="auto">
          <a:xfrm>
            <a:off x="1306513" y="6003925"/>
            <a:ext cx="5699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zh-CN" altLang="en-US" sz="2400" b="1">
                <a:latin typeface="Times New Roman" panose="02020603050405020304" pitchFamily="18" charset="0"/>
                <a:ea typeface="+mn-ea"/>
                <a:cs typeface="Times New Roman" panose="02020603050405020304" pitchFamily="18" charset="0"/>
              </a:rPr>
              <a:t>据考证这些粟是世界上发现的最早的粟。</a:t>
            </a:r>
          </a:p>
        </p:txBody>
      </p:sp>
      <p:graphicFrame>
        <p:nvGraphicFramePr>
          <p:cNvPr id="9" name="Object 45">
            <a:extLst>
              <a:ext uri="{FF2B5EF4-FFF2-40B4-BE49-F238E27FC236}">
                <a16:creationId xmlns:a16="http://schemas.microsoft.com/office/drawing/2014/main" id="{186491F6-EC2C-444D-B65B-6F431E712AB4}"/>
              </a:ext>
            </a:extLst>
          </p:cNvPr>
          <p:cNvGraphicFramePr>
            <a:graphicFrameLocks noChangeAspect="1"/>
          </p:cNvGraphicFramePr>
          <p:nvPr/>
        </p:nvGraphicFramePr>
        <p:xfrm>
          <a:off x="1562100" y="3325813"/>
          <a:ext cx="7200900" cy="887412"/>
        </p:xfrm>
        <a:graphic>
          <a:graphicData uri="http://schemas.openxmlformats.org/presentationml/2006/ole">
            <mc:AlternateContent xmlns:mc="http://schemas.openxmlformats.org/markup-compatibility/2006">
              <mc:Choice xmlns:v="urn:schemas-microsoft-com:vml" Requires="v">
                <p:oleObj spid="_x0000_s40988" name="Equation" r:id="rId3" imgW="3476611" imgH="352350" progId="Equation.DSMT4">
                  <p:embed/>
                </p:oleObj>
              </mc:Choice>
              <mc:Fallback>
                <p:oleObj name="Equation" r:id="rId3" imgW="3476611" imgH="352350" progId="Equation.DSMT4">
                  <p:embed/>
                  <p:pic>
                    <p:nvPicPr>
                      <p:cNvPr id="0" name="Object 4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62100" y="3325813"/>
                        <a:ext cx="7200900" cy="887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 name="Object 47">
            <a:extLst>
              <a:ext uri="{FF2B5EF4-FFF2-40B4-BE49-F238E27FC236}">
                <a16:creationId xmlns:a16="http://schemas.microsoft.com/office/drawing/2014/main" id="{819FCB27-62B1-40B7-9C38-86A6458338FB}"/>
              </a:ext>
            </a:extLst>
          </p:cNvPr>
          <p:cNvGraphicFramePr>
            <a:graphicFrameLocks noChangeAspect="1"/>
          </p:cNvGraphicFramePr>
          <p:nvPr/>
        </p:nvGraphicFramePr>
        <p:xfrm>
          <a:off x="2008188" y="4167188"/>
          <a:ext cx="2009775" cy="460375"/>
        </p:xfrm>
        <a:graphic>
          <a:graphicData uri="http://schemas.openxmlformats.org/presentationml/2006/ole">
            <mc:AlternateContent xmlns:mc="http://schemas.openxmlformats.org/markup-compatibility/2006">
              <mc:Choice xmlns:v="urn:schemas-microsoft-com:vml" Requires="v">
                <p:oleObj spid="_x0000_s40989" name="Equation" r:id="rId5" imgW="904945" imgH="123930" progId="Equation.DSMT4">
                  <p:embed/>
                </p:oleObj>
              </mc:Choice>
              <mc:Fallback>
                <p:oleObj name="Equation" r:id="rId5" imgW="904945" imgH="123930" progId="Equation.DSMT4">
                  <p:embed/>
                  <p:pic>
                    <p:nvPicPr>
                      <p:cNvPr id="0" name="Object 4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08188" y="4167188"/>
                        <a:ext cx="2009775" cy="460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 name="Object 48">
            <a:extLst>
              <a:ext uri="{FF2B5EF4-FFF2-40B4-BE49-F238E27FC236}">
                <a16:creationId xmlns:a16="http://schemas.microsoft.com/office/drawing/2014/main" id="{62D506DE-0840-4727-AC2C-5DBD0016E007}"/>
              </a:ext>
            </a:extLst>
          </p:cNvPr>
          <p:cNvGraphicFramePr>
            <a:graphicFrameLocks noChangeAspect="1"/>
          </p:cNvGraphicFramePr>
          <p:nvPr/>
        </p:nvGraphicFramePr>
        <p:xfrm>
          <a:off x="4951413" y="4532313"/>
          <a:ext cx="3028950" cy="614362"/>
        </p:xfrm>
        <a:graphic>
          <a:graphicData uri="http://schemas.openxmlformats.org/presentationml/2006/ole">
            <mc:AlternateContent xmlns:mc="http://schemas.openxmlformats.org/markup-compatibility/2006">
              <mc:Choice xmlns:v="urn:schemas-microsoft-com:vml" Requires="v">
                <p:oleObj spid="_x0000_s40990" name="Equation" r:id="rId7" imgW="1428733" imgH="228690" progId="Equation.DSMT4">
                  <p:embed/>
                </p:oleObj>
              </mc:Choice>
              <mc:Fallback>
                <p:oleObj name="Equation" r:id="rId7" imgW="1428733" imgH="228690" progId="Equation.DSMT4">
                  <p:embed/>
                  <p:pic>
                    <p:nvPicPr>
                      <p:cNvPr id="0" name="Object 4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951413" y="4532313"/>
                        <a:ext cx="3028950" cy="614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 name="Object 49">
            <a:extLst>
              <a:ext uri="{FF2B5EF4-FFF2-40B4-BE49-F238E27FC236}">
                <a16:creationId xmlns:a16="http://schemas.microsoft.com/office/drawing/2014/main" id="{C0AA893B-6E45-430E-A2E5-0846CD0E36F0}"/>
              </a:ext>
            </a:extLst>
          </p:cNvPr>
          <p:cNvGraphicFramePr>
            <a:graphicFrameLocks noChangeAspect="1"/>
          </p:cNvGraphicFramePr>
          <p:nvPr/>
        </p:nvGraphicFramePr>
        <p:xfrm>
          <a:off x="1646238" y="5062538"/>
          <a:ext cx="6397625" cy="962025"/>
        </p:xfrm>
        <a:graphic>
          <a:graphicData uri="http://schemas.openxmlformats.org/presentationml/2006/ole">
            <mc:AlternateContent xmlns:mc="http://schemas.openxmlformats.org/markup-compatibility/2006">
              <mc:Choice xmlns:v="urn:schemas-microsoft-com:vml" Requires="v">
                <p:oleObj spid="_x0000_s40991" name="Equation" r:id="rId9" imgW="3076544" imgH="390420" progId="Equation.DSMT4">
                  <p:embed/>
                </p:oleObj>
              </mc:Choice>
              <mc:Fallback>
                <p:oleObj name="Equation" r:id="rId9" imgW="3076544" imgH="390420" progId="Equation.DSMT4">
                  <p:embed/>
                  <p:pic>
                    <p:nvPicPr>
                      <p:cNvPr id="0" name="Object 4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646238" y="5062538"/>
                        <a:ext cx="6397625" cy="962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 name="TextBox 8">
            <a:extLst>
              <a:ext uri="{FF2B5EF4-FFF2-40B4-BE49-F238E27FC236}">
                <a16:creationId xmlns:a16="http://schemas.microsoft.com/office/drawing/2014/main" id="{2D23C9C7-63A3-411A-8ADD-644F74DB1BBC}"/>
              </a:ext>
            </a:extLst>
          </p:cNvPr>
          <p:cNvSpPr txBox="1">
            <a:spLocks noChangeArrowheads="1"/>
          </p:cNvSpPr>
          <p:nvPr/>
        </p:nvSpPr>
        <p:spPr bwMode="auto">
          <a:xfrm>
            <a:off x="503238" y="1844675"/>
            <a:ext cx="9271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lang="zh-CN" altLang="en-US" sz="2800" b="1">
                <a:latin typeface="Times New Roman" panose="02020603050405020304" pitchFamily="18" charset="0"/>
                <a:ea typeface="+mn-ea"/>
                <a:cs typeface="Times New Roman" panose="02020603050405020304" pitchFamily="18" charset="0"/>
              </a:rPr>
              <a:t>解：</a:t>
            </a:r>
          </a:p>
        </p:txBody>
      </p:sp>
      <p:graphicFrame>
        <p:nvGraphicFramePr>
          <p:cNvPr id="40973" name="对象 1">
            <a:extLst>
              <a:ext uri="{FF2B5EF4-FFF2-40B4-BE49-F238E27FC236}">
                <a16:creationId xmlns:a16="http://schemas.microsoft.com/office/drawing/2014/main" id="{1D80571D-1DEE-4357-9DFF-880A0B469630}"/>
              </a:ext>
            </a:extLst>
          </p:cNvPr>
          <p:cNvGraphicFramePr>
            <a:graphicFrameLocks noChangeAspect="1"/>
          </p:cNvGraphicFramePr>
          <p:nvPr/>
        </p:nvGraphicFramePr>
        <p:xfrm>
          <a:off x="6516688" y="1754188"/>
          <a:ext cx="1428750" cy="371475"/>
        </p:xfrm>
        <a:graphic>
          <a:graphicData uri="http://schemas.openxmlformats.org/presentationml/2006/ole">
            <mc:AlternateContent xmlns:mc="http://schemas.openxmlformats.org/markup-compatibility/2006">
              <mc:Choice xmlns:v="urn:schemas-microsoft-com:vml" Requires="v">
                <p:oleObj spid="_x0000_s40992" name="Equation" r:id="rId11" imgW="1428733" imgH="371520" progId="Equation.DSMT4">
                  <p:embed/>
                </p:oleObj>
              </mc:Choice>
              <mc:Fallback>
                <p:oleObj name="Equation" r:id="rId11" imgW="1428733" imgH="371520" progId="Equation.DSMT4">
                  <p:embed/>
                  <p:pic>
                    <p:nvPicPr>
                      <p:cNvPr id="0" name="对象 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516688" y="1754188"/>
                        <a:ext cx="1428750"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0974" name="矩形 13">
            <a:extLst>
              <a:ext uri="{FF2B5EF4-FFF2-40B4-BE49-F238E27FC236}">
                <a16:creationId xmlns:a16="http://schemas.microsoft.com/office/drawing/2014/main" id="{E52BE2DD-D8D6-40E7-93BF-9B1DF7024FCB}"/>
              </a:ext>
            </a:extLst>
          </p:cNvPr>
          <p:cNvSpPr>
            <a:spLocks noChangeArrowheads="1"/>
          </p:cNvSpPr>
          <p:nvPr/>
        </p:nvSpPr>
        <p:spPr bwMode="auto">
          <a:xfrm>
            <a:off x="6403975" y="1331913"/>
            <a:ext cx="15414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400" b="1" baseline="30000">
                <a:latin typeface="Times New Roman" panose="02020603050405020304" pitchFamily="18" charset="0"/>
                <a:cs typeface="Times New Roman" panose="02020603050405020304" pitchFamily="18" charset="0"/>
              </a:rPr>
              <a:t>14</a:t>
            </a:r>
            <a:r>
              <a:rPr lang="en-US" altLang="zh-CN" sz="2400" b="1">
                <a:latin typeface="Times New Roman" panose="02020603050405020304" pitchFamily="18" charset="0"/>
                <a:cs typeface="Times New Roman" panose="02020603050405020304" pitchFamily="18" charset="0"/>
              </a:rPr>
              <a:t>C</a:t>
            </a:r>
            <a:r>
              <a:rPr lang="zh-CN" altLang="en-US" sz="2400" b="1">
                <a:latin typeface="Times New Roman" panose="02020603050405020304" pitchFamily="18" charset="0"/>
                <a:cs typeface="Times New Roman" panose="02020603050405020304" pitchFamily="18" charset="0"/>
              </a:rPr>
              <a:t>的丰度</a:t>
            </a:r>
            <a:endParaRPr lang="en-US" altLang="zh-CN" sz="2400"/>
          </a:p>
        </p:txBody>
      </p:sp>
      <p:graphicFrame>
        <p:nvGraphicFramePr>
          <p:cNvPr id="16" name="对象 15">
            <a:extLst>
              <a:ext uri="{FF2B5EF4-FFF2-40B4-BE49-F238E27FC236}">
                <a16:creationId xmlns:a16="http://schemas.microsoft.com/office/drawing/2014/main" id="{90F2DD4B-39CA-4F1A-9B9E-9E3237B77396}"/>
              </a:ext>
            </a:extLst>
          </p:cNvPr>
          <p:cNvGraphicFramePr>
            <a:graphicFrameLocks noChangeAspect="1"/>
          </p:cNvGraphicFramePr>
          <p:nvPr/>
        </p:nvGraphicFramePr>
        <p:xfrm>
          <a:off x="1282700" y="2392363"/>
          <a:ext cx="6538913" cy="534987"/>
        </p:xfrm>
        <a:graphic>
          <a:graphicData uri="http://schemas.openxmlformats.org/presentationml/2006/ole">
            <mc:AlternateContent xmlns:mc="http://schemas.openxmlformats.org/markup-compatibility/2006">
              <mc:Choice xmlns:v="urn:schemas-microsoft-com:vml" Requires="v">
                <p:oleObj spid="_x0000_s40993" name="Equation" r:id="rId13" imgW="2946400" imgH="241300" progId="Equation.DSMT4">
                  <p:embed/>
                </p:oleObj>
              </mc:Choice>
              <mc:Fallback>
                <p:oleObj name="Equation" r:id="rId13" imgW="2946400" imgH="241300" progId="Equation.DSMT4">
                  <p:embed/>
                  <p:pic>
                    <p:nvPicPr>
                      <p:cNvPr id="0" name="对象 1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282700" y="2392363"/>
                        <a:ext cx="6538913"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21"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barn(inVertical)">
                                      <p:cBhvr>
                                        <p:cTn id="12" dur="500"/>
                                        <p:tgtEl>
                                          <p:spTgt spid="1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left)">
                                      <p:cBhvr>
                                        <p:cTn id="22" dur="500"/>
                                        <p:tgtEl>
                                          <p:spTgt spid="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left)">
                                      <p:cBhvr>
                                        <p:cTn id="27" dur="500"/>
                                        <p:tgtEl>
                                          <p:spTgt spid="1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wipe(left)">
                                      <p:cBhvr>
                                        <p:cTn id="32" dur="500"/>
                                        <p:tgtEl>
                                          <p:spTgt spid="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wipe(left)">
                                      <p:cBhvr>
                                        <p:cTn id="37" dur="500"/>
                                        <p:tgtEl>
                                          <p:spTgt spid="11"/>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wipe(left)">
                                      <p:cBhvr>
                                        <p:cTn id="42" dur="500"/>
                                        <p:tgtEl>
                                          <p:spTgt spid="12"/>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7"/>
                                        </p:tgtEl>
                                        <p:attrNameLst>
                                          <p:attrName>style.visibility</p:attrName>
                                        </p:attrNameLst>
                                      </p:cBhvr>
                                      <p:to>
                                        <p:strVal val="visible"/>
                                      </p:to>
                                    </p:set>
                                    <p:animEffect transition="in" filter="wipe(left)">
                                      <p:cBhvr>
                                        <p:cTn id="4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3">
            <a:extLst>
              <a:ext uri="{FF2B5EF4-FFF2-40B4-BE49-F238E27FC236}">
                <a16:creationId xmlns:a16="http://schemas.microsoft.com/office/drawing/2014/main" id="{420CAC86-0734-41AC-AEA7-F053908FC360}"/>
              </a:ext>
            </a:extLst>
          </p:cNvPr>
          <p:cNvSpPr>
            <a:spLocks noChangeArrowheads="1"/>
          </p:cNvSpPr>
          <p:nvPr/>
        </p:nvSpPr>
        <p:spPr bwMode="auto">
          <a:xfrm>
            <a:off x="468313" y="908050"/>
            <a:ext cx="8280400" cy="4660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14350" indent="-51435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buFontTx/>
              <a:buAutoNum type="arabicPeriod"/>
              <a:defRPr/>
            </a:pPr>
            <a:r>
              <a:rPr lang="zh-CN" altLang="en-US" sz="2800" b="1" dirty="0">
                <a:latin typeface="Times New Roman" panose="02020603050405020304" pitchFamily="18" charset="0"/>
                <a:ea typeface="仿宋" panose="02010609060101010101" pitchFamily="49" charset="-122"/>
                <a:cs typeface="Times New Roman" panose="02020603050405020304" pitchFamily="18" charset="0"/>
              </a:rPr>
              <a:t>由于</a:t>
            </a:r>
            <a:r>
              <a:rPr lang="en-US" altLang="zh-CN" sz="2800" b="1" dirty="0">
                <a:solidFill>
                  <a:schemeClr val="accent6"/>
                </a:solidFill>
                <a:latin typeface="Times New Roman" panose="02020603050405020304" pitchFamily="18" charset="0"/>
                <a:ea typeface="仿宋" panose="02010609060101010101" pitchFamily="49" charset="-122"/>
                <a:cs typeface="Times New Roman" panose="02020603050405020304" pitchFamily="18" charset="0"/>
              </a:rPr>
              <a:t>γ</a:t>
            </a:r>
            <a:r>
              <a:rPr lang="zh-CN" altLang="en-US" sz="2800" b="1" dirty="0">
                <a:solidFill>
                  <a:schemeClr val="accent6"/>
                </a:solidFill>
                <a:latin typeface="Times New Roman" panose="02020603050405020304" pitchFamily="18" charset="0"/>
                <a:ea typeface="仿宋" panose="02010609060101010101" pitchFamily="49" charset="-122"/>
                <a:cs typeface="Times New Roman" panose="02020603050405020304" pitchFamily="18" charset="0"/>
              </a:rPr>
              <a:t>射线贯穿本领强</a:t>
            </a:r>
            <a:r>
              <a:rPr lang="zh-CN" altLang="en-US" sz="2800" b="1" dirty="0">
                <a:latin typeface="Times New Roman" panose="02020603050405020304" pitchFamily="18" charset="0"/>
                <a:ea typeface="仿宋" panose="02010609060101010101" pitchFamily="49" charset="-122"/>
                <a:cs typeface="Times New Roman" panose="02020603050405020304" pitchFamily="18" charset="0"/>
              </a:rPr>
              <a:t>，可以用来</a:t>
            </a:r>
            <a:r>
              <a:rPr lang="en-US" altLang="zh-CN" sz="2800" b="1" dirty="0">
                <a:latin typeface="Times New Roman" panose="02020603050405020304" pitchFamily="18" charset="0"/>
                <a:ea typeface="仿宋" panose="02010609060101010101" pitchFamily="49" charset="-122"/>
                <a:cs typeface="Times New Roman" panose="02020603050405020304" pitchFamily="18" charset="0"/>
              </a:rPr>
              <a:t>γ</a:t>
            </a:r>
            <a:r>
              <a:rPr lang="zh-CN" altLang="en-US" sz="2800" b="1" dirty="0">
                <a:latin typeface="Times New Roman" panose="02020603050405020304" pitchFamily="18" charset="0"/>
                <a:ea typeface="仿宋" panose="02010609060101010101" pitchFamily="49" charset="-122"/>
                <a:cs typeface="Times New Roman" panose="02020603050405020304" pitchFamily="18" charset="0"/>
              </a:rPr>
              <a:t>射线检查金属内部有没有砂眼或裂纹，所用的设备叫</a:t>
            </a:r>
            <a:r>
              <a:rPr lang="en-US" altLang="zh-CN" sz="2800" b="1" dirty="0">
                <a:solidFill>
                  <a:schemeClr val="accent6"/>
                </a:solidFill>
                <a:latin typeface="Times New Roman" panose="02020603050405020304" pitchFamily="18" charset="0"/>
                <a:ea typeface="仿宋" panose="02010609060101010101" pitchFamily="49" charset="-122"/>
                <a:cs typeface="Times New Roman" panose="02020603050405020304" pitchFamily="18" charset="0"/>
              </a:rPr>
              <a:t>γ</a:t>
            </a:r>
            <a:r>
              <a:rPr lang="zh-CN" altLang="en-US" sz="2800" b="1" dirty="0">
                <a:solidFill>
                  <a:schemeClr val="accent6"/>
                </a:solidFill>
                <a:latin typeface="Times New Roman" panose="02020603050405020304" pitchFamily="18" charset="0"/>
                <a:ea typeface="仿宋" panose="02010609060101010101" pitchFamily="49" charset="-122"/>
                <a:cs typeface="Times New Roman" panose="02020603050405020304" pitchFamily="18" charset="0"/>
              </a:rPr>
              <a:t>射线探伤仪</a:t>
            </a:r>
            <a:r>
              <a:rPr lang="zh-CN" altLang="en-US" sz="2800" b="1" dirty="0">
                <a:latin typeface="Times New Roman" panose="02020603050405020304" pitchFamily="18" charset="0"/>
                <a:ea typeface="仿宋" panose="02010609060101010101" pitchFamily="49" charset="-122"/>
                <a:cs typeface="Times New Roman" panose="02020603050405020304" pitchFamily="18" charset="0"/>
              </a:rPr>
              <a:t>．</a:t>
            </a:r>
          </a:p>
          <a:p>
            <a:pPr>
              <a:buFontTx/>
              <a:buAutoNum type="arabicPeriod"/>
              <a:defRPr/>
            </a:pPr>
            <a:r>
              <a:rPr lang="zh-CN" altLang="en-US" sz="2800" b="1" dirty="0">
                <a:latin typeface="Times New Roman" panose="02020603050405020304" pitchFamily="18" charset="0"/>
                <a:ea typeface="仿宋" panose="02010609060101010101" pitchFamily="49" charset="-122"/>
                <a:cs typeface="Times New Roman" panose="02020603050405020304" pitchFamily="18" charset="0"/>
              </a:rPr>
              <a:t>利用射线的穿透本领与物质厚度密度的关系，来检查各种产品的厚度和密封容器中液体的高度等，从而实现自动控制。</a:t>
            </a:r>
          </a:p>
          <a:p>
            <a:pPr>
              <a:buFontTx/>
              <a:buAutoNum type="arabicPeriod"/>
              <a:defRPr/>
            </a:pPr>
            <a:r>
              <a:rPr lang="zh-CN" altLang="en-US" sz="2800" b="1" dirty="0">
                <a:latin typeface="Times New Roman" panose="02020603050405020304" pitchFamily="18" charset="0"/>
                <a:ea typeface="仿宋" panose="02010609060101010101" pitchFamily="49" charset="-122"/>
                <a:cs typeface="Times New Roman" panose="02020603050405020304" pitchFamily="18" charset="0"/>
              </a:rPr>
              <a:t>利用射线使空气电离而把空气变成导电气体，以消除化纤、纺织品上的静电。</a:t>
            </a:r>
          </a:p>
          <a:p>
            <a:pPr>
              <a:buFontTx/>
              <a:buAutoNum type="arabicPeriod"/>
              <a:defRPr/>
            </a:pPr>
            <a:r>
              <a:rPr lang="zh-CN" altLang="en-US" sz="2800" b="1" dirty="0">
                <a:latin typeface="Times New Roman" panose="02020603050405020304" pitchFamily="18" charset="0"/>
                <a:ea typeface="仿宋" panose="02010609060101010101" pitchFamily="49" charset="-122"/>
                <a:cs typeface="Times New Roman" panose="02020603050405020304" pitchFamily="18" charset="0"/>
              </a:rPr>
              <a:t>利用射线照射植物，引起植物变异而培育良种，也可以利用它杀菌、治病等</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Effect transition="in" filter="blinds(horizontal)">
                                      <p:cBhvr>
                                        <p:cTn id="7" dur="500"/>
                                        <p:tgtEl>
                                          <p:spTgt spid="1024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0243">
                                            <p:txEl>
                                              <p:pRg st="1" end="1"/>
                                            </p:txEl>
                                          </p:spTgt>
                                        </p:tgtEl>
                                        <p:attrNameLst>
                                          <p:attrName>style.visibility</p:attrName>
                                        </p:attrNameLst>
                                      </p:cBhvr>
                                      <p:to>
                                        <p:strVal val="visible"/>
                                      </p:to>
                                    </p:set>
                                    <p:animEffect transition="in" filter="blinds(horizontal)">
                                      <p:cBhvr>
                                        <p:cTn id="12" dur="500"/>
                                        <p:tgtEl>
                                          <p:spTgt spid="1024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10243">
                                            <p:txEl>
                                              <p:pRg st="2" end="2"/>
                                            </p:txEl>
                                          </p:spTgt>
                                        </p:tgtEl>
                                        <p:attrNameLst>
                                          <p:attrName>style.visibility</p:attrName>
                                        </p:attrNameLst>
                                      </p:cBhvr>
                                      <p:to>
                                        <p:strVal val="visible"/>
                                      </p:to>
                                    </p:set>
                                    <p:animEffect transition="in" filter="blinds(horizontal)">
                                      <p:cBhvr>
                                        <p:cTn id="17" dur="500"/>
                                        <p:tgtEl>
                                          <p:spTgt spid="1024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10243">
                                            <p:txEl>
                                              <p:pRg st="3" end="3"/>
                                            </p:txEl>
                                          </p:spTgt>
                                        </p:tgtEl>
                                        <p:attrNameLst>
                                          <p:attrName>style.visibility</p:attrName>
                                        </p:attrNameLst>
                                      </p:cBhvr>
                                      <p:to>
                                        <p:strVal val="visible"/>
                                      </p:to>
                                    </p:set>
                                    <p:animEffect transition="in" filter="blinds(horizontal)">
                                      <p:cBhvr>
                                        <p:cTn id="22" dur="500"/>
                                        <p:tgtEl>
                                          <p:spTgt spid="1024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Text Box 4">
            <a:extLst>
              <a:ext uri="{FF2B5EF4-FFF2-40B4-BE49-F238E27FC236}">
                <a16:creationId xmlns:a16="http://schemas.microsoft.com/office/drawing/2014/main" id="{A169D922-F2AF-4C82-8583-C4C3C90736FF}"/>
              </a:ext>
            </a:extLst>
          </p:cNvPr>
          <p:cNvSpPr txBox="1">
            <a:spLocks noChangeArrowheads="1"/>
          </p:cNvSpPr>
          <p:nvPr/>
        </p:nvSpPr>
        <p:spPr bwMode="auto">
          <a:xfrm>
            <a:off x="179388" y="692150"/>
            <a:ext cx="5329237" cy="5133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nSpc>
                <a:spcPct val="130000"/>
              </a:lnSpc>
              <a:spcBef>
                <a:spcPct val="50000"/>
              </a:spcBef>
              <a:buFontTx/>
              <a:buNone/>
            </a:pPr>
            <a:r>
              <a:rPr lang="zh-CN" altLang="en-US" sz="2800" b="1">
                <a:latin typeface="仿宋" panose="02010609060101010101" pitchFamily="49" charset="-122"/>
                <a:ea typeface="仿宋" panose="02010609060101010101" pitchFamily="49" charset="-122"/>
              </a:rPr>
              <a:t>    棉花在结桃、开花的时候需要较多的磷肥，利用磷的放射性同位素制成肥料喷在棉花叶面上，被植物吸收，然后每隔一定时间用探测器测量棉株各部位的放射性强度，就可知道什么时候磷的吸收率最高、磷在作物体内能存留多长时间、磷在作物体内的分布情况等，</a:t>
            </a:r>
          </a:p>
        </p:txBody>
      </p:sp>
      <p:pic>
        <p:nvPicPr>
          <p:cNvPr id="12293" name="Picture 5" descr="16-20">
            <a:extLst>
              <a:ext uri="{FF2B5EF4-FFF2-40B4-BE49-F238E27FC236}">
                <a16:creationId xmlns:a16="http://schemas.microsoft.com/office/drawing/2014/main" id="{3DF3E00A-A813-434C-BAB0-FDC21190F9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6456" t="3877" r="6670" b="4156"/>
          <a:stretch>
            <a:fillRect/>
          </a:stretch>
        </p:blipFill>
        <p:spPr bwMode="auto">
          <a:xfrm>
            <a:off x="5470525" y="692150"/>
            <a:ext cx="3638550" cy="4822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292"/>
                                        </p:tgtEl>
                                        <p:attrNameLst>
                                          <p:attrName>style.visibility</p:attrName>
                                        </p:attrNameLst>
                                      </p:cBhvr>
                                      <p:to>
                                        <p:strVal val="visible"/>
                                      </p:to>
                                    </p:set>
                                    <p:animEffect transition="in" filter="blinds(horizontal)">
                                      <p:cBhvr>
                                        <p:cTn id="7" dur="500"/>
                                        <p:tgtEl>
                                          <p:spTgt spid="1229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3" presetClass="entr" presetSubtype="16" fill="hold" nodeType="clickEffect">
                                  <p:stCondLst>
                                    <p:cond delay="0"/>
                                  </p:stCondLst>
                                  <p:childTnLst>
                                    <p:set>
                                      <p:cBhvr>
                                        <p:cTn id="11" dur="1" fill="hold">
                                          <p:stCondLst>
                                            <p:cond delay="0"/>
                                          </p:stCondLst>
                                        </p:cTn>
                                        <p:tgtEl>
                                          <p:spTgt spid="12293"/>
                                        </p:tgtEl>
                                        <p:attrNameLst>
                                          <p:attrName>style.visibility</p:attrName>
                                        </p:attrNameLst>
                                      </p:cBhvr>
                                      <p:to>
                                        <p:strVal val="visible"/>
                                      </p:to>
                                    </p:set>
                                    <p:anim calcmode="lin" valueType="num">
                                      <p:cBhvr>
                                        <p:cTn id="12" dur="1000" fill="hold"/>
                                        <p:tgtEl>
                                          <p:spTgt spid="12293"/>
                                        </p:tgtEl>
                                        <p:attrNameLst>
                                          <p:attrName>ppt_w</p:attrName>
                                        </p:attrNameLst>
                                      </p:cBhvr>
                                      <p:tavLst>
                                        <p:tav tm="0">
                                          <p:val>
                                            <p:fltVal val="0"/>
                                          </p:val>
                                        </p:tav>
                                        <p:tav tm="100000">
                                          <p:val>
                                            <p:strVal val="#ppt_w"/>
                                          </p:val>
                                        </p:tav>
                                      </p:tavLst>
                                    </p:anim>
                                    <p:anim calcmode="lin" valueType="num">
                                      <p:cBhvr>
                                        <p:cTn id="13" dur="1000" fill="hold"/>
                                        <p:tgtEl>
                                          <p:spTgt spid="12293"/>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2" grpId="0"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034" name="Picture 2" descr="利用钴60的γ射线治疗癌症">
            <a:extLst>
              <a:ext uri="{FF2B5EF4-FFF2-40B4-BE49-F238E27FC236}">
                <a16:creationId xmlns:a16="http://schemas.microsoft.com/office/drawing/2014/main" id="{859578F5-BDBC-49AC-A385-EBFE246032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371600"/>
            <a:ext cx="5472113" cy="3635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035" name="Text Box 3">
            <a:extLst>
              <a:ext uri="{FF2B5EF4-FFF2-40B4-BE49-F238E27FC236}">
                <a16:creationId xmlns:a16="http://schemas.microsoft.com/office/drawing/2014/main" id="{CBA65230-F119-42F0-B9E1-4231F772AC10}"/>
              </a:ext>
            </a:extLst>
          </p:cNvPr>
          <p:cNvSpPr txBox="1">
            <a:spLocks noChangeArrowheads="1"/>
          </p:cNvSpPr>
          <p:nvPr/>
        </p:nvSpPr>
        <p:spPr bwMode="auto">
          <a:xfrm>
            <a:off x="395288" y="288925"/>
            <a:ext cx="8915400" cy="522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 typeface="Wingdings" panose="05000000000000000000" pitchFamily="2" charset="2"/>
              <a:buChar char="Ø"/>
            </a:pPr>
            <a:r>
              <a:rPr lang="zh-CN" altLang="en-US" sz="2800" b="1">
                <a:latin typeface="华文仿宋" panose="02010600040101010101" pitchFamily="2" charset="-122"/>
                <a:ea typeface="华文仿宋" panose="02010600040101010101" pitchFamily="2" charset="-122"/>
              </a:rPr>
              <a:t>利用钴</a:t>
            </a:r>
            <a:r>
              <a:rPr lang="en-US" altLang="zh-CN" sz="2800" b="1">
                <a:latin typeface="华文仿宋" panose="02010600040101010101" pitchFamily="2" charset="-122"/>
                <a:ea typeface="华文仿宋" panose="02010600040101010101" pitchFamily="2" charset="-122"/>
              </a:rPr>
              <a:t>60</a:t>
            </a:r>
            <a:r>
              <a:rPr lang="zh-CN" altLang="en-US" sz="2800" b="1">
                <a:latin typeface="华文仿宋" panose="02010600040101010101" pitchFamily="2" charset="-122"/>
                <a:ea typeface="华文仿宋" panose="02010600040101010101" pitchFamily="2" charset="-122"/>
              </a:rPr>
              <a:t>的</a:t>
            </a:r>
            <a:r>
              <a:rPr lang="en-US" altLang="zh-CN" sz="2800" b="1">
                <a:latin typeface="华文仿宋" panose="02010600040101010101" pitchFamily="2" charset="-122"/>
                <a:ea typeface="华文仿宋" panose="02010600040101010101" pitchFamily="2" charset="-122"/>
              </a:rPr>
              <a:t>γ</a:t>
            </a:r>
            <a:r>
              <a:rPr lang="zh-CN" altLang="en-US" sz="2800" b="1">
                <a:latin typeface="华文仿宋" panose="02010600040101010101" pitchFamily="2" charset="-122"/>
                <a:ea typeface="华文仿宋" panose="02010600040101010101" pitchFamily="2" charset="-122"/>
              </a:rPr>
              <a:t>射线治疗癌症（放疗）</a:t>
            </a:r>
          </a:p>
        </p:txBody>
      </p:sp>
      <p:pic>
        <p:nvPicPr>
          <p:cNvPr id="44036" name="Picture 4" descr="放射线的应用">
            <a:extLst>
              <a:ext uri="{FF2B5EF4-FFF2-40B4-BE49-F238E27FC236}">
                <a16:creationId xmlns:a16="http://schemas.microsoft.com/office/drawing/2014/main" id="{CE63D5E8-BC9F-493F-BD54-A693AFA556C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86400" y="1371600"/>
            <a:ext cx="3629025" cy="470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4" descr="butu36">
            <a:extLst>
              <a:ext uri="{FF2B5EF4-FFF2-40B4-BE49-F238E27FC236}">
                <a16:creationId xmlns:a16="http://schemas.microsoft.com/office/drawing/2014/main" id="{28036563-A92E-4B05-B59B-97232AAFA71D}"/>
              </a:ext>
            </a:extLst>
          </p:cNvPr>
          <p:cNvPicPr>
            <a:picLocks noChangeAspect="1" noChangeArrowheads="1"/>
          </p:cNvPicPr>
          <p:nvPr/>
        </p:nvPicPr>
        <p:blipFill>
          <a:blip r:embed="rId4">
            <a:lum contrast="18000"/>
            <a:extLst>
              <a:ext uri="{28A0092B-C50C-407E-A947-70E740481C1C}">
                <a14:useLocalDpi xmlns:a14="http://schemas.microsoft.com/office/drawing/2010/main" val="0"/>
              </a:ext>
            </a:extLst>
          </a:blip>
          <a:srcRect/>
          <a:stretch>
            <a:fillRect/>
          </a:stretch>
        </p:blipFill>
        <p:spPr bwMode="auto">
          <a:xfrm>
            <a:off x="1379538" y="1371600"/>
            <a:ext cx="6156325" cy="424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7" descr="1">
            <a:extLst>
              <a:ext uri="{FF2B5EF4-FFF2-40B4-BE49-F238E27FC236}">
                <a16:creationId xmlns:a16="http://schemas.microsoft.com/office/drawing/2014/main" id="{C3F24844-3574-4F68-A9E1-4474D71E1E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0513" y="3357563"/>
            <a:ext cx="4800600" cy="2873375"/>
          </a:xfrm>
          <a:prstGeom prst="rect">
            <a:avLst/>
          </a:prstGeom>
          <a:noFill/>
          <a:ln w="57150">
            <a:solidFill>
              <a:srgbClr val="9999FF"/>
            </a:solidFill>
            <a:miter lim="800000"/>
            <a:headEnd/>
            <a:tailEnd/>
          </a:ln>
          <a:extLst>
            <a:ext uri="{909E8E84-426E-40DD-AFC4-6F175D3DCCD1}">
              <a14:hiddenFill xmlns:a14="http://schemas.microsoft.com/office/drawing/2010/main">
                <a:solidFill>
                  <a:srgbClr val="FFFFFF"/>
                </a:solidFill>
              </a14:hiddenFill>
            </a:ext>
          </a:extLst>
        </p:spPr>
      </p:pic>
      <p:sp>
        <p:nvSpPr>
          <p:cNvPr id="4" name="Text Box 8">
            <a:extLst>
              <a:ext uri="{FF2B5EF4-FFF2-40B4-BE49-F238E27FC236}">
                <a16:creationId xmlns:a16="http://schemas.microsoft.com/office/drawing/2014/main" id="{2360C1A2-D02B-4F04-A285-305DCC06B874}"/>
              </a:ext>
            </a:extLst>
          </p:cNvPr>
          <p:cNvSpPr txBox="1">
            <a:spLocks noChangeArrowheads="1"/>
          </p:cNvSpPr>
          <p:nvPr/>
        </p:nvSpPr>
        <p:spPr bwMode="auto">
          <a:xfrm>
            <a:off x="595313" y="1771650"/>
            <a:ext cx="3276600" cy="646113"/>
          </a:xfrm>
          <a:prstGeom prst="rect">
            <a:avLst/>
          </a:prstGeom>
          <a:noFill/>
          <a:ln w="28575">
            <a:solidFill>
              <a:srgbClr val="9999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kumimoji="1" lang="en-US" altLang="zh-CN" sz="1800" b="1">
                <a:latin typeface="仿宋" panose="02010609060101010101" pitchFamily="49" charset="-122"/>
                <a:ea typeface="仿宋" panose="02010609060101010101" pitchFamily="49" charset="-122"/>
              </a:rPr>
              <a:t>20</a:t>
            </a:r>
            <a:r>
              <a:rPr kumimoji="1" lang="zh-CN" altLang="en-US" sz="1800" b="1">
                <a:latin typeface="仿宋" panose="02010609060101010101" pitchFamily="49" charset="-122"/>
                <a:ea typeface="仿宋" panose="02010609060101010101" pitchFamily="49" charset="-122"/>
              </a:rPr>
              <a:t>世纪初期人们在毫无防备的情况下研究放射性</a:t>
            </a:r>
          </a:p>
        </p:txBody>
      </p:sp>
      <p:pic>
        <p:nvPicPr>
          <p:cNvPr id="5" name="Picture 9" descr="yzwl01">
            <a:extLst>
              <a:ext uri="{FF2B5EF4-FFF2-40B4-BE49-F238E27FC236}">
                <a16:creationId xmlns:a16="http://schemas.microsoft.com/office/drawing/2014/main" id="{6C64AB89-0B3D-4289-A302-16B227B115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76713" y="1238250"/>
            <a:ext cx="4419600" cy="2667000"/>
          </a:xfrm>
          <a:prstGeom prst="rect">
            <a:avLst/>
          </a:prstGeom>
          <a:noFill/>
          <a:ln w="57150">
            <a:solidFill>
              <a:srgbClr val="9999FF"/>
            </a:solidFill>
            <a:miter lim="800000"/>
            <a:headEnd/>
            <a:tailEnd/>
          </a:ln>
          <a:extLst>
            <a:ext uri="{909E8E84-426E-40DD-AFC4-6F175D3DCCD1}">
              <a14:hiddenFill xmlns:a14="http://schemas.microsoft.com/office/drawing/2010/main">
                <a:solidFill>
                  <a:srgbClr val="FFFFFF"/>
                </a:solidFill>
              </a14:hiddenFill>
            </a:ext>
          </a:extLst>
        </p:spPr>
      </p:pic>
      <p:sp>
        <p:nvSpPr>
          <p:cNvPr id="6" name="Text Box 11">
            <a:extLst>
              <a:ext uri="{FF2B5EF4-FFF2-40B4-BE49-F238E27FC236}">
                <a16:creationId xmlns:a16="http://schemas.microsoft.com/office/drawing/2014/main" id="{0C547473-82ED-4F60-AD54-C8FB06CC0B85}"/>
              </a:ext>
            </a:extLst>
          </p:cNvPr>
          <p:cNvSpPr txBox="1">
            <a:spLocks noChangeArrowheads="1"/>
          </p:cNvSpPr>
          <p:nvPr/>
        </p:nvSpPr>
        <p:spPr bwMode="auto">
          <a:xfrm>
            <a:off x="5624513" y="4895850"/>
            <a:ext cx="2332037" cy="369888"/>
          </a:xfrm>
          <a:prstGeom prst="rect">
            <a:avLst/>
          </a:prstGeom>
          <a:noFill/>
          <a:ln w="38100">
            <a:solidFill>
              <a:srgbClr val="9999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kumimoji="1" lang="zh-CN" altLang="en-US" sz="1800" b="1">
                <a:latin typeface="仿宋" panose="02010609060101010101" pitchFamily="49" charset="-122"/>
                <a:ea typeface="仿宋" panose="02010609060101010101" pitchFamily="49" charset="-122"/>
              </a:rPr>
              <a:t>遭原子弹炸后的广岛</a:t>
            </a:r>
          </a:p>
        </p:txBody>
      </p:sp>
      <p:sp>
        <p:nvSpPr>
          <p:cNvPr id="45062" name="Text Box 3">
            <a:extLst>
              <a:ext uri="{FF2B5EF4-FFF2-40B4-BE49-F238E27FC236}">
                <a16:creationId xmlns:a16="http://schemas.microsoft.com/office/drawing/2014/main" id="{9975FDF4-5A5A-46BA-AC0A-BDA86C0483E8}"/>
              </a:ext>
            </a:extLst>
          </p:cNvPr>
          <p:cNvSpPr txBox="1">
            <a:spLocks noChangeArrowheads="1"/>
          </p:cNvSpPr>
          <p:nvPr/>
        </p:nvSpPr>
        <p:spPr bwMode="auto">
          <a:xfrm>
            <a:off x="395288" y="288925"/>
            <a:ext cx="8915400" cy="522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 typeface="Wingdings" panose="05000000000000000000" pitchFamily="2" charset="2"/>
              <a:buChar char="Ø"/>
            </a:pPr>
            <a:r>
              <a:rPr lang="zh-CN" altLang="en-US" sz="2800" b="1">
                <a:latin typeface="华文仿宋" panose="02010600040101010101" pitchFamily="2" charset="-122"/>
                <a:ea typeface="华文仿宋" panose="02010600040101010101" pitchFamily="2" charset="-122"/>
              </a:rPr>
              <a:t>放射性的污染和防护</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ox(in)">
                                      <p:cBhvr>
                                        <p:cTn id="7" dur="500"/>
                                        <p:tgtEl>
                                          <p:spTgt spid="3"/>
                                        </p:tgtEl>
                                      </p:cBhvr>
                                    </p:animEffect>
                                  </p:childTnLst>
                                </p:cTn>
                              </p:par>
                            </p:childTnLst>
                          </p:cTn>
                        </p:par>
                        <p:par>
                          <p:cTn id="8" fill="hold" nodeType="afterGroup">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dissolve">
                                      <p:cBhvr>
                                        <p:cTn id="11" dur="500"/>
                                        <p:tgtEl>
                                          <p:spTgt spid="6"/>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4" presetClass="entr" presetSubtype="16" fill="hold" nodeType="click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box(in)">
                                      <p:cBhvr>
                                        <p:cTn id="16" dur="500"/>
                                        <p:tgtEl>
                                          <p:spTgt spid="5"/>
                                        </p:tgtEl>
                                      </p:cBhvr>
                                    </p:animEffect>
                                  </p:childTnLst>
                                </p:cTn>
                              </p:par>
                            </p:childTnLst>
                          </p:cTn>
                        </p:par>
                        <p:par>
                          <p:cTn id="17" fill="hold" nodeType="afterGroup">
                            <p:stCondLst>
                              <p:cond delay="500"/>
                            </p:stCondLst>
                            <p:childTnLst>
                              <p:par>
                                <p:cTn id="18" presetID="9" presetClass="entr" presetSubtype="0" fill="hold" grpId="0" nodeType="after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dissolve">
                                      <p:cBhvr>
                                        <p:cTn id="2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autoUpdateAnimBg="0"/>
      <p:bldP spid="6" grpId="0" animBg="1"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ext Box 6">
            <a:extLst>
              <a:ext uri="{FF2B5EF4-FFF2-40B4-BE49-F238E27FC236}">
                <a16:creationId xmlns:a16="http://schemas.microsoft.com/office/drawing/2014/main" id="{587CF6DD-5266-4C53-877F-64703BCBEC84}"/>
              </a:ext>
            </a:extLst>
          </p:cNvPr>
          <p:cNvSpPr txBox="1">
            <a:spLocks noChangeArrowheads="1"/>
          </p:cNvSpPr>
          <p:nvPr/>
        </p:nvSpPr>
        <p:spPr bwMode="auto">
          <a:xfrm>
            <a:off x="455613" y="5911850"/>
            <a:ext cx="8712200" cy="522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en-US" altLang="zh-CN" sz="2800" b="1">
                <a:latin typeface="仿宋" panose="02010609060101010101" pitchFamily="49" charset="-122"/>
                <a:ea typeface="仿宋" panose="02010609060101010101" pitchFamily="49" charset="-122"/>
              </a:rPr>
              <a:t>1986</a:t>
            </a:r>
            <a:r>
              <a:rPr lang="zh-CN" altLang="en-US" sz="2800" b="1">
                <a:latin typeface="仿宋" panose="02010609060101010101" pitchFamily="49" charset="-122"/>
                <a:ea typeface="仿宋" panose="02010609060101010101" pitchFamily="49" charset="-122"/>
              </a:rPr>
              <a:t>年</a:t>
            </a:r>
            <a:r>
              <a:rPr lang="en-US" altLang="zh-CN" sz="2800" b="1">
                <a:latin typeface="仿宋" panose="02010609060101010101" pitchFamily="49" charset="-122"/>
                <a:ea typeface="仿宋" panose="02010609060101010101" pitchFamily="49" charset="-122"/>
              </a:rPr>
              <a:t>4</a:t>
            </a:r>
            <a:r>
              <a:rPr lang="zh-CN" altLang="en-US" sz="2800" b="1">
                <a:latin typeface="仿宋" panose="02010609060101010101" pitchFamily="49" charset="-122"/>
                <a:ea typeface="仿宋" panose="02010609060101010101" pitchFamily="49" charset="-122"/>
              </a:rPr>
              <a:t>月</a:t>
            </a:r>
            <a:r>
              <a:rPr lang="en-US" altLang="zh-CN" sz="2800" b="1">
                <a:latin typeface="仿宋" panose="02010609060101010101" pitchFamily="49" charset="-122"/>
                <a:ea typeface="仿宋" panose="02010609060101010101" pitchFamily="49" charset="-122"/>
              </a:rPr>
              <a:t>26</a:t>
            </a:r>
            <a:r>
              <a:rPr lang="zh-CN" altLang="en-US" sz="2800" b="1">
                <a:latin typeface="仿宋" panose="02010609060101010101" pitchFamily="49" charset="-122"/>
                <a:ea typeface="仿宋" panose="02010609060101010101" pitchFamily="49" charset="-122"/>
              </a:rPr>
              <a:t>日苏联发生切尔诺贝利核泄漏事故 </a:t>
            </a:r>
          </a:p>
        </p:txBody>
      </p:sp>
      <p:pic>
        <p:nvPicPr>
          <p:cNvPr id="46083" name="Picture 7" descr="F200709041505243217528360">
            <a:extLst>
              <a:ext uri="{FF2B5EF4-FFF2-40B4-BE49-F238E27FC236}">
                <a16:creationId xmlns:a16="http://schemas.microsoft.com/office/drawing/2014/main" id="{79DF8A09-52F9-4526-883B-1C4CF33F5B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1475" y="765175"/>
            <a:ext cx="4344988" cy="4824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6084" name="Picture 9" descr="W020070426475929564739">
            <a:extLst>
              <a:ext uri="{FF2B5EF4-FFF2-40B4-BE49-F238E27FC236}">
                <a16:creationId xmlns:a16="http://schemas.microsoft.com/office/drawing/2014/main" id="{A39A458C-1692-4C51-B099-CDB94AC180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3000" y="620713"/>
            <a:ext cx="3506788" cy="5060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descr="辐射监测仪">
            <a:extLst>
              <a:ext uri="{FF2B5EF4-FFF2-40B4-BE49-F238E27FC236}">
                <a16:creationId xmlns:a16="http://schemas.microsoft.com/office/drawing/2014/main" id="{3C45B921-55B0-4828-BE1C-DD6BC63EEF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088" y="1416050"/>
            <a:ext cx="2163762" cy="2590800"/>
          </a:xfrm>
          <a:prstGeom prst="rect">
            <a:avLst/>
          </a:prstGeom>
          <a:noFill/>
          <a:ln w="57150">
            <a:solidFill>
              <a:srgbClr val="9999FF"/>
            </a:solidFill>
            <a:miter lim="800000"/>
            <a:headEnd/>
            <a:tailEnd/>
          </a:ln>
          <a:extLst>
            <a:ext uri="{909E8E84-426E-40DD-AFC4-6F175D3DCCD1}">
              <a14:hiddenFill xmlns:a14="http://schemas.microsoft.com/office/drawing/2010/main">
                <a:solidFill>
                  <a:srgbClr val="FFFFFF"/>
                </a:solidFill>
              </a14:hiddenFill>
            </a:ext>
          </a:extLst>
        </p:spPr>
      </p:pic>
      <p:pic>
        <p:nvPicPr>
          <p:cNvPr id="3" name="Picture 7" descr="危险辐射的屏蔽">
            <a:extLst>
              <a:ext uri="{FF2B5EF4-FFF2-40B4-BE49-F238E27FC236}">
                <a16:creationId xmlns:a16="http://schemas.microsoft.com/office/drawing/2014/main" id="{5F5E7E33-387F-4CA2-81DB-619491574E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46888" y="730250"/>
            <a:ext cx="1741487" cy="2057400"/>
          </a:xfrm>
          <a:prstGeom prst="rect">
            <a:avLst/>
          </a:prstGeom>
          <a:noFill/>
          <a:ln w="57150">
            <a:solidFill>
              <a:srgbClr val="9999FF"/>
            </a:solidFill>
            <a:miter lim="800000"/>
            <a:headEnd/>
            <a:tailEnd/>
          </a:ln>
          <a:extLst>
            <a:ext uri="{909E8E84-426E-40DD-AFC4-6F175D3DCCD1}">
              <a14:hiddenFill xmlns:a14="http://schemas.microsoft.com/office/drawing/2010/main">
                <a:solidFill>
                  <a:srgbClr val="FFFFFF"/>
                </a:solidFill>
              </a14:hiddenFill>
            </a:ext>
          </a:extLst>
        </p:spPr>
      </p:pic>
      <p:pic>
        <p:nvPicPr>
          <p:cNvPr id="4" name="Picture 8" descr="放大了1000倍的铀矿石">
            <a:extLst>
              <a:ext uri="{FF2B5EF4-FFF2-40B4-BE49-F238E27FC236}">
                <a16:creationId xmlns:a16="http://schemas.microsoft.com/office/drawing/2014/main" id="{3E626315-0D21-44B1-B353-D82F2E31893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98888" y="1797050"/>
            <a:ext cx="1978025" cy="1981200"/>
          </a:xfrm>
          <a:prstGeom prst="rect">
            <a:avLst/>
          </a:prstGeom>
          <a:noFill/>
          <a:ln w="57150">
            <a:solidFill>
              <a:srgbClr val="9999FF"/>
            </a:solidFill>
            <a:miter lim="800000"/>
            <a:headEnd/>
            <a:tailEnd/>
          </a:ln>
          <a:extLst>
            <a:ext uri="{909E8E84-426E-40DD-AFC4-6F175D3DCCD1}">
              <a14:hiddenFill xmlns:a14="http://schemas.microsoft.com/office/drawing/2010/main">
                <a:solidFill>
                  <a:srgbClr val="FFFFFF"/>
                </a:solidFill>
              </a14:hiddenFill>
            </a:ext>
          </a:extLst>
        </p:spPr>
      </p:pic>
      <p:sp>
        <p:nvSpPr>
          <p:cNvPr id="5" name="Text Box 9">
            <a:extLst>
              <a:ext uri="{FF2B5EF4-FFF2-40B4-BE49-F238E27FC236}">
                <a16:creationId xmlns:a16="http://schemas.microsoft.com/office/drawing/2014/main" id="{EBD87F94-267C-4074-9D8C-7370FB4E7D84}"/>
              </a:ext>
            </a:extLst>
          </p:cNvPr>
          <p:cNvSpPr txBox="1">
            <a:spLocks noChangeArrowheads="1"/>
          </p:cNvSpPr>
          <p:nvPr/>
        </p:nvSpPr>
        <p:spPr bwMode="auto">
          <a:xfrm>
            <a:off x="979488" y="1111250"/>
            <a:ext cx="1905000" cy="406400"/>
          </a:xfrm>
          <a:prstGeom prst="rect">
            <a:avLst/>
          </a:prstGeom>
          <a:solidFill>
            <a:schemeClr val="bg1"/>
          </a:solidFill>
          <a:ln w="9525">
            <a:solidFill>
              <a:srgbClr val="9999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50000"/>
              </a:spcBef>
              <a:buFontTx/>
              <a:buNone/>
            </a:pPr>
            <a:r>
              <a:rPr kumimoji="1" lang="zh-CN" altLang="en-US" sz="2000">
                <a:latin typeface="Times New Roman" panose="02020603050405020304" pitchFamily="18" charset="0"/>
                <a:ea typeface="华文楷体" panose="02010600040101010101" pitchFamily="2" charset="-122"/>
              </a:rPr>
              <a:t>检测辐射装置</a:t>
            </a:r>
          </a:p>
        </p:txBody>
      </p:sp>
      <p:sp>
        <p:nvSpPr>
          <p:cNvPr id="6" name="Line 10">
            <a:extLst>
              <a:ext uri="{FF2B5EF4-FFF2-40B4-BE49-F238E27FC236}">
                <a16:creationId xmlns:a16="http://schemas.microsoft.com/office/drawing/2014/main" id="{30C89253-B386-4FB5-ACAC-406698836626}"/>
              </a:ext>
            </a:extLst>
          </p:cNvPr>
          <p:cNvSpPr>
            <a:spLocks noChangeShapeType="1"/>
          </p:cNvSpPr>
          <p:nvPr/>
        </p:nvSpPr>
        <p:spPr bwMode="auto">
          <a:xfrm flipH="1">
            <a:off x="3036888" y="1797050"/>
            <a:ext cx="762000" cy="0"/>
          </a:xfrm>
          <a:prstGeom prst="line">
            <a:avLst/>
          </a:prstGeom>
          <a:noFill/>
          <a:ln w="57150">
            <a:solidFill>
              <a:srgbClr val="9999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 name="Line 11">
            <a:extLst>
              <a:ext uri="{FF2B5EF4-FFF2-40B4-BE49-F238E27FC236}">
                <a16:creationId xmlns:a16="http://schemas.microsoft.com/office/drawing/2014/main" id="{4AFF5C2C-67C4-4610-BBA9-6339148C0836}"/>
              </a:ext>
            </a:extLst>
          </p:cNvPr>
          <p:cNvSpPr>
            <a:spLocks noChangeShapeType="1"/>
          </p:cNvSpPr>
          <p:nvPr/>
        </p:nvSpPr>
        <p:spPr bwMode="auto">
          <a:xfrm>
            <a:off x="5780088" y="1720850"/>
            <a:ext cx="1066800" cy="0"/>
          </a:xfrm>
          <a:prstGeom prst="line">
            <a:avLst/>
          </a:prstGeom>
          <a:noFill/>
          <a:ln w="57150">
            <a:solidFill>
              <a:srgbClr val="9999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pic>
        <p:nvPicPr>
          <p:cNvPr id="8" name="Picture 12" descr="闸门式全身污染检测仪">
            <a:extLst>
              <a:ext uri="{FF2B5EF4-FFF2-40B4-BE49-F238E27FC236}">
                <a16:creationId xmlns:a16="http://schemas.microsoft.com/office/drawing/2014/main" id="{CF862220-5305-466E-8A73-F21437E73B6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99288" y="3016250"/>
            <a:ext cx="1600200" cy="2590800"/>
          </a:xfrm>
          <a:prstGeom prst="rect">
            <a:avLst/>
          </a:prstGeom>
          <a:noFill/>
          <a:ln w="57150">
            <a:solidFill>
              <a:srgbClr val="9999FF"/>
            </a:solidFill>
            <a:miter lim="800000"/>
            <a:headEnd/>
            <a:tailEnd/>
          </a:ln>
          <a:extLst>
            <a:ext uri="{909E8E84-426E-40DD-AFC4-6F175D3DCCD1}">
              <a14:hiddenFill xmlns:a14="http://schemas.microsoft.com/office/drawing/2010/main">
                <a:solidFill>
                  <a:srgbClr val="FFFFFF"/>
                </a:solidFill>
              </a14:hiddenFill>
            </a:ext>
          </a:extLst>
        </p:spPr>
      </p:pic>
      <p:sp>
        <p:nvSpPr>
          <p:cNvPr id="9" name="Line 13">
            <a:extLst>
              <a:ext uri="{FF2B5EF4-FFF2-40B4-BE49-F238E27FC236}">
                <a16:creationId xmlns:a16="http://schemas.microsoft.com/office/drawing/2014/main" id="{FDF6130B-ABD0-4B11-BE2B-37CD8E083EEE}"/>
              </a:ext>
            </a:extLst>
          </p:cNvPr>
          <p:cNvSpPr>
            <a:spLocks noChangeShapeType="1"/>
          </p:cNvSpPr>
          <p:nvPr/>
        </p:nvSpPr>
        <p:spPr bwMode="auto">
          <a:xfrm>
            <a:off x="3798888" y="3778250"/>
            <a:ext cx="0" cy="381000"/>
          </a:xfrm>
          <a:prstGeom prst="line">
            <a:avLst/>
          </a:prstGeom>
          <a:noFill/>
          <a:ln w="57150">
            <a:solidFill>
              <a:srgbClr val="9999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pic>
        <p:nvPicPr>
          <p:cNvPr id="10" name="Picture 14" descr="辐射检测系统">
            <a:extLst>
              <a:ext uri="{FF2B5EF4-FFF2-40B4-BE49-F238E27FC236}">
                <a16:creationId xmlns:a16="http://schemas.microsoft.com/office/drawing/2014/main" id="{220C7608-5BCB-47F8-AEFD-41DF2799402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03288" y="4235450"/>
            <a:ext cx="5715000" cy="1585913"/>
          </a:xfrm>
          <a:prstGeom prst="rect">
            <a:avLst/>
          </a:prstGeom>
          <a:noFill/>
          <a:ln w="57150">
            <a:solidFill>
              <a:srgbClr val="9999FF"/>
            </a:solidFill>
            <a:miter lim="800000"/>
            <a:headEnd/>
            <a:tailEnd/>
          </a:ln>
          <a:extLst>
            <a:ext uri="{909E8E84-426E-40DD-AFC4-6F175D3DCCD1}">
              <a14:hiddenFill xmlns:a14="http://schemas.microsoft.com/office/drawing/2010/main">
                <a:solidFill>
                  <a:srgbClr val="FFFFFF"/>
                </a:solidFill>
              </a14:hiddenFill>
            </a:ext>
          </a:extLst>
        </p:spPr>
      </p:pic>
      <p:sp>
        <p:nvSpPr>
          <p:cNvPr id="11" name="Text Box 15">
            <a:extLst>
              <a:ext uri="{FF2B5EF4-FFF2-40B4-BE49-F238E27FC236}">
                <a16:creationId xmlns:a16="http://schemas.microsoft.com/office/drawing/2014/main" id="{3E45A1D1-3D50-4AEB-9516-D5C5A93A3713}"/>
              </a:ext>
            </a:extLst>
          </p:cNvPr>
          <p:cNvSpPr txBox="1">
            <a:spLocks noChangeArrowheads="1"/>
          </p:cNvSpPr>
          <p:nvPr/>
        </p:nvSpPr>
        <p:spPr bwMode="auto">
          <a:xfrm>
            <a:off x="8523288" y="3168650"/>
            <a:ext cx="381000" cy="2235200"/>
          </a:xfrm>
          <a:prstGeom prst="rect">
            <a:avLst/>
          </a:prstGeom>
          <a:solidFill>
            <a:schemeClr val="bg1"/>
          </a:solidFill>
          <a:ln w="9525">
            <a:solidFill>
              <a:srgbClr val="9999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kumimoji="1" lang="zh-CN" altLang="en-US" sz="2000">
                <a:latin typeface="Times New Roman" panose="02020603050405020304" pitchFamily="18" charset="0"/>
                <a:ea typeface="华文楷体" panose="02010600040101010101" pitchFamily="2" charset="-122"/>
              </a:rPr>
              <a:t>全身污染检测仪</a:t>
            </a:r>
          </a:p>
        </p:txBody>
      </p:sp>
      <p:sp>
        <p:nvSpPr>
          <p:cNvPr id="12" name="Line 16">
            <a:extLst>
              <a:ext uri="{FF2B5EF4-FFF2-40B4-BE49-F238E27FC236}">
                <a16:creationId xmlns:a16="http://schemas.microsoft.com/office/drawing/2014/main" id="{A5A152E8-0760-45CF-B62E-0EFB9568DDF3}"/>
              </a:ext>
            </a:extLst>
          </p:cNvPr>
          <p:cNvSpPr>
            <a:spLocks noChangeShapeType="1"/>
          </p:cNvSpPr>
          <p:nvPr/>
        </p:nvSpPr>
        <p:spPr bwMode="auto">
          <a:xfrm>
            <a:off x="5856288" y="3778250"/>
            <a:ext cx="1143000" cy="0"/>
          </a:xfrm>
          <a:prstGeom prst="line">
            <a:avLst/>
          </a:prstGeom>
          <a:noFill/>
          <a:ln w="57150">
            <a:solidFill>
              <a:srgbClr val="9999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 name="Text Box 17">
            <a:extLst>
              <a:ext uri="{FF2B5EF4-FFF2-40B4-BE49-F238E27FC236}">
                <a16:creationId xmlns:a16="http://schemas.microsoft.com/office/drawing/2014/main" id="{8A3EA91E-4C9A-4786-A352-667ABBFFCA72}"/>
              </a:ext>
            </a:extLst>
          </p:cNvPr>
          <p:cNvSpPr txBox="1">
            <a:spLocks noChangeArrowheads="1"/>
          </p:cNvSpPr>
          <p:nvPr/>
        </p:nvSpPr>
        <p:spPr bwMode="auto">
          <a:xfrm>
            <a:off x="2503488" y="5759450"/>
            <a:ext cx="1752600" cy="406400"/>
          </a:xfrm>
          <a:prstGeom prst="rect">
            <a:avLst/>
          </a:prstGeom>
          <a:solidFill>
            <a:schemeClr val="bg1"/>
          </a:solidFill>
          <a:ln w="9525">
            <a:solidFill>
              <a:srgbClr val="9999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50000"/>
              </a:spcBef>
              <a:buFontTx/>
              <a:buNone/>
            </a:pPr>
            <a:r>
              <a:rPr kumimoji="1" lang="zh-CN" altLang="en-US" sz="2000">
                <a:latin typeface="Times New Roman" panose="02020603050405020304" pitchFamily="18" charset="0"/>
                <a:ea typeface="华文楷体" panose="02010600040101010101" pitchFamily="2" charset="-122"/>
              </a:rPr>
              <a:t>辐射检测系统</a:t>
            </a:r>
          </a:p>
        </p:txBody>
      </p:sp>
      <p:sp>
        <p:nvSpPr>
          <p:cNvPr id="14" name="Text Box 19">
            <a:extLst>
              <a:ext uri="{FF2B5EF4-FFF2-40B4-BE49-F238E27FC236}">
                <a16:creationId xmlns:a16="http://schemas.microsoft.com/office/drawing/2014/main" id="{7B9CE319-2FFE-440B-A62A-0A909AD0E743}"/>
              </a:ext>
            </a:extLst>
          </p:cNvPr>
          <p:cNvSpPr txBox="1">
            <a:spLocks noChangeArrowheads="1"/>
          </p:cNvSpPr>
          <p:nvPr/>
        </p:nvSpPr>
        <p:spPr bwMode="auto">
          <a:xfrm>
            <a:off x="3875088" y="1873250"/>
            <a:ext cx="533400" cy="369888"/>
          </a:xfrm>
          <a:prstGeom prst="rect">
            <a:avLst/>
          </a:prstGeom>
          <a:solidFill>
            <a:schemeClr val="bg1"/>
          </a:solidFill>
          <a:ln w="9525">
            <a:solidFill>
              <a:srgbClr val="9999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kumimoji="1" lang="zh-CN" altLang="en-US" sz="1800">
                <a:latin typeface="Times New Roman" panose="02020603050405020304" pitchFamily="18" charset="0"/>
                <a:ea typeface="华文楷体" panose="02010600040101010101" pitchFamily="2" charset="-122"/>
              </a:rPr>
              <a:t>铀</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ox(in)">
                                      <p:cBhvr>
                                        <p:cTn id="7" dur="500"/>
                                        <p:tgtEl>
                                          <p:spTgt spid="4"/>
                                        </p:tgtEl>
                                      </p:cBhvr>
                                    </p:animEffect>
                                  </p:childTnLst>
                                </p:cTn>
                              </p:par>
                            </p:childTnLst>
                          </p:cTn>
                        </p:par>
                        <p:par>
                          <p:cTn id="8" fill="hold" nodeType="afterGroup">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dissolve">
                                      <p:cBhvr>
                                        <p:cTn id="11" dur="500"/>
                                        <p:tgtEl>
                                          <p:spTgt spid="14"/>
                                        </p:tgtEl>
                                      </p:cBhvr>
                                    </p:animEffect>
                                  </p:childTnLst>
                                </p:cTn>
                              </p:par>
                            </p:childTnLst>
                          </p:cTn>
                        </p:par>
                        <p:par>
                          <p:cTn id="12" fill="hold" nodeType="afterGroup">
                            <p:stCondLst>
                              <p:cond delay="1000"/>
                            </p:stCondLst>
                            <p:childTnLst>
                              <p:par>
                                <p:cTn id="13" presetID="9" presetClass="entr" presetSubtype="0" fill="hold"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dissolve">
                                      <p:cBhvr>
                                        <p:cTn id="15" dur="500"/>
                                        <p:tgtEl>
                                          <p:spTgt spid="6"/>
                                        </p:tgtEl>
                                      </p:cBhvr>
                                    </p:animEffect>
                                  </p:childTnLst>
                                </p:cTn>
                              </p:par>
                            </p:childTnLst>
                          </p:cTn>
                        </p:par>
                        <p:par>
                          <p:cTn id="16" fill="hold" nodeType="afterGroup">
                            <p:stCondLst>
                              <p:cond delay="1500"/>
                            </p:stCondLst>
                            <p:childTnLst>
                              <p:par>
                                <p:cTn id="17" presetID="4" presetClass="entr" presetSubtype="16" fill="hold" nodeType="after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box(in)">
                                      <p:cBhvr>
                                        <p:cTn id="19" dur="500"/>
                                        <p:tgtEl>
                                          <p:spTgt spid="2"/>
                                        </p:tgtEl>
                                      </p:cBhvr>
                                    </p:animEffect>
                                  </p:childTnLst>
                                </p:cTn>
                              </p:par>
                            </p:childTnLst>
                          </p:cTn>
                        </p:par>
                        <p:par>
                          <p:cTn id="20" fill="hold" nodeType="afterGroup">
                            <p:stCondLst>
                              <p:cond delay="2000"/>
                            </p:stCondLst>
                            <p:childTnLst>
                              <p:par>
                                <p:cTn id="21" presetID="9" presetClass="entr" presetSubtype="0" fill="hold" grpId="0" nodeType="after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dissolve">
                                      <p:cBhvr>
                                        <p:cTn id="23" dur="500"/>
                                        <p:tgtEl>
                                          <p:spTgt spid="5"/>
                                        </p:tgtEl>
                                      </p:cBhvr>
                                    </p:animEffect>
                                  </p:childTnLst>
                                </p:cTn>
                              </p:par>
                            </p:childTnLst>
                          </p:cTn>
                        </p:par>
                        <p:par>
                          <p:cTn id="24" fill="hold" nodeType="afterGroup">
                            <p:stCondLst>
                              <p:cond delay="2500"/>
                            </p:stCondLst>
                            <p:childTnLst>
                              <p:par>
                                <p:cTn id="25" presetID="9" presetClass="entr" presetSubtype="0" fill="hold" nodeType="after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dissolve">
                                      <p:cBhvr>
                                        <p:cTn id="27" dur="500"/>
                                        <p:tgtEl>
                                          <p:spTgt spid="7"/>
                                        </p:tgtEl>
                                      </p:cBhvr>
                                    </p:animEffect>
                                  </p:childTnLst>
                                </p:cTn>
                              </p:par>
                            </p:childTnLst>
                          </p:cTn>
                        </p:par>
                        <p:par>
                          <p:cTn id="28" fill="hold" nodeType="afterGroup">
                            <p:stCondLst>
                              <p:cond delay="3000"/>
                            </p:stCondLst>
                            <p:childTnLst>
                              <p:par>
                                <p:cTn id="29" presetID="4" presetClass="entr" presetSubtype="16" fill="hold" nodeType="afterEffect">
                                  <p:stCondLst>
                                    <p:cond delay="0"/>
                                  </p:stCondLst>
                                  <p:childTnLst>
                                    <p:set>
                                      <p:cBhvr>
                                        <p:cTn id="30" dur="1" fill="hold">
                                          <p:stCondLst>
                                            <p:cond delay="0"/>
                                          </p:stCondLst>
                                        </p:cTn>
                                        <p:tgtEl>
                                          <p:spTgt spid="3"/>
                                        </p:tgtEl>
                                        <p:attrNameLst>
                                          <p:attrName>style.visibility</p:attrName>
                                        </p:attrNameLst>
                                      </p:cBhvr>
                                      <p:to>
                                        <p:strVal val="visible"/>
                                      </p:to>
                                    </p:set>
                                    <p:animEffect transition="in" filter="box(in)">
                                      <p:cBhvr>
                                        <p:cTn id="31" dur="500"/>
                                        <p:tgtEl>
                                          <p:spTgt spid="3"/>
                                        </p:tgtEl>
                                      </p:cBhvr>
                                    </p:animEffect>
                                  </p:childTnLst>
                                </p:cTn>
                              </p:par>
                            </p:childTnLst>
                          </p:cTn>
                        </p:par>
                        <p:par>
                          <p:cTn id="32" fill="hold" nodeType="afterGroup">
                            <p:stCondLst>
                              <p:cond delay="3500"/>
                            </p:stCondLst>
                            <p:childTnLst>
                              <p:par>
                                <p:cTn id="33" presetID="9" presetClass="entr" presetSubtype="0" fill="hold" nodeType="after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dissolve">
                                      <p:cBhvr>
                                        <p:cTn id="35" dur="500"/>
                                        <p:tgtEl>
                                          <p:spTgt spid="12"/>
                                        </p:tgtEl>
                                      </p:cBhvr>
                                    </p:animEffect>
                                  </p:childTnLst>
                                </p:cTn>
                              </p:par>
                            </p:childTnLst>
                          </p:cTn>
                        </p:par>
                        <p:par>
                          <p:cTn id="36" fill="hold" nodeType="afterGroup">
                            <p:stCondLst>
                              <p:cond delay="4000"/>
                            </p:stCondLst>
                            <p:childTnLst>
                              <p:par>
                                <p:cTn id="37" presetID="4" presetClass="entr" presetSubtype="16" fill="hold" nodeType="after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box(in)">
                                      <p:cBhvr>
                                        <p:cTn id="39" dur="500"/>
                                        <p:tgtEl>
                                          <p:spTgt spid="8"/>
                                        </p:tgtEl>
                                      </p:cBhvr>
                                    </p:animEffect>
                                  </p:childTnLst>
                                </p:cTn>
                              </p:par>
                            </p:childTnLst>
                          </p:cTn>
                        </p:par>
                        <p:par>
                          <p:cTn id="40" fill="hold" nodeType="afterGroup">
                            <p:stCondLst>
                              <p:cond delay="4500"/>
                            </p:stCondLst>
                            <p:childTnLst>
                              <p:par>
                                <p:cTn id="41" presetID="9" presetClass="entr" presetSubtype="0" fill="hold" grpId="0" nodeType="afterEffect">
                                  <p:stCondLst>
                                    <p:cond delay="0"/>
                                  </p:stCondLst>
                                  <p:childTnLst>
                                    <p:set>
                                      <p:cBhvr>
                                        <p:cTn id="42" dur="1" fill="hold">
                                          <p:stCondLst>
                                            <p:cond delay="0"/>
                                          </p:stCondLst>
                                        </p:cTn>
                                        <p:tgtEl>
                                          <p:spTgt spid="11"/>
                                        </p:tgtEl>
                                        <p:attrNameLst>
                                          <p:attrName>style.visibility</p:attrName>
                                        </p:attrNameLst>
                                      </p:cBhvr>
                                      <p:to>
                                        <p:strVal val="visible"/>
                                      </p:to>
                                    </p:set>
                                    <p:animEffect transition="in" filter="dissolve">
                                      <p:cBhvr>
                                        <p:cTn id="43" dur="500"/>
                                        <p:tgtEl>
                                          <p:spTgt spid="11"/>
                                        </p:tgtEl>
                                      </p:cBhvr>
                                    </p:animEffect>
                                  </p:childTnLst>
                                </p:cTn>
                              </p:par>
                            </p:childTnLst>
                          </p:cTn>
                        </p:par>
                        <p:par>
                          <p:cTn id="44" fill="hold" nodeType="afterGroup">
                            <p:stCondLst>
                              <p:cond delay="5000"/>
                            </p:stCondLst>
                            <p:childTnLst>
                              <p:par>
                                <p:cTn id="45" presetID="9" presetClass="entr" presetSubtype="0" fill="hold" nodeType="afterEffect">
                                  <p:stCondLst>
                                    <p:cond delay="0"/>
                                  </p:stCondLst>
                                  <p:childTnLst>
                                    <p:set>
                                      <p:cBhvr>
                                        <p:cTn id="46" dur="1" fill="hold">
                                          <p:stCondLst>
                                            <p:cond delay="0"/>
                                          </p:stCondLst>
                                        </p:cTn>
                                        <p:tgtEl>
                                          <p:spTgt spid="9"/>
                                        </p:tgtEl>
                                        <p:attrNameLst>
                                          <p:attrName>style.visibility</p:attrName>
                                        </p:attrNameLst>
                                      </p:cBhvr>
                                      <p:to>
                                        <p:strVal val="visible"/>
                                      </p:to>
                                    </p:set>
                                    <p:animEffect transition="in" filter="dissolve">
                                      <p:cBhvr>
                                        <p:cTn id="47" dur="500"/>
                                        <p:tgtEl>
                                          <p:spTgt spid="9"/>
                                        </p:tgtEl>
                                      </p:cBhvr>
                                    </p:animEffect>
                                  </p:childTnLst>
                                </p:cTn>
                              </p:par>
                            </p:childTnLst>
                          </p:cTn>
                        </p:par>
                        <p:par>
                          <p:cTn id="48" fill="hold" nodeType="afterGroup">
                            <p:stCondLst>
                              <p:cond delay="5500"/>
                            </p:stCondLst>
                            <p:childTnLst>
                              <p:par>
                                <p:cTn id="49" presetID="4" presetClass="entr" presetSubtype="16" fill="hold" nodeType="afterEffect">
                                  <p:stCondLst>
                                    <p:cond delay="0"/>
                                  </p:stCondLst>
                                  <p:childTnLst>
                                    <p:set>
                                      <p:cBhvr>
                                        <p:cTn id="50" dur="1" fill="hold">
                                          <p:stCondLst>
                                            <p:cond delay="0"/>
                                          </p:stCondLst>
                                        </p:cTn>
                                        <p:tgtEl>
                                          <p:spTgt spid="10"/>
                                        </p:tgtEl>
                                        <p:attrNameLst>
                                          <p:attrName>style.visibility</p:attrName>
                                        </p:attrNameLst>
                                      </p:cBhvr>
                                      <p:to>
                                        <p:strVal val="visible"/>
                                      </p:to>
                                    </p:set>
                                    <p:animEffect transition="in" filter="box(in)">
                                      <p:cBhvr>
                                        <p:cTn id="51" dur="500"/>
                                        <p:tgtEl>
                                          <p:spTgt spid="10"/>
                                        </p:tgtEl>
                                      </p:cBhvr>
                                    </p:animEffect>
                                  </p:childTnLst>
                                </p:cTn>
                              </p:par>
                            </p:childTnLst>
                          </p:cTn>
                        </p:par>
                        <p:par>
                          <p:cTn id="52" fill="hold" nodeType="afterGroup">
                            <p:stCondLst>
                              <p:cond delay="6000"/>
                            </p:stCondLst>
                            <p:childTnLst>
                              <p:par>
                                <p:cTn id="53" presetID="9" presetClass="entr" presetSubtype="0" fill="hold" grpId="0" nodeType="afterEffect">
                                  <p:stCondLst>
                                    <p:cond delay="0"/>
                                  </p:stCondLst>
                                  <p:childTnLst>
                                    <p:set>
                                      <p:cBhvr>
                                        <p:cTn id="54" dur="1" fill="hold">
                                          <p:stCondLst>
                                            <p:cond delay="0"/>
                                          </p:stCondLst>
                                        </p:cTn>
                                        <p:tgtEl>
                                          <p:spTgt spid="13"/>
                                        </p:tgtEl>
                                        <p:attrNameLst>
                                          <p:attrName>style.visibility</p:attrName>
                                        </p:attrNameLst>
                                      </p:cBhvr>
                                      <p:to>
                                        <p:strVal val="visible"/>
                                      </p:to>
                                    </p:set>
                                    <p:animEffect transition="in" filter="dissolve">
                                      <p:cBhvr>
                                        <p:cTn id="5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autoUpdateAnimBg="0"/>
      <p:bldP spid="11" grpId="0" animBg="1" autoUpdateAnimBg="0"/>
      <p:bldP spid="13" grpId="0" animBg="1" autoUpdateAnimBg="0"/>
      <p:bldP spid="14" grpId="0" animBg="1"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descr="19">
            <a:extLst>
              <a:ext uri="{FF2B5EF4-FFF2-40B4-BE49-F238E27FC236}">
                <a16:creationId xmlns:a16="http://schemas.microsoft.com/office/drawing/2014/main" id="{1DD3C78E-39E3-4B43-8620-D5C62FE0F5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950" y="1052513"/>
            <a:ext cx="7416800" cy="4789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5" descr="xinsrc_302090120201121810006122">
            <a:extLst>
              <a:ext uri="{FF2B5EF4-FFF2-40B4-BE49-F238E27FC236}">
                <a16:creationId xmlns:a16="http://schemas.microsoft.com/office/drawing/2014/main" id="{A8BCAC12-0913-4B75-A147-AE074BAA6D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95513" y="1196975"/>
            <a:ext cx="6804025" cy="451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32" name="Text Box 7">
            <a:extLst>
              <a:ext uri="{FF2B5EF4-FFF2-40B4-BE49-F238E27FC236}">
                <a16:creationId xmlns:a16="http://schemas.microsoft.com/office/drawing/2014/main" id="{DC94C626-B774-44E3-820D-4DFCE86DB15A}"/>
              </a:ext>
            </a:extLst>
          </p:cNvPr>
          <p:cNvSpPr txBox="1">
            <a:spLocks noChangeArrowheads="1"/>
          </p:cNvSpPr>
          <p:nvPr/>
        </p:nvSpPr>
        <p:spPr bwMode="auto">
          <a:xfrm>
            <a:off x="3203575" y="404813"/>
            <a:ext cx="273526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zh-CN" altLang="en-US">
                <a:ea typeface="黑体" panose="02010609060101010101" pitchFamily="49" charset="-122"/>
              </a:rPr>
              <a:t>秦山核电站</a:t>
            </a:r>
          </a:p>
        </p:txBody>
      </p:sp>
      <p:sp>
        <p:nvSpPr>
          <p:cNvPr id="5" name="Text Box 8">
            <a:extLst>
              <a:ext uri="{FF2B5EF4-FFF2-40B4-BE49-F238E27FC236}">
                <a16:creationId xmlns:a16="http://schemas.microsoft.com/office/drawing/2014/main" id="{A18705B6-F147-4A5F-B431-64F0E2E37A0A}"/>
              </a:ext>
            </a:extLst>
          </p:cNvPr>
          <p:cNvSpPr txBox="1">
            <a:spLocks noChangeArrowheads="1"/>
          </p:cNvSpPr>
          <p:nvPr/>
        </p:nvSpPr>
        <p:spPr bwMode="auto">
          <a:xfrm>
            <a:off x="323850" y="5876925"/>
            <a:ext cx="61198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kumimoji="1" lang="zh-CN" altLang="en-US">
                <a:latin typeface="Times New Roman" panose="02020603050405020304" pitchFamily="18" charset="0"/>
                <a:ea typeface="黑体" panose="02010609060101010101" pitchFamily="49" charset="-122"/>
              </a:rPr>
              <a:t>核反应堆外层的厚厚的水泥建筑</a:t>
            </a:r>
          </a:p>
        </p:txBody>
      </p:sp>
      <p:sp>
        <p:nvSpPr>
          <p:cNvPr id="6" name="Text Box 9">
            <a:extLst>
              <a:ext uri="{FF2B5EF4-FFF2-40B4-BE49-F238E27FC236}">
                <a16:creationId xmlns:a16="http://schemas.microsoft.com/office/drawing/2014/main" id="{45029F1E-BB99-46EE-89C8-F0918858F6C8}"/>
              </a:ext>
            </a:extLst>
          </p:cNvPr>
          <p:cNvSpPr txBox="1">
            <a:spLocks noChangeArrowheads="1"/>
          </p:cNvSpPr>
          <p:nvPr/>
        </p:nvSpPr>
        <p:spPr bwMode="auto">
          <a:xfrm>
            <a:off x="2700338" y="3644900"/>
            <a:ext cx="33115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kumimoji="1" lang="zh-CN" altLang="en-US">
                <a:solidFill>
                  <a:schemeClr val="bg1"/>
                </a:solidFill>
                <a:latin typeface="Times New Roman" panose="02020603050405020304" pitchFamily="18" charset="0"/>
                <a:ea typeface="黑体" panose="02010609060101010101" pitchFamily="49" charset="-122"/>
              </a:rPr>
              <a:t>安全壳内衬钢板</a:t>
            </a:r>
          </a:p>
        </p:txBody>
      </p:sp>
      <p:sp>
        <p:nvSpPr>
          <p:cNvPr id="7" name="AutoShape 10">
            <a:extLst>
              <a:ext uri="{FF2B5EF4-FFF2-40B4-BE49-F238E27FC236}">
                <a16:creationId xmlns:a16="http://schemas.microsoft.com/office/drawing/2014/main" id="{7AC24A9F-5F61-4D6D-9D39-2C1488DF4350}"/>
              </a:ext>
            </a:extLst>
          </p:cNvPr>
          <p:cNvSpPr>
            <a:spLocks noChangeArrowheads="1"/>
          </p:cNvSpPr>
          <p:nvPr/>
        </p:nvSpPr>
        <p:spPr bwMode="auto">
          <a:xfrm rot="-3507005">
            <a:off x="288131" y="4904582"/>
            <a:ext cx="1870075" cy="360362"/>
          </a:xfrm>
          <a:custGeom>
            <a:avLst/>
            <a:gdLst>
              <a:gd name="T0" fmla="*/ 2147483646 w 21600"/>
              <a:gd name="T1" fmla="*/ 0 h 21600"/>
              <a:gd name="T2" fmla="*/ 0 w 21600"/>
              <a:gd name="T3" fmla="*/ 2147483646 h 21600"/>
              <a:gd name="T4" fmla="*/ 2147483646 w 21600"/>
              <a:gd name="T5" fmla="*/ 2147483646 h 21600"/>
              <a:gd name="T6" fmla="*/ 2147483646 w 21600"/>
              <a:gd name="T7" fmla="*/ 2147483646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down)">
                                      <p:cBhvr>
                                        <p:cTn id="12" dur="500"/>
                                        <p:tgtEl>
                                          <p:spTgt spid="7"/>
                                        </p:tgtEl>
                                      </p:cBhvr>
                                    </p:animEffect>
                                  </p:childTnLst>
                                </p:cTn>
                              </p:par>
                            </p:childTnLst>
                          </p:cTn>
                        </p:par>
                        <p:par>
                          <p:cTn id="13" fill="hold" nodeType="afterGroup">
                            <p:stCondLst>
                              <p:cond delay="500"/>
                            </p:stCondLst>
                            <p:childTnLst>
                              <p:par>
                                <p:cTn id="14" presetID="3" presetClass="entr" presetSubtype="10" fill="hold" grpId="0"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blinds(horizontal)">
                                      <p:cBhvr>
                                        <p:cTn id="16" dur="500"/>
                                        <p:tgtEl>
                                          <p:spTgt spid="5"/>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3" presetClass="entr" presetSubtype="10" fill="hold"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blinds(horizontal)">
                                      <p:cBhvr>
                                        <p:cTn id="21" dur="500"/>
                                        <p:tgtEl>
                                          <p:spTgt spid="3"/>
                                        </p:tgtEl>
                                      </p:cBhvr>
                                    </p:animEffect>
                                  </p:childTnLst>
                                </p:cTn>
                              </p:par>
                              <p:par>
                                <p:cTn id="22" presetID="51" presetClass="entr" presetSubtype="0" fill="hold" grpId="0" nodeType="with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770" decel="100000"/>
                                        <p:tgtEl>
                                          <p:spTgt spid="6"/>
                                        </p:tgtEl>
                                      </p:cBhvr>
                                    </p:animEffect>
                                    <p:animScale>
                                      <p:cBhvr>
                                        <p:cTn id="25" dur="770" decel="100000"/>
                                        <p:tgtEl>
                                          <p:spTgt spid="6"/>
                                        </p:tgtEl>
                                      </p:cBhvr>
                                      <p:from x="10000" y="10000"/>
                                      <p:to x="200000" y="450000"/>
                                    </p:animScale>
                                    <p:animScale>
                                      <p:cBhvr>
                                        <p:cTn id="26" dur="1230" accel="100000" fill="hold">
                                          <p:stCondLst>
                                            <p:cond delay="770"/>
                                          </p:stCondLst>
                                        </p:cTn>
                                        <p:tgtEl>
                                          <p:spTgt spid="6"/>
                                        </p:tgtEl>
                                      </p:cBhvr>
                                      <p:from x="200000" y="450000"/>
                                      <p:to x="100000" y="100000"/>
                                    </p:animScale>
                                    <p:set>
                                      <p:cBhvr>
                                        <p:cTn id="27" dur="770" fill="hold"/>
                                        <p:tgtEl>
                                          <p:spTgt spid="6"/>
                                        </p:tgtEl>
                                        <p:attrNameLst>
                                          <p:attrName>ppt_x</p:attrName>
                                        </p:attrNameLst>
                                      </p:cBhvr>
                                      <p:to>
                                        <p:strVal val="(0.5)"/>
                                      </p:to>
                                    </p:set>
                                    <p:anim from="(0.5)" to="(#ppt_x)" calcmode="lin" valueType="num">
                                      <p:cBhvr>
                                        <p:cTn id="28" dur="1230" accel="100000" fill="hold">
                                          <p:stCondLst>
                                            <p:cond delay="770"/>
                                          </p:stCondLst>
                                        </p:cTn>
                                        <p:tgtEl>
                                          <p:spTgt spid="6"/>
                                        </p:tgtEl>
                                        <p:attrNameLst>
                                          <p:attrName>ppt_x</p:attrName>
                                        </p:attrNameLst>
                                      </p:cBhvr>
                                    </p:anim>
                                    <p:set>
                                      <p:cBhvr>
                                        <p:cTn id="29" dur="770" fill="hold"/>
                                        <p:tgtEl>
                                          <p:spTgt spid="6"/>
                                        </p:tgtEl>
                                        <p:attrNameLst>
                                          <p:attrName>ppt_y</p:attrName>
                                        </p:attrNameLst>
                                      </p:cBhvr>
                                      <p:to>
                                        <p:strVal val="(#ppt_y+0.4)"/>
                                      </p:to>
                                    </p:set>
                                    <p:anim from="(#ppt_y+0.4)" to="(#ppt_y)" calcmode="lin" valueType="num">
                                      <p:cBhvr>
                                        <p:cTn id="30" dur="1230" accel="100000" fill="hold">
                                          <p:stCondLst>
                                            <p:cond delay="770"/>
                                          </p:stCondLst>
                                        </p:cTn>
                                        <p:tgtEl>
                                          <p:spTgt spid="6"/>
                                        </p:tgtEl>
                                        <p:attrNameLst>
                                          <p:attrName>ppt_y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154" name="Picture 4" descr="U49P4T8D952725F116DT20070607133744">
            <a:extLst>
              <a:ext uri="{FF2B5EF4-FFF2-40B4-BE49-F238E27FC236}">
                <a16:creationId xmlns:a16="http://schemas.microsoft.com/office/drawing/2014/main" id="{9081D917-EB97-4AE9-A8C8-7CD891BD9E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22563" y="1196975"/>
            <a:ext cx="2857500"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155" name="Picture 5" descr="U49P4T8D952725F107DT20070607133744">
            <a:extLst>
              <a:ext uri="{FF2B5EF4-FFF2-40B4-BE49-F238E27FC236}">
                <a16:creationId xmlns:a16="http://schemas.microsoft.com/office/drawing/2014/main" id="{CC57EFB4-B717-4390-BD74-70CD93A4C7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18188" y="1196975"/>
            <a:ext cx="2857500"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8" descr="mf-00533-0005">
            <a:extLst>
              <a:ext uri="{FF2B5EF4-FFF2-40B4-BE49-F238E27FC236}">
                <a16:creationId xmlns:a16="http://schemas.microsoft.com/office/drawing/2014/main" id="{56DA492F-4101-4575-860A-8E7950B07E5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3850" y="1557338"/>
            <a:ext cx="4356100" cy="435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9" descr="282">
            <a:extLst>
              <a:ext uri="{FF2B5EF4-FFF2-40B4-BE49-F238E27FC236}">
                <a16:creationId xmlns:a16="http://schemas.microsoft.com/office/drawing/2014/main" id="{F892A0BF-59A7-48D9-97F4-7D02D433913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16463" y="115888"/>
            <a:ext cx="3887787" cy="3887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10" descr="200842151703">
            <a:extLst>
              <a:ext uri="{FF2B5EF4-FFF2-40B4-BE49-F238E27FC236}">
                <a16:creationId xmlns:a16="http://schemas.microsoft.com/office/drawing/2014/main" id="{2E7C3FFC-EDF2-4180-988C-FA9D19BBA42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16463" y="4076700"/>
            <a:ext cx="3963987" cy="2568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159" name="Text Box 3">
            <a:extLst>
              <a:ext uri="{FF2B5EF4-FFF2-40B4-BE49-F238E27FC236}">
                <a16:creationId xmlns:a16="http://schemas.microsoft.com/office/drawing/2014/main" id="{FF2BE8B3-1261-4FB0-8C0B-CD249CABC866}"/>
              </a:ext>
            </a:extLst>
          </p:cNvPr>
          <p:cNvSpPr txBox="1">
            <a:spLocks noChangeArrowheads="1"/>
          </p:cNvSpPr>
          <p:nvPr/>
        </p:nvSpPr>
        <p:spPr bwMode="auto">
          <a:xfrm>
            <a:off x="395288" y="288925"/>
            <a:ext cx="8915400" cy="522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 typeface="Wingdings" panose="05000000000000000000" pitchFamily="2" charset="2"/>
              <a:buChar char="Ø"/>
            </a:pPr>
            <a:r>
              <a:rPr lang="zh-CN" altLang="en-US" sz="2800" b="1">
                <a:latin typeface="华文仿宋" panose="02010600040101010101" pitchFamily="2" charset="-122"/>
                <a:ea typeface="华文仿宋" panose="02010600040101010101" pitchFamily="2" charset="-122"/>
              </a:rPr>
              <a:t>生活中的放射性防护</a:t>
            </a:r>
          </a:p>
        </p:txBody>
      </p:sp>
      <p:sp>
        <p:nvSpPr>
          <p:cNvPr id="49160" name="TextBox 9">
            <a:extLst>
              <a:ext uri="{FF2B5EF4-FFF2-40B4-BE49-F238E27FC236}">
                <a16:creationId xmlns:a16="http://schemas.microsoft.com/office/drawing/2014/main" id="{396A9625-1FDB-4FBA-8B56-52419E1CB51C}"/>
              </a:ext>
            </a:extLst>
          </p:cNvPr>
          <p:cNvSpPr txBox="1">
            <a:spLocks noChangeArrowheads="1"/>
          </p:cNvSpPr>
          <p:nvPr/>
        </p:nvSpPr>
        <p:spPr bwMode="auto">
          <a:xfrm>
            <a:off x="971550" y="908050"/>
            <a:ext cx="20875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b="1">
                <a:latin typeface="仿宋" panose="02010609060101010101" pitchFamily="49" charset="-122"/>
                <a:ea typeface="仿宋" panose="02010609060101010101" pitchFamily="49" charset="-122"/>
              </a:rPr>
              <a:t>装修建材</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ox(in)">
                                      <p:cBhvr>
                                        <p:cTn id="7" dur="500"/>
                                        <p:tgtEl>
                                          <p:spTgt spid="6"/>
                                        </p:tgtEl>
                                      </p:cBhvr>
                                    </p:animEffect>
                                  </p:childTnLst>
                                </p:cTn>
                              </p:par>
                            </p:childTnLst>
                          </p:cTn>
                        </p:par>
                        <p:par>
                          <p:cTn id="8" fill="hold" nodeType="afterGroup">
                            <p:stCondLst>
                              <p:cond delay="500"/>
                            </p:stCondLst>
                            <p:childTnLst>
                              <p:par>
                                <p:cTn id="9" presetID="22" presetClass="entr" presetSubtype="4"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down)">
                                      <p:cBhvr>
                                        <p:cTn id="11" dur="500"/>
                                        <p:tgtEl>
                                          <p:spTgt spid="8"/>
                                        </p:tgtEl>
                                      </p:cBhvr>
                                    </p:animEffect>
                                  </p:childTnLst>
                                </p:cTn>
                              </p:par>
                            </p:childTnLst>
                          </p:cTn>
                        </p:par>
                        <p:par>
                          <p:cTn id="12" fill="hold" nodeType="afterGroup">
                            <p:stCondLst>
                              <p:cond delay="1000"/>
                            </p:stCondLst>
                            <p:childTnLst>
                              <p:par>
                                <p:cTn id="13" presetID="4" presetClass="entr" presetSubtype="16" fill="hold"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box(in)">
                                      <p:cBhvr>
                                        <p:cTn id="1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1" descr="fadda199a528a3076f068c56">
            <a:extLst>
              <a:ext uri="{FF2B5EF4-FFF2-40B4-BE49-F238E27FC236}">
                <a16:creationId xmlns:a16="http://schemas.microsoft.com/office/drawing/2014/main" id="{D68FA949-0369-4BA2-8F51-33ED02DCC0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99038" y="1012825"/>
            <a:ext cx="2668587" cy="304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16" descr="200781252953140602">
            <a:extLst>
              <a:ext uri="{FF2B5EF4-FFF2-40B4-BE49-F238E27FC236}">
                <a16:creationId xmlns:a16="http://schemas.microsoft.com/office/drawing/2014/main" id="{2EB54987-A383-487E-BED0-0030180264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3350" y="1012825"/>
            <a:ext cx="3044825" cy="301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80" name="TextBox 5">
            <a:extLst>
              <a:ext uri="{FF2B5EF4-FFF2-40B4-BE49-F238E27FC236}">
                <a16:creationId xmlns:a16="http://schemas.microsoft.com/office/drawing/2014/main" id="{987200A8-DC7F-4CB9-9AF1-488EB81D2528}"/>
              </a:ext>
            </a:extLst>
          </p:cNvPr>
          <p:cNvSpPr txBox="1">
            <a:spLocks noChangeArrowheads="1"/>
          </p:cNvSpPr>
          <p:nvPr/>
        </p:nvSpPr>
        <p:spPr bwMode="auto">
          <a:xfrm>
            <a:off x="971550" y="333375"/>
            <a:ext cx="2808288"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b="1">
                <a:latin typeface="仿宋" panose="02010609060101010101" pitchFamily="49" charset="-122"/>
                <a:ea typeface="仿宋" panose="02010609060101010101" pitchFamily="49" charset="-122"/>
              </a:rPr>
              <a:t>家居装饰</a:t>
            </a:r>
          </a:p>
        </p:txBody>
      </p:sp>
      <p:pic>
        <p:nvPicPr>
          <p:cNvPr id="7" name="Picture 8" descr="539">
            <a:extLst>
              <a:ext uri="{FF2B5EF4-FFF2-40B4-BE49-F238E27FC236}">
                <a16:creationId xmlns:a16="http://schemas.microsoft.com/office/drawing/2014/main" id="{B50376B7-9D3A-4F81-8690-96686B5ADF1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30363" y="4203700"/>
            <a:ext cx="2592387" cy="254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9" descr="d6524cd39beae2d0a8ec9a07">
            <a:extLst>
              <a:ext uri="{FF2B5EF4-FFF2-40B4-BE49-F238E27FC236}">
                <a16:creationId xmlns:a16="http://schemas.microsoft.com/office/drawing/2014/main" id="{76D74229-DD04-4041-8431-0332DCF92E6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99038" y="4221163"/>
            <a:ext cx="2651125" cy="254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par>
                                <p:cTn id="8" presetID="8" presetClass="entr" presetSubtype="16"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diamond(in)">
                                      <p:cBhvr>
                                        <p:cTn id="10" dur="2000"/>
                                        <p:tgtEl>
                                          <p:spTgt spid="5"/>
                                        </p:tgtEl>
                                      </p:cBhvr>
                                    </p:animEffect>
                                  </p:childTnLst>
                                </p:cTn>
                              </p:par>
                              <p:par>
                                <p:cTn id="11" presetID="4" presetClass="entr" presetSubtype="16"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box(in)">
                                      <p:cBhvr>
                                        <p:cTn id="13" dur="500"/>
                                        <p:tgtEl>
                                          <p:spTgt spid="8"/>
                                        </p:tgtEl>
                                      </p:cBhvr>
                                    </p:animEffect>
                                  </p:childTnLst>
                                </p:cTn>
                              </p:par>
                              <p:par>
                                <p:cTn id="14" presetID="22" presetClass="entr" presetSubtype="4" fill="hold"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wipe(down)">
                                      <p:cBhvr>
                                        <p:cTn id="1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ext Box 3">
            <a:extLst>
              <a:ext uri="{FF2B5EF4-FFF2-40B4-BE49-F238E27FC236}">
                <a16:creationId xmlns:a16="http://schemas.microsoft.com/office/drawing/2014/main" id="{B4A0C0C9-7760-427E-BF02-F51FA03D8DAF}"/>
              </a:ext>
            </a:extLst>
          </p:cNvPr>
          <p:cNvSpPr txBox="1">
            <a:spLocks noChangeArrowheads="1"/>
          </p:cNvSpPr>
          <p:nvPr/>
        </p:nvSpPr>
        <p:spPr bwMode="auto">
          <a:xfrm>
            <a:off x="395288" y="765175"/>
            <a:ext cx="6985000"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14350" indent="-51435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AutoNum type="arabicPeriod"/>
            </a:pPr>
            <a:r>
              <a:rPr lang="zh-CN" altLang="en-US" sz="2800" b="1">
                <a:latin typeface="仿宋" panose="02010609060101010101" pitchFamily="49" charset="-122"/>
                <a:ea typeface="仿宋" panose="02010609060101010101" pitchFamily="49" charset="-122"/>
              </a:rPr>
              <a:t>不要直接接触放射性物质；</a:t>
            </a:r>
          </a:p>
        </p:txBody>
      </p:sp>
      <p:sp>
        <p:nvSpPr>
          <p:cNvPr id="51203" name="Text Box 4">
            <a:extLst>
              <a:ext uri="{FF2B5EF4-FFF2-40B4-BE49-F238E27FC236}">
                <a16:creationId xmlns:a16="http://schemas.microsoft.com/office/drawing/2014/main" id="{0DE81977-B5F9-40D0-B966-B3AC7CE014E6}"/>
              </a:ext>
            </a:extLst>
          </p:cNvPr>
          <p:cNvSpPr txBox="1">
            <a:spLocks noChangeArrowheads="1"/>
          </p:cNvSpPr>
          <p:nvPr/>
        </p:nvSpPr>
        <p:spPr bwMode="auto">
          <a:xfrm>
            <a:off x="396875" y="1341438"/>
            <a:ext cx="5903913" cy="138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14350" indent="-51435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AutoNum type="arabicPeriod" startAt="2"/>
            </a:pPr>
            <a:r>
              <a:rPr lang="zh-CN" altLang="en-US" sz="2800" b="1">
                <a:latin typeface="仿宋" panose="02010609060101010101" pitchFamily="49" charset="-122"/>
                <a:ea typeface="仿宋" panose="02010609060101010101" pitchFamily="49" charset="-122"/>
              </a:rPr>
              <a:t>室内要经常通风换气，一可增氧，二可排除氡气和放射性灰尘以及其他有害物质；</a:t>
            </a:r>
          </a:p>
        </p:txBody>
      </p:sp>
      <p:sp>
        <p:nvSpPr>
          <p:cNvPr id="51204" name="Text Box 5">
            <a:extLst>
              <a:ext uri="{FF2B5EF4-FFF2-40B4-BE49-F238E27FC236}">
                <a16:creationId xmlns:a16="http://schemas.microsoft.com/office/drawing/2014/main" id="{9A2BCB76-2571-40E5-B894-9AF391A7F191}"/>
              </a:ext>
            </a:extLst>
          </p:cNvPr>
          <p:cNvSpPr txBox="1">
            <a:spLocks noChangeArrowheads="1"/>
          </p:cNvSpPr>
          <p:nvPr/>
        </p:nvSpPr>
        <p:spPr bwMode="auto">
          <a:xfrm>
            <a:off x="395288" y="2781300"/>
            <a:ext cx="6264275" cy="954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14350" indent="-51435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AutoNum type="arabicPeriod" startAt="3"/>
            </a:pPr>
            <a:r>
              <a:rPr lang="zh-CN" altLang="en-US" sz="2800" b="1">
                <a:latin typeface="仿宋" panose="02010609060101010101" pitchFamily="49" charset="-122"/>
                <a:ea typeface="仿宋" panose="02010609060101010101" pitchFamily="49" charset="-122"/>
              </a:rPr>
              <a:t>房屋不要建在高放射性本底的岩石、土壤上；</a:t>
            </a:r>
          </a:p>
        </p:txBody>
      </p:sp>
      <p:sp>
        <p:nvSpPr>
          <p:cNvPr id="51205" name="Text Box 9">
            <a:extLst>
              <a:ext uri="{FF2B5EF4-FFF2-40B4-BE49-F238E27FC236}">
                <a16:creationId xmlns:a16="http://schemas.microsoft.com/office/drawing/2014/main" id="{D56D035B-890F-4E0F-A4E7-9A99F138A949}"/>
              </a:ext>
            </a:extLst>
          </p:cNvPr>
          <p:cNvSpPr txBox="1">
            <a:spLocks noChangeArrowheads="1"/>
          </p:cNvSpPr>
          <p:nvPr/>
        </p:nvSpPr>
        <p:spPr bwMode="auto">
          <a:xfrm>
            <a:off x="395288" y="3851275"/>
            <a:ext cx="8569325" cy="954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14350" indent="-51435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AutoNum type="arabicPeriod" startAt="4"/>
            </a:pPr>
            <a:r>
              <a:rPr lang="zh-CN" altLang="en-US" sz="2800" b="1">
                <a:latin typeface="仿宋" panose="02010609060101010101" pitchFamily="49" charset="-122"/>
                <a:ea typeface="仿宋" panose="02010609060101010101" pitchFamily="49" charset="-122"/>
              </a:rPr>
              <a:t>挑选装修用的石材和陶瓷砖要特别留意起放射性指标，看其是否超标；</a:t>
            </a:r>
          </a:p>
        </p:txBody>
      </p:sp>
      <p:sp>
        <p:nvSpPr>
          <p:cNvPr id="51206" name="Text Box 10">
            <a:extLst>
              <a:ext uri="{FF2B5EF4-FFF2-40B4-BE49-F238E27FC236}">
                <a16:creationId xmlns:a16="http://schemas.microsoft.com/office/drawing/2014/main" id="{8DFD4982-3DE8-4772-9147-86B6EC8F25FB}"/>
              </a:ext>
            </a:extLst>
          </p:cNvPr>
          <p:cNvSpPr txBox="1">
            <a:spLocks noChangeArrowheads="1"/>
          </p:cNvSpPr>
          <p:nvPr/>
        </p:nvSpPr>
        <p:spPr bwMode="auto">
          <a:xfrm>
            <a:off x="395288" y="5646738"/>
            <a:ext cx="8569325"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14350" indent="-51435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AutoNum type="arabicPeriod" startAt="6"/>
            </a:pPr>
            <a:r>
              <a:rPr lang="zh-CN" altLang="en-US" sz="2800" b="1">
                <a:latin typeface="仿宋" panose="02010609060101010101" pitchFamily="49" charset="-122"/>
                <a:ea typeface="仿宋" panose="02010609060101010101" pitchFamily="49" charset="-122"/>
              </a:rPr>
              <a:t>常带的首饰制品，最好进行内含放射性物质测定。</a:t>
            </a:r>
          </a:p>
        </p:txBody>
      </p:sp>
      <p:sp>
        <p:nvSpPr>
          <p:cNvPr id="51207" name="Text Box 11">
            <a:extLst>
              <a:ext uri="{FF2B5EF4-FFF2-40B4-BE49-F238E27FC236}">
                <a16:creationId xmlns:a16="http://schemas.microsoft.com/office/drawing/2014/main" id="{B0ACBA6B-8810-4773-AC14-ED714582B6BC}"/>
              </a:ext>
            </a:extLst>
          </p:cNvPr>
          <p:cNvSpPr txBox="1">
            <a:spLocks noChangeArrowheads="1"/>
          </p:cNvSpPr>
          <p:nvPr/>
        </p:nvSpPr>
        <p:spPr bwMode="auto">
          <a:xfrm>
            <a:off x="395288" y="4926013"/>
            <a:ext cx="7345362"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14350" indent="-51435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AutoNum type="arabicPeriod" startAt="5"/>
            </a:pPr>
            <a:r>
              <a:rPr lang="zh-CN" altLang="en-US" sz="2800" b="1">
                <a:latin typeface="仿宋" panose="02010609060101010101" pitchFamily="49" charset="-122"/>
                <a:ea typeface="仿宋" panose="02010609060101010101" pitchFamily="49" charset="-122"/>
              </a:rPr>
              <a:t>与岩石有关的摆件不要置于卧室内；</a:t>
            </a:r>
          </a:p>
        </p:txBody>
      </p:sp>
      <p:pic>
        <p:nvPicPr>
          <p:cNvPr id="51208" name="Picture 12" descr="24-14">
            <a:extLst>
              <a:ext uri="{FF2B5EF4-FFF2-40B4-BE49-F238E27FC236}">
                <a16:creationId xmlns:a16="http://schemas.microsoft.com/office/drawing/2014/main" id="{C10354A9-1BA8-494C-8C42-44BE38B906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50013" y="17463"/>
            <a:ext cx="2581275" cy="324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2226" name="Group 3">
            <a:extLst>
              <a:ext uri="{FF2B5EF4-FFF2-40B4-BE49-F238E27FC236}">
                <a16:creationId xmlns:a16="http://schemas.microsoft.com/office/drawing/2014/main" id="{3523C8E6-5BFD-4D3A-8A73-60E0FBFEBEDA}"/>
              </a:ext>
            </a:extLst>
          </p:cNvPr>
          <p:cNvGrpSpPr>
            <a:grpSpLocks/>
          </p:cNvGrpSpPr>
          <p:nvPr/>
        </p:nvGrpSpPr>
        <p:grpSpPr bwMode="auto">
          <a:xfrm>
            <a:off x="152400" y="404813"/>
            <a:ext cx="9001125" cy="4249737"/>
            <a:chOff x="0" y="0"/>
            <a:chExt cx="4944" cy="2404"/>
          </a:xfrm>
        </p:grpSpPr>
        <p:pic>
          <p:nvPicPr>
            <p:cNvPr id="52230" name="Picture 4" descr="操作放射性物质的设备">
              <a:extLst>
                <a:ext uri="{FF2B5EF4-FFF2-40B4-BE49-F238E27FC236}">
                  <a16:creationId xmlns:a16="http://schemas.microsoft.com/office/drawing/2014/main" id="{12017DF7-F101-4B4B-99CA-7AA14E0489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4944" cy="24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52231" name="Rectangle 5">
              <a:extLst>
                <a:ext uri="{FF2B5EF4-FFF2-40B4-BE49-F238E27FC236}">
                  <a16:creationId xmlns:a16="http://schemas.microsoft.com/office/drawing/2014/main" id="{DEC4A7E8-F9A2-476A-9843-14D4FCBD6115}"/>
                </a:ext>
              </a:extLst>
            </p:cNvPr>
            <p:cNvSpPr>
              <a:spLocks noChangeArrowheads="1"/>
            </p:cNvSpPr>
            <p:nvPr/>
          </p:nvSpPr>
          <p:spPr bwMode="auto">
            <a:xfrm>
              <a:off x="46" y="43"/>
              <a:ext cx="2305" cy="288"/>
            </a:xfrm>
            <a:prstGeom prst="rect">
              <a:avLst/>
            </a:prstGeom>
            <a:solidFill>
              <a:srgbClr val="CCFF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b="1">
                  <a:solidFill>
                    <a:srgbClr val="0000FF"/>
                  </a:solidFill>
                  <a:ea typeface="楷体" panose="02010609060101010101" pitchFamily="49" charset="-122"/>
                </a:rPr>
                <a:t>操作放射性物质的设备</a:t>
              </a:r>
            </a:p>
          </p:txBody>
        </p:sp>
      </p:grpSp>
      <p:grpSp>
        <p:nvGrpSpPr>
          <p:cNvPr id="15366" name="Group 6">
            <a:extLst>
              <a:ext uri="{FF2B5EF4-FFF2-40B4-BE49-F238E27FC236}">
                <a16:creationId xmlns:a16="http://schemas.microsoft.com/office/drawing/2014/main" id="{F7420407-9102-45C0-BC81-9B3F2F375D6B}"/>
              </a:ext>
            </a:extLst>
          </p:cNvPr>
          <p:cNvGrpSpPr>
            <a:grpSpLocks/>
          </p:cNvGrpSpPr>
          <p:nvPr/>
        </p:nvGrpSpPr>
        <p:grpSpPr bwMode="auto">
          <a:xfrm>
            <a:off x="95250" y="4548188"/>
            <a:ext cx="9002713" cy="2195512"/>
            <a:chOff x="0" y="0"/>
            <a:chExt cx="5760" cy="1570"/>
          </a:xfrm>
        </p:grpSpPr>
        <p:pic>
          <p:nvPicPr>
            <p:cNvPr id="52228" name="Picture 7" descr="在防护状态下操作放射性物质">
              <a:extLst>
                <a:ext uri="{FF2B5EF4-FFF2-40B4-BE49-F238E27FC236}">
                  <a16:creationId xmlns:a16="http://schemas.microsoft.com/office/drawing/2014/main" id="{838233D2-5E8A-4CF5-8920-D7DDD2D199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5760" cy="15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52229" name="Rectangle 8">
              <a:extLst>
                <a:ext uri="{FF2B5EF4-FFF2-40B4-BE49-F238E27FC236}">
                  <a16:creationId xmlns:a16="http://schemas.microsoft.com/office/drawing/2014/main" id="{BBF96DBC-4A65-42B4-868C-3EC017D1D87E}"/>
                </a:ext>
              </a:extLst>
            </p:cNvPr>
            <p:cNvSpPr>
              <a:spLocks noChangeArrowheads="1"/>
            </p:cNvSpPr>
            <p:nvPr/>
          </p:nvSpPr>
          <p:spPr bwMode="auto">
            <a:xfrm>
              <a:off x="5" y="0"/>
              <a:ext cx="1741" cy="596"/>
            </a:xfrm>
            <a:prstGeom prst="rect">
              <a:avLst/>
            </a:prstGeom>
            <a:solidFill>
              <a:srgbClr val="CCFF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b="1">
                  <a:solidFill>
                    <a:srgbClr val="0000FF"/>
                  </a:solidFill>
                  <a:ea typeface="楷体" panose="02010609060101010101" pitchFamily="49" charset="-122"/>
                </a:rPr>
                <a:t>在防护状态下操作放射性物质</a:t>
              </a:r>
            </a:p>
          </p:txBody>
        </p:sp>
      </p:gr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15366"/>
                                        </p:tgtEl>
                                        <p:attrNameLst>
                                          <p:attrName>style.visibility</p:attrName>
                                        </p:attrNameLst>
                                      </p:cBhvr>
                                      <p:to>
                                        <p:strVal val="visible"/>
                                      </p:to>
                                    </p:set>
                                    <p:animEffect transition="in" filter="fade">
                                      <p:cBhvr>
                                        <p:cTn id="7" dur="1000"/>
                                        <p:tgtEl>
                                          <p:spTgt spid="15366"/>
                                        </p:tgtEl>
                                      </p:cBhvr>
                                    </p:animEffect>
                                    <p:anim calcmode="lin" valueType="num">
                                      <p:cBhvr>
                                        <p:cTn id="8" dur="1000" fill="hold"/>
                                        <p:tgtEl>
                                          <p:spTgt spid="15366"/>
                                        </p:tgtEl>
                                        <p:attrNameLst>
                                          <p:attrName>ppt_x</p:attrName>
                                        </p:attrNameLst>
                                      </p:cBhvr>
                                      <p:tavLst>
                                        <p:tav tm="0">
                                          <p:val>
                                            <p:strVal val="#ppt_x"/>
                                          </p:val>
                                        </p:tav>
                                        <p:tav tm="100000">
                                          <p:val>
                                            <p:strVal val="#ppt_x"/>
                                          </p:val>
                                        </p:tav>
                                      </p:tavLst>
                                    </p:anim>
                                    <p:anim calcmode="lin" valueType="num">
                                      <p:cBhvr>
                                        <p:cTn id="9" dur="1000" fill="hold"/>
                                        <p:tgtEl>
                                          <p:spTgt spid="1536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250" name="Picture 2">
            <a:extLst>
              <a:ext uri="{FF2B5EF4-FFF2-40B4-BE49-F238E27FC236}">
                <a16:creationId xmlns:a16="http://schemas.microsoft.com/office/drawing/2014/main" id="{142ACE41-B6CB-4340-9A26-7F7B4A9E45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650" y="3014663"/>
            <a:ext cx="8132763" cy="998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3251" name="Picture 3">
            <a:extLst>
              <a:ext uri="{FF2B5EF4-FFF2-40B4-BE49-F238E27FC236}">
                <a16:creationId xmlns:a16="http://schemas.microsoft.com/office/drawing/2014/main" id="{0DC086CB-A1B1-4051-A6A6-F4B85EFFF2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0575" y="908050"/>
            <a:ext cx="8064500" cy="1682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3252" name="Picture 4">
            <a:extLst>
              <a:ext uri="{FF2B5EF4-FFF2-40B4-BE49-F238E27FC236}">
                <a16:creationId xmlns:a16="http://schemas.microsoft.com/office/drawing/2014/main" id="{D55B903D-7E2A-47CD-A7C5-3DC34AE5F7E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7238" y="4437063"/>
            <a:ext cx="8132762" cy="1573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矩形 1">
            <a:extLst>
              <a:ext uri="{FF2B5EF4-FFF2-40B4-BE49-F238E27FC236}">
                <a16:creationId xmlns:a16="http://schemas.microsoft.com/office/drawing/2014/main" id="{2713F300-E1E1-4CCD-AB82-827E2D75BF65}"/>
              </a:ext>
            </a:extLst>
          </p:cNvPr>
          <p:cNvSpPr/>
          <p:nvPr/>
        </p:nvSpPr>
        <p:spPr>
          <a:xfrm>
            <a:off x="6156325" y="2043113"/>
            <a:ext cx="1728788" cy="50323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4274" name="Text Box 2">
            <a:extLst>
              <a:ext uri="{FF2B5EF4-FFF2-40B4-BE49-F238E27FC236}">
                <a16:creationId xmlns:a16="http://schemas.microsoft.com/office/drawing/2014/main" id="{8E981375-6F17-418D-ADC9-CC55F5C3B8AB}"/>
              </a:ext>
            </a:extLst>
          </p:cNvPr>
          <p:cNvSpPr txBox="1">
            <a:spLocks noChangeArrowheads="1"/>
          </p:cNvSpPr>
          <p:nvPr/>
        </p:nvSpPr>
        <p:spPr bwMode="auto">
          <a:xfrm>
            <a:off x="179388" y="260350"/>
            <a:ext cx="4032250"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b="1">
                <a:ea typeface="黑体" panose="02010609060101010101" pitchFamily="49" charset="-122"/>
              </a:rPr>
              <a:t>本章补充练习</a:t>
            </a:r>
            <a:endParaRPr lang="zh-CN" altLang="en-US" b="1"/>
          </a:p>
        </p:txBody>
      </p:sp>
      <p:sp>
        <p:nvSpPr>
          <p:cNvPr id="354307" name="Rectangle 3">
            <a:extLst>
              <a:ext uri="{FF2B5EF4-FFF2-40B4-BE49-F238E27FC236}">
                <a16:creationId xmlns:a16="http://schemas.microsoft.com/office/drawing/2014/main" id="{DBD5370E-9656-43A3-9B3A-D053BE69518F}"/>
              </a:ext>
            </a:extLst>
          </p:cNvPr>
          <p:cNvSpPr>
            <a:spLocks noGrp="1" noChangeArrowheads="1"/>
          </p:cNvSpPr>
          <p:nvPr>
            <p:ph type="title"/>
          </p:nvPr>
        </p:nvSpPr>
        <p:spPr>
          <a:xfrm>
            <a:off x="323850" y="3519488"/>
            <a:ext cx="8497888" cy="2276475"/>
          </a:xfrm>
          <a:noFill/>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lnSpc>
                <a:spcPct val="110000"/>
              </a:lnSpc>
            </a:pPr>
            <a:r>
              <a:rPr lang="en-US" altLang="zh-CN" sz="2800" b="1">
                <a:solidFill>
                  <a:schemeClr val="tx1"/>
                </a:solidFill>
              </a:rPr>
              <a:t>17-2</a:t>
            </a:r>
            <a:r>
              <a:rPr lang="zh-CN" altLang="en-US" sz="2800" b="1">
                <a:solidFill>
                  <a:schemeClr val="tx1"/>
                </a:solidFill>
              </a:rPr>
              <a:t>．</a:t>
            </a:r>
            <a:r>
              <a:rPr lang="zh-CN" altLang="en-GB" sz="2800" b="1">
                <a:solidFill>
                  <a:schemeClr val="tx1"/>
                </a:solidFill>
              </a:rPr>
              <a:t>两种放射性核素的半衰期分别为</a:t>
            </a:r>
            <a:r>
              <a:rPr lang="en-GB" altLang="zh-CN" sz="2800" b="1">
                <a:solidFill>
                  <a:schemeClr val="tx1"/>
                </a:solidFill>
              </a:rPr>
              <a:t>8 d</a:t>
            </a:r>
            <a:r>
              <a:rPr lang="zh-CN" altLang="en-GB" sz="2800" b="1">
                <a:solidFill>
                  <a:schemeClr val="tx1"/>
                </a:solidFill>
              </a:rPr>
              <a:t>和</a:t>
            </a:r>
            <a:r>
              <a:rPr lang="en-GB" altLang="zh-CN" sz="2800" b="1">
                <a:solidFill>
                  <a:schemeClr val="tx1"/>
                </a:solidFill>
              </a:rPr>
              <a:t>6 h</a:t>
            </a:r>
            <a:r>
              <a:rPr lang="zh-CN" altLang="en-GB" sz="2800" b="1">
                <a:solidFill>
                  <a:schemeClr val="tx1"/>
                </a:solidFill>
              </a:rPr>
              <a:t>，设含这两种放射性药品的放射性活度相同，则它们中的放射性物质的摩尔数之比为 （）</a:t>
            </a:r>
            <a:br>
              <a:rPr lang="zh-CN" altLang="en-GB" sz="2800" b="1">
                <a:solidFill>
                  <a:schemeClr val="tx1"/>
                </a:solidFill>
              </a:rPr>
            </a:br>
            <a:r>
              <a:rPr lang="zh-CN" altLang="en-GB" sz="2800" b="1">
                <a:solidFill>
                  <a:schemeClr val="tx1"/>
                </a:solidFill>
              </a:rPr>
              <a:t>    </a:t>
            </a:r>
            <a:r>
              <a:rPr lang="en-GB" altLang="zh-CN" sz="2800" b="1">
                <a:solidFill>
                  <a:schemeClr val="tx1"/>
                </a:solidFill>
              </a:rPr>
              <a:t>A</a:t>
            </a:r>
            <a:r>
              <a:rPr lang="zh-CN" altLang="en-GB" sz="2800" b="1">
                <a:solidFill>
                  <a:schemeClr val="tx1"/>
                </a:solidFill>
              </a:rPr>
              <a:t>．</a:t>
            </a:r>
            <a:r>
              <a:rPr lang="en-GB" altLang="zh-CN" sz="2800" b="1">
                <a:solidFill>
                  <a:schemeClr val="tx1"/>
                </a:solidFill>
              </a:rPr>
              <a:t>16</a:t>
            </a:r>
            <a:r>
              <a:rPr lang="zh-CN" altLang="en-GB" sz="2800" b="1">
                <a:solidFill>
                  <a:schemeClr val="tx1"/>
                </a:solidFill>
              </a:rPr>
              <a:t>：</a:t>
            </a:r>
            <a:r>
              <a:rPr lang="en-GB" altLang="zh-CN" sz="2800" b="1">
                <a:solidFill>
                  <a:schemeClr val="tx1"/>
                </a:solidFill>
              </a:rPr>
              <a:t>1</a:t>
            </a:r>
            <a:r>
              <a:rPr lang="zh-CN" altLang="en-GB" sz="2800" b="1">
                <a:solidFill>
                  <a:schemeClr val="tx1"/>
                </a:solidFill>
              </a:rPr>
              <a:t>；            </a:t>
            </a:r>
            <a:r>
              <a:rPr lang="en-GB" altLang="zh-CN" sz="2800" b="1">
                <a:solidFill>
                  <a:schemeClr val="tx1"/>
                </a:solidFill>
              </a:rPr>
              <a:t>B</a:t>
            </a:r>
            <a:r>
              <a:rPr lang="zh-CN" altLang="en-GB" sz="2800" b="1">
                <a:solidFill>
                  <a:schemeClr val="tx1"/>
                </a:solidFill>
              </a:rPr>
              <a:t>． </a:t>
            </a:r>
            <a:r>
              <a:rPr lang="en-GB" altLang="zh-CN" sz="2800" b="1">
                <a:solidFill>
                  <a:schemeClr val="tx1"/>
                </a:solidFill>
              </a:rPr>
              <a:t>1</a:t>
            </a:r>
            <a:r>
              <a:rPr lang="zh-CN" altLang="en-GB" sz="2800" b="1">
                <a:solidFill>
                  <a:schemeClr val="tx1"/>
                </a:solidFill>
              </a:rPr>
              <a:t>：</a:t>
            </a:r>
            <a:r>
              <a:rPr lang="en-GB" altLang="zh-CN" sz="2800" b="1">
                <a:solidFill>
                  <a:schemeClr val="tx1"/>
                </a:solidFill>
              </a:rPr>
              <a:t>32</a:t>
            </a:r>
            <a:r>
              <a:rPr lang="zh-CN" altLang="en-GB" sz="2800" b="1">
                <a:solidFill>
                  <a:schemeClr val="tx1"/>
                </a:solidFill>
              </a:rPr>
              <a:t>；        </a:t>
            </a:r>
            <a:br>
              <a:rPr lang="zh-CN" altLang="en-GB" sz="2800" b="1">
                <a:solidFill>
                  <a:schemeClr val="tx1"/>
                </a:solidFill>
              </a:rPr>
            </a:br>
            <a:r>
              <a:rPr lang="zh-CN" altLang="en-GB" sz="2800" b="1">
                <a:solidFill>
                  <a:schemeClr val="tx1"/>
                </a:solidFill>
              </a:rPr>
              <a:t>    </a:t>
            </a:r>
            <a:r>
              <a:rPr lang="en-GB" altLang="zh-CN" sz="2800" b="1">
                <a:solidFill>
                  <a:schemeClr val="tx1"/>
                </a:solidFill>
              </a:rPr>
              <a:t>C</a:t>
            </a:r>
            <a:r>
              <a:rPr lang="zh-CN" altLang="en-GB" sz="2800" b="1">
                <a:solidFill>
                  <a:schemeClr val="tx1"/>
                </a:solidFill>
              </a:rPr>
              <a:t>．</a:t>
            </a:r>
            <a:r>
              <a:rPr lang="en-GB" altLang="zh-CN" sz="2800" b="1">
                <a:solidFill>
                  <a:schemeClr val="tx1"/>
                </a:solidFill>
              </a:rPr>
              <a:t>4</a:t>
            </a:r>
            <a:r>
              <a:rPr lang="zh-CN" altLang="en-GB" sz="2800" b="1">
                <a:solidFill>
                  <a:schemeClr val="tx1"/>
                </a:solidFill>
              </a:rPr>
              <a:t>：</a:t>
            </a:r>
            <a:r>
              <a:rPr lang="en-GB" altLang="zh-CN" sz="2800" b="1">
                <a:solidFill>
                  <a:schemeClr val="tx1"/>
                </a:solidFill>
              </a:rPr>
              <a:t>3</a:t>
            </a:r>
            <a:r>
              <a:rPr lang="zh-CN" altLang="en-GB" sz="2800" b="1">
                <a:solidFill>
                  <a:schemeClr val="tx1"/>
                </a:solidFill>
              </a:rPr>
              <a:t>；              </a:t>
            </a:r>
            <a:r>
              <a:rPr lang="en-GB" altLang="zh-CN" sz="2800" b="1">
                <a:solidFill>
                  <a:schemeClr val="tx1"/>
                </a:solidFill>
              </a:rPr>
              <a:t>D</a:t>
            </a:r>
            <a:r>
              <a:rPr lang="zh-CN" altLang="en-GB" sz="2800" b="1">
                <a:solidFill>
                  <a:schemeClr val="tx1"/>
                </a:solidFill>
              </a:rPr>
              <a:t>．</a:t>
            </a:r>
            <a:r>
              <a:rPr lang="en-GB" altLang="zh-CN" sz="2800" b="1">
                <a:solidFill>
                  <a:schemeClr val="tx1"/>
                </a:solidFill>
              </a:rPr>
              <a:t>32</a:t>
            </a:r>
            <a:r>
              <a:rPr lang="zh-CN" altLang="en-GB" sz="2800" b="1">
                <a:solidFill>
                  <a:schemeClr val="tx1"/>
                </a:solidFill>
              </a:rPr>
              <a:t>：</a:t>
            </a:r>
            <a:r>
              <a:rPr lang="en-GB" altLang="zh-CN" sz="2800" b="1">
                <a:solidFill>
                  <a:schemeClr val="tx1"/>
                </a:solidFill>
              </a:rPr>
              <a:t>1</a:t>
            </a:r>
            <a:r>
              <a:rPr lang="zh-CN" altLang="en-GB" sz="2800" b="1">
                <a:solidFill>
                  <a:schemeClr val="tx1"/>
                </a:solidFill>
              </a:rPr>
              <a:t>． </a:t>
            </a:r>
            <a:endParaRPr lang="zh-CN" altLang="en-US" sz="2800" b="1">
              <a:solidFill>
                <a:schemeClr val="tx1"/>
              </a:solidFill>
            </a:endParaRPr>
          </a:p>
        </p:txBody>
      </p:sp>
      <p:sp>
        <p:nvSpPr>
          <p:cNvPr id="354308" name="Text Box 4">
            <a:extLst>
              <a:ext uri="{FF2B5EF4-FFF2-40B4-BE49-F238E27FC236}">
                <a16:creationId xmlns:a16="http://schemas.microsoft.com/office/drawing/2014/main" id="{A3AC9928-E28F-41B1-89F8-B2E55679CB41}"/>
              </a:ext>
            </a:extLst>
          </p:cNvPr>
          <p:cNvSpPr txBox="1">
            <a:spLocks noChangeArrowheads="1"/>
          </p:cNvSpPr>
          <p:nvPr/>
        </p:nvSpPr>
        <p:spPr bwMode="auto">
          <a:xfrm>
            <a:off x="323850" y="1052513"/>
            <a:ext cx="8496300" cy="2246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b="1"/>
              <a:t>17-1</a:t>
            </a:r>
            <a:r>
              <a:rPr lang="zh-CN" altLang="en-US" sz="2800" b="1"/>
              <a:t>．</a:t>
            </a:r>
            <a:r>
              <a:rPr lang="zh-CN" altLang="en-GB" sz="2800" b="1"/>
              <a:t>关于原子核的密度，下面说法正确的是（）</a:t>
            </a:r>
          </a:p>
          <a:p>
            <a:pPr>
              <a:spcBef>
                <a:spcPct val="0"/>
              </a:spcBef>
              <a:buFontTx/>
              <a:buNone/>
            </a:pPr>
            <a:r>
              <a:rPr lang="en-GB" altLang="zh-CN" sz="2800" b="1"/>
              <a:t>     A</a:t>
            </a:r>
            <a:r>
              <a:rPr lang="zh-CN" altLang="en-GB" sz="2800" b="1"/>
              <a:t>．原子核的质量数越大，密度越高；       </a:t>
            </a:r>
          </a:p>
          <a:p>
            <a:pPr>
              <a:spcBef>
                <a:spcPct val="0"/>
              </a:spcBef>
              <a:buFontTx/>
              <a:buNone/>
            </a:pPr>
            <a:r>
              <a:rPr lang="en-GB" altLang="zh-CN" sz="2800" b="1"/>
              <a:t>     B</a:t>
            </a:r>
            <a:r>
              <a:rPr lang="zh-CN" altLang="en-GB" sz="2800" b="1"/>
              <a:t>．原子核的体积越小，密度越高；    </a:t>
            </a:r>
          </a:p>
          <a:p>
            <a:pPr>
              <a:spcBef>
                <a:spcPct val="0"/>
              </a:spcBef>
              <a:buFontTx/>
              <a:buNone/>
            </a:pPr>
            <a:r>
              <a:rPr lang="en-GB" altLang="zh-CN" sz="2800" b="1"/>
              <a:t>     C</a:t>
            </a:r>
            <a:r>
              <a:rPr lang="zh-CN" altLang="en-GB" sz="2800" b="1"/>
              <a:t>．原子核的质子数越大，密度越高； </a:t>
            </a:r>
          </a:p>
          <a:p>
            <a:pPr>
              <a:spcBef>
                <a:spcPct val="0"/>
              </a:spcBef>
              <a:buFontTx/>
              <a:buNone/>
            </a:pPr>
            <a:r>
              <a:rPr lang="en-GB" altLang="zh-CN" sz="2800" b="1"/>
              <a:t>     D</a:t>
            </a:r>
            <a:r>
              <a:rPr lang="zh-CN" altLang="en-GB" sz="2800" b="1"/>
              <a:t>．各原子核的密度很高，基本上一致． </a:t>
            </a:r>
            <a:endParaRPr lang="zh-CN" altLang="en-US" sz="2800" b="1"/>
          </a:p>
        </p:txBody>
      </p:sp>
      <p:graphicFrame>
        <p:nvGraphicFramePr>
          <p:cNvPr id="5" name="Object 18">
            <a:extLst>
              <a:ext uri="{FF2B5EF4-FFF2-40B4-BE49-F238E27FC236}">
                <a16:creationId xmlns:a16="http://schemas.microsoft.com/office/drawing/2014/main" id="{08E0D2A8-7B04-42A8-B520-2F4A028B8FAC}"/>
              </a:ext>
            </a:extLst>
          </p:cNvPr>
          <p:cNvGraphicFramePr>
            <a:graphicFrameLocks noChangeAspect="1"/>
          </p:cNvGraphicFramePr>
          <p:nvPr/>
        </p:nvGraphicFramePr>
        <p:xfrm>
          <a:off x="250825" y="6015038"/>
          <a:ext cx="1928813" cy="431800"/>
        </p:xfrm>
        <a:graphic>
          <a:graphicData uri="http://schemas.openxmlformats.org/presentationml/2006/ole">
            <mc:AlternateContent xmlns:mc="http://schemas.openxmlformats.org/markup-compatibility/2006">
              <mc:Choice xmlns:v="urn:schemas-microsoft-com:vml" Requires="v">
                <p:oleObj spid="_x0000_s54292" name="MathType 6.0 Equation" r:id="rId3" imgW="1002865" imgH="228501" progId="Equation.DSMT4">
                  <p:embed/>
                </p:oleObj>
              </mc:Choice>
              <mc:Fallback>
                <p:oleObj name="MathType 6.0 Equation" r:id="rId3" imgW="1002865" imgH="228501" progId="Equation.DSMT4">
                  <p:embed/>
                  <p:pic>
                    <p:nvPicPr>
                      <p:cNvPr id="0" name="Object 1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0825" y="6015038"/>
                        <a:ext cx="1928813"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Object 18">
            <a:extLst>
              <a:ext uri="{FF2B5EF4-FFF2-40B4-BE49-F238E27FC236}">
                <a16:creationId xmlns:a16="http://schemas.microsoft.com/office/drawing/2014/main" id="{27223716-C98A-4B87-848E-8F4860968884}"/>
              </a:ext>
            </a:extLst>
          </p:cNvPr>
          <p:cNvGraphicFramePr>
            <a:graphicFrameLocks noChangeAspect="1"/>
          </p:cNvGraphicFramePr>
          <p:nvPr/>
        </p:nvGraphicFramePr>
        <p:xfrm>
          <a:off x="2630488" y="6035675"/>
          <a:ext cx="1489075" cy="431800"/>
        </p:xfrm>
        <a:graphic>
          <a:graphicData uri="http://schemas.openxmlformats.org/presentationml/2006/ole">
            <mc:AlternateContent xmlns:mc="http://schemas.openxmlformats.org/markup-compatibility/2006">
              <mc:Choice xmlns:v="urn:schemas-microsoft-com:vml" Requires="v">
                <p:oleObj spid="_x0000_s54293" name="MathType 6.0 Equation" r:id="rId5" imgW="774364" imgH="228501" progId="Equation.DSMT4">
                  <p:embed/>
                </p:oleObj>
              </mc:Choice>
              <mc:Fallback>
                <p:oleObj name="MathType 6.0 Equation" r:id="rId5" imgW="774364" imgH="228501" progId="Equation.DSMT4">
                  <p:embed/>
                  <p:pic>
                    <p:nvPicPr>
                      <p:cNvPr id="0" name="Object 1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30488" y="6035675"/>
                        <a:ext cx="1489075"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Object 18">
            <a:extLst>
              <a:ext uri="{FF2B5EF4-FFF2-40B4-BE49-F238E27FC236}">
                <a16:creationId xmlns:a16="http://schemas.microsoft.com/office/drawing/2014/main" id="{4660B870-29A8-41EC-8C2F-B90FD0122406}"/>
              </a:ext>
            </a:extLst>
          </p:cNvPr>
          <p:cNvGraphicFramePr>
            <a:graphicFrameLocks noChangeAspect="1"/>
          </p:cNvGraphicFramePr>
          <p:nvPr/>
        </p:nvGraphicFramePr>
        <p:xfrm>
          <a:off x="4478338" y="6035675"/>
          <a:ext cx="1317625" cy="431800"/>
        </p:xfrm>
        <a:graphic>
          <a:graphicData uri="http://schemas.openxmlformats.org/presentationml/2006/ole">
            <mc:AlternateContent xmlns:mc="http://schemas.openxmlformats.org/markup-compatibility/2006">
              <mc:Choice xmlns:v="urn:schemas-microsoft-com:vml" Requires="v">
                <p:oleObj spid="_x0000_s54294" name="MathType 6.0 Equation" r:id="rId7" imgW="685800" imgH="228600" progId="Equation.DSMT4">
                  <p:embed/>
                </p:oleObj>
              </mc:Choice>
              <mc:Fallback>
                <p:oleObj name="MathType 6.0 Equation" r:id="rId7" imgW="685800" imgH="228600" progId="Equation.DSMT4">
                  <p:embed/>
                  <p:pic>
                    <p:nvPicPr>
                      <p:cNvPr id="0" name="Object 1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78338" y="6035675"/>
                        <a:ext cx="1317625"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Object 18">
            <a:extLst>
              <a:ext uri="{FF2B5EF4-FFF2-40B4-BE49-F238E27FC236}">
                <a16:creationId xmlns:a16="http://schemas.microsoft.com/office/drawing/2014/main" id="{4B8253FD-4275-45EE-BF5A-96252F710FB3}"/>
              </a:ext>
            </a:extLst>
          </p:cNvPr>
          <p:cNvGraphicFramePr>
            <a:graphicFrameLocks noChangeAspect="1"/>
          </p:cNvGraphicFramePr>
          <p:nvPr/>
        </p:nvGraphicFramePr>
        <p:xfrm>
          <a:off x="6372225" y="5843588"/>
          <a:ext cx="2197100" cy="814387"/>
        </p:xfrm>
        <a:graphic>
          <a:graphicData uri="http://schemas.openxmlformats.org/presentationml/2006/ole">
            <mc:AlternateContent xmlns:mc="http://schemas.openxmlformats.org/markup-compatibility/2006">
              <mc:Choice xmlns:v="urn:schemas-microsoft-com:vml" Requires="v">
                <p:oleObj spid="_x0000_s54295" name="MathType 6.0 Equation" r:id="rId9" imgW="1143000" imgH="431800" progId="Equation.DSMT4">
                  <p:embed/>
                </p:oleObj>
              </mc:Choice>
              <mc:Fallback>
                <p:oleObj name="MathType 6.0 Equation" r:id="rId9" imgW="1143000" imgH="431800" progId="Equation.DSMT4">
                  <p:embed/>
                  <p:pic>
                    <p:nvPicPr>
                      <p:cNvPr id="0" name="Object 1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372225" y="5843588"/>
                        <a:ext cx="2197100" cy="814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3" name="直接箭头连接符 2">
            <a:extLst>
              <a:ext uri="{FF2B5EF4-FFF2-40B4-BE49-F238E27FC236}">
                <a16:creationId xmlns:a16="http://schemas.microsoft.com/office/drawing/2014/main" id="{DCB7F6E3-BDB9-4E95-A443-D42AC652DAEE}"/>
              </a:ext>
            </a:extLst>
          </p:cNvPr>
          <p:cNvCxnSpPr/>
          <p:nvPr/>
        </p:nvCxnSpPr>
        <p:spPr>
          <a:xfrm>
            <a:off x="2179638" y="6245225"/>
            <a:ext cx="450850" cy="0"/>
          </a:xfrm>
          <a:prstGeom prst="straightConnector1">
            <a:avLst/>
          </a:prstGeom>
          <a:ln w="412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接箭头连接符 10">
            <a:extLst>
              <a:ext uri="{FF2B5EF4-FFF2-40B4-BE49-F238E27FC236}">
                <a16:creationId xmlns:a16="http://schemas.microsoft.com/office/drawing/2014/main" id="{FF57DBBB-D46D-4E12-B8E7-4CB2A8EB775A}"/>
              </a:ext>
            </a:extLst>
          </p:cNvPr>
          <p:cNvCxnSpPr/>
          <p:nvPr/>
        </p:nvCxnSpPr>
        <p:spPr>
          <a:xfrm>
            <a:off x="4084638" y="6245225"/>
            <a:ext cx="449262" cy="0"/>
          </a:xfrm>
          <a:prstGeom prst="straightConnector1">
            <a:avLst/>
          </a:prstGeom>
          <a:ln w="412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a:extLst>
              <a:ext uri="{FF2B5EF4-FFF2-40B4-BE49-F238E27FC236}">
                <a16:creationId xmlns:a16="http://schemas.microsoft.com/office/drawing/2014/main" id="{AFA22F8D-9025-41DA-9D8C-C331C65E481C}"/>
              </a:ext>
            </a:extLst>
          </p:cNvPr>
          <p:cNvCxnSpPr/>
          <p:nvPr/>
        </p:nvCxnSpPr>
        <p:spPr>
          <a:xfrm>
            <a:off x="5849938" y="6245225"/>
            <a:ext cx="450850" cy="0"/>
          </a:xfrm>
          <a:prstGeom prst="straightConnector1">
            <a:avLst/>
          </a:prstGeom>
          <a:ln w="412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med">
    <p:strips dir="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54308"/>
                                        </p:tgtEl>
                                        <p:attrNameLst>
                                          <p:attrName>style.visibility</p:attrName>
                                        </p:attrNameLst>
                                      </p:cBhvr>
                                      <p:to>
                                        <p:strVal val="visible"/>
                                      </p:to>
                                    </p:set>
                                    <p:animEffect transition="in" filter="blinds(horizontal)">
                                      <p:cBhvr>
                                        <p:cTn id="7" dur="500"/>
                                        <p:tgtEl>
                                          <p:spTgt spid="35430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54307"/>
                                        </p:tgtEl>
                                        <p:attrNameLst>
                                          <p:attrName>style.visibility</p:attrName>
                                        </p:attrNameLst>
                                      </p:cBhvr>
                                      <p:to>
                                        <p:strVal val="visible"/>
                                      </p:to>
                                    </p:set>
                                    <p:animEffect transition="in" filter="blinds(horizontal)">
                                      <p:cBhvr>
                                        <p:cTn id="12" dur="500"/>
                                        <p:tgtEl>
                                          <p:spTgt spid="35430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2"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1000"/>
                                        <p:tgtEl>
                                          <p:spTgt spid="5"/>
                                        </p:tgtEl>
                                      </p:cBhvr>
                                    </p:animEffect>
                                    <p:anim calcmode="lin" valueType="num">
                                      <p:cBhvr>
                                        <p:cTn id="18" dur="1000" fill="hold"/>
                                        <p:tgtEl>
                                          <p:spTgt spid="5"/>
                                        </p:tgtEl>
                                        <p:attrNameLst>
                                          <p:attrName>ppt_x</p:attrName>
                                        </p:attrNameLst>
                                      </p:cBhvr>
                                      <p:tavLst>
                                        <p:tav tm="0">
                                          <p:val>
                                            <p:strVal val="#ppt_x"/>
                                          </p:val>
                                        </p:tav>
                                        <p:tav tm="100000">
                                          <p:val>
                                            <p:strVal val="#ppt_x"/>
                                          </p:val>
                                        </p:tav>
                                      </p:tavLst>
                                    </p:anim>
                                    <p:anim calcmode="lin" valueType="num">
                                      <p:cBhvr>
                                        <p:cTn id="19" dur="1000" fill="hold"/>
                                        <p:tgtEl>
                                          <p:spTgt spid="5"/>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1000"/>
                                        <p:tgtEl>
                                          <p:spTgt spid="6"/>
                                        </p:tgtEl>
                                      </p:cBhvr>
                                    </p:animEffect>
                                    <p:anim calcmode="lin" valueType="num">
                                      <p:cBhvr>
                                        <p:cTn id="23" dur="1000" fill="hold"/>
                                        <p:tgtEl>
                                          <p:spTgt spid="6"/>
                                        </p:tgtEl>
                                        <p:attrNameLst>
                                          <p:attrName>ppt_x</p:attrName>
                                        </p:attrNameLst>
                                      </p:cBhvr>
                                      <p:tavLst>
                                        <p:tav tm="0">
                                          <p:val>
                                            <p:strVal val="#ppt_x"/>
                                          </p:val>
                                        </p:tav>
                                        <p:tav tm="100000">
                                          <p:val>
                                            <p:strVal val="#ppt_x"/>
                                          </p:val>
                                        </p:tav>
                                      </p:tavLst>
                                    </p:anim>
                                    <p:anim calcmode="lin" valueType="num">
                                      <p:cBhvr>
                                        <p:cTn id="24" dur="1000" fill="hold"/>
                                        <p:tgtEl>
                                          <p:spTgt spid="6"/>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1000"/>
                                        <p:tgtEl>
                                          <p:spTgt spid="7"/>
                                        </p:tgtEl>
                                      </p:cBhvr>
                                    </p:animEffect>
                                    <p:anim calcmode="lin" valueType="num">
                                      <p:cBhvr>
                                        <p:cTn id="28" dur="1000" fill="hold"/>
                                        <p:tgtEl>
                                          <p:spTgt spid="7"/>
                                        </p:tgtEl>
                                        <p:attrNameLst>
                                          <p:attrName>ppt_x</p:attrName>
                                        </p:attrNameLst>
                                      </p:cBhvr>
                                      <p:tavLst>
                                        <p:tav tm="0">
                                          <p:val>
                                            <p:strVal val="#ppt_x"/>
                                          </p:val>
                                        </p:tav>
                                        <p:tav tm="100000">
                                          <p:val>
                                            <p:strVal val="#ppt_x"/>
                                          </p:val>
                                        </p:tav>
                                      </p:tavLst>
                                    </p:anim>
                                    <p:anim calcmode="lin" valueType="num">
                                      <p:cBhvr>
                                        <p:cTn id="29" dur="1000" fill="hold"/>
                                        <p:tgtEl>
                                          <p:spTgt spid="7"/>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1000"/>
                                        <p:tgtEl>
                                          <p:spTgt spid="8"/>
                                        </p:tgtEl>
                                      </p:cBhvr>
                                    </p:animEffect>
                                    <p:anim calcmode="lin" valueType="num">
                                      <p:cBhvr>
                                        <p:cTn id="33" dur="1000" fill="hold"/>
                                        <p:tgtEl>
                                          <p:spTgt spid="8"/>
                                        </p:tgtEl>
                                        <p:attrNameLst>
                                          <p:attrName>ppt_x</p:attrName>
                                        </p:attrNameLst>
                                      </p:cBhvr>
                                      <p:tavLst>
                                        <p:tav tm="0">
                                          <p:val>
                                            <p:strVal val="#ppt_x"/>
                                          </p:val>
                                        </p:tav>
                                        <p:tav tm="100000">
                                          <p:val>
                                            <p:strVal val="#ppt_x"/>
                                          </p:val>
                                        </p:tav>
                                      </p:tavLst>
                                    </p:anim>
                                    <p:anim calcmode="lin" valueType="num">
                                      <p:cBhvr>
                                        <p:cTn id="34" dur="1000" fill="hold"/>
                                        <p:tgtEl>
                                          <p:spTgt spid="8"/>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3"/>
                                        </p:tgtEl>
                                        <p:attrNameLst>
                                          <p:attrName>style.visibility</p:attrName>
                                        </p:attrNameLst>
                                      </p:cBhvr>
                                      <p:to>
                                        <p:strVal val="visible"/>
                                      </p:to>
                                    </p:set>
                                    <p:animEffect transition="in" filter="fade">
                                      <p:cBhvr>
                                        <p:cTn id="37" dur="1000"/>
                                        <p:tgtEl>
                                          <p:spTgt spid="3"/>
                                        </p:tgtEl>
                                      </p:cBhvr>
                                    </p:animEffect>
                                    <p:anim calcmode="lin" valueType="num">
                                      <p:cBhvr>
                                        <p:cTn id="38" dur="1000" fill="hold"/>
                                        <p:tgtEl>
                                          <p:spTgt spid="3"/>
                                        </p:tgtEl>
                                        <p:attrNameLst>
                                          <p:attrName>ppt_x</p:attrName>
                                        </p:attrNameLst>
                                      </p:cBhvr>
                                      <p:tavLst>
                                        <p:tav tm="0">
                                          <p:val>
                                            <p:strVal val="#ppt_x"/>
                                          </p:val>
                                        </p:tav>
                                        <p:tav tm="100000">
                                          <p:val>
                                            <p:strVal val="#ppt_x"/>
                                          </p:val>
                                        </p:tav>
                                      </p:tavLst>
                                    </p:anim>
                                    <p:anim calcmode="lin" valueType="num">
                                      <p:cBhvr>
                                        <p:cTn id="39" dur="1000" fill="hold"/>
                                        <p:tgtEl>
                                          <p:spTgt spid="3"/>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1000"/>
                                        <p:tgtEl>
                                          <p:spTgt spid="11"/>
                                        </p:tgtEl>
                                      </p:cBhvr>
                                    </p:animEffect>
                                    <p:anim calcmode="lin" valueType="num">
                                      <p:cBhvr>
                                        <p:cTn id="43" dur="1000" fill="hold"/>
                                        <p:tgtEl>
                                          <p:spTgt spid="11"/>
                                        </p:tgtEl>
                                        <p:attrNameLst>
                                          <p:attrName>ppt_x</p:attrName>
                                        </p:attrNameLst>
                                      </p:cBhvr>
                                      <p:tavLst>
                                        <p:tav tm="0">
                                          <p:val>
                                            <p:strVal val="#ppt_x"/>
                                          </p:val>
                                        </p:tav>
                                        <p:tav tm="100000">
                                          <p:val>
                                            <p:strVal val="#ppt_x"/>
                                          </p:val>
                                        </p:tav>
                                      </p:tavLst>
                                    </p:anim>
                                    <p:anim calcmode="lin" valueType="num">
                                      <p:cBhvr>
                                        <p:cTn id="44" dur="1000" fill="hold"/>
                                        <p:tgtEl>
                                          <p:spTgt spid="11"/>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1000"/>
                                        <p:tgtEl>
                                          <p:spTgt spid="12"/>
                                        </p:tgtEl>
                                      </p:cBhvr>
                                    </p:animEffect>
                                    <p:anim calcmode="lin" valueType="num">
                                      <p:cBhvr>
                                        <p:cTn id="48" dur="1000" fill="hold"/>
                                        <p:tgtEl>
                                          <p:spTgt spid="12"/>
                                        </p:tgtEl>
                                        <p:attrNameLst>
                                          <p:attrName>ppt_x</p:attrName>
                                        </p:attrNameLst>
                                      </p:cBhvr>
                                      <p:tavLst>
                                        <p:tav tm="0">
                                          <p:val>
                                            <p:strVal val="#ppt_x"/>
                                          </p:val>
                                        </p:tav>
                                        <p:tav tm="100000">
                                          <p:val>
                                            <p:strVal val="#ppt_x"/>
                                          </p:val>
                                        </p:tav>
                                      </p:tavLst>
                                    </p:anim>
                                    <p:anim calcmode="lin" valueType="num">
                                      <p:cBhvr>
                                        <p:cTn id="49"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4307" grpId="0"/>
      <p:bldP spid="354308" grpId="0"/>
    </p:bldLst>
  </p:timing>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5330" name="Text Box 2">
            <a:extLst>
              <a:ext uri="{FF2B5EF4-FFF2-40B4-BE49-F238E27FC236}">
                <a16:creationId xmlns:a16="http://schemas.microsoft.com/office/drawing/2014/main" id="{CA2FBCD4-B789-401C-956C-32758C9FA65F}"/>
              </a:ext>
            </a:extLst>
          </p:cNvPr>
          <p:cNvSpPr txBox="1">
            <a:spLocks noChangeArrowheads="1"/>
          </p:cNvSpPr>
          <p:nvPr/>
        </p:nvSpPr>
        <p:spPr bwMode="auto">
          <a:xfrm>
            <a:off x="323850" y="692150"/>
            <a:ext cx="8496300" cy="2160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nSpc>
                <a:spcPct val="120000"/>
              </a:lnSpc>
              <a:spcBef>
                <a:spcPct val="0"/>
              </a:spcBef>
              <a:buFontTx/>
              <a:buNone/>
            </a:pPr>
            <a:r>
              <a:rPr lang="en-US" altLang="zh-CN" sz="2800" b="1"/>
              <a:t>17-3</a:t>
            </a:r>
            <a:r>
              <a:rPr lang="zh-CN" altLang="en-US" sz="2800" b="1"/>
              <a:t>．</a:t>
            </a:r>
            <a:r>
              <a:rPr lang="zh-CN" altLang="en-GB" sz="2800" b="1"/>
              <a:t>同样是</a:t>
            </a:r>
            <a:r>
              <a:rPr lang="en-GB" altLang="zh-CN" sz="2800" b="1"/>
              <a:t>1Ci</a:t>
            </a:r>
            <a:r>
              <a:rPr lang="zh-CN" altLang="en-GB" sz="2800" b="1"/>
              <a:t>的</a:t>
            </a:r>
            <a:r>
              <a:rPr lang="zh-CN" altLang="en-GB" sz="2800" b="1">
                <a:sym typeface="Symbol" panose="05050102010706020507" pitchFamily="18" charset="2"/>
              </a:rPr>
              <a:t></a:t>
            </a:r>
            <a:r>
              <a:rPr lang="zh-CN" altLang="en-GB" sz="2800" b="1"/>
              <a:t>射线和</a:t>
            </a:r>
            <a:r>
              <a:rPr lang="zh-CN" altLang="en-GB" sz="2800" b="1">
                <a:sym typeface="Symbol" panose="05050102010706020507" pitchFamily="18" charset="2"/>
              </a:rPr>
              <a:t></a:t>
            </a:r>
            <a:r>
              <a:rPr lang="zh-CN" altLang="en-GB" sz="2800" b="1"/>
              <a:t>射线，下列哪个量是相同的（　）</a:t>
            </a:r>
          </a:p>
          <a:p>
            <a:pPr>
              <a:lnSpc>
                <a:spcPct val="120000"/>
              </a:lnSpc>
              <a:spcBef>
                <a:spcPct val="0"/>
              </a:spcBef>
              <a:buFontTx/>
              <a:buNone/>
            </a:pPr>
            <a:r>
              <a:rPr lang="en-GB" altLang="zh-CN" sz="2800" b="1"/>
              <a:t>     A</a:t>
            </a:r>
            <a:r>
              <a:rPr lang="zh-CN" altLang="en-GB" sz="2800" b="1"/>
              <a:t>．射线强度；         </a:t>
            </a:r>
            <a:r>
              <a:rPr lang="en-GB" altLang="zh-CN" sz="2800" b="1"/>
              <a:t>B</a:t>
            </a:r>
            <a:r>
              <a:rPr lang="zh-CN" altLang="en-GB" sz="2800" b="1"/>
              <a:t>．贯穿本领；    </a:t>
            </a:r>
          </a:p>
          <a:p>
            <a:pPr>
              <a:lnSpc>
                <a:spcPct val="120000"/>
              </a:lnSpc>
              <a:spcBef>
                <a:spcPct val="0"/>
              </a:spcBef>
              <a:buFontTx/>
              <a:buNone/>
            </a:pPr>
            <a:r>
              <a:rPr lang="en-GB" altLang="zh-CN" sz="2800" b="1"/>
              <a:t>     C</a:t>
            </a:r>
            <a:r>
              <a:rPr lang="zh-CN" altLang="en-GB" sz="2800" b="1"/>
              <a:t>．电离比度；         </a:t>
            </a:r>
            <a:r>
              <a:rPr lang="en-GB" altLang="zh-CN" sz="2800" b="1"/>
              <a:t>D</a:t>
            </a:r>
            <a:r>
              <a:rPr lang="zh-CN" altLang="en-GB" sz="2800" b="1"/>
              <a:t>．放射性活度． </a:t>
            </a:r>
            <a:endParaRPr lang="zh-CN" altLang="en-US" sz="2800" b="1"/>
          </a:p>
        </p:txBody>
      </p:sp>
      <p:sp>
        <p:nvSpPr>
          <p:cNvPr id="55299" name="Rectangle 3">
            <a:extLst>
              <a:ext uri="{FF2B5EF4-FFF2-40B4-BE49-F238E27FC236}">
                <a16:creationId xmlns:a16="http://schemas.microsoft.com/office/drawing/2014/main" id="{83371619-B94C-485A-8142-E3932FC2DC8C}"/>
              </a:ext>
            </a:extLst>
          </p:cNvPr>
          <p:cNvSpPr>
            <a:spLocks noChangeArrowheads="1"/>
          </p:cNvSpPr>
          <p:nvPr/>
        </p:nvSpPr>
        <p:spPr bwMode="auto">
          <a:xfrm>
            <a:off x="0" y="-261938"/>
            <a:ext cx="184150" cy="523876"/>
          </a:xfrm>
          <a:prstGeom prst="rect">
            <a:avLst/>
          </a:prstGeom>
          <a:noFill/>
          <a:ln>
            <a:noFill/>
          </a:ln>
          <a:effectLst/>
          <a:extLst>
            <a:ext uri="{909E8E84-426E-40DD-AFC4-6F175D3DCCD1}">
              <a14:hiddenFill xmlns:a14="http://schemas.microsoft.com/office/drawing/2010/main">
                <a:gradFill rotWithShape="0">
                  <a:gsLst>
                    <a:gs pos="0">
                      <a:srgbClr val="760000"/>
                    </a:gs>
                    <a:gs pos="50000">
                      <a:srgbClr val="FF0000"/>
                    </a:gs>
                    <a:gs pos="100000">
                      <a:srgbClr val="760000"/>
                    </a:gs>
                  </a:gsLst>
                  <a:lin ang="2700000" scaled="1"/>
                </a:gradFill>
              </a14:hiddenFill>
            </a:ext>
            <a:ext uri="{91240B29-F687-4F45-9708-019B960494DF}">
              <a14:hiddenLine xmlns:a14="http://schemas.microsoft.com/office/drawing/2010/main" w="44450">
                <a:solidFill>
                  <a:srgbClr val="CC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b="1"/>
          </a:p>
        </p:txBody>
      </p:sp>
      <p:sp>
        <p:nvSpPr>
          <p:cNvPr id="355332" name="Text Box 4">
            <a:extLst>
              <a:ext uri="{FF2B5EF4-FFF2-40B4-BE49-F238E27FC236}">
                <a16:creationId xmlns:a16="http://schemas.microsoft.com/office/drawing/2014/main" id="{28DF5CA9-22D0-4134-A51A-F643038AE4AF}"/>
              </a:ext>
            </a:extLst>
          </p:cNvPr>
          <p:cNvSpPr txBox="1">
            <a:spLocks noChangeArrowheads="1"/>
          </p:cNvSpPr>
          <p:nvPr/>
        </p:nvSpPr>
        <p:spPr bwMode="auto">
          <a:xfrm>
            <a:off x="395288" y="3068638"/>
            <a:ext cx="8496300" cy="3194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nSpc>
                <a:spcPct val="120000"/>
              </a:lnSpc>
              <a:spcBef>
                <a:spcPct val="0"/>
              </a:spcBef>
              <a:buFontTx/>
              <a:buNone/>
            </a:pPr>
            <a:r>
              <a:rPr lang="en-US" altLang="zh-CN" sz="2800" b="1"/>
              <a:t>17-4</a:t>
            </a:r>
            <a:r>
              <a:rPr lang="zh-CN" altLang="en-US" sz="2800" b="1"/>
              <a:t>．</a:t>
            </a:r>
            <a:r>
              <a:rPr lang="zh-CN" altLang="en-GB" sz="2800" b="1"/>
              <a:t>原子核的比结合能表示原子核的稳定程度，比结合能越大，则 （　）</a:t>
            </a:r>
          </a:p>
          <a:p>
            <a:pPr>
              <a:lnSpc>
                <a:spcPct val="120000"/>
              </a:lnSpc>
              <a:spcBef>
                <a:spcPct val="0"/>
              </a:spcBef>
              <a:buFontTx/>
              <a:buNone/>
            </a:pPr>
            <a:r>
              <a:rPr lang="en-GB" altLang="zh-CN" sz="2800" b="1"/>
              <a:t>     A</a:t>
            </a:r>
            <a:r>
              <a:rPr lang="zh-CN" altLang="en-GB" sz="2800" b="1"/>
              <a:t>．原子核越不稳定；                  </a:t>
            </a:r>
          </a:p>
          <a:p>
            <a:pPr>
              <a:lnSpc>
                <a:spcPct val="120000"/>
              </a:lnSpc>
              <a:spcBef>
                <a:spcPct val="0"/>
              </a:spcBef>
              <a:buFontTx/>
              <a:buNone/>
            </a:pPr>
            <a:r>
              <a:rPr lang="en-GB" altLang="zh-CN" sz="2800" b="1"/>
              <a:t>     B</a:t>
            </a:r>
            <a:r>
              <a:rPr lang="zh-CN" altLang="en-GB" sz="2800" b="1"/>
              <a:t>．分离核子时所需能量越小；    </a:t>
            </a:r>
          </a:p>
          <a:p>
            <a:pPr>
              <a:lnSpc>
                <a:spcPct val="120000"/>
              </a:lnSpc>
              <a:spcBef>
                <a:spcPct val="0"/>
              </a:spcBef>
              <a:buFontTx/>
              <a:buNone/>
            </a:pPr>
            <a:r>
              <a:rPr lang="en-GB" altLang="zh-CN" sz="2800" b="1"/>
              <a:t>     C</a:t>
            </a:r>
            <a:r>
              <a:rPr lang="zh-CN" altLang="en-GB" sz="2800" b="1"/>
              <a:t>．分离核子时向外辐射能量越大；      </a:t>
            </a:r>
          </a:p>
          <a:p>
            <a:pPr>
              <a:lnSpc>
                <a:spcPct val="120000"/>
              </a:lnSpc>
              <a:spcBef>
                <a:spcPct val="0"/>
              </a:spcBef>
              <a:buFontTx/>
              <a:buNone/>
            </a:pPr>
            <a:r>
              <a:rPr lang="en-GB" altLang="zh-CN" sz="2800" b="1"/>
              <a:t>     D</a:t>
            </a:r>
            <a:r>
              <a:rPr lang="zh-CN" altLang="en-GB" sz="2800" b="1"/>
              <a:t>．分离核子时所需能量越大．</a:t>
            </a:r>
            <a:endParaRPr lang="zh-CN" altLang="en-US" sz="2800" b="1"/>
          </a:p>
        </p:txBody>
      </p:sp>
    </p:spTree>
  </p:cSld>
  <p:clrMapOvr>
    <a:masterClrMapping/>
  </p:clrMapOvr>
  <p:transition spd="med">
    <p:strips dir="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55330"/>
                                        </p:tgtEl>
                                        <p:attrNameLst>
                                          <p:attrName>style.visibility</p:attrName>
                                        </p:attrNameLst>
                                      </p:cBhvr>
                                      <p:to>
                                        <p:strVal val="visible"/>
                                      </p:to>
                                    </p:set>
                                    <p:animEffect transition="in" filter="blinds(horizontal)">
                                      <p:cBhvr>
                                        <p:cTn id="7" dur="500"/>
                                        <p:tgtEl>
                                          <p:spTgt spid="35533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55332"/>
                                        </p:tgtEl>
                                        <p:attrNameLst>
                                          <p:attrName>style.visibility</p:attrName>
                                        </p:attrNameLst>
                                      </p:cBhvr>
                                      <p:to>
                                        <p:strVal val="visible"/>
                                      </p:to>
                                    </p:set>
                                    <p:animEffect transition="in" filter="blinds(horizontal)">
                                      <p:cBhvr>
                                        <p:cTn id="12" dur="500"/>
                                        <p:tgtEl>
                                          <p:spTgt spid="3553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5330" grpId="0"/>
      <p:bldP spid="355332" grpId="0"/>
    </p:bldLst>
  </p:timing>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7CA0F6DA-8968-404D-BFD1-49CFD344903A}"/>
              </a:ext>
            </a:extLst>
          </p:cNvPr>
          <p:cNvSpPr>
            <a:spLocks noChangeArrowheads="1"/>
          </p:cNvSpPr>
          <p:nvPr/>
        </p:nvSpPr>
        <p:spPr bwMode="auto">
          <a:xfrm>
            <a:off x="0" y="-261938"/>
            <a:ext cx="184150" cy="523876"/>
          </a:xfrm>
          <a:prstGeom prst="rect">
            <a:avLst/>
          </a:prstGeom>
          <a:noFill/>
          <a:ln>
            <a:noFill/>
          </a:ln>
          <a:effectLst/>
          <a:extLst>
            <a:ext uri="{909E8E84-426E-40DD-AFC4-6F175D3DCCD1}">
              <a14:hiddenFill xmlns:a14="http://schemas.microsoft.com/office/drawing/2010/main">
                <a:gradFill rotWithShape="0">
                  <a:gsLst>
                    <a:gs pos="0">
                      <a:srgbClr val="760000"/>
                    </a:gs>
                    <a:gs pos="50000">
                      <a:srgbClr val="FF0000"/>
                    </a:gs>
                    <a:gs pos="100000">
                      <a:srgbClr val="760000"/>
                    </a:gs>
                  </a:gsLst>
                  <a:lin ang="2700000" scaled="1"/>
                </a:gradFill>
              </a14:hiddenFill>
            </a:ext>
            <a:ext uri="{91240B29-F687-4F45-9708-019B960494DF}">
              <a14:hiddenLine xmlns:a14="http://schemas.microsoft.com/office/drawing/2010/main" w="44450">
                <a:solidFill>
                  <a:srgbClr val="CC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b="1"/>
          </a:p>
        </p:txBody>
      </p:sp>
      <p:sp>
        <p:nvSpPr>
          <p:cNvPr id="356355" name="Text Box 3">
            <a:extLst>
              <a:ext uri="{FF2B5EF4-FFF2-40B4-BE49-F238E27FC236}">
                <a16:creationId xmlns:a16="http://schemas.microsoft.com/office/drawing/2014/main" id="{37158559-0779-4777-BC61-CA069FC05EBF}"/>
              </a:ext>
            </a:extLst>
          </p:cNvPr>
          <p:cNvSpPr txBox="1">
            <a:spLocks noChangeArrowheads="1"/>
          </p:cNvSpPr>
          <p:nvPr/>
        </p:nvSpPr>
        <p:spPr bwMode="auto">
          <a:xfrm>
            <a:off x="323850" y="3284538"/>
            <a:ext cx="8351838" cy="2678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nSpc>
                <a:spcPct val="120000"/>
              </a:lnSpc>
              <a:spcBef>
                <a:spcPct val="0"/>
              </a:spcBef>
              <a:buFontTx/>
              <a:buNone/>
            </a:pPr>
            <a:r>
              <a:rPr lang="zh-CN" altLang="en-US" sz="2800" b="1"/>
              <a:t>      </a:t>
            </a:r>
            <a:r>
              <a:rPr lang="en-US" altLang="zh-CN" sz="2800" b="1"/>
              <a:t>17-6</a:t>
            </a:r>
            <a:r>
              <a:rPr lang="zh-CN" altLang="en-US" sz="2800" b="1"/>
              <a:t>．</a:t>
            </a:r>
            <a:r>
              <a:rPr lang="zh-CN" altLang="en-GB" sz="2800" b="1"/>
              <a:t>下列关于核力的说法错误的是（</a:t>
            </a:r>
            <a:r>
              <a:rPr lang="zh-CN" altLang="en-US" sz="2800" b="1"/>
              <a:t>    ）</a:t>
            </a:r>
          </a:p>
          <a:p>
            <a:pPr>
              <a:lnSpc>
                <a:spcPct val="120000"/>
              </a:lnSpc>
              <a:spcBef>
                <a:spcPct val="0"/>
              </a:spcBef>
              <a:buFontTx/>
              <a:buNone/>
            </a:pPr>
            <a:r>
              <a:rPr lang="zh-CN" altLang="en-US" sz="2800" b="1"/>
              <a:t>     </a:t>
            </a:r>
            <a:r>
              <a:rPr lang="en-US" altLang="zh-CN" sz="2800" b="1"/>
              <a:t>A</a:t>
            </a:r>
            <a:r>
              <a:rPr lang="zh-CN" altLang="en-US" sz="2800" b="1"/>
              <a:t>．核力是短程力；                     </a:t>
            </a:r>
          </a:p>
          <a:p>
            <a:pPr>
              <a:lnSpc>
                <a:spcPct val="120000"/>
              </a:lnSpc>
              <a:spcBef>
                <a:spcPct val="0"/>
              </a:spcBef>
              <a:buFontTx/>
              <a:buNone/>
            </a:pPr>
            <a:r>
              <a:rPr lang="zh-CN" altLang="en-US" sz="2800" b="1"/>
              <a:t>     </a:t>
            </a:r>
            <a:r>
              <a:rPr lang="en-US" altLang="zh-CN" sz="2800" b="1"/>
              <a:t>B</a:t>
            </a:r>
            <a:r>
              <a:rPr lang="zh-CN" altLang="en-US" sz="2800" b="1"/>
              <a:t>．核力具有饱和性；</a:t>
            </a:r>
          </a:p>
          <a:p>
            <a:pPr>
              <a:lnSpc>
                <a:spcPct val="120000"/>
              </a:lnSpc>
              <a:spcBef>
                <a:spcPct val="0"/>
              </a:spcBef>
              <a:buFontTx/>
              <a:buNone/>
            </a:pPr>
            <a:r>
              <a:rPr lang="zh-CN" altLang="en-US" sz="2800" b="1"/>
              <a:t>     </a:t>
            </a:r>
            <a:r>
              <a:rPr lang="en-US" altLang="zh-CN" sz="2800" b="1"/>
              <a:t>C</a:t>
            </a:r>
            <a:r>
              <a:rPr lang="zh-CN" altLang="en-US" sz="2800" b="1"/>
              <a:t>．核力与核子的电荷有关；             </a:t>
            </a:r>
          </a:p>
          <a:p>
            <a:pPr>
              <a:lnSpc>
                <a:spcPct val="120000"/>
              </a:lnSpc>
              <a:spcBef>
                <a:spcPct val="0"/>
              </a:spcBef>
              <a:buFontTx/>
              <a:buNone/>
            </a:pPr>
            <a:r>
              <a:rPr lang="zh-CN" altLang="en-US" sz="2800" b="1"/>
              <a:t>     </a:t>
            </a:r>
            <a:r>
              <a:rPr lang="en-US" altLang="zh-CN" sz="2800" b="1"/>
              <a:t>D</a:t>
            </a:r>
            <a:r>
              <a:rPr lang="zh-CN" altLang="en-US" sz="2800" b="1"/>
              <a:t>．核力既不是电磁力，也不是万有引力． </a:t>
            </a:r>
          </a:p>
        </p:txBody>
      </p:sp>
      <p:sp>
        <p:nvSpPr>
          <p:cNvPr id="56324" name="Rectangle 4">
            <a:extLst>
              <a:ext uri="{FF2B5EF4-FFF2-40B4-BE49-F238E27FC236}">
                <a16:creationId xmlns:a16="http://schemas.microsoft.com/office/drawing/2014/main" id="{D2A25658-605D-4D2A-832C-76D76857D25A}"/>
              </a:ext>
            </a:extLst>
          </p:cNvPr>
          <p:cNvSpPr>
            <a:spLocks noChangeArrowheads="1"/>
          </p:cNvSpPr>
          <p:nvPr/>
        </p:nvSpPr>
        <p:spPr bwMode="auto">
          <a:xfrm>
            <a:off x="0" y="-261938"/>
            <a:ext cx="184150" cy="5238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b="1"/>
          </a:p>
        </p:txBody>
      </p:sp>
      <p:grpSp>
        <p:nvGrpSpPr>
          <p:cNvPr id="56325" name="Group 5">
            <a:extLst>
              <a:ext uri="{FF2B5EF4-FFF2-40B4-BE49-F238E27FC236}">
                <a16:creationId xmlns:a16="http://schemas.microsoft.com/office/drawing/2014/main" id="{F955FDEF-F9CB-402F-BFCB-FA342A4E6F48}"/>
              </a:ext>
            </a:extLst>
          </p:cNvPr>
          <p:cNvGrpSpPr>
            <a:grpSpLocks/>
          </p:cNvGrpSpPr>
          <p:nvPr/>
        </p:nvGrpSpPr>
        <p:grpSpPr bwMode="auto">
          <a:xfrm>
            <a:off x="395288" y="658813"/>
            <a:ext cx="8064500" cy="2193925"/>
            <a:chOff x="249" y="415"/>
            <a:chExt cx="5080" cy="1382"/>
          </a:xfrm>
        </p:grpSpPr>
        <p:sp>
          <p:nvSpPr>
            <p:cNvPr id="56326" name="Text Box 6">
              <a:extLst>
                <a:ext uri="{FF2B5EF4-FFF2-40B4-BE49-F238E27FC236}">
                  <a16:creationId xmlns:a16="http://schemas.microsoft.com/office/drawing/2014/main" id="{5860A299-7E0A-4D78-BC36-E06E62BD27C1}"/>
                </a:ext>
              </a:extLst>
            </p:cNvPr>
            <p:cNvSpPr txBox="1">
              <a:spLocks noChangeArrowheads="1"/>
            </p:cNvSpPr>
            <p:nvPr/>
          </p:nvSpPr>
          <p:spPr bwMode="auto">
            <a:xfrm>
              <a:off x="249" y="436"/>
              <a:ext cx="5080" cy="1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nSpc>
                  <a:spcPct val="120000"/>
                </a:lnSpc>
                <a:spcBef>
                  <a:spcPct val="0"/>
                </a:spcBef>
                <a:buFontTx/>
                <a:buNone/>
              </a:pPr>
              <a:r>
                <a:rPr lang="zh-CN" altLang="en-US" sz="2800" b="1"/>
                <a:t>      </a:t>
              </a:r>
              <a:r>
                <a:rPr lang="en-US" altLang="zh-CN" sz="2800" b="1"/>
                <a:t>17-5</a:t>
              </a:r>
              <a:r>
                <a:rPr lang="zh-CN" altLang="en-US" sz="2800" b="1"/>
                <a:t>．</a:t>
              </a:r>
              <a:r>
                <a:rPr lang="zh-CN" altLang="en-GB" sz="2800" b="1"/>
                <a:t>核衰变方程                                           中，</a:t>
              </a:r>
              <a:r>
                <a:rPr lang="en-US" altLang="zh-CN" sz="2800" b="1" i="1"/>
                <a:t>x</a:t>
              </a:r>
              <a:r>
                <a:rPr lang="zh-CN" altLang="en-US" sz="2800" b="1"/>
                <a:t>是（    ）</a:t>
              </a:r>
            </a:p>
            <a:p>
              <a:pPr>
                <a:lnSpc>
                  <a:spcPct val="120000"/>
                </a:lnSpc>
                <a:spcBef>
                  <a:spcPct val="0"/>
                </a:spcBef>
                <a:buFontTx/>
                <a:buNone/>
              </a:pPr>
              <a:r>
                <a:rPr lang="zh-CN" altLang="en-US" sz="2800" b="1"/>
                <a:t>      </a:t>
              </a:r>
              <a:r>
                <a:rPr lang="en-US" altLang="zh-CN" sz="2800" b="1"/>
                <a:t>A</a:t>
              </a:r>
              <a:r>
                <a:rPr lang="zh-CN" altLang="en-US" sz="2800" b="1"/>
                <a:t>．</a:t>
              </a:r>
              <a:r>
                <a:rPr lang="zh-CN" altLang="en-US" sz="2800" b="1">
                  <a:sym typeface="Symbol" panose="05050102010706020507" pitchFamily="18" charset="2"/>
                </a:rPr>
                <a:t></a:t>
              </a:r>
              <a:r>
                <a:rPr lang="zh-CN" altLang="en-US" sz="2800" b="1"/>
                <a:t>粒子；              </a:t>
              </a:r>
              <a:r>
                <a:rPr lang="en-US" altLang="zh-CN" sz="2800" b="1"/>
                <a:t>B</a:t>
              </a:r>
              <a:r>
                <a:rPr lang="zh-CN" altLang="en-US" sz="2800" b="1"/>
                <a:t>．正电子；       </a:t>
              </a:r>
            </a:p>
            <a:p>
              <a:pPr>
                <a:lnSpc>
                  <a:spcPct val="120000"/>
                </a:lnSpc>
                <a:spcBef>
                  <a:spcPct val="0"/>
                </a:spcBef>
                <a:buFontTx/>
                <a:buNone/>
              </a:pPr>
              <a:r>
                <a:rPr lang="zh-CN" altLang="en-US" sz="2800" b="1"/>
                <a:t>      </a:t>
              </a:r>
              <a:r>
                <a:rPr lang="en-US" altLang="zh-CN" sz="2800" b="1"/>
                <a:t>C</a:t>
              </a:r>
              <a:r>
                <a:rPr lang="zh-CN" altLang="en-US" sz="2800" b="1"/>
                <a:t>．负电子；             </a:t>
              </a:r>
              <a:r>
                <a:rPr lang="en-US" altLang="zh-CN" sz="2800" b="1"/>
                <a:t>D</a:t>
              </a:r>
              <a:r>
                <a:rPr lang="zh-CN" altLang="en-US" sz="2800" b="1"/>
                <a:t>．</a:t>
              </a:r>
              <a:r>
                <a:rPr lang="zh-CN" altLang="en-US" sz="2800" b="1">
                  <a:sym typeface="Symbol" panose="05050102010706020507" pitchFamily="18" charset="2"/>
                </a:rPr>
                <a:t> </a:t>
              </a:r>
              <a:r>
                <a:rPr lang="zh-CN" altLang="en-US" sz="2800" b="1"/>
                <a:t>射线． </a:t>
              </a:r>
            </a:p>
          </p:txBody>
        </p:sp>
        <p:graphicFrame>
          <p:nvGraphicFramePr>
            <p:cNvPr id="56327" name="Object 7">
              <a:extLst>
                <a:ext uri="{FF2B5EF4-FFF2-40B4-BE49-F238E27FC236}">
                  <a16:creationId xmlns:a16="http://schemas.microsoft.com/office/drawing/2014/main" id="{7259C5BD-9B3A-4F8B-91AB-BA175CAF0C4C}"/>
                </a:ext>
              </a:extLst>
            </p:cNvPr>
            <p:cNvGraphicFramePr>
              <a:graphicFrameLocks noChangeAspect="1"/>
            </p:cNvGraphicFramePr>
            <p:nvPr/>
          </p:nvGraphicFramePr>
          <p:xfrm>
            <a:off x="2477" y="415"/>
            <a:ext cx="2305" cy="417"/>
          </p:xfrm>
          <a:graphic>
            <a:graphicData uri="http://schemas.openxmlformats.org/presentationml/2006/ole">
              <mc:AlternateContent xmlns:mc="http://schemas.openxmlformats.org/markup-compatibility/2006">
                <mc:Choice xmlns:v="urn:schemas-microsoft-com:vml" Requires="v">
                  <p:oleObj spid="_x0000_s56330" name="Equation" r:id="rId3" imgW="1343101" imgH="162000" progId="Equation.DSMT4">
                    <p:embed/>
                  </p:oleObj>
                </mc:Choice>
                <mc:Fallback>
                  <p:oleObj name="Equation" r:id="rId3" imgW="1343101" imgH="162000" progId="Equation.DSMT4">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77" y="415"/>
                          <a:ext cx="2305" cy="4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Tree>
  </p:cSld>
  <p:clrMapOvr>
    <a:masterClrMapping/>
  </p:clrMapOvr>
  <p:transition spd="med">
    <p:strips dir="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56355"/>
                                        </p:tgtEl>
                                        <p:attrNameLst>
                                          <p:attrName>style.visibility</p:attrName>
                                        </p:attrNameLst>
                                      </p:cBhvr>
                                      <p:to>
                                        <p:strVal val="visible"/>
                                      </p:to>
                                    </p:set>
                                    <p:animEffect transition="in" filter="blinds(horizontal)">
                                      <p:cBhvr>
                                        <p:cTn id="7" dur="500"/>
                                        <p:tgtEl>
                                          <p:spTgt spid="3563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6355" grpId="0"/>
    </p:bldLst>
  </p:timing>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0C8D3601-EBB3-47EB-9068-2924954C24F0}"/>
              </a:ext>
            </a:extLst>
          </p:cNvPr>
          <p:cNvSpPr/>
          <p:nvPr/>
        </p:nvSpPr>
        <p:spPr>
          <a:xfrm>
            <a:off x="4211638" y="4076700"/>
            <a:ext cx="4448175" cy="2665413"/>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tx1"/>
              </a:solidFill>
            </a:endParaRPr>
          </a:p>
        </p:txBody>
      </p:sp>
      <p:sp>
        <p:nvSpPr>
          <p:cNvPr id="357378" name="Text Box 2">
            <a:extLst>
              <a:ext uri="{FF2B5EF4-FFF2-40B4-BE49-F238E27FC236}">
                <a16:creationId xmlns:a16="http://schemas.microsoft.com/office/drawing/2014/main" id="{F7E9E405-FFF2-4B59-B46C-859280E42001}"/>
              </a:ext>
            </a:extLst>
          </p:cNvPr>
          <p:cNvSpPr txBox="1">
            <a:spLocks noChangeArrowheads="1"/>
          </p:cNvSpPr>
          <p:nvPr/>
        </p:nvSpPr>
        <p:spPr bwMode="auto">
          <a:xfrm>
            <a:off x="323850" y="404813"/>
            <a:ext cx="8496300" cy="2160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nSpc>
                <a:spcPct val="120000"/>
              </a:lnSpc>
              <a:spcBef>
                <a:spcPct val="0"/>
              </a:spcBef>
              <a:buFontTx/>
              <a:buNone/>
            </a:pPr>
            <a:r>
              <a:rPr lang="en-US" altLang="zh-CN" sz="2800" b="1"/>
              <a:t>17-7</a:t>
            </a:r>
            <a:r>
              <a:rPr lang="zh-CN" altLang="en-US" sz="2800" b="1"/>
              <a:t>．放射性核素的半衰期为</a:t>
            </a:r>
            <a:r>
              <a:rPr lang="en-US" altLang="zh-CN" sz="2800" b="1"/>
              <a:t>30 a</a:t>
            </a:r>
            <a:r>
              <a:rPr lang="zh-CN" altLang="en-US" sz="2800" b="1"/>
              <a:t>，问放射性活度减弱到</a:t>
            </a:r>
            <a:r>
              <a:rPr lang="en-US" altLang="zh-CN" sz="2800" b="1"/>
              <a:t>12.5%</a:t>
            </a:r>
            <a:r>
              <a:rPr lang="zh-CN" altLang="en-US" sz="2800" b="1"/>
              <a:t>所需要的时间是（    ）</a:t>
            </a:r>
          </a:p>
          <a:p>
            <a:pPr>
              <a:lnSpc>
                <a:spcPct val="120000"/>
              </a:lnSpc>
              <a:spcBef>
                <a:spcPct val="0"/>
              </a:spcBef>
              <a:buFontTx/>
              <a:buNone/>
            </a:pPr>
            <a:r>
              <a:rPr lang="zh-CN" altLang="en-US" sz="2800" b="1"/>
              <a:t>     </a:t>
            </a:r>
            <a:r>
              <a:rPr lang="en-US" altLang="zh-CN" sz="2800" b="1"/>
              <a:t>A</a:t>
            </a:r>
            <a:r>
              <a:rPr lang="zh-CN" altLang="en-US" sz="2800" b="1"/>
              <a:t>．</a:t>
            </a:r>
            <a:r>
              <a:rPr lang="en-US" altLang="zh-CN" sz="2800" b="1"/>
              <a:t>120 a</a:t>
            </a:r>
            <a:r>
              <a:rPr lang="zh-CN" altLang="en-US" sz="2800" b="1"/>
              <a:t>；              </a:t>
            </a:r>
            <a:r>
              <a:rPr lang="en-US" altLang="zh-CN" sz="2800" b="1"/>
              <a:t>B</a:t>
            </a:r>
            <a:r>
              <a:rPr lang="zh-CN" altLang="en-US" sz="2800" b="1"/>
              <a:t>．</a:t>
            </a:r>
            <a:r>
              <a:rPr lang="en-US" altLang="zh-CN" sz="2800" b="1"/>
              <a:t>90 a</a:t>
            </a:r>
            <a:r>
              <a:rPr lang="zh-CN" altLang="en-US" sz="2800" b="1"/>
              <a:t>；</a:t>
            </a:r>
          </a:p>
          <a:p>
            <a:pPr>
              <a:lnSpc>
                <a:spcPct val="120000"/>
              </a:lnSpc>
              <a:spcBef>
                <a:spcPct val="0"/>
              </a:spcBef>
              <a:buFontTx/>
              <a:buNone/>
            </a:pPr>
            <a:r>
              <a:rPr lang="zh-CN" altLang="en-US" sz="2800" b="1"/>
              <a:t>     </a:t>
            </a:r>
            <a:r>
              <a:rPr lang="en-US" altLang="zh-CN" sz="2800" b="1"/>
              <a:t>C</a:t>
            </a:r>
            <a:r>
              <a:rPr lang="zh-CN" altLang="en-US" sz="2800" b="1"/>
              <a:t>．</a:t>
            </a:r>
            <a:r>
              <a:rPr lang="en-US" altLang="zh-CN" sz="2800" b="1"/>
              <a:t>60 a</a:t>
            </a:r>
            <a:r>
              <a:rPr lang="zh-CN" altLang="en-US" sz="2800" b="1"/>
              <a:t>；                </a:t>
            </a:r>
            <a:r>
              <a:rPr lang="en-US" altLang="zh-CN" sz="2800" b="1"/>
              <a:t>D</a:t>
            </a:r>
            <a:r>
              <a:rPr lang="zh-CN" altLang="en-US" sz="2800" b="1"/>
              <a:t>．</a:t>
            </a:r>
            <a:r>
              <a:rPr lang="en-US" altLang="zh-CN" sz="2800" b="1"/>
              <a:t>30 a</a:t>
            </a:r>
            <a:r>
              <a:rPr lang="zh-CN" altLang="en-US" sz="2800" b="1"/>
              <a:t>．</a:t>
            </a:r>
          </a:p>
        </p:txBody>
      </p:sp>
      <p:sp>
        <p:nvSpPr>
          <p:cNvPr id="57348" name="Rectangle 3">
            <a:extLst>
              <a:ext uri="{FF2B5EF4-FFF2-40B4-BE49-F238E27FC236}">
                <a16:creationId xmlns:a16="http://schemas.microsoft.com/office/drawing/2014/main" id="{BC7C7A41-B8C4-428C-8A6B-D5BA25ECDE40}"/>
              </a:ext>
            </a:extLst>
          </p:cNvPr>
          <p:cNvSpPr>
            <a:spLocks noChangeArrowheads="1"/>
          </p:cNvSpPr>
          <p:nvPr/>
        </p:nvSpPr>
        <p:spPr bwMode="auto">
          <a:xfrm>
            <a:off x="0" y="-261938"/>
            <a:ext cx="184150" cy="523876"/>
          </a:xfrm>
          <a:prstGeom prst="rect">
            <a:avLst/>
          </a:prstGeom>
          <a:noFill/>
          <a:ln>
            <a:noFill/>
          </a:ln>
          <a:effectLst/>
          <a:extLst>
            <a:ext uri="{909E8E84-426E-40DD-AFC4-6F175D3DCCD1}">
              <a14:hiddenFill xmlns:a14="http://schemas.microsoft.com/office/drawing/2010/main">
                <a:gradFill rotWithShape="0">
                  <a:gsLst>
                    <a:gs pos="0">
                      <a:srgbClr val="760000"/>
                    </a:gs>
                    <a:gs pos="50000">
                      <a:srgbClr val="FF0000"/>
                    </a:gs>
                    <a:gs pos="100000">
                      <a:srgbClr val="760000"/>
                    </a:gs>
                  </a:gsLst>
                  <a:lin ang="2700000" scaled="1"/>
                </a:gradFill>
              </a14:hiddenFill>
            </a:ext>
            <a:ext uri="{91240B29-F687-4F45-9708-019B960494DF}">
              <a14:hiddenLine xmlns:a14="http://schemas.microsoft.com/office/drawing/2010/main" w="44450">
                <a:solidFill>
                  <a:srgbClr val="CC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b="1"/>
          </a:p>
        </p:txBody>
      </p:sp>
      <p:grpSp>
        <p:nvGrpSpPr>
          <p:cNvPr id="357380" name="Group 4">
            <a:extLst>
              <a:ext uri="{FF2B5EF4-FFF2-40B4-BE49-F238E27FC236}">
                <a16:creationId xmlns:a16="http://schemas.microsoft.com/office/drawing/2014/main" id="{04D90A8D-D13B-4653-9266-504F5DA21502}"/>
              </a:ext>
            </a:extLst>
          </p:cNvPr>
          <p:cNvGrpSpPr>
            <a:grpSpLocks/>
          </p:cNvGrpSpPr>
          <p:nvPr/>
        </p:nvGrpSpPr>
        <p:grpSpPr bwMode="auto">
          <a:xfrm>
            <a:off x="323850" y="2636838"/>
            <a:ext cx="8496300" cy="3960812"/>
            <a:chOff x="204" y="1661"/>
            <a:chExt cx="5352" cy="2495"/>
          </a:xfrm>
        </p:grpSpPr>
        <p:sp>
          <p:nvSpPr>
            <p:cNvPr id="57350" name="Text Box 5">
              <a:extLst>
                <a:ext uri="{FF2B5EF4-FFF2-40B4-BE49-F238E27FC236}">
                  <a16:creationId xmlns:a16="http://schemas.microsoft.com/office/drawing/2014/main" id="{815DFEF2-AEEA-41AD-88C1-B6B1393A8EA6}"/>
                </a:ext>
              </a:extLst>
            </p:cNvPr>
            <p:cNvSpPr txBox="1">
              <a:spLocks noChangeArrowheads="1"/>
            </p:cNvSpPr>
            <p:nvPr/>
          </p:nvSpPr>
          <p:spPr bwMode="auto">
            <a:xfrm>
              <a:off x="204" y="1661"/>
              <a:ext cx="5352" cy="21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nSpc>
                  <a:spcPct val="110000"/>
                </a:lnSpc>
                <a:spcBef>
                  <a:spcPct val="0"/>
                </a:spcBef>
                <a:buFontTx/>
                <a:buNone/>
              </a:pPr>
              <a:r>
                <a:rPr lang="en-US" altLang="zh-CN" sz="2800" b="1"/>
                <a:t>17-8</a:t>
              </a:r>
              <a:r>
                <a:rPr lang="zh-CN" altLang="en-US" sz="2800" b="1"/>
                <a:t>．如图所示为三种物质的核衰变曲线，它们的衰变常数分别为</a:t>
              </a:r>
              <a:r>
                <a:rPr lang="zh-CN" altLang="en-US" sz="2800" b="1" i="1">
                  <a:sym typeface="Symbol" panose="05050102010706020507" pitchFamily="18" charset="2"/>
                </a:rPr>
                <a:t></a:t>
              </a:r>
              <a:r>
                <a:rPr lang="en-US" altLang="zh-CN" sz="2800" b="1" baseline="-25000"/>
                <a:t>1</a:t>
              </a:r>
              <a:r>
                <a:rPr lang="zh-CN" altLang="en-US" sz="2800" b="1"/>
                <a:t>，</a:t>
              </a:r>
              <a:r>
                <a:rPr lang="zh-CN" altLang="en-US" sz="2800" b="1" i="1">
                  <a:sym typeface="Symbol" panose="05050102010706020507" pitchFamily="18" charset="2"/>
                </a:rPr>
                <a:t></a:t>
              </a:r>
              <a:r>
                <a:rPr lang="en-US" altLang="zh-CN" sz="2800" b="1" baseline="-25000"/>
                <a:t>2</a:t>
              </a:r>
              <a:r>
                <a:rPr lang="zh-CN" altLang="en-US" sz="2800" b="1"/>
                <a:t>，</a:t>
              </a:r>
              <a:r>
                <a:rPr lang="zh-CN" altLang="en-US" sz="2800" b="1" i="1">
                  <a:sym typeface="Symbol" panose="05050102010706020507" pitchFamily="18" charset="2"/>
                </a:rPr>
                <a:t></a:t>
              </a:r>
              <a:r>
                <a:rPr lang="en-US" altLang="zh-CN" sz="2800" b="1" baseline="-25000"/>
                <a:t>3</a:t>
              </a:r>
              <a:r>
                <a:rPr lang="zh-CN" altLang="en-US" sz="2800" b="1"/>
                <a:t>，它们的半衰期分别为</a:t>
              </a:r>
              <a:r>
                <a:rPr lang="zh-CN" altLang="en-US" sz="2800" b="1" i="1">
                  <a:sym typeface="Symbol" panose="05050102010706020507" pitchFamily="18" charset="2"/>
                </a:rPr>
                <a:t></a:t>
              </a:r>
              <a:r>
                <a:rPr lang="en-US" altLang="zh-CN" sz="2800" b="1" baseline="-25000"/>
                <a:t>1</a:t>
              </a:r>
              <a:r>
                <a:rPr lang="zh-CN" altLang="en-US" sz="2800" b="1"/>
                <a:t>，</a:t>
              </a:r>
              <a:r>
                <a:rPr lang="zh-CN" altLang="en-US" sz="2800" b="1" i="1">
                  <a:sym typeface="Symbol" panose="05050102010706020507" pitchFamily="18" charset="2"/>
                </a:rPr>
                <a:t></a:t>
              </a:r>
              <a:r>
                <a:rPr lang="en-US" altLang="zh-CN" sz="2800" b="1" baseline="-25000"/>
                <a:t>2</a:t>
              </a:r>
              <a:r>
                <a:rPr lang="zh-CN" altLang="en-US" sz="2800" b="1"/>
                <a:t>，</a:t>
              </a:r>
              <a:r>
                <a:rPr lang="zh-CN" altLang="en-US" sz="2800" b="1" i="1">
                  <a:sym typeface="Symbol" panose="05050102010706020507" pitchFamily="18" charset="2"/>
                </a:rPr>
                <a:t></a:t>
              </a:r>
              <a:r>
                <a:rPr lang="en-US" altLang="zh-CN" sz="2800" b="1" baseline="-25000"/>
                <a:t>3 </a:t>
              </a:r>
              <a:r>
                <a:rPr lang="zh-CN" altLang="en-US" sz="2800" b="1"/>
                <a:t>，它们的平均寿命分别为</a:t>
              </a:r>
              <a:r>
                <a:rPr lang="en-US" altLang="zh-CN" sz="2800" b="1" i="1"/>
                <a:t>T</a:t>
              </a:r>
              <a:r>
                <a:rPr lang="en-US" altLang="zh-CN" sz="2800" b="1" baseline="-25000"/>
                <a:t>1</a:t>
              </a:r>
              <a:r>
                <a:rPr lang="zh-CN" altLang="en-US" sz="2800" b="1"/>
                <a:t>，</a:t>
              </a:r>
              <a:r>
                <a:rPr lang="en-US" altLang="zh-CN" sz="2800" b="1" i="1"/>
                <a:t>T</a:t>
              </a:r>
              <a:r>
                <a:rPr lang="en-US" altLang="zh-CN" sz="2800" b="1" baseline="-25000"/>
                <a:t>2</a:t>
              </a:r>
              <a:r>
                <a:rPr lang="zh-CN" altLang="en-US" sz="2800" b="1"/>
                <a:t>，</a:t>
              </a:r>
              <a:r>
                <a:rPr lang="en-US" altLang="zh-CN" sz="2800" b="1" i="1"/>
                <a:t>T</a:t>
              </a:r>
              <a:r>
                <a:rPr lang="en-US" altLang="zh-CN" sz="2800" b="1" baseline="-25000"/>
                <a:t>3 </a:t>
              </a:r>
              <a:r>
                <a:rPr lang="zh-CN" altLang="en-US" sz="2800" b="1"/>
                <a:t>，则（）</a:t>
              </a:r>
              <a:endParaRPr lang="zh-CN" altLang="de-DE" sz="2800" b="1"/>
            </a:p>
            <a:p>
              <a:pPr>
                <a:lnSpc>
                  <a:spcPct val="110000"/>
                </a:lnSpc>
                <a:spcBef>
                  <a:spcPct val="0"/>
                </a:spcBef>
                <a:buFontTx/>
                <a:buNone/>
              </a:pPr>
              <a:r>
                <a:rPr lang="de-DE" altLang="zh-CN" sz="2800" b="1"/>
                <a:t>      A</a:t>
              </a:r>
              <a:r>
                <a:rPr lang="zh-CN" altLang="de-DE" sz="2800" b="1"/>
                <a:t>．</a:t>
              </a:r>
              <a:r>
                <a:rPr lang="zh-CN" altLang="en-US" sz="2800" b="1" i="1">
                  <a:sym typeface="Symbol" panose="05050102010706020507" pitchFamily="18" charset="2"/>
                </a:rPr>
                <a:t></a:t>
              </a:r>
              <a:r>
                <a:rPr lang="de-DE" altLang="zh-CN" sz="2800" b="1" baseline="-25000"/>
                <a:t>1</a:t>
              </a:r>
              <a:r>
                <a:rPr lang="de-DE" altLang="zh-CN" sz="2800" b="1"/>
                <a:t>&lt;</a:t>
              </a:r>
              <a:r>
                <a:rPr lang="en-US" altLang="zh-CN" sz="2800" b="1" i="1">
                  <a:sym typeface="Symbol" panose="05050102010706020507" pitchFamily="18" charset="2"/>
                </a:rPr>
                <a:t></a:t>
              </a:r>
              <a:r>
                <a:rPr lang="de-DE" altLang="zh-CN" sz="2800" b="1" baseline="-25000"/>
                <a:t>2</a:t>
              </a:r>
              <a:r>
                <a:rPr lang="de-DE" altLang="zh-CN" sz="2800" b="1"/>
                <a:t>&lt;</a:t>
              </a:r>
              <a:r>
                <a:rPr lang="en-US" altLang="zh-CN" sz="2800" b="1" i="1">
                  <a:sym typeface="Symbol" panose="05050102010706020507" pitchFamily="18" charset="2"/>
                </a:rPr>
                <a:t></a:t>
              </a:r>
              <a:r>
                <a:rPr lang="de-DE" altLang="zh-CN" sz="2800" b="1" baseline="-25000"/>
                <a:t>3</a:t>
              </a:r>
              <a:r>
                <a:rPr lang="zh-CN" altLang="de-DE" sz="2800" b="1"/>
                <a:t>；</a:t>
              </a:r>
            </a:p>
            <a:p>
              <a:pPr>
                <a:lnSpc>
                  <a:spcPct val="110000"/>
                </a:lnSpc>
                <a:spcBef>
                  <a:spcPct val="0"/>
                </a:spcBef>
                <a:buFontTx/>
                <a:buNone/>
              </a:pPr>
              <a:r>
                <a:rPr lang="de-DE" altLang="zh-CN" sz="2800" b="1"/>
                <a:t>      B</a:t>
              </a:r>
              <a:r>
                <a:rPr lang="zh-CN" altLang="de-DE" sz="2800" b="1"/>
                <a:t>．</a:t>
              </a:r>
              <a:r>
                <a:rPr lang="zh-CN" altLang="en-US" sz="2800" b="1" i="1">
                  <a:sym typeface="Symbol" panose="05050102010706020507" pitchFamily="18" charset="2"/>
                </a:rPr>
                <a:t></a:t>
              </a:r>
              <a:r>
                <a:rPr lang="de-DE" altLang="zh-CN" sz="2800" b="1" baseline="-25000"/>
                <a:t>1</a:t>
              </a:r>
              <a:r>
                <a:rPr lang="de-DE" altLang="zh-CN" sz="2800" b="1"/>
                <a:t>=</a:t>
              </a:r>
              <a:r>
                <a:rPr lang="en-US" altLang="zh-CN" sz="2800" b="1" i="1">
                  <a:sym typeface="Symbol" panose="05050102010706020507" pitchFamily="18" charset="2"/>
                </a:rPr>
                <a:t></a:t>
              </a:r>
              <a:r>
                <a:rPr lang="de-DE" altLang="zh-CN" sz="2800" b="1" baseline="-25000"/>
                <a:t>2</a:t>
              </a:r>
              <a:r>
                <a:rPr lang="de-DE" altLang="zh-CN" sz="2800" b="1"/>
                <a:t>=</a:t>
              </a:r>
              <a:r>
                <a:rPr lang="en-US" altLang="zh-CN" sz="2800" b="1" i="1">
                  <a:sym typeface="Symbol" panose="05050102010706020507" pitchFamily="18" charset="2"/>
                </a:rPr>
                <a:t></a:t>
              </a:r>
              <a:r>
                <a:rPr lang="de-DE" altLang="zh-CN" sz="2800" b="1" baseline="-25000"/>
                <a:t>3</a:t>
              </a:r>
              <a:r>
                <a:rPr lang="zh-CN" altLang="de-DE" sz="2800" b="1"/>
                <a:t>；</a:t>
              </a:r>
            </a:p>
            <a:p>
              <a:pPr>
                <a:lnSpc>
                  <a:spcPct val="110000"/>
                </a:lnSpc>
                <a:spcBef>
                  <a:spcPct val="0"/>
                </a:spcBef>
                <a:buFontTx/>
                <a:buNone/>
              </a:pPr>
              <a:r>
                <a:rPr lang="de-DE" altLang="zh-CN" sz="2800" b="1"/>
                <a:t>      C</a:t>
              </a:r>
              <a:r>
                <a:rPr lang="zh-CN" altLang="de-DE" sz="2800" b="1"/>
                <a:t>．</a:t>
              </a:r>
              <a:r>
                <a:rPr lang="de-DE" altLang="zh-CN" sz="2800" b="1" i="1"/>
                <a:t>T</a:t>
              </a:r>
              <a:r>
                <a:rPr lang="de-DE" altLang="zh-CN" sz="2800" b="1" baseline="-25000"/>
                <a:t>1</a:t>
              </a:r>
              <a:r>
                <a:rPr lang="de-DE" altLang="zh-CN" sz="2800" b="1"/>
                <a:t>&gt;</a:t>
              </a:r>
              <a:r>
                <a:rPr lang="de-DE" altLang="zh-CN" sz="2800" b="1" i="1"/>
                <a:t>T</a:t>
              </a:r>
              <a:r>
                <a:rPr lang="de-DE" altLang="zh-CN" sz="2800" b="1" baseline="-25000"/>
                <a:t>2</a:t>
              </a:r>
              <a:r>
                <a:rPr lang="de-DE" altLang="zh-CN" sz="2800" b="1"/>
                <a:t>&gt;</a:t>
              </a:r>
              <a:r>
                <a:rPr lang="de-DE" altLang="zh-CN" sz="2800" b="1" i="1"/>
                <a:t>T</a:t>
              </a:r>
              <a:r>
                <a:rPr lang="de-DE" altLang="zh-CN" sz="2800" b="1" baseline="-25000"/>
                <a:t>3</a:t>
              </a:r>
              <a:r>
                <a:rPr lang="zh-CN" altLang="de-DE" sz="2800" b="1"/>
                <a:t>；</a:t>
              </a:r>
            </a:p>
            <a:p>
              <a:pPr>
                <a:lnSpc>
                  <a:spcPct val="110000"/>
                </a:lnSpc>
                <a:spcBef>
                  <a:spcPct val="0"/>
                </a:spcBef>
                <a:buFontTx/>
                <a:buNone/>
              </a:pPr>
              <a:r>
                <a:rPr lang="de-DE" altLang="zh-CN" sz="2800" b="1"/>
                <a:t>      D</a:t>
              </a:r>
              <a:r>
                <a:rPr lang="zh-CN" altLang="de-DE" sz="2800" b="1"/>
                <a:t>．</a:t>
              </a:r>
              <a:r>
                <a:rPr lang="zh-CN" altLang="en-US" sz="2800" b="1" i="1">
                  <a:sym typeface="Symbol" panose="05050102010706020507" pitchFamily="18" charset="2"/>
                </a:rPr>
                <a:t></a:t>
              </a:r>
              <a:r>
                <a:rPr lang="de-DE" altLang="zh-CN" sz="2800" b="1" baseline="-25000"/>
                <a:t>1</a:t>
              </a:r>
              <a:r>
                <a:rPr lang="de-DE" altLang="zh-CN" sz="2800" b="1"/>
                <a:t>&lt;</a:t>
              </a:r>
              <a:r>
                <a:rPr lang="en-US" altLang="zh-CN" sz="2800" b="1" i="1">
                  <a:sym typeface="Symbol" panose="05050102010706020507" pitchFamily="18" charset="2"/>
                </a:rPr>
                <a:t></a:t>
              </a:r>
              <a:r>
                <a:rPr lang="de-DE" altLang="zh-CN" sz="2800" b="1" baseline="-25000"/>
                <a:t>2</a:t>
              </a:r>
              <a:r>
                <a:rPr lang="de-DE" altLang="zh-CN" sz="2800" b="1"/>
                <a:t>&lt;</a:t>
              </a:r>
              <a:r>
                <a:rPr lang="en-US" altLang="zh-CN" sz="2800" b="1" i="1">
                  <a:sym typeface="Symbol" panose="05050102010706020507" pitchFamily="18" charset="2"/>
                </a:rPr>
                <a:t></a:t>
              </a:r>
              <a:r>
                <a:rPr lang="de-DE" altLang="zh-CN" sz="2800" b="1" baseline="-25000"/>
                <a:t>3</a:t>
              </a:r>
              <a:r>
                <a:rPr lang="zh-CN" altLang="de-DE" sz="2800" b="1"/>
                <a:t>．</a:t>
              </a:r>
              <a:endParaRPr lang="zh-CN" altLang="en-US" sz="2800" b="1"/>
            </a:p>
          </p:txBody>
        </p:sp>
        <p:grpSp>
          <p:nvGrpSpPr>
            <p:cNvPr id="57351" name="Group 6">
              <a:extLst>
                <a:ext uri="{FF2B5EF4-FFF2-40B4-BE49-F238E27FC236}">
                  <a16:creationId xmlns:a16="http://schemas.microsoft.com/office/drawing/2014/main" id="{7B65B12F-C036-4022-892A-77DEFB2C12E6}"/>
                </a:ext>
              </a:extLst>
            </p:cNvPr>
            <p:cNvGrpSpPr>
              <a:grpSpLocks/>
            </p:cNvGrpSpPr>
            <p:nvPr/>
          </p:nvGrpSpPr>
          <p:grpSpPr bwMode="auto">
            <a:xfrm>
              <a:off x="2744" y="2543"/>
              <a:ext cx="2711" cy="1613"/>
              <a:chOff x="2744" y="2543"/>
              <a:chExt cx="2711" cy="1613"/>
            </a:xfrm>
          </p:grpSpPr>
          <p:sp>
            <p:nvSpPr>
              <p:cNvPr id="57352" name="Line 7">
                <a:extLst>
                  <a:ext uri="{FF2B5EF4-FFF2-40B4-BE49-F238E27FC236}">
                    <a16:creationId xmlns:a16="http://schemas.microsoft.com/office/drawing/2014/main" id="{43F2DE8D-3A78-4184-A50B-FFA4F25ED323}"/>
                  </a:ext>
                </a:extLst>
              </p:cNvPr>
              <p:cNvSpPr>
                <a:spLocks noChangeShapeType="1"/>
              </p:cNvSpPr>
              <p:nvPr/>
            </p:nvSpPr>
            <p:spPr bwMode="auto">
              <a:xfrm flipV="1">
                <a:off x="3107" y="2634"/>
                <a:ext cx="0" cy="1408"/>
              </a:xfrm>
              <a:prstGeom prst="line">
                <a:avLst/>
              </a:prstGeom>
              <a:noFill/>
              <a:ln w="28575">
                <a:solidFill>
                  <a:srgbClr val="000000"/>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57353" name="Line 8">
                <a:extLst>
                  <a:ext uri="{FF2B5EF4-FFF2-40B4-BE49-F238E27FC236}">
                    <a16:creationId xmlns:a16="http://schemas.microsoft.com/office/drawing/2014/main" id="{5781ABF1-8291-4715-B0BF-834DAA04AA02}"/>
                  </a:ext>
                </a:extLst>
              </p:cNvPr>
              <p:cNvSpPr>
                <a:spLocks noChangeShapeType="1"/>
              </p:cNvSpPr>
              <p:nvPr/>
            </p:nvSpPr>
            <p:spPr bwMode="auto">
              <a:xfrm>
                <a:off x="3107" y="4041"/>
                <a:ext cx="2016" cy="0"/>
              </a:xfrm>
              <a:prstGeom prst="line">
                <a:avLst/>
              </a:prstGeom>
              <a:noFill/>
              <a:ln w="28575">
                <a:solidFill>
                  <a:srgbClr val="000000"/>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57354" name="Freeform 9">
                <a:extLst>
                  <a:ext uri="{FF2B5EF4-FFF2-40B4-BE49-F238E27FC236}">
                    <a16:creationId xmlns:a16="http://schemas.microsoft.com/office/drawing/2014/main" id="{3D268A18-AAAA-41DA-B682-5CA224DA0E3F}"/>
                  </a:ext>
                </a:extLst>
              </p:cNvPr>
              <p:cNvSpPr>
                <a:spLocks/>
              </p:cNvSpPr>
              <p:nvPr/>
            </p:nvSpPr>
            <p:spPr bwMode="auto">
              <a:xfrm>
                <a:off x="3107" y="2997"/>
                <a:ext cx="1623" cy="907"/>
              </a:xfrm>
              <a:custGeom>
                <a:avLst/>
                <a:gdLst>
                  <a:gd name="T0" fmla="*/ 0 w 1260"/>
                  <a:gd name="T1" fmla="*/ 0 h 1560"/>
                  <a:gd name="T2" fmla="*/ 5838 w 1260"/>
                  <a:gd name="T3" fmla="*/ 3 h 1560"/>
                  <a:gd name="T4" fmla="*/ 20409 w 1260"/>
                  <a:gd name="T5" fmla="*/ 4 h 1560"/>
                  <a:gd name="T6" fmla="*/ 0 60000 65536"/>
                  <a:gd name="T7" fmla="*/ 0 60000 65536"/>
                  <a:gd name="T8" fmla="*/ 0 60000 65536"/>
                </a:gdLst>
                <a:ahLst/>
                <a:cxnLst>
                  <a:cxn ang="T6">
                    <a:pos x="T0" y="T1"/>
                  </a:cxn>
                  <a:cxn ang="T7">
                    <a:pos x="T2" y="T3"/>
                  </a:cxn>
                  <a:cxn ang="T8">
                    <a:pos x="T4" y="T5"/>
                  </a:cxn>
                </a:cxnLst>
                <a:rect l="0" t="0" r="r" b="b"/>
                <a:pathLst>
                  <a:path w="1260" h="1560">
                    <a:moveTo>
                      <a:pt x="0" y="0"/>
                    </a:moveTo>
                    <a:cubicBezTo>
                      <a:pt x="75" y="416"/>
                      <a:pt x="150" y="832"/>
                      <a:pt x="360" y="1092"/>
                    </a:cubicBezTo>
                    <a:cubicBezTo>
                      <a:pt x="570" y="1352"/>
                      <a:pt x="1110" y="1482"/>
                      <a:pt x="1260" y="1560"/>
                    </a:cubicBezTo>
                  </a:path>
                </a:pathLst>
              </a:custGeom>
              <a:noFill/>
              <a:ln w="38100">
                <a:solidFill>
                  <a:srgbClr val="CC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7355" name="Freeform 10">
                <a:extLst>
                  <a:ext uri="{FF2B5EF4-FFF2-40B4-BE49-F238E27FC236}">
                    <a16:creationId xmlns:a16="http://schemas.microsoft.com/office/drawing/2014/main" id="{B891C257-0C50-46EE-A9CA-D06BB65304F1}"/>
                  </a:ext>
                </a:extLst>
              </p:cNvPr>
              <p:cNvSpPr>
                <a:spLocks/>
              </p:cNvSpPr>
              <p:nvPr/>
            </p:nvSpPr>
            <p:spPr bwMode="auto">
              <a:xfrm>
                <a:off x="3107" y="2952"/>
                <a:ext cx="1754" cy="816"/>
              </a:xfrm>
              <a:custGeom>
                <a:avLst/>
                <a:gdLst>
                  <a:gd name="T0" fmla="*/ 0 w 1980"/>
                  <a:gd name="T1" fmla="*/ 0 h 1404"/>
                  <a:gd name="T2" fmla="*/ 142 w 1980"/>
                  <a:gd name="T3" fmla="*/ 2 h 1404"/>
                  <a:gd name="T4" fmla="*/ 523 w 1980"/>
                  <a:gd name="T5" fmla="*/ 3 h 1404"/>
                  <a:gd name="T6" fmla="*/ 0 60000 65536"/>
                  <a:gd name="T7" fmla="*/ 0 60000 65536"/>
                  <a:gd name="T8" fmla="*/ 0 60000 65536"/>
                </a:gdLst>
                <a:ahLst/>
                <a:cxnLst>
                  <a:cxn ang="T6">
                    <a:pos x="T0" y="T1"/>
                  </a:cxn>
                  <a:cxn ang="T7">
                    <a:pos x="T2" y="T3"/>
                  </a:cxn>
                  <a:cxn ang="T8">
                    <a:pos x="T4" y="T5"/>
                  </a:cxn>
                </a:cxnLst>
                <a:rect l="0" t="0" r="r" b="b"/>
                <a:pathLst>
                  <a:path w="1980" h="1404">
                    <a:moveTo>
                      <a:pt x="0" y="0"/>
                    </a:moveTo>
                    <a:cubicBezTo>
                      <a:pt x="105" y="351"/>
                      <a:pt x="210" y="702"/>
                      <a:pt x="540" y="936"/>
                    </a:cubicBezTo>
                    <a:cubicBezTo>
                      <a:pt x="870" y="1170"/>
                      <a:pt x="1740" y="1326"/>
                      <a:pt x="1980" y="1404"/>
                    </a:cubicBezTo>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7356" name="Freeform 11">
                <a:extLst>
                  <a:ext uri="{FF2B5EF4-FFF2-40B4-BE49-F238E27FC236}">
                    <a16:creationId xmlns:a16="http://schemas.microsoft.com/office/drawing/2014/main" id="{2D5B714A-359B-42D0-858D-16DA5E9BDA6D}"/>
                  </a:ext>
                </a:extLst>
              </p:cNvPr>
              <p:cNvSpPr>
                <a:spLocks/>
              </p:cNvSpPr>
              <p:nvPr/>
            </p:nvSpPr>
            <p:spPr bwMode="auto">
              <a:xfrm>
                <a:off x="3107" y="2952"/>
                <a:ext cx="1885" cy="726"/>
              </a:xfrm>
              <a:custGeom>
                <a:avLst/>
                <a:gdLst>
                  <a:gd name="T0" fmla="*/ 0 w 2160"/>
                  <a:gd name="T1" fmla="*/ 0 h 1092"/>
                  <a:gd name="T2" fmla="*/ 161 w 2160"/>
                  <a:gd name="T3" fmla="*/ 9 h 1092"/>
                  <a:gd name="T4" fmla="*/ 483 w 2160"/>
                  <a:gd name="T5" fmla="*/ 12 h 1092"/>
                  <a:gd name="T6" fmla="*/ 0 60000 65536"/>
                  <a:gd name="T7" fmla="*/ 0 60000 65536"/>
                  <a:gd name="T8" fmla="*/ 0 60000 65536"/>
                </a:gdLst>
                <a:ahLst/>
                <a:cxnLst>
                  <a:cxn ang="T6">
                    <a:pos x="T0" y="T1"/>
                  </a:cxn>
                  <a:cxn ang="T7">
                    <a:pos x="T2" y="T3"/>
                  </a:cxn>
                  <a:cxn ang="T8">
                    <a:pos x="T4" y="T5"/>
                  </a:cxn>
                </a:cxnLst>
                <a:rect l="0" t="0" r="r" b="b"/>
                <a:pathLst>
                  <a:path w="2160" h="1092">
                    <a:moveTo>
                      <a:pt x="0" y="0"/>
                    </a:moveTo>
                    <a:cubicBezTo>
                      <a:pt x="180" y="299"/>
                      <a:pt x="360" y="598"/>
                      <a:pt x="720" y="780"/>
                    </a:cubicBezTo>
                    <a:cubicBezTo>
                      <a:pt x="1080" y="962"/>
                      <a:pt x="1920" y="1040"/>
                      <a:pt x="2160" y="1092"/>
                    </a:cubicBezTo>
                  </a:path>
                </a:pathLst>
              </a:custGeom>
              <a:noFill/>
              <a:ln w="38100">
                <a:solidFill>
                  <a:srgbClr val="333399"/>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7357" name="Text Box 12">
                <a:extLst>
                  <a:ext uri="{FF2B5EF4-FFF2-40B4-BE49-F238E27FC236}">
                    <a16:creationId xmlns:a16="http://schemas.microsoft.com/office/drawing/2014/main" id="{BB7C5314-89D8-4034-B070-11BE64255E19}"/>
                  </a:ext>
                </a:extLst>
              </p:cNvPr>
              <p:cNvSpPr txBox="1">
                <a:spLocks noChangeArrowheads="1"/>
              </p:cNvSpPr>
              <p:nvPr/>
            </p:nvSpPr>
            <p:spPr bwMode="auto">
              <a:xfrm>
                <a:off x="2835" y="3884"/>
                <a:ext cx="301"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a:spcBef>
                    <a:spcPct val="0"/>
                  </a:spcBef>
                  <a:buFontTx/>
                  <a:buNone/>
                </a:pPr>
                <a:r>
                  <a:rPr lang="en-US" altLang="zh-CN" sz="2400" b="1" i="1"/>
                  <a:t>O</a:t>
                </a:r>
                <a:endParaRPr lang="en-US" altLang="zh-CN" sz="2400" b="1"/>
              </a:p>
            </p:txBody>
          </p:sp>
          <p:sp>
            <p:nvSpPr>
              <p:cNvPr id="57358" name="Text Box 13">
                <a:extLst>
                  <a:ext uri="{FF2B5EF4-FFF2-40B4-BE49-F238E27FC236}">
                    <a16:creationId xmlns:a16="http://schemas.microsoft.com/office/drawing/2014/main" id="{B8559ABD-B388-42FF-8393-279CA84F3DF5}"/>
                  </a:ext>
                </a:extLst>
              </p:cNvPr>
              <p:cNvSpPr txBox="1">
                <a:spLocks noChangeArrowheads="1"/>
              </p:cNvSpPr>
              <p:nvPr/>
            </p:nvSpPr>
            <p:spPr bwMode="auto">
              <a:xfrm>
                <a:off x="5193" y="3838"/>
                <a:ext cx="262"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a:spcBef>
                    <a:spcPct val="0"/>
                  </a:spcBef>
                  <a:buFontTx/>
                  <a:buNone/>
                </a:pPr>
                <a:r>
                  <a:rPr lang="en-US" altLang="zh-CN" sz="2400" b="1" i="1"/>
                  <a:t>t</a:t>
                </a:r>
                <a:endParaRPr lang="en-US" altLang="zh-CN" sz="2400" b="1"/>
              </a:p>
            </p:txBody>
          </p:sp>
          <p:sp>
            <p:nvSpPr>
              <p:cNvPr id="57359" name="Text Box 14">
                <a:extLst>
                  <a:ext uri="{FF2B5EF4-FFF2-40B4-BE49-F238E27FC236}">
                    <a16:creationId xmlns:a16="http://schemas.microsoft.com/office/drawing/2014/main" id="{693D5F83-7C23-4351-B412-6410037EC908}"/>
                  </a:ext>
                </a:extLst>
              </p:cNvPr>
              <p:cNvSpPr txBox="1">
                <a:spLocks noChangeArrowheads="1"/>
              </p:cNvSpPr>
              <p:nvPr/>
            </p:nvSpPr>
            <p:spPr bwMode="auto">
              <a:xfrm>
                <a:off x="3107" y="2543"/>
                <a:ext cx="262"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a:spcBef>
                    <a:spcPct val="0"/>
                  </a:spcBef>
                  <a:buFontTx/>
                  <a:buNone/>
                </a:pPr>
                <a:r>
                  <a:rPr lang="en-US" altLang="zh-CN" sz="2400" b="1" i="1"/>
                  <a:t>N</a:t>
                </a:r>
                <a:endParaRPr lang="en-US" altLang="zh-CN" sz="2400" b="1"/>
              </a:p>
            </p:txBody>
          </p:sp>
          <p:sp>
            <p:nvSpPr>
              <p:cNvPr id="57360" name="Text Box 15">
                <a:extLst>
                  <a:ext uri="{FF2B5EF4-FFF2-40B4-BE49-F238E27FC236}">
                    <a16:creationId xmlns:a16="http://schemas.microsoft.com/office/drawing/2014/main" id="{A2657DD4-8A67-403E-9290-449AF4FF002B}"/>
                  </a:ext>
                </a:extLst>
              </p:cNvPr>
              <p:cNvSpPr txBox="1">
                <a:spLocks noChangeArrowheads="1"/>
              </p:cNvSpPr>
              <p:nvPr/>
            </p:nvSpPr>
            <p:spPr bwMode="auto">
              <a:xfrm>
                <a:off x="4921" y="3496"/>
                <a:ext cx="262"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a:spcBef>
                    <a:spcPct val="0"/>
                  </a:spcBef>
                  <a:buFontTx/>
                  <a:buNone/>
                </a:pPr>
                <a:r>
                  <a:rPr lang="en-US" altLang="zh-CN" sz="2400" b="1"/>
                  <a:t>3</a:t>
                </a:r>
              </a:p>
            </p:txBody>
          </p:sp>
          <p:sp>
            <p:nvSpPr>
              <p:cNvPr id="57361" name="Text Box 16">
                <a:extLst>
                  <a:ext uri="{FF2B5EF4-FFF2-40B4-BE49-F238E27FC236}">
                    <a16:creationId xmlns:a16="http://schemas.microsoft.com/office/drawing/2014/main" id="{8DB8F871-2B32-43B3-9501-C09A63D3FC32}"/>
                  </a:ext>
                </a:extLst>
              </p:cNvPr>
              <p:cNvSpPr txBox="1">
                <a:spLocks noChangeArrowheads="1"/>
              </p:cNvSpPr>
              <p:nvPr/>
            </p:nvSpPr>
            <p:spPr bwMode="auto">
              <a:xfrm>
                <a:off x="4785" y="3678"/>
                <a:ext cx="393"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a:spcBef>
                    <a:spcPct val="0"/>
                  </a:spcBef>
                  <a:buFontTx/>
                  <a:buNone/>
                </a:pPr>
                <a:r>
                  <a:rPr lang="en-US" altLang="zh-CN" sz="2400" b="1"/>
                  <a:t>2</a:t>
                </a:r>
              </a:p>
            </p:txBody>
          </p:sp>
          <p:sp>
            <p:nvSpPr>
              <p:cNvPr id="57362" name="Text Box 17">
                <a:extLst>
                  <a:ext uri="{FF2B5EF4-FFF2-40B4-BE49-F238E27FC236}">
                    <a16:creationId xmlns:a16="http://schemas.microsoft.com/office/drawing/2014/main" id="{92780444-9ECC-4201-8F80-FF400ACD4E35}"/>
                  </a:ext>
                </a:extLst>
              </p:cNvPr>
              <p:cNvSpPr txBox="1">
                <a:spLocks noChangeArrowheads="1"/>
              </p:cNvSpPr>
              <p:nvPr/>
            </p:nvSpPr>
            <p:spPr bwMode="auto">
              <a:xfrm>
                <a:off x="4614" y="3793"/>
                <a:ext cx="262" cy="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a:spcBef>
                    <a:spcPct val="0"/>
                  </a:spcBef>
                  <a:buFontTx/>
                  <a:buNone/>
                </a:pPr>
                <a:r>
                  <a:rPr lang="en-US" altLang="zh-CN" sz="2400" b="1"/>
                  <a:t>1</a:t>
                </a:r>
              </a:p>
            </p:txBody>
          </p:sp>
          <p:graphicFrame>
            <p:nvGraphicFramePr>
              <p:cNvPr id="57363" name="Object 18">
                <a:extLst>
                  <a:ext uri="{FF2B5EF4-FFF2-40B4-BE49-F238E27FC236}">
                    <a16:creationId xmlns:a16="http://schemas.microsoft.com/office/drawing/2014/main" id="{D1CD699A-8DDF-42D8-8BAD-8FF9882422B1}"/>
                  </a:ext>
                </a:extLst>
              </p:cNvPr>
              <p:cNvGraphicFramePr>
                <a:graphicFrameLocks noChangeAspect="1"/>
              </p:cNvGraphicFramePr>
              <p:nvPr/>
            </p:nvGraphicFramePr>
            <p:xfrm>
              <a:off x="2744" y="3315"/>
              <a:ext cx="329" cy="454"/>
            </p:xfrm>
            <a:graphic>
              <a:graphicData uri="http://schemas.openxmlformats.org/presentationml/2006/ole">
                <mc:AlternateContent xmlns:mc="http://schemas.openxmlformats.org/markup-compatibility/2006">
                  <mc:Choice xmlns:v="urn:schemas-microsoft-com:vml" Requires="v">
                    <p:oleObj spid="_x0000_s57373" name="公式" r:id="rId3" imgW="266469" imgH="406048" progId="Equation.3">
                      <p:embed/>
                    </p:oleObj>
                  </mc:Choice>
                  <mc:Fallback>
                    <p:oleObj name="公式" r:id="rId3" imgW="266469" imgH="406048" progId="Equation.3">
                      <p:embed/>
                      <p:pic>
                        <p:nvPicPr>
                          <p:cNvPr id="0" name="Object 18"/>
                          <p:cNvPicPr>
                            <a:picLocks noChangeAspect="1" noChangeArrowheads="1"/>
                          </p:cNvPicPr>
                          <p:nvPr/>
                        </p:nvPicPr>
                        <p:blipFill>
                          <a:blip r:embed="rId4">
                            <a:grayscl/>
                            <a:biLevel thresh="50000"/>
                            <a:extLst>
                              <a:ext uri="{28A0092B-C50C-407E-A947-70E740481C1C}">
                                <a14:useLocalDpi xmlns:a14="http://schemas.microsoft.com/office/drawing/2010/main" val="0"/>
                              </a:ext>
                            </a:extLst>
                          </a:blip>
                          <a:srcRect/>
                          <a:stretch>
                            <a:fillRect/>
                          </a:stretch>
                        </p:blipFill>
                        <p:spPr bwMode="auto">
                          <a:xfrm>
                            <a:off x="2744" y="3315"/>
                            <a:ext cx="329" cy="4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7364" name="Object 19">
                <a:extLst>
                  <a:ext uri="{FF2B5EF4-FFF2-40B4-BE49-F238E27FC236}">
                    <a16:creationId xmlns:a16="http://schemas.microsoft.com/office/drawing/2014/main" id="{A18528E3-6349-42C6-94DE-9ED3B1EB091F}"/>
                  </a:ext>
                </a:extLst>
              </p:cNvPr>
              <p:cNvGraphicFramePr>
                <a:graphicFrameLocks noChangeAspect="1"/>
              </p:cNvGraphicFramePr>
              <p:nvPr/>
            </p:nvGraphicFramePr>
            <p:xfrm>
              <a:off x="2744" y="2861"/>
              <a:ext cx="317" cy="287"/>
            </p:xfrm>
            <a:graphic>
              <a:graphicData uri="http://schemas.openxmlformats.org/presentationml/2006/ole">
                <mc:AlternateContent xmlns:mc="http://schemas.openxmlformats.org/markup-compatibility/2006">
                  <mc:Choice xmlns:v="urn:schemas-microsoft-com:vml" Requires="v">
                    <p:oleObj spid="_x0000_s57374" name="公式" r:id="rId5" imgW="228600" imgH="228600" progId="Equation.3">
                      <p:embed/>
                    </p:oleObj>
                  </mc:Choice>
                  <mc:Fallback>
                    <p:oleObj name="公式" r:id="rId5" imgW="228600" imgH="228600" progId="Equation.3">
                      <p:embed/>
                      <p:pic>
                        <p:nvPicPr>
                          <p:cNvPr id="0" name="Object 19"/>
                          <p:cNvPicPr>
                            <a:picLocks noChangeAspect="1" noChangeArrowheads="1"/>
                          </p:cNvPicPr>
                          <p:nvPr/>
                        </p:nvPicPr>
                        <p:blipFill>
                          <a:blip r:embed="rId6">
                            <a:grayscl/>
                            <a:biLevel thresh="50000"/>
                            <a:extLst>
                              <a:ext uri="{28A0092B-C50C-407E-A947-70E740481C1C}">
                                <a14:useLocalDpi xmlns:a14="http://schemas.microsoft.com/office/drawing/2010/main" val="0"/>
                              </a:ext>
                            </a:extLst>
                          </a:blip>
                          <a:srcRect/>
                          <a:stretch>
                            <a:fillRect/>
                          </a:stretch>
                        </p:blipFill>
                        <p:spPr bwMode="auto">
                          <a:xfrm>
                            <a:off x="2744" y="2861"/>
                            <a:ext cx="317"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7365" name="Line 20">
                <a:extLst>
                  <a:ext uri="{FF2B5EF4-FFF2-40B4-BE49-F238E27FC236}">
                    <a16:creationId xmlns:a16="http://schemas.microsoft.com/office/drawing/2014/main" id="{FD308E3D-402C-46C1-9FE1-6C972E02B66D}"/>
                  </a:ext>
                </a:extLst>
              </p:cNvPr>
              <p:cNvSpPr>
                <a:spLocks noChangeShapeType="1"/>
              </p:cNvSpPr>
              <p:nvPr/>
            </p:nvSpPr>
            <p:spPr bwMode="auto">
              <a:xfrm>
                <a:off x="3107" y="3542"/>
                <a:ext cx="907" cy="0"/>
              </a:xfrm>
              <a:prstGeom prst="line">
                <a:avLst/>
              </a:prstGeom>
              <a:noFill/>
              <a:ln w="28575">
                <a:solidFill>
                  <a:srgbClr val="333399"/>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366" name="Line 21">
                <a:extLst>
                  <a:ext uri="{FF2B5EF4-FFF2-40B4-BE49-F238E27FC236}">
                    <a16:creationId xmlns:a16="http://schemas.microsoft.com/office/drawing/2014/main" id="{96D16521-C791-466B-AF54-EC9A93E6A2F8}"/>
                  </a:ext>
                </a:extLst>
              </p:cNvPr>
              <p:cNvSpPr>
                <a:spLocks noChangeShapeType="1"/>
              </p:cNvSpPr>
              <p:nvPr/>
            </p:nvSpPr>
            <p:spPr bwMode="auto">
              <a:xfrm>
                <a:off x="3425" y="3542"/>
                <a:ext cx="0" cy="499"/>
              </a:xfrm>
              <a:prstGeom prst="line">
                <a:avLst/>
              </a:prstGeom>
              <a:noFill/>
              <a:ln w="34925">
                <a:solidFill>
                  <a:srgbClr val="CC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367" name="Line 22">
                <a:extLst>
                  <a:ext uri="{FF2B5EF4-FFF2-40B4-BE49-F238E27FC236}">
                    <a16:creationId xmlns:a16="http://schemas.microsoft.com/office/drawing/2014/main" id="{0466DEFA-241D-4F36-B046-CC95853F7D5B}"/>
                  </a:ext>
                </a:extLst>
              </p:cNvPr>
              <p:cNvSpPr>
                <a:spLocks noChangeShapeType="1"/>
              </p:cNvSpPr>
              <p:nvPr/>
            </p:nvSpPr>
            <p:spPr bwMode="auto">
              <a:xfrm>
                <a:off x="3697" y="3542"/>
                <a:ext cx="0" cy="499"/>
              </a:xfrm>
              <a:prstGeom prst="line">
                <a:avLst/>
              </a:prstGeom>
              <a:noFill/>
              <a:ln w="34925">
                <a:solidFill>
                  <a:srgbClr val="FF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368" name="Line 23">
                <a:extLst>
                  <a:ext uri="{FF2B5EF4-FFF2-40B4-BE49-F238E27FC236}">
                    <a16:creationId xmlns:a16="http://schemas.microsoft.com/office/drawing/2014/main" id="{46B88BE1-B42E-4BD1-926D-1820B9DDCA00}"/>
                  </a:ext>
                </a:extLst>
              </p:cNvPr>
              <p:cNvSpPr>
                <a:spLocks noChangeShapeType="1"/>
              </p:cNvSpPr>
              <p:nvPr/>
            </p:nvSpPr>
            <p:spPr bwMode="auto">
              <a:xfrm>
                <a:off x="3969" y="3542"/>
                <a:ext cx="0" cy="499"/>
              </a:xfrm>
              <a:prstGeom prst="line">
                <a:avLst/>
              </a:prstGeom>
              <a:noFill/>
              <a:ln w="34925">
                <a:solidFill>
                  <a:srgbClr val="333399"/>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Tree>
  </p:cSld>
  <p:clrMapOvr>
    <a:masterClrMapping/>
  </p:clrMapOvr>
  <p:transition spd="med">
    <p:strips dir="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57378"/>
                                        </p:tgtEl>
                                        <p:attrNameLst>
                                          <p:attrName>style.visibility</p:attrName>
                                        </p:attrNameLst>
                                      </p:cBhvr>
                                      <p:to>
                                        <p:strVal val="visible"/>
                                      </p:to>
                                    </p:set>
                                    <p:animEffect transition="in" filter="blinds(horizontal)">
                                      <p:cBhvr>
                                        <p:cTn id="7" dur="500"/>
                                        <p:tgtEl>
                                          <p:spTgt spid="35737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57380"/>
                                        </p:tgtEl>
                                        <p:attrNameLst>
                                          <p:attrName>style.visibility</p:attrName>
                                        </p:attrNameLst>
                                      </p:cBhvr>
                                      <p:to>
                                        <p:strVal val="visible"/>
                                      </p:to>
                                    </p:set>
                                    <p:animEffect transition="in" filter="blinds(horizontal)">
                                      <p:cBhvr>
                                        <p:cTn id="12" dur="500"/>
                                        <p:tgtEl>
                                          <p:spTgt spid="3573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7378"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ext Box 2">
            <a:extLst>
              <a:ext uri="{FF2B5EF4-FFF2-40B4-BE49-F238E27FC236}">
                <a16:creationId xmlns:a16="http://schemas.microsoft.com/office/drawing/2014/main" id="{C64F3975-B90B-43E6-9244-73ABFC93CF6E}"/>
              </a:ext>
            </a:extLst>
          </p:cNvPr>
          <p:cNvSpPr txBox="1">
            <a:spLocks noChangeArrowheads="1"/>
          </p:cNvSpPr>
          <p:nvPr/>
        </p:nvSpPr>
        <p:spPr bwMode="auto">
          <a:xfrm>
            <a:off x="179388" y="260350"/>
            <a:ext cx="4032250"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b="1">
                <a:ea typeface="黑体" panose="02010609060101010101" pitchFamily="49" charset="-122"/>
              </a:rPr>
              <a:t>补充练习答案：</a:t>
            </a:r>
            <a:endParaRPr lang="zh-CN" altLang="en-US" b="1"/>
          </a:p>
        </p:txBody>
      </p:sp>
      <p:sp>
        <p:nvSpPr>
          <p:cNvPr id="58371" name="矩形 4">
            <a:extLst>
              <a:ext uri="{FF2B5EF4-FFF2-40B4-BE49-F238E27FC236}">
                <a16:creationId xmlns:a16="http://schemas.microsoft.com/office/drawing/2014/main" id="{5CAB9EE8-451B-4763-B667-0FCAAF4EF88D}"/>
              </a:ext>
            </a:extLst>
          </p:cNvPr>
          <p:cNvSpPr>
            <a:spLocks noChangeArrowheads="1"/>
          </p:cNvSpPr>
          <p:nvPr/>
        </p:nvSpPr>
        <p:spPr bwMode="auto">
          <a:xfrm>
            <a:off x="2484438" y="1700213"/>
            <a:ext cx="2303462" cy="397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b="1"/>
              <a:t>17-1 </a:t>
            </a:r>
            <a:r>
              <a:rPr lang="zh-CN" altLang="en-US" sz="2800" b="1"/>
              <a:t>（</a:t>
            </a:r>
            <a:r>
              <a:rPr lang="en-US" altLang="zh-CN" sz="2800" b="1"/>
              <a:t>D</a:t>
            </a:r>
            <a:r>
              <a:rPr lang="zh-CN" altLang="en-US" sz="2800" b="1"/>
              <a:t>）</a:t>
            </a:r>
            <a:endParaRPr lang="en-US" altLang="zh-CN" sz="2800" b="1"/>
          </a:p>
          <a:p>
            <a:pPr>
              <a:spcBef>
                <a:spcPct val="0"/>
              </a:spcBef>
              <a:buFontTx/>
              <a:buNone/>
            </a:pPr>
            <a:r>
              <a:rPr lang="en-US" altLang="zh-CN" sz="2800" b="1"/>
              <a:t>17-2 </a:t>
            </a:r>
            <a:r>
              <a:rPr lang="zh-CN" altLang="en-US" sz="2800" b="1"/>
              <a:t>（</a:t>
            </a:r>
            <a:r>
              <a:rPr lang="en-US" altLang="zh-CN" sz="2800" b="1"/>
              <a:t>D</a:t>
            </a:r>
            <a:r>
              <a:rPr lang="zh-CN" altLang="en-US" sz="2800" b="1"/>
              <a:t>）</a:t>
            </a:r>
            <a:endParaRPr lang="en-US" altLang="zh-CN" sz="2800" b="1"/>
          </a:p>
          <a:p>
            <a:pPr>
              <a:spcBef>
                <a:spcPct val="0"/>
              </a:spcBef>
              <a:buFontTx/>
              <a:buNone/>
            </a:pPr>
            <a:r>
              <a:rPr lang="en-US" altLang="zh-CN" sz="2800" b="1"/>
              <a:t>17-3 </a:t>
            </a:r>
            <a:r>
              <a:rPr lang="zh-CN" altLang="en-US" sz="2800" b="1"/>
              <a:t>（</a:t>
            </a:r>
            <a:r>
              <a:rPr lang="en-US" altLang="zh-CN" sz="2800" b="1"/>
              <a:t>D</a:t>
            </a:r>
            <a:r>
              <a:rPr lang="zh-CN" altLang="en-US" sz="2800" b="1"/>
              <a:t>）</a:t>
            </a:r>
            <a:endParaRPr lang="en-US" altLang="zh-CN" sz="2800" b="1"/>
          </a:p>
          <a:p>
            <a:pPr>
              <a:spcBef>
                <a:spcPct val="0"/>
              </a:spcBef>
              <a:buFontTx/>
              <a:buNone/>
            </a:pPr>
            <a:r>
              <a:rPr lang="en-US" altLang="zh-CN" sz="2800" b="1"/>
              <a:t>17-4 </a:t>
            </a:r>
            <a:r>
              <a:rPr lang="zh-CN" altLang="en-US" sz="2800" b="1"/>
              <a:t>（</a:t>
            </a:r>
            <a:r>
              <a:rPr lang="en-US" altLang="zh-CN" sz="2800" b="1"/>
              <a:t>D</a:t>
            </a:r>
            <a:r>
              <a:rPr lang="zh-CN" altLang="en-US" sz="2800" b="1"/>
              <a:t>）</a:t>
            </a:r>
            <a:endParaRPr lang="en-US" altLang="zh-CN" sz="2800" b="1"/>
          </a:p>
          <a:p>
            <a:pPr>
              <a:spcBef>
                <a:spcPct val="0"/>
              </a:spcBef>
              <a:buFontTx/>
              <a:buNone/>
            </a:pPr>
            <a:r>
              <a:rPr lang="en-US" altLang="zh-CN" sz="2800" b="1"/>
              <a:t>17-5 </a:t>
            </a:r>
            <a:r>
              <a:rPr lang="zh-CN" altLang="en-US" sz="2800" b="1"/>
              <a:t>（</a:t>
            </a:r>
            <a:r>
              <a:rPr lang="en-US" altLang="zh-CN" sz="2800" b="1"/>
              <a:t>B</a:t>
            </a:r>
            <a:r>
              <a:rPr lang="zh-CN" altLang="en-US" sz="2800" b="1"/>
              <a:t>）</a:t>
            </a:r>
            <a:endParaRPr lang="en-US" altLang="zh-CN" sz="2800" b="1"/>
          </a:p>
          <a:p>
            <a:pPr>
              <a:spcBef>
                <a:spcPct val="0"/>
              </a:spcBef>
              <a:buFontTx/>
              <a:buNone/>
            </a:pPr>
            <a:r>
              <a:rPr lang="en-US" altLang="zh-CN" sz="2800" b="1"/>
              <a:t>17-6 </a:t>
            </a:r>
            <a:r>
              <a:rPr lang="zh-CN" altLang="en-US" sz="2800" b="1"/>
              <a:t>（</a:t>
            </a:r>
            <a:r>
              <a:rPr lang="en-US" altLang="zh-CN" sz="2800" b="1"/>
              <a:t>C</a:t>
            </a:r>
            <a:r>
              <a:rPr lang="zh-CN" altLang="en-US" sz="2800" b="1"/>
              <a:t>）</a:t>
            </a:r>
            <a:endParaRPr lang="en-US" altLang="zh-CN" sz="2800" b="1"/>
          </a:p>
          <a:p>
            <a:pPr>
              <a:spcBef>
                <a:spcPct val="0"/>
              </a:spcBef>
              <a:buFontTx/>
              <a:buNone/>
            </a:pPr>
            <a:r>
              <a:rPr lang="en-US" altLang="zh-CN" sz="2800" b="1"/>
              <a:t>17-7 </a:t>
            </a:r>
            <a:r>
              <a:rPr lang="zh-CN" altLang="en-US" sz="2800" b="1"/>
              <a:t>（</a:t>
            </a:r>
            <a:r>
              <a:rPr lang="en-US" altLang="zh-CN" sz="2800" b="1"/>
              <a:t>B</a:t>
            </a:r>
            <a:r>
              <a:rPr lang="zh-CN" altLang="en-US" sz="2800" b="1"/>
              <a:t>）</a:t>
            </a:r>
            <a:endParaRPr lang="en-US" altLang="zh-CN" sz="2800" b="1"/>
          </a:p>
          <a:p>
            <a:pPr>
              <a:spcBef>
                <a:spcPct val="0"/>
              </a:spcBef>
              <a:buFontTx/>
              <a:buNone/>
            </a:pPr>
            <a:r>
              <a:rPr lang="en-US" altLang="zh-CN" sz="2800" b="1"/>
              <a:t>17-8 </a:t>
            </a:r>
            <a:r>
              <a:rPr lang="zh-CN" altLang="en-US" sz="2800" b="1"/>
              <a:t>（</a:t>
            </a:r>
            <a:r>
              <a:rPr lang="en-US" altLang="zh-CN" sz="2800" b="1"/>
              <a:t>D</a:t>
            </a:r>
            <a:r>
              <a:rPr lang="zh-CN" altLang="en-US" sz="2800" b="1"/>
              <a:t>）</a:t>
            </a:r>
            <a:endParaRPr lang="en-US" altLang="zh-CN" sz="2800" b="1"/>
          </a:p>
          <a:p>
            <a:pPr>
              <a:spcBef>
                <a:spcPct val="0"/>
              </a:spcBef>
              <a:buFontTx/>
              <a:buNone/>
            </a:pPr>
            <a:endParaRPr lang="zh-CN" altLang="en-US" sz="280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TextBox 3">
            <a:extLst>
              <a:ext uri="{FF2B5EF4-FFF2-40B4-BE49-F238E27FC236}">
                <a16:creationId xmlns:a16="http://schemas.microsoft.com/office/drawing/2014/main" id="{703828A6-A718-4A0E-A076-8C9101CE9BE3}"/>
              </a:ext>
            </a:extLst>
          </p:cNvPr>
          <p:cNvSpPr txBox="1">
            <a:spLocks noChangeArrowheads="1"/>
          </p:cNvSpPr>
          <p:nvPr/>
        </p:nvSpPr>
        <p:spPr bwMode="auto">
          <a:xfrm>
            <a:off x="2786063" y="115888"/>
            <a:ext cx="34290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800">
                <a:latin typeface="黑体" panose="02010609060101010101" pitchFamily="49" charset="-122"/>
                <a:ea typeface="黑体" panose="02010609060101010101" pitchFamily="49" charset="-122"/>
              </a:rPr>
              <a:t>内容回顾</a:t>
            </a:r>
          </a:p>
        </p:txBody>
      </p:sp>
      <p:sp>
        <p:nvSpPr>
          <p:cNvPr id="5" name="Rectangle 12">
            <a:extLst>
              <a:ext uri="{FF2B5EF4-FFF2-40B4-BE49-F238E27FC236}">
                <a16:creationId xmlns:a16="http://schemas.microsoft.com/office/drawing/2014/main" id="{37335176-5280-4405-90C8-B64BB2365C4C}"/>
              </a:ext>
            </a:extLst>
          </p:cNvPr>
          <p:cNvSpPr>
            <a:spLocks noChangeArrowheads="1"/>
          </p:cNvSpPr>
          <p:nvPr/>
        </p:nvSpPr>
        <p:spPr bwMode="auto">
          <a:xfrm>
            <a:off x="107950" y="692150"/>
            <a:ext cx="68738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lang="en-US" altLang="zh-CN" sz="2800" dirty="0">
                <a:solidFill>
                  <a:schemeClr val="accent2"/>
                </a:solidFill>
                <a:effectLst>
                  <a:outerShdw blurRad="38100" dist="38100" dir="2700000" algn="tl">
                    <a:srgbClr val="000000"/>
                  </a:outerShdw>
                </a:effectLst>
                <a:latin typeface="Times New Roman" pitchFamily="18" charset="0"/>
                <a:cs typeface="Times New Roman" pitchFamily="18" charset="0"/>
              </a:rPr>
              <a:t>1. </a:t>
            </a:r>
            <a:r>
              <a:rPr lang="zh-CN" altLang="en-US" sz="2800" dirty="0">
                <a:solidFill>
                  <a:schemeClr val="accent2"/>
                </a:solidFill>
                <a:effectLst>
                  <a:outerShdw blurRad="38100" dist="38100" dir="2700000" algn="tl">
                    <a:srgbClr val="000000"/>
                  </a:outerShdw>
                </a:effectLst>
                <a:latin typeface="Times New Roman" pitchFamily="18" charset="0"/>
                <a:cs typeface="Times New Roman" pitchFamily="18" charset="0"/>
              </a:rPr>
              <a:t>半导体</a:t>
            </a:r>
          </a:p>
        </p:txBody>
      </p:sp>
      <p:sp>
        <p:nvSpPr>
          <p:cNvPr id="39" name="Text Box 24">
            <a:extLst>
              <a:ext uri="{FF2B5EF4-FFF2-40B4-BE49-F238E27FC236}">
                <a16:creationId xmlns:a16="http://schemas.microsoft.com/office/drawing/2014/main" id="{B0355220-125F-4FEA-8D38-1FEC22A2D697}"/>
              </a:ext>
            </a:extLst>
          </p:cNvPr>
          <p:cNvSpPr txBox="1">
            <a:spLocks noChangeArrowheads="1"/>
          </p:cNvSpPr>
          <p:nvPr/>
        </p:nvSpPr>
        <p:spPr bwMode="auto">
          <a:xfrm>
            <a:off x="122238" y="1314450"/>
            <a:ext cx="569753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 typeface="Wingdings" panose="05000000000000000000" pitchFamily="2" charset="2"/>
              <a:buChar char="Ø"/>
            </a:pPr>
            <a:r>
              <a:rPr kumimoji="1" lang="zh-CN" altLang="en-US" sz="2400" b="1">
                <a:latin typeface="Times New Roman" panose="02020603050405020304" pitchFamily="18" charset="0"/>
              </a:rPr>
              <a:t>能带理论：满带，价带，空带，禁带</a:t>
            </a:r>
          </a:p>
        </p:txBody>
      </p:sp>
      <p:grpSp>
        <p:nvGrpSpPr>
          <p:cNvPr id="8" name="组合 7">
            <a:extLst>
              <a:ext uri="{FF2B5EF4-FFF2-40B4-BE49-F238E27FC236}">
                <a16:creationId xmlns:a16="http://schemas.microsoft.com/office/drawing/2014/main" id="{8D30778F-243B-453C-8FF1-EC1D654BE4DD}"/>
              </a:ext>
            </a:extLst>
          </p:cNvPr>
          <p:cNvGrpSpPr>
            <a:grpSpLocks/>
          </p:cNvGrpSpPr>
          <p:nvPr/>
        </p:nvGrpSpPr>
        <p:grpSpPr bwMode="auto">
          <a:xfrm>
            <a:off x="6737350" y="692150"/>
            <a:ext cx="2082800" cy="1676400"/>
            <a:chOff x="184690" y="2564904"/>
            <a:chExt cx="2083054" cy="1675791"/>
          </a:xfrm>
        </p:grpSpPr>
        <p:sp>
          <p:nvSpPr>
            <p:cNvPr id="15695" name="Rectangle 4">
              <a:extLst>
                <a:ext uri="{FF2B5EF4-FFF2-40B4-BE49-F238E27FC236}">
                  <a16:creationId xmlns:a16="http://schemas.microsoft.com/office/drawing/2014/main" id="{835EECDC-420E-4ADC-A051-66A15C8817E2}"/>
                </a:ext>
              </a:extLst>
            </p:cNvPr>
            <p:cNvSpPr>
              <a:spLocks noChangeArrowheads="1"/>
            </p:cNvSpPr>
            <p:nvPr/>
          </p:nvSpPr>
          <p:spPr bwMode="auto">
            <a:xfrm>
              <a:off x="606837" y="3847713"/>
              <a:ext cx="1565130" cy="361082"/>
            </a:xfrm>
            <a:prstGeom prst="rect">
              <a:avLst/>
            </a:prstGeom>
            <a:solidFill>
              <a:srgbClr val="00FFFF"/>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600"/>
            </a:p>
          </p:txBody>
        </p:sp>
        <p:sp>
          <p:nvSpPr>
            <p:cNvPr id="15696" name="Rectangle 5">
              <a:extLst>
                <a:ext uri="{FF2B5EF4-FFF2-40B4-BE49-F238E27FC236}">
                  <a16:creationId xmlns:a16="http://schemas.microsoft.com/office/drawing/2014/main" id="{73745780-A3F8-4D00-8E83-4F164E603A79}"/>
                </a:ext>
              </a:extLst>
            </p:cNvPr>
            <p:cNvSpPr>
              <a:spLocks noChangeArrowheads="1"/>
            </p:cNvSpPr>
            <p:nvPr/>
          </p:nvSpPr>
          <p:spPr bwMode="auto">
            <a:xfrm>
              <a:off x="606837" y="3246353"/>
              <a:ext cx="1565130" cy="361082"/>
            </a:xfrm>
            <a:prstGeom prst="rect">
              <a:avLst/>
            </a:prstGeom>
            <a:solidFill>
              <a:srgbClr val="FF6600"/>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600"/>
            </a:p>
          </p:txBody>
        </p:sp>
        <p:grpSp>
          <p:nvGrpSpPr>
            <p:cNvPr id="15697" name="组合 62">
              <a:extLst>
                <a:ext uri="{FF2B5EF4-FFF2-40B4-BE49-F238E27FC236}">
                  <a16:creationId xmlns:a16="http://schemas.microsoft.com/office/drawing/2014/main" id="{ACDCA058-24E8-473E-AA4F-214DD56E987B}"/>
                </a:ext>
              </a:extLst>
            </p:cNvPr>
            <p:cNvGrpSpPr>
              <a:grpSpLocks/>
            </p:cNvGrpSpPr>
            <p:nvPr/>
          </p:nvGrpSpPr>
          <p:grpSpPr bwMode="auto">
            <a:xfrm>
              <a:off x="184690" y="2583927"/>
              <a:ext cx="422147" cy="1624868"/>
              <a:chOff x="611188" y="333375"/>
              <a:chExt cx="504825" cy="1943100"/>
            </a:xfrm>
          </p:grpSpPr>
          <p:grpSp>
            <p:nvGrpSpPr>
              <p:cNvPr id="15716" name="Group 14">
                <a:extLst>
                  <a:ext uri="{FF2B5EF4-FFF2-40B4-BE49-F238E27FC236}">
                    <a16:creationId xmlns:a16="http://schemas.microsoft.com/office/drawing/2014/main" id="{7F93CED4-EA8A-4399-B282-71F417E94FC3}"/>
                  </a:ext>
                </a:extLst>
              </p:cNvPr>
              <p:cNvGrpSpPr>
                <a:grpSpLocks/>
              </p:cNvGrpSpPr>
              <p:nvPr/>
            </p:nvGrpSpPr>
            <p:grpSpPr bwMode="auto">
              <a:xfrm>
                <a:off x="611188" y="333375"/>
                <a:ext cx="504825" cy="1943100"/>
                <a:chOff x="385" y="210"/>
                <a:chExt cx="318" cy="1224"/>
              </a:xfrm>
            </p:grpSpPr>
            <p:sp>
              <p:nvSpPr>
                <p:cNvPr id="15718" name="Line 11">
                  <a:extLst>
                    <a:ext uri="{FF2B5EF4-FFF2-40B4-BE49-F238E27FC236}">
                      <a16:creationId xmlns:a16="http://schemas.microsoft.com/office/drawing/2014/main" id="{91FA5D12-211F-40B9-A9BE-23434DC8362C}"/>
                    </a:ext>
                  </a:extLst>
                </p:cNvPr>
                <p:cNvSpPr>
                  <a:spLocks noChangeShapeType="1"/>
                </p:cNvSpPr>
                <p:nvPr/>
              </p:nvSpPr>
              <p:spPr bwMode="auto">
                <a:xfrm flipV="1">
                  <a:off x="703" y="210"/>
                  <a:ext cx="0" cy="1224"/>
                </a:xfrm>
                <a:prstGeom prst="line">
                  <a:avLst/>
                </a:prstGeom>
                <a:noFill/>
                <a:ln w="317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719" name="Text Box 12">
                  <a:extLst>
                    <a:ext uri="{FF2B5EF4-FFF2-40B4-BE49-F238E27FC236}">
                      <a16:creationId xmlns:a16="http://schemas.microsoft.com/office/drawing/2014/main" id="{6A6C9590-B6EE-465A-8F2D-2639D25D0816}"/>
                    </a:ext>
                  </a:extLst>
                </p:cNvPr>
                <p:cNvSpPr txBox="1">
                  <a:spLocks noChangeArrowheads="1"/>
                </p:cNvSpPr>
                <p:nvPr/>
              </p:nvSpPr>
              <p:spPr bwMode="auto">
                <a:xfrm>
                  <a:off x="385" y="300"/>
                  <a:ext cx="272" cy="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zh-CN" sz="1600" b="1" i="1">
                    <a:latin typeface="Times New Roman" panose="02020603050405020304" pitchFamily="18" charset="0"/>
                  </a:endParaRPr>
                </a:p>
              </p:txBody>
            </p:sp>
          </p:grpSp>
          <p:sp>
            <p:nvSpPr>
              <p:cNvPr id="15717" name="Rectangle 13">
                <a:extLst>
                  <a:ext uri="{FF2B5EF4-FFF2-40B4-BE49-F238E27FC236}">
                    <a16:creationId xmlns:a16="http://schemas.microsoft.com/office/drawing/2014/main" id="{217F54E5-FFE3-4292-A188-FB0450BC7296}"/>
                  </a:ext>
                </a:extLst>
              </p:cNvPr>
              <p:cNvSpPr>
                <a:spLocks noChangeArrowheads="1"/>
              </p:cNvSpPr>
              <p:nvPr/>
            </p:nvSpPr>
            <p:spPr bwMode="auto">
              <a:xfrm>
                <a:off x="611188" y="549275"/>
                <a:ext cx="360363" cy="4048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600" b="1" i="1"/>
                  <a:t>E</a:t>
                </a:r>
              </a:p>
            </p:txBody>
          </p:sp>
        </p:grpSp>
        <p:sp>
          <p:nvSpPr>
            <p:cNvPr id="15698" name="Text Box 15">
              <a:extLst>
                <a:ext uri="{FF2B5EF4-FFF2-40B4-BE49-F238E27FC236}">
                  <a16:creationId xmlns:a16="http://schemas.microsoft.com/office/drawing/2014/main" id="{AAEB3283-5923-4B53-97FF-54C93DCE4170}"/>
                </a:ext>
              </a:extLst>
            </p:cNvPr>
            <p:cNvSpPr txBox="1">
              <a:spLocks noChangeArrowheads="1"/>
            </p:cNvSpPr>
            <p:nvPr/>
          </p:nvSpPr>
          <p:spPr bwMode="auto">
            <a:xfrm>
              <a:off x="1088722" y="3902141"/>
              <a:ext cx="60268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600" b="1"/>
                <a:t>满带</a:t>
              </a:r>
            </a:p>
          </p:txBody>
        </p:sp>
        <p:sp>
          <p:nvSpPr>
            <p:cNvPr id="15699" name="Text Box 16">
              <a:extLst>
                <a:ext uri="{FF2B5EF4-FFF2-40B4-BE49-F238E27FC236}">
                  <a16:creationId xmlns:a16="http://schemas.microsoft.com/office/drawing/2014/main" id="{E4C05E49-17AB-4AF2-9099-1ED3627B8AAE}"/>
                </a:ext>
              </a:extLst>
            </p:cNvPr>
            <p:cNvSpPr txBox="1">
              <a:spLocks noChangeArrowheads="1"/>
            </p:cNvSpPr>
            <p:nvPr/>
          </p:nvSpPr>
          <p:spPr bwMode="auto">
            <a:xfrm>
              <a:off x="1088722" y="3274230"/>
              <a:ext cx="60268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600" b="1"/>
                <a:t>导带</a:t>
              </a:r>
            </a:p>
          </p:txBody>
        </p:sp>
        <p:sp>
          <p:nvSpPr>
            <p:cNvPr id="15700" name="Line 29">
              <a:extLst>
                <a:ext uri="{FF2B5EF4-FFF2-40B4-BE49-F238E27FC236}">
                  <a16:creationId xmlns:a16="http://schemas.microsoft.com/office/drawing/2014/main" id="{987B16F2-58C3-4087-AC93-C7C863B79719}"/>
                </a:ext>
              </a:extLst>
            </p:cNvPr>
            <p:cNvSpPr>
              <a:spLocks noChangeShapeType="1"/>
            </p:cNvSpPr>
            <p:nvPr/>
          </p:nvSpPr>
          <p:spPr bwMode="auto">
            <a:xfrm>
              <a:off x="847115" y="3607435"/>
              <a:ext cx="0" cy="240278"/>
            </a:xfrm>
            <a:prstGeom prst="line">
              <a:avLst/>
            </a:prstGeom>
            <a:noFill/>
            <a:ln w="381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15701" name="组合 57">
              <a:extLst>
                <a:ext uri="{FF2B5EF4-FFF2-40B4-BE49-F238E27FC236}">
                  <a16:creationId xmlns:a16="http://schemas.microsoft.com/office/drawing/2014/main" id="{89873EAB-6AAE-4DA4-BE8C-9AAFB8600224}"/>
                </a:ext>
              </a:extLst>
            </p:cNvPr>
            <p:cNvGrpSpPr>
              <a:grpSpLocks/>
            </p:cNvGrpSpPr>
            <p:nvPr/>
          </p:nvGrpSpPr>
          <p:grpSpPr bwMode="auto">
            <a:xfrm>
              <a:off x="726313" y="3867626"/>
              <a:ext cx="692958" cy="91598"/>
              <a:chOff x="1258888" y="1868488"/>
              <a:chExt cx="828675" cy="109537"/>
            </a:xfrm>
          </p:grpSpPr>
          <p:sp>
            <p:nvSpPr>
              <p:cNvPr id="15712" name="Oval 31">
                <a:extLst>
                  <a:ext uri="{FF2B5EF4-FFF2-40B4-BE49-F238E27FC236}">
                    <a16:creationId xmlns:a16="http://schemas.microsoft.com/office/drawing/2014/main" id="{36872152-5A92-40CC-BA04-F481E6835C05}"/>
                  </a:ext>
                </a:extLst>
              </p:cNvPr>
              <p:cNvSpPr>
                <a:spLocks noChangeArrowheads="1"/>
              </p:cNvSpPr>
              <p:nvPr/>
            </p:nvSpPr>
            <p:spPr bwMode="auto">
              <a:xfrm>
                <a:off x="1258888" y="1870075"/>
                <a:ext cx="107950" cy="10795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600"/>
              </a:p>
            </p:txBody>
          </p:sp>
          <p:sp>
            <p:nvSpPr>
              <p:cNvPr id="15713" name="Oval 32">
                <a:extLst>
                  <a:ext uri="{FF2B5EF4-FFF2-40B4-BE49-F238E27FC236}">
                    <a16:creationId xmlns:a16="http://schemas.microsoft.com/office/drawing/2014/main" id="{E29FC9F8-C056-4A6F-9402-FD23E923B607}"/>
                  </a:ext>
                </a:extLst>
              </p:cNvPr>
              <p:cNvSpPr>
                <a:spLocks noChangeArrowheads="1"/>
              </p:cNvSpPr>
              <p:nvPr/>
            </p:nvSpPr>
            <p:spPr bwMode="auto">
              <a:xfrm>
                <a:off x="1489075" y="1870075"/>
                <a:ext cx="107950" cy="10795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600"/>
              </a:p>
            </p:txBody>
          </p:sp>
          <p:sp>
            <p:nvSpPr>
              <p:cNvPr id="15714" name="Oval 33">
                <a:extLst>
                  <a:ext uri="{FF2B5EF4-FFF2-40B4-BE49-F238E27FC236}">
                    <a16:creationId xmlns:a16="http://schemas.microsoft.com/office/drawing/2014/main" id="{042827DA-CE64-4842-B309-5B18965D7584}"/>
                  </a:ext>
                </a:extLst>
              </p:cNvPr>
              <p:cNvSpPr>
                <a:spLocks noChangeArrowheads="1"/>
              </p:cNvSpPr>
              <p:nvPr/>
            </p:nvSpPr>
            <p:spPr bwMode="auto">
              <a:xfrm>
                <a:off x="1763713" y="1868488"/>
                <a:ext cx="107950" cy="10795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600"/>
              </a:p>
            </p:txBody>
          </p:sp>
          <p:sp>
            <p:nvSpPr>
              <p:cNvPr id="15715" name="Oval 34">
                <a:extLst>
                  <a:ext uri="{FF2B5EF4-FFF2-40B4-BE49-F238E27FC236}">
                    <a16:creationId xmlns:a16="http://schemas.microsoft.com/office/drawing/2014/main" id="{78D1EB2A-8FD6-422D-A18F-B571A7716C29}"/>
                  </a:ext>
                </a:extLst>
              </p:cNvPr>
              <p:cNvSpPr>
                <a:spLocks noChangeArrowheads="1"/>
              </p:cNvSpPr>
              <p:nvPr/>
            </p:nvSpPr>
            <p:spPr bwMode="auto">
              <a:xfrm>
                <a:off x="1979613" y="1868488"/>
                <a:ext cx="107950" cy="10795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600"/>
              </a:p>
            </p:txBody>
          </p:sp>
        </p:grpSp>
        <p:grpSp>
          <p:nvGrpSpPr>
            <p:cNvPr id="15702" name="组合 58">
              <a:extLst>
                <a:ext uri="{FF2B5EF4-FFF2-40B4-BE49-F238E27FC236}">
                  <a16:creationId xmlns:a16="http://schemas.microsoft.com/office/drawing/2014/main" id="{FAD31D0E-ED54-4488-896E-CBF735486296}"/>
                </a:ext>
              </a:extLst>
            </p:cNvPr>
            <p:cNvGrpSpPr>
              <a:grpSpLocks/>
            </p:cNvGrpSpPr>
            <p:nvPr/>
          </p:nvGrpSpPr>
          <p:grpSpPr bwMode="auto">
            <a:xfrm>
              <a:off x="1690082" y="3868953"/>
              <a:ext cx="270811" cy="90270"/>
              <a:chOff x="2411413" y="1870075"/>
              <a:chExt cx="323850" cy="107950"/>
            </a:xfrm>
          </p:grpSpPr>
          <p:sp>
            <p:nvSpPr>
              <p:cNvPr id="15710" name="Oval 35">
                <a:extLst>
                  <a:ext uri="{FF2B5EF4-FFF2-40B4-BE49-F238E27FC236}">
                    <a16:creationId xmlns:a16="http://schemas.microsoft.com/office/drawing/2014/main" id="{1F76BA97-ED25-4096-9345-F4DA86FBFEE0}"/>
                  </a:ext>
                </a:extLst>
              </p:cNvPr>
              <p:cNvSpPr>
                <a:spLocks noChangeArrowheads="1"/>
              </p:cNvSpPr>
              <p:nvPr/>
            </p:nvSpPr>
            <p:spPr bwMode="auto">
              <a:xfrm>
                <a:off x="2411413" y="1870075"/>
                <a:ext cx="107950" cy="10795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600"/>
              </a:p>
            </p:txBody>
          </p:sp>
          <p:sp>
            <p:nvSpPr>
              <p:cNvPr id="15711" name="Oval 36">
                <a:extLst>
                  <a:ext uri="{FF2B5EF4-FFF2-40B4-BE49-F238E27FC236}">
                    <a16:creationId xmlns:a16="http://schemas.microsoft.com/office/drawing/2014/main" id="{029E1E46-BFE0-48D6-A0D7-DF89AE369543}"/>
                  </a:ext>
                </a:extLst>
              </p:cNvPr>
              <p:cNvSpPr>
                <a:spLocks noChangeArrowheads="1"/>
              </p:cNvSpPr>
              <p:nvPr/>
            </p:nvSpPr>
            <p:spPr bwMode="auto">
              <a:xfrm>
                <a:off x="2627313" y="1870075"/>
                <a:ext cx="107950" cy="10795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600"/>
              </a:p>
            </p:txBody>
          </p:sp>
        </p:grpSp>
        <p:sp>
          <p:nvSpPr>
            <p:cNvPr id="15703" name="Line 37">
              <a:extLst>
                <a:ext uri="{FF2B5EF4-FFF2-40B4-BE49-F238E27FC236}">
                  <a16:creationId xmlns:a16="http://schemas.microsoft.com/office/drawing/2014/main" id="{91126A25-46DE-4640-9F02-CD2D39C95FC6}"/>
                </a:ext>
              </a:extLst>
            </p:cNvPr>
            <p:cNvSpPr>
              <a:spLocks noChangeShapeType="1"/>
            </p:cNvSpPr>
            <p:nvPr/>
          </p:nvSpPr>
          <p:spPr bwMode="auto">
            <a:xfrm>
              <a:off x="2267744" y="2564904"/>
              <a:ext cx="0" cy="156513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15704" name="组合 56">
              <a:extLst>
                <a:ext uri="{FF2B5EF4-FFF2-40B4-BE49-F238E27FC236}">
                  <a16:creationId xmlns:a16="http://schemas.microsoft.com/office/drawing/2014/main" id="{308A9F5F-83BD-41C6-9AC7-3943F4BA86B1}"/>
                </a:ext>
              </a:extLst>
            </p:cNvPr>
            <p:cNvGrpSpPr>
              <a:grpSpLocks/>
            </p:cNvGrpSpPr>
            <p:nvPr/>
          </p:nvGrpSpPr>
          <p:grpSpPr bwMode="auto">
            <a:xfrm>
              <a:off x="1704685" y="3440169"/>
              <a:ext cx="270811" cy="90270"/>
              <a:chOff x="2428860" y="1357298"/>
              <a:chExt cx="323850" cy="107950"/>
            </a:xfrm>
          </p:grpSpPr>
          <p:sp>
            <p:nvSpPr>
              <p:cNvPr id="15708" name="Oval 35">
                <a:extLst>
                  <a:ext uri="{FF2B5EF4-FFF2-40B4-BE49-F238E27FC236}">
                    <a16:creationId xmlns:a16="http://schemas.microsoft.com/office/drawing/2014/main" id="{DA6DC156-22EB-4553-93C0-15A744511D52}"/>
                  </a:ext>
                </a:extLst>
              </p:cNvPr>
              <p:cNvSpPr>
                <a:spLocks noChangeArrowheads="1"/>
              </p:cNvSpPr>
              <p:nvPr/>
            </p:nvSpPr>
            <p:spPr bwMode="auto">
              <a:xfrm>
                <a:off x="2428860" y="1357298"/>
                <a:ext cx="107950" cy="10795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600"/>
              </a:p>
            </p:txBody>
          </p:sp>
          <p:sp>
            <p:nvSpPr>
              <p:cNvPr id="15709" name="Oval 36">
                <a:extLst>
                  <a:ext uri="{FF2B5EF4-FFF2-40B4-BE49-F238E27FC236}">
                    <a16:creationId xmlns:a16="http://schemas.microsoft.com/office/drawing/2014/main" id="{3F65DCF6-4C90-47C7-B3AD-03A36F755FA5}"/>
                  </a:ext>
                </a:extLst>
              </p:cNvPr>
              <p:cNvSpPr>
                <a:spLocks noChangeArrowheads="1"/>
              </p:cNvSpPr>
              <p:nvPr/>
            </p:nvSpPr>
            <p:spPr bwMode="auto">
              <a:xfrm>
                <a:off x="2644760" y="1357298"/>
                <a:ext cx="107950" cy="10795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600"/>
              </a:p>
            </p:txBody>
          </p:sp>
        </p:grpSp>
        <p:grpSp>
          <p:nvGrpSpPr>
            <p:cNvPr id="15705" name="组合 59">
              <a:extLst>
                <a:ext uri="{FF2B5EF4-FFF2-40B4-BE49-F238E27FC236}">
                  <a16:creationId xmlns:a16="http://schemas.microsoft.com/office/drawing/2014/main" id="{5BC593A5-688A-44B0-B2F1-F2A8E7725066}"/>
                </a:ext>
              </a:extLst>
            </p:cNvPr>
            <p:cNvGrpSpPr>
              <a:grpSpLocks/>
            </p:cNvGrpSpPr>
            <p:nvPr/>
          </p:nvGrpSpPr>
          <p:grpSpPr bwMode="auto">
            <a:xfrm>
              <a:off x="1683444" y="3864971"/>
              <a:ext cx="270811" cy="90270"/>
              <a:chOff x="2411413" y="1870075"/>
              <a:chExt cx="323850" cy="107950"/>
            </a:xfrm>
          </p:grpSpPr>
          <p:sp>
            <p:nvSpPr>
              <p:cNvPr id="15706" name="Oval 35">
                <a:extLst>
                  <a:ext uri="{FF2B5EF4-FFF2-40B4-BE49-F238E27FC236}">
                    <a16:creationId xmlns:a16="http://schemas.microsoft.com/office/drawing/2014/main" id="{61C7A60E-806F-4302-AFF9-BEFF0A743CCA}"/>
                  </a:ext>
                </a:extLst>
              </p:cNvPr>
              <p:cNvSpPr>
                <a:spLocks noChangeArrowheads="1"/>
              </p:cNvSpPr>
              <p:nvPr/>
            </p:nvSpPr>
            <p:spPr bwMode="auto">
              <a:xfrm>
                <a:off x="2411413" y="1870075"/>
                <a:ext cx="107950" cy="107950"/>
              </a:xfrm>
              <a:prstGeom prst="ellipse">
                <a:avLst/>
              </a:pr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600"/>
              </a:p>
            </p:txBody>
          </p:sp>
          <p:sp>
            <p:nvSpPr>
              <p:cNvPr id="15707" name="Oval 36">
                <a:extLst>
                  <a:ext uri="{FF2B5EF4-FFF2-40B4-BE49-F238E27FC236}">
                    <a16:creationId xmlns:a16="http://schemas.microsoft.com/office/drawing/2014/main" id="{1A8D16D2-2FEE-4882-B82F-D3BF27A983AB}"/>
                  </a:ext>
                </a:extLst>
              </p:cNvPr>
              <p:cNvSpPr>
                <a:spLocks noChangeArrowheads="1"/>
              </p:cNvSpPr>
              <p:nvPr/>
            </p:nvSpPr>
            <p:spPr bwMode="auto">
              <a:xfrm>
                <a:off x="2627313" y="1870075"/>
                <a:ext cx="107950" cy="107950"/>
              </a:xfrm>
              <a:prstGeom prst="ellipse">
                <a:avLst/>
              </a:pr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600"/>
              </a:p>
            </p:txBody>
          </p:sp>
        </p:grpSp>
      </p:grpSp>
      <p:sp>
        <p:nvSpPr>
          <p:cNvPr id="107" name="Text Box 20">
            <a:extLst>
              <a:ext uri="{FF2B5EF4-FFF2-40B4-BE49-F238E27FC236}">
                <a16:creationId xmlns:a16="http://schemas.microsoft.com/office/drawing/2014/main" id="{B77AF6E6-101E-4491-B5E7-7D47AE011615}"/>
              </a:ext>
            </a:extLst>
          </p:cNvPr>
          <p:cNvSpPr txBox="1">
            <a:spLocks noChangeArrowheads="1"/>
          </p:cNvSpPr>
          <p:nvPr/>
        </p:nvSpPr>
        <p:spPr bwMode="auto">
          <a:xfrm>
            <a:off x="138113" y="1889125"/>
            <a:ext cx="73834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 typeface="Wingdings" panose="05000000000000000000" pitchFamily="2" charset="2"/>
              <a:buChar char="Ø"/>
            </a:pPr>
            <a:r>
              <a:rPr kumimoji="1" lang="zh-CN" altLang="en-US" sz="2400" b="1">
                <a:latin typeface="Times New Roman" panose="02020603050405020304" pitchFamily="18" charset="0"/>
                <a:ea typeface="楷体_GB2312"/>
                <a:cs typeface="楷体_GB2312"/>
              </a:rPr>
              <a:t>导体、半导体、绝缘体的能带结构</a:t>
            </a:r>
          </a:p>
        </p:txBody>
      </p:sp>
      <p:sp>
        <p:nvSpPr>
          <p:cNvPr id="2" name="矩形 1">
            <a:extLst>
              <a:ext uri="{FF2B5EF4-FFF2-40B4-BE49-F238E27FC236}">
                <a16:creationId xmlns:a16="http://schemas.microsoft.com/office/drawing/2014/main" id="{1BA64E42-6B5D-4E3B-BA89-36E9CCD7D19B}"/>
              </a:ext>
            </a:extLst>
          </p:cNvPr>
          <p:cNvSpPr>
            <a:spLocks noChangeArrowheads="1"/>
          </p:cNvSpPr>
          <p:nvPr/>
        </p:nvSpPr>
        <p:spPr bwMode="auto">
          <a:xfrm>
            <a:off x="134938" y="3151188"/>
            <a:ext cx="145891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 typeface="Wingdings" panose="05000000000000000000" pitchFamily="2" charset="2"/>
              <a:buChar char="Ø"/>
            </a:pPr>
            <a:r>
              <a:rPr kumimoji="1" lang="zh-CN" altLang="en-US" sz="2400" b="1">
                <a:latin typeface="Times New Roman" panose="02020603050405020304" pitchFamily="18" charset="0"/>
                <a:ea typeface="楷体_GB2312"/>
                <a:cs typeface="楷体_GB2312"/>
              </a:rPr>
              <a:t>半导体</a:t>
            </a:r>
            <a:endParaRPr lang="zh-CN" altLang="en-US" sz="2400"/>
          </a:p>
        </p:txBody>
      </p:sp>
      <p:sp>
        <p:nvSpPr>
          <p:cNvPr id="3" name="左大括号 2">
            <a:extLst>
              <a:ext uri="{FF2B5EF4-FFF2-40B4-BE49-F238E27FC236}">
                <a16:creationId xmlns:a16="http://schemas.microsoft.com/office/drawing/2014/main" id="{4A488A56-7E92-4145-85A6-CA4FD280604F}"/>
              </a:ext>
            </a:extLst>
          </p:cNvPr>
          <p:cNvSpPr/>
          <p:nvPr/>
        </p:nvSpPr>
        <p:spPr>
          <a:xfrm>
            <a:off x="1557338" y="3090863"/>
            <a:ext cx="122237" cy="601662"/>
          </a:xfrm>
          <a:prstGeom prst="leftBrace">
            <a:avLst/>
          </a:prstGeom>
          <a:ln w="22225">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b="1"/>
          </a:p>
        </p:txBody>
      </p:sp>
      <p:sp>
        <p:nvSpPr>
          <p:cNvPr id="108" name="矩形 107">
            <a:extLst>
              <a:ext uri="{FF2B5EF4-FFF2-40B4-BE49-F238E27FC236}">
                <a16:creationId xmlns:a16="http://schemas.microsoft.com/office/drawing/2014/main" id="{AAB391A6-8970-449C-B52E-1AB2985A588B}"/>
              </a:ext>
            </a:extLst>
          </p:cNvPr>
          <p:cNvSpPr>
            <a:spLocks noChangeArrowheads="1"/>
          </p:cNvSpPr>
          <p:nvPr/>
        </p:nvSpPr>
        <p:spPr bwMode="auto">
          <a:xfrm>
            <a:off x="1611313" y="2860675"/>
            <a:ext cx="17240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400" b="1"/>
              <a:t>本征半导体</a:t>
            </a:r>
          </a:p>
        </p:txBody>
      </p:sp>
      <p:sp>
        <p:nvSpPr>
          <p:cNvPr id="109" name="矩形 108">
            <a:extLst>
              <a:ext uri="{FF2B5EF4-FFF2-40B4-BE49-F238E27FC236}">
                <a16:creationId xmlns:a16="http://schemas.microsoft.com/office/drawing/2014/main" id="{D7CF018B-6B74-497D-84B7-ED0018D5A26C}"/>
              </a:ext>
            </a:extLst>
          </p:cNvPr>
          <p:cNvSpPr>
            <a:spLocks noChangeArrowheads="1"/>
          </p:cNvSpPr>
          <p:nvPr/>
        </p:nvSpPr>
        <p:spPr bwMode="auto">
          <a:xfrm>
            <a:off x="1606550" y="3394075"/>
            <a:ext cx="17240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400" b="1"/>
              <a:t>杂质半导体</a:t>
            </a:r>
          </a:p>
        </p:txBody>
      </p:sp>
      <p:sp>
        <p:nvSpPr>
          <p:cNvPr id="110" name="左大括号 109">
            <a:extLst>
              <a:ext uri="{FF2B5EF4-FFF2-40B4-BE49-F238E27FC236}">
                <a16:creationId xmlns:a16="http://schemas.microsoft.com/office/drawing/2014/main" id="{E90199B9-3E75-4840-9DE8-0323E15D634E}"/>
              </a:ext>
            </a:extLst>
          </p:cNvPr>
          <p:cNvSpPr/>
          <p:nvPr/>
        </p:nvSpPr>
        <p:spPr>
          <a:xfrm>
            <a:off x="3298825" y="3417888"/>
            <a:ext cx="180975" cy="442912"/>
          </a:xfrm>
          <a:prstGeom prst="leftBrace">
            <a:avLst/>
          </a:prstGeom>
          <a:ln w="22225">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b="1"/>
          </a:p>
        </p:txBody>
      </p:sp>
      <p:sp>
        <p:nvSpPr>
          <p:cNvPr id="111" name="矩形 110">
            <a:extLst>
              <a:ext uri="{FF2B5EF4-FFF2-40B4-BE49-F238E27FC236}">
                <a16:creationId xmlns:a16="http://schemas.microsoft.com/office/drawing/2014/main" id="{B8B9EDC9-5EAA-43D9-BE30-6A77D360464E}"/>
              </a:ext>
            </a:extLst>
          </p:cNvPr>
          <p:cNvSpPr>
            <a:spLocks noChangeArrowheads="1"/>
          </p:cNvSpPr>
          <p:nvPr/>
        </p:nvSpPr>
        <p:spPr bwMode="auto">
          <a:xfrm>
            <a:off x="3424238" y="3105150"/>
            <a:ext cx="7159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400" b="1"/>
              <a:t>N</a:t>
            </a:r>
            <a:r>
              <a:rPr lang="zh-CN" altLang="en-US" sz="2400" b="1"/>
              <a:t>型</a:t>
            </a:r>
          </a:p>
        </p:txBody>
      </p:sp>
      <p:sp>
        <p:nvSpPr>
          <p:cNvPr id="112" name="矩形 111">
            <a:extLst>
              <a:ext uri="{FF2B5EF4-FFF2-40B4-BE49-F238E27FC236}">
                <a16:creationId xmlns:a16="http://schemas.microsoft.com/office/drawing/2014/main" id="{19F62D8F-F185-4905-9EFB-86B20BBD184A}"/>
              </a:ext>
            </a:extLst>
          </p:cNvPr>
          <p:cNvSpPr>
            <a:spLocks noChangeArrowheads="1"/>
          </p:cNvSpPr>
          <p:nvPr/>
        </p:nvSpPr>
        <p:spPr bwMode="auto">
          <a:xfrm>
            <a:off x="3429000" y="3609975"/>
            <a:ext cx="6985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400" b="1"/>
              <a:t>P</a:t>
            </a:r>
            <a:r>
              <a:rPr lang="zh-CN" altLang="en-US" sz="2400" b="1"/>
              <a:t>型</a:t>
            </a:r>
          </a:p>
        </p:txBody>
      </p:sp>
      <p:grpSp>
        <p:nvGrpSpPr>
          <p:cNvPr id="6" name="组合 5">
            <a:extLst>
              <a:ext uri="{FF2B5EF4-FFF2-40B4-BE49-F238E27FC236}">
                <a16:creationId xmlns:a16="http://schemas.microsoft.com/office/drawing/2014/main" id="{5C8EC34F-FEA4-436D-ACAE-42AE4E725335}"/>
              </a:ext>
            </a:extLst>
          </p:cNvPr>
          <p:cNvGrpSpPr>
            <a:grpSpLocks/>
          </p:cNvGrpSpPr>
          <p:nvPr/>
        </p:nvGrpSpPr>
        <p:grpSpPr bwMode="auto">
          <a:xfrm>
            <a:off x="4643438" y="2565400"/>
            <a:ext cx="1939925" cy="2060575"/>
            <a:chOff x="5181600" y="1541463"/>
            <a:chExt cx="3702050" cy="4448538"/>
          </a:xfrm>
        </p:grpSpPr>
        <p:sp>
          <p:nvSpPr>
            <p:cNvPr id="15660" name="Line 9">
              <a:extLst>
                <a:ext uri="{FF2B5EF4-FFF2-40B4-BE49-F238E27FC236}">
                  <a16:creationId xmlns:a16="http://schemas.microsoft.com/office/drawing/2014/main" id="{BE214A46-6885-4407-98F6-A2F64332D324}"/>
                </a:ext>
              </a:extLst>
            </p:cNvPr>
            <p:cNvSpPr>
              <a:spLocks noChangeShapeType="1"/>
            </p:cNvSpPr>
            <p:nvPr/>
          </p:nvSpPr>
          <p:spPr bwMode="auto">
            <a:xfrm flipV="1">
              <a:off x="5181600" y="1739900"/>
              <a:ext cx="0" cy="408305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661" name="Rectangle 10">
              <a:extLst>
                <a:ext uri="{FF2B5EF4-FFF2-40B4-BE49-F238E27FC236}">
                  <a16:creationId xmlns:a16="http://schemas.microsoft.com/office/drawing/2014/main" id="{CB536CA0-E34F-4CBC-A01B-A261C44F303C}"/>
                </a:ext>
              </a:extLst>
            </p:cNvPr>
            <p:cNvSpPr>
              <a:spLocks noChangeArrowheads="1"/>
            </p:cNvSpPr>
            <p:nvPr/>
          </p:nvSpPr>
          <p:spPr bwMode="auto">
            <a:xfrm>
              <a:off x="5181600" y="5178425"/>
              <a:ext cx="3382963" cy="644525"/>
            </a:xfrm>
            <a:prstGeom prst="rect">
              <a:avLst/>
            </a:prstGeom>
            <a:solidFill>
              <a:srgbClr val="CCFFFF"/>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400"/>
            </a:p>
          </p:txBody>
        </p:sp>
        <p:sp>
          <p:nvSpPr>
            <p:cNvPr id="15662" name="Rectangle 11">
              <a:extLst>
                <a:ext uri="{FF2B5EF4-FFF2-40B4-BE49-F238E27FC236}">
                  <a16:creationId xmlns:a16="http://schemas.microsoft.com/office/drawing/2014/main" id="{47AFC68F-C7B4-4001-B4F5-0F5ED780AA74}"/>
                </a:ext>
              </a:extLst>
            </p:cNvPr>
            <p:cNvSpPr>
              <a:spLocks noChangeArrowheads="1"/>
            </p:cNvSpPr>
            <p:nvPr/>
          </p:nvSpPr>
          <p:spPr bwMode="auto">
            <a:xfrm>
              <a:off x="5181600" y="3028950"/>
              <a:ext cx="3382963" cy="644525"/>
            </a:xfrm>
            <a:prstGeom prst="rect">
              <a:avLst/>
            </a:prstGeom>
            <a:solidFill>
              <a:srgbClr val="CCFFFF"/>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400"/>
            </a:p>
          </p:txBody>
        </p:sp>
        <p:graphicFrame>
          <p:nvGraphicFramePr>
            <p:cNvPr id="15663" name="Object 12">
              <a:extLst>
                <a:ext uri="{FF2B5EF4-FFF2-40B4-BE49-F238E27FC236}">
                  <a16:creationId xmlns:a16="http://schemas.microsoft.com/office/drawing/2014/main" id="{1BEECBD5-D72B-4DA9-B7CB-6D6CFD7490EF}"/>
                </a:ext>
              </a:extLst>
            </p:cNvPr>
            <p:cNvGraphicFramePr>
              <a:graphicFrameLocks noChangeAspect="1"/>
            </p:cNvGraphicFramePr>
            <p:nvPr/>
          </p:nvGraphicFramePr>
          <p:xfrm>
            <a:off x="5307013" y="1658938"/>
            <a:ext cx="330200" cy="336550"/>
          </p:xfrm>
          <a:graphic>
            <a:graphicData uri="http://schemas.openxmlformats.org/presentationml/2006/ole">
              <mc:AlternateContent xmlns:mc="http://schemas.openxmlformats.org/markup-compatibility/2006">
                <mc:Choice xmlns:v="urn:schemas-microsoft-com:vml" Requires="v">
                  <p:oleObj spid="_x0000_s15726" name="Equation" r:id="rId3" imgW="241300" imgH="228600" progId="Equation.DSMT4">
                    <p:embed/>
                  </p:oleObj>
                </mc:Choice>
                <mc:Fallback>
                  <p:oleObj name="Equation" r:id="rId3" imgW="241300" imgH="228600" progId="Equation.DSMT4">
                    <p:embed/>
                    <p:pic>
                      <p:nvPicPr>
                        <p:cNvPr id="0"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07013" y="1658938"/>
                          <a:ext cx="330200"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664" name="Line 13">
              <a:extLst>
                <a:ext uri="{FF2B5EF4-FFF2-40B4-BE49-F238E27FC236}">
                  <a16:creationId xmlns:a16="http://schemas.microsoft.com/office/drawing/2014/main" id="{3704D764-7FC1-49BF-8C2A-2188290143FA}"/>
                </a:ext>
              </a:extLst>
            </p:cNvPr>
            <p:cNvSpPr>
              <a:spLocks noChangeShapeType="1"/>
            </p:cNvSpPr>
            <p:nvPr/>
          </p:nvSpPr>
          <p:spPr bwMode="auto">
            <a:xfrm>
              <a:off x="8755414" y="2084960"/>
              <a:ext cx="0" cy="3654424"/>
            </a:xfrm>
            <a:prstGeom prst="line">
              <a:avLst/>
            </a:prstGeom>
            <a:noFill/>
            <a:ln w="57150">
              <a:solidFill>
                <a:srgbClr val="FF99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665" name="Text Box 14">
              <a:extLst>
                <a:ext uri="{FF2B5EF4-FFF2-40B4-BE49-F238E27FC236}">
                  <a16:creationId xmlns:a16="http://schemas.microsoft.com/office/drawing/2014/main" id="{DB8011D5-05F8-4F9B-BBEA-7F90D342D040}"/>
                </a:ext>
              </a:extLst>
            </p:cNvPr>
            <p:cNvSpPr txBox="1">
              <a:spLocks noChangeArrowheads="1"/>
            </p:cNvSpPr>
            <p:nvPr/>
          </p:nvSpPr>
          <p:spPr bwMode="auto">
            <a:xfrm>
              <a:off x="7740649" y="1541463"/>
              <a:ext cx="1143001" cy="15285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000" b="1">
                  <a:latin typeface="Times New Roman" panose="02020603050405020304" pitchFamily="18" charset="0"/>
                  <a:ea typeface="楷体_GB2312"/>
                  <a:cs typeface="楷体_GB2312"/>
                </a:rPr>
                <a:t>外场</a:t>
              </a:r>
              <a:endParaRPr kumimoji="1" lang="zh-CN" altLang="en-US" sz="2000">
                <a:latin typeface="Times New Roman" panose="02020603050405020304" pitchFamily="18" charset="0"/>
                <a:ea typeface="楷体_GB2312"/>
                <a:cs typeface="楷体_GB2312"/>
              </a:endParaRPr>
            </a:p>
          </p:txBody>
        </p:sp>
        <p:sp>
          <p:nvSpPr>
            <p:cNvPr id="15666" name="Text Box 15">
              <a:extLst>
                <a:ext uri="{FF2B5EF4-FFF2-40B4-BE49-F238E27FC236}">
                  <a16:creationId xmlns:a16="http://schemas.microsoft.com/office/drawing/2014/main" id="{891BF341-6EEF-406A-A4EF-C7756B697BF6}"/>
                </a:ext>
              </a:extLst>
            </p:cNvPr>
            <p:cNvSpPr txBox="1">
              <a:spLocks noChangeArrowheads="1"/>
            </p:cNvSpPr>
            <p:nvPr/>
          </p:nvSpPr>
          <p:spPr bwMode="auto">
            <a:xfrm>
              <a:off x="5281613" y="5126039"/>
              <a:ext cx="1331314" cy="863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000">
                  <a:latin typeface="Times New Roman" panose="02020603050405020304" pitchFamily="18" charset="0"/>
                  <a:ea typeface="楷体_GB2312"/>
                  <a:cs typeface="楷体_GB2312"/>
                </a:rPr>
                <a:t>满带</a:t>
              </a:r>
            </a:p>
          </p:txBody>
        </p:sp>
        <p:sp>
          <p:nvSpPr>
            <p:cNvPr id="15667" name="Text Box 16">
              <a:extLst>
                <a:ext uri="{FF2B5EF4-FFF2-40B4-BE49-F238E27FC236}">
                  <a16:creationId xmlns:a16="http://schemas.microsoft.com/office/drawing/2014/main" id="{76821BBE-189B-4D05-A75D-944DA020919D}"/>
                </a:ext>
              </a:extLst>
            </p:cNvPr>
            <p:cNvSpPr txBox="1">
              <a:spLocks noChangeArrowheads="1"/>
            </p:cNvSpPr>
            <p:nvPr/>
          </p:nvSpPr>
          <p:spPr bwMode="auto">
            <a:xfrm>
              <a:off x="5181600" y="2976563"/>
              <a:ext cx="1331314" cy="863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000">
                  <a:latin typeface="Times New Roman" panose="02020603050405020304" pitchFamily="18" charset="0"/>
                  <a:ea typeface="楷体_GB2312"/>
                  <a:cs typeface="楷体_GB2312"/>
                </a:rPr>
                <a:t>导带</a:t>
              </a:r>
            </a:p>
          </p:txBody>
        </p:sp>
        <p:sp>
          <p:nvSpPr>
            <p:cNvPr id="15668" name="Line 17">
              <a:extLst>
                <a:ext uri="{FF2B5EF4-FFF2-40B4-BE49-F238E27FC236}">
                  <a16:creationId xmlns:a16="http://schemas.microsoft.com/office/drawing/2014/main" id="{5DC0B8ED-3681-4A3E-BAC3-DDE8EA530F49}"/>
                </a:ext>
              </a:extLst>
            </p:cNvPr>
            <p:cNvSpPr>
              <a:spLocks noChangeShapeType="1"/>
            </p:cNvSpPr>
            <p:nvPr/>
          </p:nvSpPr>
          <p:spPr bwMode="auto">
            <a:xfrm>
              <a:off x="5181600" y="4103688"/>
              <a:ext cx="3382963" cy="0"/>
            </a:xfrm>
            <a:prstGeom prst="line">
              <a:avLst/>
            </a:prstGeom>
            <a:noFill/>
            <a:ln w="38100">
              <a:solidFill>
                <a:srgbClr val="FF3300"/>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5669" name="Group 18">
              <a:extLst>
                <a:ext uri="{FF2B5EF4-FFF2-40B4-BE49-F238E27FC236}">
                  <a16:creationId xmlns:a16="http://schemas.microsoft.com/office/drawing/2014/main" id="{7E9D1FE8-1A54-480F-8530-659A76A1B4BA}"/>
                </a:ext>
              </a:extLst>
            </p:cNvPr>
            <p:cNvGrpSpPr>
              <a:grpSpLocks/>
            </p:cNvGrpSpPr>
            <p:nvPr/>
          </p:nvGrpSpPr>
          <p:grpSpPr bwMode="auto">
            <a:xfrm>
              <a:off x="6176963" y="3994150"/>
              <a:ext cx="1519237" cy="217488"/>
              <a:chOff x="2544" y="3264"/>
              <a:chExt cx="720" cy="96"/>
            </a:xfrm>
          </p:grpSpPr>
          <p:sp>
            <p:nvSpPr>
              <p:cNvPr id="15691" name="Oval 19">
                <a:extLst>
                  <a:ext uri="{FF2B5EF4-FFF2-40B4-BE49-F238E27FC236}">
                    <a16:creationId xmlns:a16="http://schemas.microsoft.com/office/drawing/2014/main" id="{90264593-5929-44A9-95E7-313D8959C172}"/>
                  </a:ext>
                </a:extLst>
              </p:cNvPr>
              <p:cNvSpPr>
                <a:spLocks noChangeArrowheads="1"/>
              </p:cNvSpPr>
              <p:nvPr/>
            </p:nvSpPr>
            <p:spPr bwMode="auto">
              <a:xfrm>
                <a:off x="2544" y="3264"/>
                <a:ext cx="96" cy="96"/>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400"/>
              </a:p>
            </p:txBody>
          </p:sp>
          <p:sp>
            <p:nvSpPr>
              <p:cNvPr id="15692" name="Oval 20">
                <a:extLst>
                  <a:ext uri="{FF2B5EF4-FFF2-40B4-BE49-F238E27FC236}">
                    <a16:creationId xmlns:a16="http://schemas.microsoft.com/office/drawing/2014/main" id="{F8A18293-31EB-4278-BC06-ACC06D12E440}"/>
                  </a:ext>
                </a:extLst>
              </p:cNvPr>
              <p:cNvSpPr>
                <a:spLocks noChangeArrowheads="1"/>
              </p:cNvSpPr>
              <p:nvPr/>
            </p:nvSpPr>
            <p:spPr bwMode="auto">
              <a:xfrm>
                <a:off x="2736" y="3264"/>
                <a:ext cx="96" cy="96"/>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400"/>
              </a:p>
            </p:txBody>
          </p:sp>
          <p:sp>
            <p:nvSpPr>
              <p:cNvPr id="15693" name="Oval 21">
                <a:extLst>
                  <a:ext uri="{FF2B5EF4-FFF2-40B4-BE49-F238E27FC236}">
                    <a16:creationId xmlns:a16="http://schemas.microsoft.com/office/drawing/2014/main" id="{268ABE36-9AD5-4AFF-A9B2-0F4F27978126}"/>
                  </a:ext>
                </a:extLst>
              </p:cNvPr>
              <p:cNvSpPr>
                <a:spLocks noChangeArrowheads="1"/>
              </p:cNvSpPr>
              <p:nvPr/>
            </p:nvSpPr>
            <p:spPr bwMode="auto">
              <a:xfrm>
                <a:off x="2928" y="3264"/>
                <a:ext cx="96" cy="96"/>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400"/>
              </a:p>
            </p:txBody>
          </p:sp>
          <p:sp>
            <p:nvSpPr>
              <p:cNvPr id="15694" name="Oval 22">
                <a:extLst>
                  <a:ext uri="{FF2B5EF4-FFF2-40B4-BE49-F238E27FC236}">
                    <a16:creationId xmlns:a16="http://schemas.microsoft.com/office/drawing/2014/main" id="{F24B2347-8700-4946-B333-1017F9D4FCB3}"/>
                  </a:ext>
                </a:extLst>
              </p:cNvPr>
              <p:cNvSpPr>
                <a:spLocks noChangeArrowheads="1"/>
              </p:cNvSpPr>
              <p:nvPr/>
            </p:nvSpPr>
            <p:spPr bwMode="auto">
              <a:xfrm>
                <a:off x="3168" y="3264"/>
                <a:ext cx="96" cy="96"/>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400"/>
              </a:p>
            </p:txBody>
          </p:sp>
        </p:grpSp>
        <p:grpSp>
          <p:nvGrpSpPr>
            <p:cNvPr id="15670" name="Group 23">
              <a:extLst>
                <a:ext uri="{FF2B5EF4-FFF2-40B4-BE49-F238E27FC236}">
                  <a16:creationId xmlns:a16="http://schemas.microsoft.com/office/drawing/2014/main" id="{875BE710-2642-48F6-92A9-D486F01E6A21}"/>
                </a:ext>
              </a:extLst>
            </p:cNvPr>
            <p:cNvGrpSpPr>
              <a:grpSpLocks/>
            </p:cNvGrpSpPr>
            <p:nvPr/>
          </p:nvGrpSpPr>
          <p:grpSpPr bwMode="auto">
            <a:xfrm>
              <a:off x="6275388" y="3565525"/>
              <a:ext cx="1344612" cy="430213"/>
              <a:chOff x="2592" y="3072"/>
              <a:chExt cx="624" cy="192"/>
            </a:xfrm>
          </p:grpSpPr>
          <p:sp>
            <p:nvSpPr>
              <p:cNvPr id="15687" name="Line 24">
                <a:extLst>
                  <a:ext uri="{FF2B5EF4-FFF2-40B4-BE49-F238E27FC236}">
                    <a16:creationId xmlns:a16="http://schemas.microsoft.com/office/drawing/2014/main" id="{FCDEBBD4-48BE-48C6-87E1-328D8ABC45F3}"/>
                  </a:ext>
                </a:extLst>
              </p:cNvPr>
              <p:cNvSpPr>
                <a:spLocks noChangeShapeType="1"/>
              </p:cNvSpPr>
              <p:nvPr/>
            </p:nvSpPr>
            <p:spPr bwMode="auto">
              <a:xfrm flipV="1">
                <a:off x="2592" y="3072"/>
                <a:ext cx="0" cy="192"/>
              </a:xfrm>
              <a:prstGeom prst="line">
                <a:avLst/>
              </a:prstGeom>
              <a:noFill/>
              <a:ln w="28575">
                <a:solidFill>
                  <a:srgbClr val="00FF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688" name="Line 25">
                <a:extLst>
                  <a:ext uri="{FF2B5EF4-FFF2-40B4-BE49-F238E27FC236}">
                    <a16:creationId xmlns:a16="http://schemas.microsoft.com/office/drawing/2014/main" id="{2DDA9496-EF85-4A80-A539-A63877B01019}"/>
                  </a:ext>
                </a:extLst>
              </p:cNvPr>
              <p:cNvSpPr>
                <a:spLocks noChangeShapeType="1"/>
              </p:cNvSpPr>
              <p:nvPr/>
            </p:nvSpPr>
            <p:spPr bwMode="auto">
              <a:xfrm flipV="1">
                <a:off x="2784" y="3072"/>
                <a:ext cx="0" cy="192"/>
              </a:xfrm>
              <a:prstGeom prst="line">
                <a:avLst/>
              </a:prstGeom>
              <a:noFill/>
              <a:ln w="28575">
                <a:solidFill>
                  <a:srgbClr val="00FF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689" name="Line 26">
                <a:extLst>
                  <a:ext uri="{FF2B5EF4-FFF2-40B4-BE49-F238E27FC236}">
                    <a16:creationId xmlns:a16="http://schemas.microsoft.com/office/drawing/2014/main" id="{8BEF83E5-5B66-4910-BD82-13C572BE639A}"/>
                  </a:ext>
                </a:extLst>
              </p:cNvPr>
              <p:cNvSpPr>
                <a:spLocks noChangeShapeType="1"/>
              </p:cNvSpPr>
              <p:nvPr/>
            </p:nvSpPr>
            <p:spPr bwMode="auto">
              <a:xfrm flipV="1">
                <a:off x="2976" y="3072"/>
                <a:ext cx="0" cy="192"/>
              </a:xfrm>
              <a:prstGeom prst="line">
                <a:avLst/>
              </a:prstGeom>
              <a:noFill/>
              <a:ln w="28575">
                <a:solidFill>
                  <a:srgbClr val="00FF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690" name="Line 27">
                <a:extLst>
                  <a:ext uri="{FF2B5EF4-FFF2-40B4-BE49-F238E27FC236}">
                    <a16:creationId xmlns:a16="http://schemas.microsoft.com/office/drawing/2014/main" id="{331E9660-86BE-44C0-AF8A-16896BA5AE98}"/>
                  </a:ext>
                </a:extLst>
              </p:cNvPr>
              <p:cNvSpPr>
                <a:spLocks noChangeShapeType="1"/>
              </p:cNvSpPr>
              <p:nvPr/>
            </p:nvSpPr>
            <p:spPr bwMode="auto">
              <a:xfrm flipV="1">
                <a:off x="3216" y="3072"/>
                <a:ext cx="0" cy="192"/>
              </a:xfrm>
              <a:prstGeom prst="line">
                <a:avLst/>
              </a:prstGeom>
              <a:noFill/>
              <a:ln w="28575">
                <a:solidFill>
                  <a:srgbClr val="00FF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5671" name="Text Box 28">
              <a:extLst>
                <a:ext uri="{FF2B5EF4-FFF2-40B4-BE49-F238E27FC236}">
                  <a16:creationId xmlns:a16="http://schemas.microsoft.com/office/drawing/2014/main" id="{03551962-EBDA-4ABC-B37F-A7A6CA5CFB0C}"/>
                </a:ext>
              </a:extLst>
            </p:cNvPr>
            <p:cNvSpPr txBox="1">
              <a:spLocks noChangeArrowheads="1"/>
            </p:cNvSpPr>
            <p:nvPr/>
          </p:nvSpPr>
          <p:spPr bwMode="auto">
            <a:xfrm>
              <a:off x="5181600" y="4146551"/>
              <a:ext cx="2630488" cy="863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000" b="1">
                  <a:latin typeface="Times New Roman" panose="02020603050405020304" pitchFamily="18" charset="0"/>
                  <a:ea typeface="楷体_GB2312"/>
                  <a:cs typeface="楷体_GB2312"/>
                </a:rPr>
                <a:t>施主能级</a:t>
              </a:r>
            </a:p>
          </p:txBody>
        </p:sp>
        <p:grpSp>
          <p:nvGrpSpPr>
            <p:cNvPr id="15672" name="Group 29">
              <a:extLst>
                <a:ext uri="{FF2B5EF4-FFF2-40B4-BE49-F238E27FC236}">
                  <a16:creationId xmlns:a16="http://schemas.microsoft.com/office/drawing/2014/main" id="{A7B12DFF-FFF3-4F79-BD39-F415D546A4B3}"/>
                </a:ext>
              </a:extLst>
            </p:cNvPr>
            <p:cNvGrpSpPr>
              <a:grpSpLocks/>
            </p:cNvGrpSpPr>
            <p:nvPr/>
          </p:nvGrpSpPr>
          <p:grpSpPr bwMode="auto">
            <a:xfrm>
              <a:off x="6275388" y="5286375"/>
              <a:ext cx="1393825" cy="214313"/>
              <a:chOff x="2592" y="3840"/>
              <a:chExt cx="672" cy="96"/>
            </a:xfrm>
          </p:grpSpPr>
          <p:sp>
            <p:nvSpPr>
              <p:cNvPr id="15683" name="Oval 30">
                <a:extLst>
                  <a:ext uri="{FF2B5EF4-FFF2-40B4-BE49-F238E27FC236}">
                    <a16:creationId xmlns:a16="http://schemas.microsoft.com/office/drawing/2014/main" id="{763BCE02-CA29-4C31-B11F-B563A9C07236}"/>
                  </a:ext>
                </a:extLst>
              </p:cNvPr>
              <p:cNvSpPr>
                <a:spLocks noChangeArrowheads="1"/>
              </p:cNvSpPr>
              <p:nvPr/>
            </p:nvSpPr>
            <p:spPr bwMode="auto">
              <a:xfrm>
                <a:off x="2592" y="3840"/>
                <a:ext cx="96" cy="96"/>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400"/>
              </a:p>
            </p:txBody>
          </p:sp>
          <p:sp>
            <p:nvSpPr>
              <p:cNvPr id="15684" name="Oval 31">
                <a:extLst>
                  <a:ext uri="{FF2B5EF4-FFF2-40B4-BE49-F238E27FC236}">
                    <a16:creationId xmlns:a16="http://schemas.microsoft.com/office/drawing/2014/main" id="{B17D9D2F-A188-4CC7-8761-D27E8277C333}"/>
                  </a:ext>
                </a:extLst>
              </p:cNvPr>
              <p:cNvSpPr>
                <a:spLocks noChangeArrowheads="1"/>
              </p:cNvSpPr>
              <p:nvPr/>
            </p:nvSpPr>
            <p:spPr bwMode="auto">
              <a:xfrm>
                <a:off x="2784" y="3840"/>
                <a:ext cx="96" cy="96"/>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400"/>
              </a:p>
            </p:txBody>
          </p:sp>
          <p:sp>
            <p:nvSpPr>
              <p:cNvPr id="15685" name="Oval 32">
                <a:extLst>
                  <a:ext uri="{FF2B5EF4-FFF2-40B4-BE49-F238E27FC236}">
                    <a16:creationId xmlns:a16="http://schemas.microsoft.com/office/drawing/2014/main" id="{F70B3BDE-901D-48B1-989F-9D53DA6FBD2F}"/>
                  </a:ext>
                </a:extLst>
              </p:cNvPr>
              <p:cNvSpPr>
                <a:spLocks noChangeArrowheads="1"/>
              </p:cNvSpPr>
              <p:nvPr/>
            </p:nvSpPr>
            <p:spPr bwMode="auto">
              <a:xfrm>
                <a:off x="2976" y="3840"/>
                <a:ext cx="96" cy="96"/>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400"/>
              </a:p>
            </p:txBody>
          </p:sp>
          <p:sp>
            <p:nvSpPr>
              <p:cNvPr id="15686" name="Oval 33">
                <a:extLst>
                  <a:ext uri="{FF2B5EF4-FFF2-40B4-BE49-F238E27FC236}">
                    <a16:creationId xmlns:a16="http://schemas.microsoft.com/office/drawing/2014/main" id="{097B7ADA-AC2A-4FAB-AC16-300D22008441}"/>
                  </a:ext>
                </a:extLst>
              </p:cNvPr>
              <p:cNvSpPr>
                <a:spLocks noChangeArrowheads="1"/>
              </p:cNvSpPr>
              <p:nvPr/>
            </p:nvSpPr>
            <p:spPr bwMode="auto">
              <a:xfrm>
                <a:off x="3168" y="3840"/>
                <a:ext cx="96" cy="96"/>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400"/>
              </a:p>
            </p:txBody>
          </p:sp>
        </p:grpSp>
        <p:grpSp>
          <p:nvGrpSpPr>
            <p:cNvPr id="15673" name="Group 34">
              <a:extLst>
                <a:ext uri="{FF2B5EF4-FFF2-40B4-BE49-F238E27FC236}">
                  <a16:creationId xmlns:a16="http://schemas.microsoft.com/office/drawing/2014/main" id="{9228C07E-A0F4-4C1F-B77E-891DA61ED42B}"/>
                </a:ext>
              </a:extLst>
            </p:cNvPr>
            <p:cNvGrpSpPr>
              <a:grpSpLocks/>
            </p:cNvGrpSpPr>
            <p:nvPr/>
          </p:nvGrpSpPr>
          <p:grpSpPr bwMode="auto">
            <a:xfrm>
              <a:off x="6096000" y="3308350"/>
              <a:ext cx="1595438" cy="228600"/>
              <a:chOff x="2544" y="3264"/>
              <a:chExt cx="720" cy="96"/>
            </a:xfrm>
          </p:grpSpPr>
          <p:sp>
            <p:nvSpPr>
              <p:cNvPr id="15679" name="Oval 35">
                <a:extLst>
                  <a:ext uri="{FF2B5EF4-FFF2-40B4-BE49-F238E27FC236}">
                    <a16:creationId xmlns:a16="http://schemas.microsoft.com/office/drawing/2014/main" id="{595723D4-800E-4A16-8B47-E8C1482239D8}"/>
                  </a:ext>
                </a:extLst>
              </p:cNvPr>
              <p:cNvSpPr>
                <a:spLocks noChangeArrowheads="1"/>
              </p:cNvSpPr>
              <p:nvPr/>
            </p:nvSpPr>
            <p:spPr bwMode="auto">
              <a:xfrm>
                <a:off x="2544" y="3264"/>
                <a:ext cx="96" cy="96"/>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400"/>
              </a:p>
            </p:txBody>
          </p:sp>
          <p:sp>
            <p:nvSpPr>
              <p:cNvPr id="15680" name="Oval 36">
                <a:extLst>
                  <a:ext uri="{FF2B5EF4-FFF2-40B4-BE49-F238E27FC236}">
                    <a16:creationId xmlns:a16="http://schemas.microsoft.com/office/drawing/2014/main" id="{51FFCA44-00AA-4F59-BC2F-75F348352760}"/>
                  </a:ext>
                </a:extLst>
              </p:cNvPr>
              <p:cNvSpPr>
                <a:spLocks noChangeArrowheads="1"/>
              </p:cNvSpPr>
              <p:nvPr/>
            </p:nvSpPr>
            <p:spPr bwMode="auto">
              <a:xfrm>
                <a:off x="2736" y="3264"/>
                <a:ext cx="96" cy="96"/>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400"/>
              </a:p>
            </p:txBody>
          </p:sp>
          <p:sp>
            <p:nvSpPr>
              <p:cNvPr id="15681" name="Oval 37">
                <a:extLst>
                  <a:ext uri="{FF2B5EF4-FFF2-40B4-BE49-F238E27FC236}">
                    <a16:creationId xmlns:a16="http://schemas.microsoft.com/office/drawing/2014/main" id="{60A706DC-947E-4F13-8CED-EFD4D866201B}"/>
                  </a:ext>
                </a:extLst>
              </p:cNvPr>
              <p:cNvSpPr>
                <a:spLocks noChangeArrowheads="1"/>
              </p:cNvSpPr>
              <p:nvPr/>
            </p:nvSpPr>
            <p:spPr bwMode="auto">
              <a:xfrm>
                <a:off x="2928" y="3264"/>
                <a:ext cx="96" cy="96"/>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400"/>
              </a:p>
            </p:txBody>
          </p:sp>
          <p:sp>
            <p:nvSpPr>
              <p:cNvPr id="15682" name="Oval 38">
                <a:extLst>
                  <a:ext uri="{FF2B5EF4-FFF2-40B4-BE49-F238E27FC236}">
                    <a16:creationId xmlns:a16="http://schemas.microsoft.com/office/drawing/2014/main" id="{C08193D7-1197-47DC-99BF-1364996347A6}"/>
                  </a:ext>
                </a:extLst>
              </p:cNvPr>
              <p:cNvSpPr>
                <a:spLocks noChangeArrowheads="1"/>
              </p:cNvSpPr>
              <p:nvPr/>
            </p:nvSpPr>
            <p:spPr bwMode="auto">
              <a:xfrm>
                <a:off x="3168" y="3264"/>
                <a:ext cx="96" cy="96"/>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400"/>
              </a:p>
            </p:txBody>
          </p:sp>
        </p:grpSp>
        <p:grpSp>
          <p:nvGrpSpPr>
            <p:cNvPr id="15674" name="Group 39">
              <a:extLst>
                <a:ext uri="{FF2B5EF4-FFF2-40B4-BE49-F238E27FC236}">
                  <a16:creationId xmlns:a16="http://schemas.microsoft.com/office/drawing/2014/main" id="{223623CF-B7CD-4494-9919-CFD72A767724}"/>
                </a:ext>
              </a:extLst>
            </p:cNvPr>
            <p:cNvGrpSpPr>
              <a:grpSpLocks/>
            </p:cNvGrpSpPr>
            <p:nvPr/>
          </p:nvGrpSpPr>
          <p:grpSpPr bwMode="auto">
            <a:xfrm>
              <a:off x="6172200" y="2622550"/>
              <a:ext cx="1447800" cy="644525"/>
              <a:chOff x="2592" y="2688"/>
              <a:chExt cx="624" cy="288"/>
            </a:xfrm>
          </p:grpSpPr>
          <p:sp>
            <p:nvSpPr>
              <p:cNvPr id="15675" name="Line 40">
                <a:extLst>
                  <a:ext uri="{FF2B5EF4-FFF2-40B4-BE49-F238E27FC236}">
                    <a16:creationId xmlns:a16="http://schemas.microsoft.com/office/drawing/2014/main" id="{3EB2A5F3-E99C-4F83-91B6-F515E0C19BA3}"/>
                  </a:ext>
                </a:extLst>
              </p:cNvPr>
              <p:cNvSpPr>
                <a:spLocks noChangeShapeType="1"/>
              </p:cNvSpPr>
              <p:nvPr/>
            </p:nvSpPr>
            <p:spPr bwMode="auto">
              <a:xfrm flipV="1">
                <a:off x="2592" y="2688"/>
                <a:ext cx="0" cy="288"/>
              </a:xfrm>
              <a:prstGeom prst="line">
                <a:avLst/>
              </a:prstGeom>
              <a:noFill/>
              <a:ln w="28575">
                <a:solidFill>
                  <a:srgbClr val="FF33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676" name="Line 41">
                <a:extLst>
                  <a:ext uri="{FF2B5EF4-FFF2-40B4-BE49-F238E27FC236}">
                    <a16:creationId xmlns:a16="http://schemas.microsoft.com/office/drawing/2014/main" id="{4DA9DA67-71A0-4A6B-A0D4-02EC6C46B4E5}"/>
                  </a:ext>
                </a:extLst>
              </p:cNvPr>
              <p:cNvSpPr>
                <a:spLocks noChangeShapeType="1"/>
              </p:cNvSpPr>
              <p:nvPr/>
            </p:nvSpPr>
            <p:spPr bwMode="auto">
              <a:xfrm flipH="1" flipV="1">
                <a:off x="2784" y="2688"/>
                <a:ext cx="0" cy="288"/>
              </a:xfrm>
              <a:prstGeom prst="line">
                <a:avLst/>
              </a:prstGeom>
              <a:noFill/>
              <a:ln w="28575">
                <a:solidFill>
                  <a:srgbClr val="FF33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677" name="Line 42">
                <a:extLst>
                  <a:ext uri="{FF2B5EF4-FFF2-40B4-BE49-F238E27FC236}">
                    <a16:creationId xmlns:a16="http://schemas.microsoft.com/office/drawing/2014/main" id="{A7D9DDD9-B84F-4E7C-A868-E34D84DB23FA}"/>
                  </a:ext>
                </a:extLst>
              </p:cNvPr>
              <p:cNvSpPr>
                <a:spLocks noChangeShapeType="1"/>
              </p:cNvSpPr>
              <p:nvPr/>
            </p:nvSpPr>
            <p:spPr bwMode="auto">
              <a:xfrm flipV="1">
                <a:off x="2976" y="2688"/>
                <a:ext cx="0" cy="288"/>
              </a:xfrm>
              <a:prstGeom prst="line">
                <a:avLst/>
              </a:prstGeom>
              <a:noFill/>
              <a:ln w="28575">
                <a:solidFill>
                  <a:srgbClr val="FF33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678" name="Line 43">
                <a:extLst>
                  <a:ext uri="{FF2B5EF4-FFF2-40B4-BE49-F238E27FC236}">
                    <a16:creationId xmlns:a16="http://schemas.microsoft.com/office/drawing/2014/main" id="{8D4C16EA-4FD9-41DB-BFD2-55D02B58C797}"/>
                  </a:ext>
                </a:extLst>
              </p:cNvPr>
              <p:cNvSpPr>
                <a:spLocks noChangeShapeType="1"/>
              </p:cNvSpPr>
              <p:nvPr/>
            </p:nvSpPr>
            <p:spPr bwMode="auto">
              <a:xfrm flipV="1">
                <a:off x="3216" y="2688"/>
                <a:ext cx="0" cy="288"/>
              </a:xfrm>
              <a:prstGeom prst="line">
                <a:avLst/>
              </a:prstGeom>
              <a:noFill/>
              <a:ln w="28575">
                <a:solidFill>
                  <a:srgbClr val="FF33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7" name="组合 6">
            <a:extLst>
              <a:ext uri="{FF2B5EF4-FFF2-40B4-BE49-F238E27FC236}">
                <a16:creationId xmlns:a16="http://schemas.microsoft.com/office/drawing/2014/main" id="{327C4EB2-2EB7-49AA-90D5-A584A7F873B7}"/>
              </a:ext>
            </a:extLst>
          </p:cNvPr>
          <p:cNvGrpSpPr>
            <a:grpSpLocks/>
          </p:cNvGrpSpPr>
          <p:nvPr/>
        </p:nvGrpSpPr>
        <p:grpSpPr bwMode="auto">
          <a:xfrm>
            <a:off x="6775450" y="2492375"/>
            <a:ext cx="1752600" cy="2351088"/>
            <a:chOff x="5435600" y="1557338"/>
            <a:chExt cx="3168650" cy="3968750"/>
          </a:xfrm>
        </p:grpSpPr>
        <p:sp>
          <p:nvSpPr>
            <p:cNvPr id="15616" name="Line 3081">
              <a:extLst>
                <a:ext uri="{FF2B5EF4-FFF2-40B4-BE49-F238E27FC236}">
                  <a16:creationId xmlns:a16="http://schemas.microsoft.com/office/drawing/2014/main" id="{077B4407-F582-404F-B98E-33E5080EB23A}"/>
                </a:ext>
              </a:extLst>
            </p:cNvPr>
            <p:cNvSpPr>
              <a:spLocks noChangeShapeType="1"/>
            </p:cNvSpPr>
            <p:nvPr/>
          </p:nvSpPr>
          <p:spPr bwMode="auto">
            <a:xfrm>
              <a:off x="8545513" y="2166938"/>
              <a:ext cx="0" cy="3062287"/>
            </a:xfrm>
            <a:prstGeom prst="line">
              <a:avLst/>
            </a:prstGeom>
            <a:noFill/>
            <a:ln w="57150">
              <a:solidFill>
                <a:srgbClr val="FF99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617" name="Text Box 3082">
              <a:extLst>
                <a:ext uri="{FF2B5EF4-FFF2-40B4-BE49-F238E27FC236}">
                  <a16:creationId xmlns:a16="http://schemas.microsoft.com/office/drawing/2014/main" id="{FC434551-EA77-46E9-A213-407E015CA1C2}"/>
                </a:ext>
              </a:extLst>
            </p:cNvPr>
            <p:cNvSpPr txBox="1">
              <a:spLocks noChangeArrowheads="1"/>
            </p:cNvSpPr>
            <p:nvPr/>
          </p:nvSpPr>
          <p:spPr bwMode="auto">
            <a:xfrm>
              <a:off x="7524750" y="1557338"/>
              <a:ext cx="1079500" cy="11949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2000" b="1">
                  <a:latin typeface="Times New Roman" panose="02020603050405020304" pitchFamily="18" charset="0"/>
                  <a:ea typeface="楷体_GB2312"/>
                  <a:cs typeface="楷体_GB2312"/>
                </a:rPr>
                <a:t>外场</a:t>
              </a:r>
              <a:endParaRPr kumimoji="1" lang="zh-CN" altLang="en-US" sz="2000">
                <a:latin typeface="Times New Roman" panose="02020603050405020304" pitchFamily="18" charset="0"/>
                <a:ea typeface="楷体_GB2312"/>
                <a:cs typeface="楷体_GB2312"/>
              </a:endParaRPr>
            </a:p>
          </p:txBody>
        </p:sp>
        <p:sp>
          <p:nvSpPr>
            <p:cNvPr id="15618" name="Line 3083">
              <a:extLst>
                <a:ext uri="{FF2B5EF4-FFF2-40B4-BE49-F238E27FC236}">
                  <a16:creationId xmlns:a16="http://schemas.microsoft.com/office/drawing/2014/main" id="{04FB0E9F-504E-4CDB-989A-83B52BBBFC98}"/>
                </a:ext>
              </a:extLst>
            </p:cNvPr>
            <p:cNvSpPr>
              <a:spLocks noChangeShapeType="1"/>
            </p:cNvSpPr>
            <p:nvPr/>
          </p:nvSpPr>
          <p:spPr bwMode="auto">
            <a:xfrm flipV="1">
              <a:off x="5451475" y="1654175"/>
              <a:ext cx="0" cy="3421063"/>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619" name="Rectangle 3084">
              <a:extLst>
                <a:ext uri="{FF2B5EF4-FFF2-40B4-BE49-F238E27FC236}">
                  <a16:creationId xmlns:a16="http://schemas.microsoft.com/office/drawing/2014/main" id="{455FD6BA-419A-4BE6-B08F-BA149903C764}"/>
                </a:ext>
              </a:extLst>
            </p:cNvPr>
            <p:cNvSpPr>
              <a:spLocks noChangeArrowheads="1"/>
            </p:cNvSpPr>
            <p:nvPr/>
          </p:nvSpPr>
          <p:spPr bwMode="auto">
            <a:xfrm>
              <a:off x="5451475" y="4535488"/>
              <a:ext cx="2871788" cy="539750"/>
            </a:xfrm>
            <a:prstGeom prst="rect">
              <a:avLst/>
            </a:prstGeom>
            <a:solidFill>
              <a:srgbClr val="CCFFFF"/>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400"/>
            </a:p>
          </p:txBody>
        </p:sp>
        <p:sp>
          <p:nvSpPr>
            <p:cNvPr id="15620" name="Rectangle 3085">
              <a:extLst>
                <a:ext uri="{FF2B5EF4-FFF2-40B4-BE49-F238E27FC236}">
                  <a16:creationId xmlns:a16="http://schemas.microsoft.com/office/drawing/2014/main" id="{B640A03F-D3CE-4040-9619-078064359477}"/>
                </a:ext>
              </a:extLst>
            </p:cNvPr>
            <p:cNvSpPr>
              <a:spLocks noChangeArrowheads="1"/>
            </p:cNvSpPr>
            <p:nvPr/>
          </p:nvSpPr>
          <p:spPr bwMode="auto">
            <a:xfrm>
              <a:off x="5451475" y="2733675"/>
              <a:ext cx="2871788" cy="541338"/>
            </a:xfrm>
            <a:prstGeom prst="rect">
              <a:avLst/>
            </a:prstGeom>
            <a:solidFill>
              <a:srgbClr val="CCFFFF"/>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400"/>
            </a:p>
          </p:txBody>
        </p:sp>
        <p:graphicFrame>
          <p:nvGraphicFramePr>
            <p:cNvPr id="15621" name="Object 3086">
              <a:extLst>
                <a:ext uri="{FF2B5EF4-FFF2-40B4-BE49-F238E27FC236}">
                  <a16:creationId xmlns:a16="http://schemas.microsoft.com/office/drawing/2014/main" id="{E1C5FFB9-E5A2-4DA8-8168-7936042C4DA8}"/>
                </a:ext>
              </a:extLst>
            </p:cNvPr>
            <p:cNvGraphicFramePr>
              <a:graphicFrameLocks noChangeAspect="1"/>
            </p:cNvGraphicFramePr>
            <p:nvPr/>
          </p:nvGraphicFramePr>
          <p:xfrm>
            <a:off x="5557838" y="1585913"/>
            <a:ext cx="279400" cy="282575"/>
          </p:xfrm>
          <a:graphic>
            <a:graphicData uri="http://schemas.openxmlformats.org/presentationml/2006/ole">
              <mc:AlternateContent xmlns:mc="http://schemas.openxmlformats.org/markup-compatibility/2006">
                <mc:Choice xmlns:v="urn:schemas-microsoft-com:vml" Requires="v">
                  <p:oleObj spid="_x0000_s15727" name="Equation" r:id="rId5" imgW="241300" imgH="228600" progId="Equation.DSMT4">
                    <p:embed/>
                  </p:oleObj>
                </mc:Choice>
                <mc:Fallback>
                  <p:oleObj name="Equation" r:id="rId5" imgW="241300" imgH="228600" progId="Equation.DSMT4">
                    <p:embed/>
                    <p:pic>
                      <p:nvPicPr>
                        <p:cNvPr id="0" name="Object 308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57838" y="1585913"/>
                          <a:ext cx="279400" cy="282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622" name="Text Box 3087">
              <a:extLst>
                <a:ext uri="{FF2B5EF4-FFF2-40B4-BE49-F238E27FC236}">
                  <a16:creationId xmlns:a16="http://schemas.microsoft.com/office/drawing/2014/main" id="{130238F4-EE5E-41AF-B7C2-5CCCF3B82760}"/>
                </a:ext>
              </a:extLst>
            </p:cNvPr>
            <p:cNvSpPr txBox="1">
              <a:spLocks noChangeArrowheads="1"/>
            </p:cNvSpPr>
            <p:nvPr/>
          </p:nvSpPr>
          <p:spPr bwMode="auto">
            <a:xfrm>
              <a:off x="5535613" y="4483100"/>
              <a:ext cx="1261289" cy="6754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000">
                  <a:latin typeface="Times New Roman" panose="02020603050405020304" pitchFamily="18" charset="0"/>
                  <a:ea typeface="楷体_GB2312"/>
                  <a:cs typeface="楷体_GB2312"/>
                </a:rPr>
                <a:t>满带</a:t>
              </a:r>
            </a:p>
          </p:txBody>
        </p:sp>
        <p:sp>
          <p:nvSpPr>
            <p:cNvPr id="15623" name="Text Box 3088">
              <a:extLst>
                <a:ext uri="{FF2B5EF4-FFF2-40B4-BE49-F238E27FC236}">
                  <a16:creationId xmlns:a16="http://schemas.microsoft.com/office/drawing/2014/main" id="{8837D69A-171F-4A9F-BC13-2B9DDBE9FF45}"/>
                </a:ext>
              </a:extLst>
            </p:cNvPr>
            <p:cNvSpPr txBox="1">
              <a:spLocks noChangeArrowheads="1"/>
            </p:cNvSpPr>
            <p:nvPr/>
          </p:nvSpPr>
          <p:spPr bwMode="auto">
            <a:xfrm>
              <a:off x="5451476" y="2681288"/>
              <a:ext cx="1261289" cy="6754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000">
                  <a:latin typeface="Times New Roman" panose="02020603050405020304" pitchFamily="18" charset="0"/>
                  <a:ea typeface="楷体_GB2312"/>
                  <a:cs typeface="楷体_GB2312"/>
                </a:rPr>
                <a:t>导带</a:t>
              </a:r>
            </a:p>
          </p:txBody>
        </p:sp>
        <p:sp>
          <p:nvSpPr>
            <p:cNvPr id="15624" name="Line 3089">
              <a:extLst>
                <a:ext uri="{FF2B5EF4-FFF2-40B4-BE49-F238E27FC236}">
                  <a16:creationId xmlns:a16="http://schemas.microsoft.com/office/drawing/2014/main" id="{BF101ECD-C1FA-493F-A69C-F0FAFEA9E1F6}"/>
                </a:ext>
              </a:extLst>
            </p:cNvPr>
            <p:cNvSpPr>
              <a:spLocks noChangeShapeType="1"/>
            </p:cNvSpPr>
            <p:nvPr/>
          </p:nvSpPr>
          <p:spPr bwMode="auto">
            <a:xfrm>
              <a:off x="5451475" y="4175125"/>
              <a:ext cx="2871788" cy="0"/>
            </a:xfrm>
            <a:prstGeom prst="line">
              <a:avLst/>
            </a:prstGeom>
            <a:noFill/>
            <a:ln w="38100">
              <a:solidFill>
                <a:srgbClr val="FF3300"/>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5625" name="Group 3090">
              <a:extLst>
                <a:ext uri="{FF2B5EF4-FFF2-40B4-BE49-F238E27FC236}">
                  <a16:creationId xmlns:a16="http://schemas.microsoft.com/office/drawing/2014/main" id="{CF08E74F-6C50-4033-BDE5-F3663A795578}"/>
                </a:ext>
              </a:extLst>
            </p:cNvPr>
            <p:cNvGrpSpPr>
              <a:grpSpLocks/>
            </p:cNvGrpSpPr>
            <p:nvPr/>
          </p:nvGrpSpPr>
          <p:grpSpPr bwMode="auto">
            <a:xfrm>
              <a:off x="6548438" y="4895850"/>
              <a:ext cx="1182687" cy="179388"/>
              <a:chOff x="4608" y="3984"/>
              <a:chExt cx="672" cy="96"/>
            </a:xfrm>
          </p:grpSpPr>
          <p:sp>
            <p:nvSpPr>
              <p:cNvPr id="15656" name="Oval 3091">
                <a:extLst>
                  <a:ext uri="{FF2B5EF4-FFF2-40B4-BE49-F238E27FC236}">
                    <a16:creationId xmlns:a16="http://schemas.microsoft.com/office/drawing/2014/main" id="{43BAE0ED-72E5-4FA0-B950-FC63FD7B0470}"/>
                  </a:ext>
                </a:extLst>
              </p:cNvPr>
              <p:cNvSpPr>
                <a:spLocks noChangeArrowheads="1"/>
              </p:cNvSpPr>
              <p:nvPr/>
            </p:nvSpPr>
            <p:spPr bwMode="auto">
              <a:xfrm>
                <a:off x="4608" y="3984"/>
                <a:ext cx="96" cy="96"/>
              </a:xfrm>
              <a:prstGeom prst="ellipse">
                <a:avLst/>
              </a:prstGeom>
              <a:solidFill>
                <a:srgbClr val="C0C0C0"/>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400"/>
              </a:p>
            </p:txBody>
          </p:sp>
          <p:sp>
            <p:nvSpPr>
              <p:cNvPr id="15657" name="Oval 3092">
                <a:extLst>
                  <a:ext uri="{FF2B5EF4-FFF2-40B4-BE49-F238E27FC236}">
                    <a16:creationId xmlns:a16="http://schemas.microsoft.com/office/drawing/2014/main" id="{9D4BA7AF-C320-4502-B913-F8CBAF69D317}"/>
                  </a:ext>
                </a:extLst>
              </p:cNvPr>
              <p:cNvSpPr>
                <a:spLocks noChangeArrowheads="1"/>
              </p:cNvSpPr>
              <p:nvPr/>
            </p:nvSpPr>
            <p:spPr bwMode="auto">
              <a:xfrm>
                <a:off x="4800" y="3984"/>
                <a:ext cx="96" cy="96"/>
              </a:xfrm>
              <a:prstGeom prst="ellipse">
                <a:avLst/>
              </a:prstGeom>
              <a:solidFill>
                <a:srgbClr val="C0C0C0"/>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400"/>
              </a:p>
            </p:txBody>
          </p:sp>
          <p:sp>
            <p:nvSpPr>
              <p:cNvPr id="15658" name="Oval 3093">
                <a:extLst>
                  <a:ext uri="{FF2B5EF4-FFF2-40B4-BE49-F238E27FC236}">
                    <a16:creationId xmlns:a16="http://schemas.microsoft.com/office/drawing/2014/main" id="{94FE2AC1-0E50-4C56-8BA9-7C965D387400}"/>
                  </a:ext>
                </a:extLst>
              </p:cNvPr>
              <p:cNvSpPr>
                <a:spLocks noChangeArrowheads="1"/>
              </p:cNvSpPr>
              <p:nvPr/>
            </p:nvSpPr>
            <p:spPr bwMode="auto">
              <a:xfrm>
                <a:off x="4992" y="3984"/>
                <a:ext cx="96" cy="96"/>
              </a:xfrm>
              <a:prstGeom prst="ellipse">
                <a:avLst/>
              </a:prstGeom>
              <a:solidFill>
                <a:srgbClr val="C0C0C0"/>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400"/>
              </a:p>
            </p:txBody>
          </p:sp>
          <p:sp>
            <p:nvSpPr>
              <p:cNvPr id="15659" name="Oval 3094">
                <a:extLst>
                  <a:ext uri="{FF2B5EF4-FFF2-40B4-BE49-F238E27FC236}">
                    <a16:creationId xmlns:a16="http://schemas.microsoft.com/office/drawing/2014/main" id="{CAC78F92-B0EE-41FC-87C0-9D3713F5D904}"/>
                  </a:ext>
                </a:extLst>
              </p:cNvPr>
              <p:cNvSpPr>
                <a:spLocks noChangeArrowheads="1"/>
              </p:cNvSpPr>
              <p:nvPr/>
            </p:nvSpPr>
            <p:spPr bwMode="auto">
              <a:xfrm>
                <a:off x="5184" y="3984"/>
                <a:ext cx="96" cy="96"/>
              </a:xfrm>
              <a:prstGeom prst="ellipse">
                <a:avLst/>
              </a:prstGeom>
              <a:solidFill>
                <a:srgbClr val="C0C0C0"/>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400"/>
              </a:p>
            </p:txBody>
          </p:sp>
        </p:grpSp>
        <p:sp>
          <p:nvSpPr>
            <p:cNvPr id="15626" name="Rectangle 3095">
              <a:extLst>
                <a:ext uri="{FF2B5EF4-FFF2-40B4-BE49-F238E27FC236}">
                  <a16:creationId xmlns:a16="http://schemas.microsoft.com/office/drawing/2014/main" id="{1C6B1288-A30D-44A8-A8DB-A1E9709FB9AF}"/>
                </a:ext>
              </a:extLst>
            </p:cNvPr>
            <p:cNvSpPr>
              <a:spLocks noChangeArrowheads="1"/>
            </p:cNvSpPr>
            <p:nvPr/>
          </p:nvSpPr>
          <p:spPr bwMode="auto">
            <a:xfrm>
              <a:off x="5435600" y="3573463"/>
              <a:ext cx="2398713" cy="6754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000" b="1">
                  <a:latin typeface="Times New Roman" panose="02020603050405020304" pitchFamily="18" charset="0"/>
                  <a:ea typeface="楷体_GB2312"/>
                  <a:cs typeface="楷体_GB2312"/>
                </a:rPr>
                <a:t>受主能级</a:t>
              </a:r>
            </a:p>
          </p:txBody>
        </p:sp>
        <p:grpSp>
          <p:nvGrpSpPr>
            <p:cNvPr id="15627" name="Group 3096">
              <a:extLst>
                <a:ext uri="{FF2B5EF4-FFF2-40B4-BE49-F238E27FC236}">
                  <a16:creationId xmlns:a16="http://schemas.microsoft.com/office/drawing/2014/main" id="{FE6CD5C1-1C66-4722-AF0E-3E43D2505CFD}"/>
                </a:ext>
              </a:extLst>
            </p:cNvPr>
            <p:cNvGrpSpPr>
              <a:grpSpLocks/>
            </p:cNvGrpSpPr>
            <p:nvPr/>
          </p:nvGrpSpPr>
          <p:grpSpPr bwMode="auto">
            <a:xfrm>
              <a:off x="6634163" y="4265613"/>
              <a:ext cx="1012825" cy="449262"/>
              <a:chOff x="4656" y="3648"/>
              <a:chExt cx="576" cy="240"/>
            </a:xfrm>
          </p:grpSpPr>
          <p:sp>
            <p:nvSpPr>
              <p:cNvPr id="15652" name="Line 3097">
                <a:extLst>
                  <a:ext uri="{FF2B5EF4-FFF2-40B4-BE49-F238E27FC236}">
                    <a16:creationId xmlns:a16="http://schemas.microsoft.com/office/drawing/2014/main" id="{81D74560-8B34-4C25-AD88-BAA07B7C8A78}"/>
                  </a:ext>
                </a:extLst>
              </p:cNvPr>
              <p:cNvSpPr>
                <a:spLocks noChangeShapeType="1"/>
              </p:cNvSpPr>
              <p:nvPr/>
            </p:nvSpPr>
            <p:spPr bwMode="auto">
              <a:xfrm flipV="1">
                <a:off x="4656" y="3648"/>
                <a:ext cx="0" cy="240"/>
              </a:xfrm>
              <a:prstGeom prst="line">
                <a:avLst/>
              </a:prstGeom>
              <a:noFill/>
              <a:ln w="28575">
                <a:solidFill>
                  <a:srgbClr val="00FF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653" name="Line 3098">
                <a:extLst>
                  <a:ext uri="{FF2B5EF4-FFF2-40B4-BE49-F238E27FC236}">
                    <a16:creationId xmlns:a16="http://schemas.microsoft.com/office/drawing/2014/main" id="{8197FAEC-3894-4933-94BE-E31064EF2B8E}"/>
                  </a:ext>
                </a:extLst>
              </p:cNvPr>
              <p:cNvSpPr>
                <a:spLocks noChangeShapeType="1"/>
              </p:cNvSpPr>
              <p:nvPr/>
            </p:nvSpPr>
            <p:spPr bwMode="auto">
              <a:xfrm flipV="1">
                <a:off x="4848" y="3648"/>
                <a:ext cx="0" cy="240"/>
              </a:xfrm>
              <a:prstGeom prst="line">
                <a:avLst/>
              </a:prstGeom>
              <a:noFill/>
              <a:ln w="28575">
                <a:solidFill>
                  <a:srgbClr val="00FF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654" name="Line 3099">
                <a:extLst>
                  <a:ext uri="{FF2B5EF4-FFF2-40B4-BE49-F238E27FC236}">
                    <a16:creationId xmlns:a16="http://schemas.microsoft.com/office/drawing/2014/main" id="{25948F67-01AB-45B3-89F8-53EBCB3EDEF1}"/>
                  </a:ext>
                </a:extLst>
              </p:cNvPr>
              <p:cNvSpPr>
                <a:spLocks noChangeShapeType="1"/>
              </p:cNvSpPr>
              <p:nvPr/>
            </p:nvSpPr>
            <p:spPr bwMode="auto">
              <a:xfrm flipV="1">
                <a:off x="5040" y="3648"/>
                <a:ext cx="0" cy="240"/>
              </a:xfrm>
              <a:prstGeom prst="line">
                <a:avLst/>
              </a:prstGeom>
              <a:noFill/>
              <a:ln w="28575">
                <a:solidFill>
                  <a:srgbClr val="00FF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655" name="Line 3100">
                <a:extLst>
                  <a:ext uri="{FF2B5EF4-FFF2-40B4-BE49-F238E27FC236}">
                    <a16:creationId xmlns:a16="http://schemas.microsoft.com/office/drawing/2014/main" id="{8845BD53-D1DF-4A18-80A4-670D3EF68FD6}"/>
                  </a:ext>
                </a:extLst>
              </p:cNvPr>
              <p:cNvSpPr>
                <a:spLocks noChangeShapeType="1"/>
              </p:cNvSpPr>
              <p:nvPr/>
            </p:nvSpPr>
            <p:spPr bwMode="auto">
              <a:xfrm flipV="1">
                <a:off x="5232" y="3648"/>
                <a:ext cx="0" cy="240"/>
              </a:xfrm>
              <a:prstGeom prst="line">
                <a:avLst/>
              </a:prstGeom>
              <a:noFill/>
              <a:ln w="28575">
                <a:solidFill>
                  <a:srgbClr val="00FF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5628" name="Group 3101">
              <a:extLst>
                <a:ext uri="{FF2B5EF4-FFF2-40B4-BE49-F238E27FC236}">
                  <a16:creationId xmlns:a16="http://schemas.microsoft.com/office/drawing/2014/main" id="{7005197A-60AD-4DC9-9F15-29A900DC2618}"/>
                </a:ext>
              </a:extLst>
            </p:cNvPr>
            <p:cNvGrpSpPr>
              <a:grpSpLocks/>
            </p:cNvGrpSpPr>
            <p:nvPr/>
          </p:nvGrpSpPr>
          <p:grpSpPr bwMode="auto">
            <a:xfrm>
              <a:off x="6548438" y="4714875"/>
              <a:ext cx="1182687" cy="180975"/>
              <a:chOff x="4608" y="3888"/>
              <a:chExt cx="672" cy="96"/>
            </a:xfrm>
          </p:grpSpPr>
          <p:sp>
            <p:nvSpPr>
              <p:cNvPr id="15648" name="Oval 3102">
                <a:extLst>
                  <a:ext uri="{FF2B5EF4-FFF2-40B4-BE49-F238E27FC236}">
                    <a16:creationId xmlns:a16="http://schemas.microsoft.com/office/drawing/2014/main" id="{90BA2804-AA03-4909-8CE7-183C602C3F12}"/>
                  </a:ext>
                </a:extLst>
              </p:cNvPr>
              <p:cNvSpPr>
                <a:spLocks noChangeArrowheads="1"/>
              </p:cNvSpPr>
              <p:nvPr/>
            </p:nvSpPr>
            <p:spPr bwMode="auto">
              <a:xfrm>
                <a:off x="4608" y="3888"/>
                <a:ext cx="96" cy="96"/>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400"/>
              </a:p>
            </p:txBody>
          </p:sp>
          <p:sp>
            <p:nvSpPr>
              <p:cNvPr id="15649" name="Oval 3103">
                <a:extLst>
                  <a:ext uri="{FF2B5EF4-FFF2-40B4-BE49-F238E27FC236}">
                    <a16:creationId xmlns:a16="http://schemas.microsoft.com/office/drawing/2014/main" id="{4A0A14BA-7BCA-404A-B18F-8D2F05FEA35D}"/>
                  </a:ext>
                </a:extLst>
              </p:cNvPr>
              <p:cNvSpPr>
                <a:spLocks noChangeArrowheads="1"/>
              </p:cNvSpPr>
              <p:nvPr/>
            </p:nvSpPr>
            <p:spPr bwMode="auto">
              <a:xfrm>
                <a:off x="4800" y="3888"/>
                <a:ext cx="96" cy="96"/>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400"/>
              </a:p>
            </p:txBody>
          </p:sp>
          <p:sp>
            <p:nvSpPr>
              <p:cNvPr id="15650" name="Oval 3104">
                <a:extLst>
                  <a:ext uri="{FF2B5EF4-FFF2-40B4-BE49-F238E27FC236}">
                    <a16:creationId xmlns:a16="http://schemas.microsoft.com/office/drawing/2014/main" id="{880379F9-36BB-4A0D-B531-52CD25117190}"/>
                  </a:ext>
                </a:extLst>
              </p:cNvPr>
              <p:cNvSpPr>
                <a:spLocks noChangeArrowheads="1"/>
              </p:cNvSpPr>
              <p:nvPr/>
            </p:nvSpPr>
            <p:spPr bwMode="auto">
              <a:xfrm>
                <a:off x="4992" y="3888"/>
                <a:ext cx="96" cy="96"/>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400"/>
              </a:p>
            </p:txBody>
          </p:sp>
          <p:sp>
            <p:nvSpPr>
              <p:cNvPr id="15651" name="Oval 3105">
                <a:extLst>
                  <a:ext uri="{FF2B5EF4-FFF2-40B4-BE49-F238E27FC236}">
                    <a16:creationId xmlns:a16="http://schemas.microsoft.com/office/drawing/2014/main" id="{B03EE85D-CD25-43B9-9162-BFC7D12AEEDB}"/>
                  </a:ext>
                </a:extLst>
              </p:cNvPr>
              <p:cNvSpPr>
                <a:spLocks noChangeArrowheads="1"/>
              </p:cNvSpPr>
              <p:nvPr/>
            </p:nvSpPr>
            <p:spPr bwMode="auto">
              <a:xfrm>
                <a:off x="5184" y="3888"/>
                <a:ext cx="96" cy="96"/>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400"/>
              </a:p>
            </p:txBody>
          </p:sp>
        </p:grpSp>
        <p:grpSp>
          <p:nvGrpSpPr>
            <p:cNvPr id="15629" name="Group 3106">
              <a:extLst>
                <a:ext uri="{FF2B5EF4-FFF2-40B4-BE49-F238E27FC236}">
                  <a16:creationId xmlns:a16="http://schemas.microsoft.com/office/drawing/2014/main" id="{F7CA7D6C-D8B4-41C0-BCD1-525458EF4041}"/>
                </a:ext>
              </a:extLst>
            </p:cNvPr>
            <p:cNvGrpSpPr>
              <a:grpSpLocks/>
            </p:cNvGrpSpPr>
            <p:nvPr/>
          </p:nvGrpSpPr>
          <p:grpSpPr bwMode="auto">
            <a:xfrm>
              <a:off x="6548438" y="4084638"/>
              <a:ext cx="1182687" cy="180975"/>
              <a:chOff x="4608" y="3552"/>
              <a:chExt cx="672" cy="96"/>
            </a:xfrm>
          </p:grpSpPr>
          <p:sp>
            <p:nvSpPr>
              <p:cNvPr id="15640" name="Oval 3107">
                <a:extLst>
                  <a:ext uri="{FF2B5EF4-FFF2-40B4-BE49-F238E27FC236}">
                    <a16:creationId xmlns:a16="http://schemas.microsoft.com/office/drawing/2014/main" id="{EB0D752B-1002-4D5F-9EFC-AAE96E9E31FB}"/>
                  </a:ext>
                </a:extLst>
              </p:cNvPr>
              <p:cNvSpPr>
                <a:spLocks noChangeArrowheads="1"/>
              </p:cNvSpPr>
              <p:nvPr/>
            </p:nvSpPr>
            <p:spPr bwMode="auto">
              <a:xfrm>
                <a:off x="4608" y="3552"/>
                <a:ext cx="96" cy="96"/>
              </a:xfrm>
              <a:prstGeom prst="ellipse">
                <a:avLst/>
              </a:prstGeom>
              <a:solidFill>
                <a:schemeClr val="hlink"/>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400"/>
              </a:p>
            </p:txBody>
          </p:sp>
          <p:sp>
            <p:nvSpPr>
              <p:cNvPr id="15641" name="Oval 3108">
                <a:extLst>
                  <a:ext uri="{FF2B5EF4-FFF2-40B4-BE49-F238E27FC236}">
                    <a16:creationId xmlns:a16="http://schemas.microsoft.com/office/drawing/2014/main" id="{896477E9-F173-4AD4-8B1C-588503AA860C}"/>
                  </a:ext>
                </a:extLst>
              </p:cNvPr>
              <p:cNvSpPr>
                <a:spLocks noChangeArrowheads="1"/>
              </p:cNvSpPr>
              <p:nvPr/>
            </p:nvSpPr>
            <p:spPr bwMode="auto">
              <a:xfrm>
                <a:off x="4800" y="3552"/>
                <a:ext cx="96" cy="96"/>
              </a:xfrm>
              <a:prstGeom prst="ellipse">
                <a:avLst/>
              </a:prstGeom>
              <a:solidFill>
                <a:schemeClr val="hlink"/>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400"/>
              </a:p>
            </p:txBody>
          </p:sp>
          <p:sp>
            <p:nvSpPr>
              <p:cNvPr id="15642" name="Oval 3109">
                <a:extLst>
                  <a:ext uri="{FF2B5EF4-FFF2-40B4-BE49-F238E27FC236}">
                    <a16:creationId xmlns:a16="http://schemas.microsoft.com/office/drawing/2014/main" id="{EDF96243-4FAD-4265-99D2-19CBEEC86BAD}"/>
                  </a:ext>
                </a:extLst>
              </p:cNvPr>
              <p:cNvSpPr>
                <a:spLocks noChangeArrowheads="1"/>
              </p:cNvSpPr>
              <p:nvPr/>
            </p:nvSpPr>
            <p:spPr bwMode="auto">
              <a:xfrm>
                <a:off x="4992" y="3552"/>
                <a:ext cx="96" cy="96"/>
              </a:xfrm>
              <a:prstGeom prst="ellipse">
                <a:avLst/>
              </a:prstGeom>
              <a:solidFill>
                <a:schemeClr val="hlink"/>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400"/>
              </a:p>
            </p:txBody>
          </p:sp>
          <p:sp>
            <p:nvSpPr>
              <p:cNvPr id="15643" name="Oval 3110">
                <a:extLst>
                  <a:ext uri="{FF2B5EF4-FFF2-40B4-BE49-F238E27FC236}">
                    <a16:creationId xmlns:a16="http://schemas.microsoft.com/office/drawing/2014/main" id="{A1D3D6BB-5040-4B4C-BE57-499B2A6ED439}"/>
                  </a:ext>
                </a:extLst>
              </p:cNvPr>
              <p:cNvSpPr>
                <a:spLocks noChangeArrowheads="1"/>
              </p:cNvSpPr>
              <p:nvPr/>
            </p:nvSpPr>
            <p:spPr bwMode="auto">
              <a:xfrm>
                <a:off x="5184" y="3552"/>
                <a:ext cx="96" cy="96"/>
              </a:xfrm>
              <a:prstGeom prst="ellipse">
                <a:avLst/>
              </a:prstGeom>
              <a:solidFill>
                <a:schemeClr val="hlink"/>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400"/>
              </a:p>
            </p:txBody>
          </p:sp>
          <p:sp>
            <p:nvSpPr>
              <p:cNvPr id="15644" name="Oval 3111">
                <a:extLst>
                  <a:ext uri="{FF2B5EF4-FFF2-40B4-BE49-F238E27FC236}">
                    <a16:creationId xmlns:a16="http://schemas.microsoft.com/office/drawing/2014/main" id="{04BBE60B-A63A-47C8-BC8B-D3DBCEA3FEC7}"/>
                  </a:ext>
                </a:extLst>
              </p:cNvPr>
              <p:cNvSpPr>
                <a:spLocks noChangeArrowheads="1"/>
              </p:cNvSpPr>
              <p:nvPr/>
            </p:nvSpPr>
            <p:spPr bwMode="auto">
              <a:xfrm>
                <a:off x="4608" y="3552"/>
                <a:ext cx="96" cy="96"/>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400"/>
              </a:p>
            </p:txBody>
          </p:sp>
          <p:sp>
            <p:nvSpPr>
              <p:cNvPr id="15645" name="Oval 3112">
                <a:extLst>
                  <a:ext uri="{FF2B5EF4-FFF2-40B4-BE49-F238E27FC236}">
                    <a16:creationId xmlns:a16="http://schemas.microsoft.com/office/drawing/2014/main" id="{FA8EEF8A-FCBD-4419-98AA-25BBEE68A24A}"/>
                  </a:ext>
                </a:extLst>
              </p:cNvPr>
              <p:cNvSpPr>
                <a:spLocks noChangeArrowheads="1"/>
              </p:cNvSpPr>
              <p:nvPr/>
            </p:nvSpPr>
            <p:spPr bwMode="auto">
              <a:xfrm>
                <a:off x="4800" y="3552"/>
                <a:ext cx="96" cy="96"/>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400"/>
              </a:p>
            </p:txBody>
          </p:sp>
          <p:sp>
            <p:nvSpPr>
              <p:cNvPr id="15646" name="Oval 3113">
                <a:extLst>
                  <a:ext uri="{FF2B5EF4-FFF2-40B4-BE49-F238E27FC236}">
                    <a16:creationId xmlns:a16="http://schemas.microsoft.com/office/drawing/2014/main" id="{D060DE39-ACF5-4E83-9A17-7D0861C682E9}"/>
                  </a:ext>
                </a:extLst>
              </p:cNvPr>
              <p:cNvSpPr>
                <a:spLocks noChangeArrowheads="1"/>
              </p:cNvSpPr>
              <p:nvPr/>
            </p:nvSpPr>
            <p:spPr bwMode="auto">
              <a:xfrm>
                <a:off x="4992" y="3552"/>
                <a:ext cx="96" cy="96"/>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400"/>
              </a:p>
            </p:txBody>
          </p:sp>
          <p:sp>
            <p:nvSpPr>
              <p:cNvPr id="15647" name="Oval 3114">
                <a:extLst>
                  <a:ext uri="{FF2B5EF4-FFF2-40B4-BE49-F238E27FC236}">
                    <a16:creationId xmlns:a16="http://schemas.microsoft.com/office/drawing/2014/main" id="{44EDAD35-38F0-4A7A-95FC-F0CAAAFFC3D2}"/>
                  </a:ext>
                </a:extLst>
              </p:cNvPr>
              <p:cNvSpPr>
                <a:spLocks noChangeArrowheads="1"/>
              </p:cNvSpPr>
              <p:nvPr/>
            </p:nvSpPr>
            <p:spPr bwMode="auto">
              <a:xfrm>
                <a:off x="5184" y="3552"/>
                <a:ext cx="96" cy="96"/>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400"/>
              </a:p>
            </p:txBody>
          </p:sp>
        </p:grpSp>
        <p:grpSp>
          <p:nvGrpSpPr>
            <p:cNvPr id="15630" name="Group 3115">
              <a:extLst>
                <a:ext uri="{FF2B5EF4-FFF2-40B4-BE49-F238E27FC236}">
                  <a16:creationId xmlns:a16="http://schemas.microsoft.com/office/drawing/2014/main" id="{55DE46BC-E7CB-46FC-B3E1-3385A095B447}"/>
                </a:ext>
              </a:extLst>
            </p:cNvPr>
            <p:cNvGrpSpPr>
              <a:grpSpLocks/>
            </p:cNvGrpSpPr>
            <p:nvPr/>
          </p:nvGrpSpPr>
          <p:grpSpPr bwMode="auto">
            <a:xfrm>
              <a:off x="6548438" y="4714875"/>
              <a:ext cx="1182687" cy="180975"/>
              <a:chOff x="4608" y="3456"/>
              <a:chExt cx="672" cy="96"/>
            </a:xfrm>
          </p:grpSpPr>
          <p:sp>
            <p:nvSpPr>
              <p:cNvPr id="15636" name="Oval 3116">
                <a:extLst>
                  <a:ext uri="{FF2B5EF4-FFF2-40B4-BE49-F238E27FC236}">
                    <a16:creationId xmlns:a16="http://schemas.microsoft.com/office/drawing/2014/main" id="{54E91D53-953B-4F54-8188-961A67B936A8}"/>
                  </a:ext>
                </a:extLst>
              </p:cNvPr>
              <p:cNvSpPr>
                <a:spLocks noChangeArrowheads="1"/>
              </p:cNvSpPr>
              <p:nvPr/>
            </p:nvSpPr>
            <p:spPr bwMode="auto">
              <a:xfrm>
                <a:off x="4608" y="3456"/>
                <a:ext cx="96" cy="96"/>
              </a:xfrm>
              <a:prstGeom prst="ellipse">
                <a:avLst/>
              </a:prstGeom>
              <a:solidFill>
                <a:srgbClr val="C0C0C0"/>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400"/>
              </a:p>
            </p:txBody>
          </p:sp>
          <p:sp>
            <p:nvSpPr>
              <p:cNvPr id="15637" name="Oval 3117">
                <a:extLst>
                  <a:ext uri="{FF2B5EF4-FFF2-40B4-BE49-F238E27FC236}">
                    <a16:creationId xmlns:a16="http://schemas.microsoft.com/office/drawing/2014/main" id="{E9283372-0D80-4F71-881E-A4BB1E3FAD80}"/>
                  </a:ext>
                </a:extLst>
              </p:cNvPr>
              <p:cNvSpPr>
                <a:spLocks noChangeArrowheads="1"/>
              </p:cNvSpPr>
              <p:nvPr/>
            </p:nvSpPr>
            <p:spPr bwMode="auto">
              <a:xfrm>
                <a:off x="4800" y="3456"/>
                <a:ext cx="96" cy="96"/>
              </a:xfrm>
              <a:prstGeom prst="ellipse">
                <a:avLst/>
              </a:prstGeom>
              <a:solidFill>
                <a:srgbClr val="C0C0C0"/>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400"/>
              </a:p>
            </p:txBody>
          </p:sp>
          <p:sp>
            <p:nvSpPr>
              <p:cNvPr id="15638" name="Oval 3118">
                <a:extLst>
                  <a:ext uri="{FF2B5EF4-FFF2-40B4-BE49-F238E27FC236}">
                    <a16:creationId xmlns:a16="http://schemas.microsoft.com/office/drawing/2014/main" id="{ABF36680-7C46-424D-8CC7-B64C7F3AFCE9}"/>
                  </a:ext>
                </a:extLst>
              </p:cNvPr>
              <p:cNvSpPr>
                <a:spLocks noChangeArrowheads="1"/>
              </p:cNvSpPr>
              <p:nvPr/>
            </p:nvSpPr>
            <p:spPr bwMode="auto">
              <a:xfrm>
                <a:off x="4992" y="3456"/>
                <a:ext cx="96" cy="96"/>
              </a:xfrm>
              <a:prstGeom prst="ellipse">
                <a:avLst/>
              </a:prstGeom>
              <a:solidFill>
                <a:srgbClr val="C0C0C0"/>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400"/>
              </a:p>
            </p:txBody>
          </p:sp>
          <p:sp>
            <p:nvSpPr>
              <p:cNvPr id="15639" name="Oval 3119">
                <a:extLst>
                  <a:ext uri="{FF2B5EF4-FFF2-40B4-BE49-F238E27FC236}">
                    <a16:creationId xmlns:a16="http://schemas.microsoft.com/office/drawing/2014/main" id="{D5194C00-C792-4F49-8F68-94BB906FE0E8}"/>
                  </a:ext>
                </a:extLst>
              </p:cNvPr>
              <p:cNvSpPr>
                <a:spLocks noChangeArrowheads="1"/>
              </p:cNvSpPr>
              <p:nvPr/>
            </p:nvSpPr>
            <p:spPr bwMode="auto">
              <a:xfrm>
                <a:off x="5184" y="3456"/>
                <a:ext cx="96" cy="96"/>
              </a:xfrm>
              <a:prstGeom prst="ellipse">
                <a:avLst/>
              </a:prstGeom>
              <a:solidFill>
                <a:srgbClr val="C0C0C0"/>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400"/>
              </a:p>
            </p:txBody>
          </p:sp>
        </p:grpSp>
        <p:grpSp>
          <p:nvGrpSpPr>
            <p:cNvPr id="15631" name="Group 3120">
              <a:extLst>
                <a:ext uri="{FF2B5EF4-FFF2-40B4-BE49-F238E27FC236}">
                  <a16:creationId xmlns:a16="http://schemas.microsoft.com/office/drawing/2014/main" id="{1A6A7D5F-7BBA-4F78-BA3E-BFD276146934}"/>
                </a:ext>
              </a:extLst>
            </p:cNvPr>
            <p:cNvGrpSpPr>
              <a:grpSpLocks/>
            </p:cNvGrpSpPr>
            <p:nvPr/>
          </p:nvGrpSpPr>
          <p:grpSpPr bwMode="auto">
            <a:xfrm>
              <a:off x="6634163" y="5075238"/>
              <a:ext cx="1012825" cy="450850"/>
              <a:chOff x="4656" y="4080"/>
              <a:chExt cx="576" cy="240"/>
            </a:xfrm>
          </p:grpSpPr>
          <p:sp>
            <p:nvSpPr>
              <p:cNvPr id="15632" name="Line 3121">
                <a:extLst>
                  <a:ext uri="{FF2B5EF4-FFF2-40B4-BE49-F238E27FC236}">
                    <a16:creationId xmlns:a16="http://schemas.microsoft.com/office/drawing/2014/main" id="{40F5F2EB-766A-4226-93A7-7B575FBA43D4}"/>
                  </a:ext>
                </a:extLst>
              </p:cNvPr>
              <p:cNvSpPr>
                <a:spLocks noChangeShapeType="1"/>
              </p:cNvSpPr>
              <p:nvPr/>
            </p:nvSpPr>
            <p:spPr bwMode="auto">
              <a:xfrm rot="10800000" flipV="1">
                <a:off x="4656" y="4080"/>
                <a:ext cx="0" cy="240"/>
              </a:xfrm>
              <a:prstGeom prst="line">
                <a:avLst/>
              </a:prstGeom>
              <a:noFill/>
              <a:ln w="28575">
                <a:solidFill>
                  <a:srgbClr val="FF33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633" name="Line 3122">
                <a:extLst>
                  <a:ext uri="{FF2B5EF4-FFF2-40B4-BE49-F238E27FC236}">
                    <a16:creationId xmlns:a16="http://schemas.microsoft.com/office/drawing/2014/main" id="{A33D79AD-BE92-4311-8BC6-8756B3F4A0CD}"/>
                  </a:ext>
                </a:extLst>
              </p:cNvPr>
              <p:cNvSpPr>
                <a:spLocks noChangeShapeType="1"/>
              </p:cNvSpPr>
              <p:nvPr/>
            </p:nvSpPr>
            <p:spPr bwMode="auto">
              <a:xfrm rot="10800000" flipV="1">
                <a:off x="4848" y="4080"/>
                <a:ext cx="0" cy="240"/>
              </a:xfrm>
              <a:prstGeom prst="line">
                <a:avLst/>
              </a:prstGeom>
              <a:noFill/>
              <a:ln w="28575">
                <a:solidFill>
                  <a:srgbClr val="FF33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634" name="Line 3123">
                <a:extLst>
                  <a:ext uri="{FF2B5EF4-FFF2-40B4-BE49-F238E27FC236}">
                    <a16:creationId xmlns:a16="http://schemas.microsoft.com/office/drawing/2014/main" id="{25E095E5-7E92-4D19-9D7B-11A3415D64C0}"/>
                  </a:ext>
                </a:extLst>
              </p:cNvPr>
              <p:cNvSpPr>
                <a:spLocks noChangeShapeType="1"/>
              </p:cNvSpPr>
              <p:nvPr/>
            </p:nvSpPr>
            <p:spPr bwMode="auto">
              <a:xfrm rot="10800000" flipV="1">
                <a:off x="5040" y="4080"/>
                <a:ext cx="0" cy="240"/>
              </a:xfrm>
              <a:prstGeom prst="line">
                <a:avLst/>
              </a:prstGeom>
              <a:noFill/>
              <a:ln w="28575">
                <a:solidFill>
                  <a:srgbClr val="FF33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635" name="Line 3124">
                <a:extLst>
                  <a:ext uri="{FF2B5EF4-FFF2-40B4-BE49-F238E27FC236}">
                    <a16:creationId xmlns:a16="http://schemas.microsoft.com/office/drawing/2014/main" id="{B2FCB13B-F8CC-4223-BA74-21CA216A474C}"/>
                  </a:ext>
                </a:extLst>
              </p:cNvPr>
              <p:cNvSpPr>
                <a:spLocks noChangeShapeType="1"/>
              </p:cNvSpPr>
              <p:nvPr/>
            </p:nvSpPr>
            <p:spPr bwMode="auto">
              <a:xfrm rot="10800000" flipV="1">
                <a:off x="5232" y="4080"/>
                <a:ext cx="0" cy="240"/>
              </a:xfrm>
              <a:prstGeom prst="line">
                <a:avLst/>
              </a:prstGeom>
              <a:noFill/>
              <a:ln w="28575">
                <a:solidFill>
                  <a:srgbClr val="FF33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sp>
        <p:nvSpPr>
          <p:cNvPr id="192" name="矩形 191">
            <a:extLst>
              <a:ext uri="{FF2B5EF4-FFF2-40B4-BE49-F238E27FC236}">
                <a16:creationId xmlns:a16="http://schemas.microsoft.com/office/drawing/2014/main" id="{879B648E-4F66-4558-AE23-10CE2ACFBB3B}"/>
              </a:ext>
            </a:extLst>
          </p:cNvPr>
          <p:cNvSpPr>
            <a:spLocks noChangeArrowheads="1"/>
          </p:cNvSpPr>
          <p:nvPr/>
        </p:nvSpPr>
        <p:spPr bwMode="auto">
          <a:xfrm>
            <a:off x="147638" y="4308475"/>
            <a:ext cx="12509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 typeface="Wingdings" panose="05000000000000000000" pitchFamily="2" charset="2"/>
              <a:buChar char="Ø"/>
            </a:pPr>
            <a:r>
              <a:rPr kumimoji="1" lang="en-US" altLang="zh-CN" sz="2400" b="1">
                <a:latin typeface="Times New Roman" panose="02020603050405020304" pitchFamily="18" charset="0"/>
                <a:ea typeface="楷体_GB2312"/>
                <a:cs typeface="楷体_GB2312"/>
              </a:rPr>
              <a:t>PN</a:t>
            </a:r>
            <a:r>
              <a:rPr kumimoji="1" lang="zh-CN" altLang="en-US" sz="2400" b="1">
                <a:latin typeface="Times New Roman" panose="02020603050405020304" pitchFamily="18" charset="0"/>
                <a:ea typeface="楷体_GB2312"/>
                <a:cs typeface="楷体_GB2312"/>
              </a:rPr>
              <a:t>结</a:t>
            </a:r>
          </a:p>
        </p:txBody>
      </p:sp>
      <p:grpSp>
        <p:nvGrpSpPr>
          <p:cNvPr id="193" name="Group 8">
            <a:extLst>
              <a:ext uri="{FF2B5EF4-FFF2-40B4-BE49-F238E27FC236}">
                <a16:creationId xmlns:a16="http://schemas.microsoft.com/office/drawing/2014/main" id="{C8B1D38C-4B07-4B17-9015-963084DBD96A}"/>
              </a:ext>
            </a:extLst>
          </p:cNvPr>
          <p:cNvGrpSpPr>
            <a:grpSpLocks/>
          </p:cNvGrpSpPr>
          <p:nvPr/>
        </p:nvGrpSpPr>
        <p:grpSpPr bwMode="auto">
          <a:xfrm>
            <a:off x="328613" y="4768850"/>
            <a:ext cx="3024187" cy="1524000"/>
            <a:chOff x="3360" y="293"/>
            <a:chExt cx="2304" cy="1147"/>
          </a:xfrm>
        </p:grpSpPr>
        <p:sp>
          <p:nvSpPr>
            <p:cNvPr id="15504" name="Rectangle 9">
              <a:extLst>
                <a:ext uri="{FF2B5EF4-FFF2-40B4-BE49-F238E27FC236}">
                  <a16:creationId xmlns:a16="http://schemas.microsoft.com/office/drawing/2014/main" id="{1EA70E77-5D94-435D-8BA5-1C71A058C42E}"/>
                </a:ext>
              </a:extLst>
            </p:cNvPr>
            <p:cNvSpPr>
              <a:spLocks noChangeArrowheads="1"/>
            </p:cNvSpPr>
            <p:nvPr/>
          </p:nvSpPr>
          <p:spPr bwMode="auto">
            <a:xfrm>
              <a:off x="3360" y="672"/>
              <a:ext cx="2304" cy="768"/>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en-US" sz="2800">
                <a:latin typeface="Times New Roman" panose="02020603050405020304" pitchFamily="18" charset="0"/>
              </a:endParaRPr>
            </a:p>
          </p:txBody>
        </p:sp>
        <p:sp>
          <p:nvSpPr>
            <p:cNvPr id="15505" name="Line 10">
              <a:extLst>
                <a:ext uri="{FF2B5EF4-FFF2-40B4-BE49-F238E27FC236}">
                  <a16:creationId xmlns:a16="http://schemas.microsoft.com/office/drawing/2014/main" id="{2B14380A-52F3-4E40-9AB8-3BE96A219304}"/>
                </a:ext>
              </a:extLst>
            </p:cNvPr>
            <p:cNvSpPr>
              <a:spLocks noChangeShapeType="1"/>
            </p:cNvSpPr>
            <p:nvPr/>
          </p:nvSpPr>
          <p:spPr bwMode="auto">
            <a:xfrm flipH="1">
              <a:off x="4464" y="672"/>
              <a:ext cx="0" cy="768"/>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506" name="Line 11">
              <a:extLst>
                <a:ext uri="{FF2B5EF4-FFF2-40B4-BE49-F238E27FC236}">
                  <a16:creationId xmlns:a16="http://schemas.microsoft.com/office/drawing/2014/main" id="{BB9BC971-F3E5-471E-A553-389A20EBA8E6}"/>
                </a:ext>
              </a:extLst>
            </p:cNvPr>
            <p:cNvSpPr>
              <a:spLocks noChangeShapeType="1"/>
            </p:cNvSpPr>
            <p:nvPr/>
          </p:nvSpPr>
          <p:spPr bwMode="auto">
            <a:xfrm flipH="1" flipV="1">
              <a:off x="4368" y="720"/>
              <a:ext cx="144" cy="48"/>
            </a:xfrm>
            <a:prstGeom prst="line">
              <a:avLst/>
            </a:prstGeom>
            <a:noFill/>
            <a:ln w="28575">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507" name="Line 12">
              <a:extLst>
                <a:ext uri="{FF2B5EF4-FFF2-40B4-BE49-F238E27FC236}">
                  <a16:creationId xmlns:a16="http://schemas.microsoft.com/office/drawing/2014/main" id="{B87B74B6-8EDE-4DD8-B047-C84979149AC8}"/>
                </a:ext>
              </a:extLst>
            </p:cNvPr>
            <p:cNvSpPr>
              <a:spLocks noChangeShapeType="1"/>
            </p:cNvSpPr>
            <p:nvPr/>
          </p:nvSpPr>
          <p:spPr bwMode="auto">
            <a:xfrm flipH="1" flipV="1">
              <a:off x="4368" y="1056"/>
              <a:ext cx="144" cy="48"/>
            </a:xfrm>
            <a:prstGeom prst="line">
              <a:avLst/>
            </a:prstGeom>
            <a:noFill/>
            <a:ln w="28575">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508" name="Line 13">
              <a:extLst>
                <a:ext uri="{FF2B5EF4-FFF2-40B4-BE49-F238E27FC236}">
                  <a16:creationId xmlns:a16="http://schemas.microsoft.com/office/drawing/2014/main" id="{5DC3D79F-5D2E-4870-B90B-83C7730151AE}"/>
                </a:ext>
              </a:extLst>
            </p:cNvPr>
            <p:cNvSpPr>
              <a:spLocks noChangeShapeType="1"/>
            </p:cNvSpPr>
            <p:nvPr/>
          </p:nvSpPr>
          <p:spPr bwMode="auto">
            <a:xfrm flipH="1" flipV="1">
              <a:off x="4368" y="912"/>
              <a:ext cx="192" cy="0"/>
            </a:xfrm>
            <a:prstGeom prst="line">
              <a:avLst/>
            </a:prstGeom>
            <a:noFill/>
            <a:ln w="28575">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509" name="Line 14">
              <a:extLst>
                <a:ext uri="{FF2B5EF4-FFF2-40B4-BE49-F238E27FC236}">
                  <a16:creationId xmlns:a16="http://schemas.microsoft.com/office/drawing/2014/main" id="{64BECDC7-5F89-4D27-8989-03AFAE07009F}"/>
                </a:ext>
              </a:extLst>
            </p:cNvPr>
            <p:cNvSpPr>
              <a:spLocks noChangeShapeType="1"/>
            </p:cNvSpPr>
            <p:nvPr/>
          </p:nvSpPr>
          <p:spPr bwMode="auto">
            <a:xfrm flipH="1">
              <a:off x="4416" y="1248"/>
              <a:ext cx="144" cy="48"/>
            </a:xfrm>
            <a:prstGeom prst="line">
              <a:avLst/>
            </a:prstGeom>
            <a:noFill/>
            <a:ln w="28575">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510" name="Line 15">
              <a:extLst>
                <a:ext uri="{FF2B5EF4-FFF2-40B4-BE49-F238E27FC236}">
                  <a16:creationId xmlns:a16="http://schemas.microsoft.com/office/drawing/2014/main" id="{E3FBF3FA-19F7-44E6-B6AB-8733B4125877}"/>
                </a:ext>
              </a:extLst>
            </p:cNvPr>
            <p:cNvSpPr>
              <a:spLocks noChangeShapeType="1"/>
            </p:cNvSpPr>
            <p:nvPr/>
          </p:nvSpPr>
          <p:spPr bwMode="auto">
            <a:xfrm>
              <a:off x="4416" y="1344"/>
              <a:ext cx="192" cy="48"/>
            </a:xfrm>
            <a:prstGeom prst="line">
              <a:avLst/>
            </a:prstGeom>
            <a:noFill/>
            <a:ln w="28575">
              <a:solidFill>
                <a:srgbClr val="0000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511" name="Line 16">
              <a:extLst>
                <a:ext uri="{FF2B5EF4-FFF2-40B4-BE49-F238E27FC236}">
                  <a16:creationId xmlns:a16="http://schemas.microsoft.com/office/drawing/2014/main" id="{22D4E41B-A7C2-4686-BD11-9839EFB1E261}"/>
                </a:ext>
              </a:extLst>
            </p:cNvPr>
            <p:cNvSpPr>
              <a:spLocks noChangeShapeType="1"/>
            </p:cNvSpPr>
            <p:nvPr/>
          </p:nvSpPr>
          <p:spPr bwMode="auto">
            <a:xfrm>
              <a:off x="4368" y="1200"/>
              <a:ext cx="192" cy="0"/>
            </a:xfrm>
            <a:prstGeom prst="line">
              <a:avLst/>
            </a:prstGeom>
            <a:noFill/>
            <a:ln w="28575">
              <a:solidFill>
                <a:srgbClr val="0000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512" name="Line 17">
              <a:extLst>
                <a:ext uri="{FF2B5EF4-FFF2-40B4-BE49-F238E27FC236}">
                  <a16:creationId xmlns:a16="http://schemas.microsoft.com/office/drawing/2014/main" id="{3C9C6011-4D1B-427F-BA14-5DF018D373DD}"/>
                </a:ext>
              </a:extLst>
            </p:cNvPr>
            <p:cNvSpPr>
              <a:spLocks noChangeShapeType="1"/>
            </p:cNvSpPr>
            <p:nvPr/>
          </p:nvSpPr>
          <p:spPr bwMode="auto">
            <a:xfrm>
              <a:off x="4416" y="960"/>
              <a:ext cx="144" cy="48"/>
            </a:xfrm>
            <a:prstGeom prst="line">
              <a:avLst/>
            </a:prstGeom>
            <a:noFill/>
            <a:ln w="28575">
              <a:solidFill>
                <a:srgbClr val="0000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513" name="Line 18">
              <a:extLst>
                <a:ext uri="{FF2B5EF4-FFF2-40B4-BE49-F238E27FC236}">
                  <a16:creationId xmlns:a16="http://schemas.microsoft.com/office/drawing/2014/main" id="{65D6089D-A768-4A8D-A30A-F2E0E75FEC19}"/>
                </a:ext>
              </a:extLst>
            </p:cNvPr>
            <p:cNvSpPr>
              <a:spLocks noChangeShapeType="1"/>
            </p:cNvSpPr>
            <p:nvPr/>
          </p:nvSpPr>
          <p:spPr bwMode="auto">
            <a:xfrm>
              <a:off x="4368" y="768"/>
              <a:ext cx="192" cy="48"/>
            </a:xfrm>
            <a:prstGeom prst="line">
              <a:avLst/>
            </a:prstGeom>
            <a:noFill/>
            <a:ln w="28575">
              <a:solidFill>
                <a:srgbClr val="0000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514" name="Text Box 19">
              <a:extLst>
                <a:ext uri="{FF2B5EF4-FFF2-40B4-BE49-F238E27FC236}">
                  <a16:creationId xmlns:a16="http://schemas.microsoft.com/office/drawing/2014/main" id="{18A34817-38AE-4362-ACBB-A5276350952B}"/>
                </a:ext>
              </a:extLst>
            </p:cNvPr>
            <p:cNvSpPr txBox="1">
              <a:spLocks noChangeArrowheads="1"/>
            </p:cNvSpPr>
            <p:nvPr/>
          </p:nvSpPr>
          <p:spPr bwMode="auto">
            <a:xfrm>
              <a:off x="4650" y="322"/>
              <a:ext cx="612" cy="3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0"/>
                </a:spcBef>
                <a:buFontTx/>
                <a:buNone/>
              </a:pPr>
              <a:r>
                <a:rPr kumimoji="1" lang="en-US" altLang="zh-CN" sz="2800">
                  <a:latin typeface="Times New Roman" panose="02020603050405020304" pitchFamily="18" charset="0"/>
                </a:rPr>
                <a:t>N</a:t>
              </a:r>
              <a:r>
                <a:rPr kumimoji="1" lang="zh-CN" altLang="zh-CN" sz="2800">
                  <a:latin typeface="Times New Roman" panose="02020603050405020304" pitchFamily="18" charset="0"/>
                </a:rPr>
                <a:t>型</a:t>
              </a:r>
              <a:endParaRPr kumimoji="1" lang="zh-CN" altLang="en-US" sz="2800">
                <a:latin typeface="Times New Roman" panose="02020603050405020304" pitchFamily="18" charset="0"/>
              </a:endParaRPr>
            </a:p>
          </p:txBody>
        </p:sp>
        <p:sp>
          <p:nvSpPr>
            <p:cNvPr id="15515" name="Text Box 20">
              <a:extLst>
                <a:ext uri="{FF2B5EF4-FFF2-40B4-BE49-F238E27FC236}">
                  <a16:creationId xmlns:a16="http://schemas.microsoft.com/office/drawing/2014/main" id="{F77F006A-37D8-412C-943C-4C1CF03DA812}"/>
                </a:ext>
              </a:extLst>
            </p:cNvPr>
            <p:cNvSpPr txBox="1">
              <a:spLocks noChangeArrowheads="1"/>
            </p:cNvSpPr>
            <p:nvPr/>
          </p:nvSpPr>
          <p:spPr bwMode="auto">
            <a:xfrm>
              <a:off x="3630" y="293"/>
              <a:ext cx="567" cy="3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a:latin typeface="Times New Roman" panose="02020603050405020304" pitchFamily="18" charset="0"/>
                </a:rPr>
                <a:t>P</a:t>
              </a:r>
              <a:r>
                <a:rPr kumimoji="1" lang="zh-CN" altLang="en-US" sz="2800">
                  <a:latin typeface="Times New Roman" panose="02020603050405020304" pitchFamily="18" charset="0"/>
                </a:rPr>
                <a:t>型</a:t>
              </a:r>
            </a:p>
          </p:txBody>
        </p:sp>
        <p:grpSp>
          <p:nvGrpSpPr>
            <p:cNvPr id="15516" name="Group 21">
              <a:extLst>
                <a:ext uri="{FF2B5EF4-FFF2-40B4-BE49-F238E27FC236}">
                  <a16:creationId xmlns:a16="http://schemas.microsoft.com/office/drawing/2014/main" id="{FC722BC6-9AE3-4A51-B8AF-6B7472A5D576}"/>
                </a:ext>
              </a:extLst>
            </p:cNvPr>
            <p:cNvGrpSpPr>
              <a:grpSpLocks/>
            </p:cNvGrpSpPr>
            <p:nvPr/>
          </p:nvGrpSpPr>
          <p:grpSpPr bwMode="auto">
            <a:xfrm>
              <a:off x="3408" y="720"/>
              <a:ext cx="1008" cy="672"/>
              <a:chOff x="3072" y="1152"/>
              <a:chExt cx="1008" cy="672"/>
            </a:xfrm>
          </p:grpSpPr>
          <p:sp>
            <p:nvSpPr>
              <p:cNvPr id="15552" name="Oval 22">
                <a:extLst>
                  <a:ext uri="{FF2B5EF4-FFF2-40B4-BE49-F238E27FC236}">
                    <a16:creationId xmlns:a16="http://schemas.microsoft.com/office/drawing/2014/main" id="{86DB94AD-CCDD-4605-B4D1-8CFC7CC3B82F}"/>
                  </a:ext>
                </a:extLst>
              </p:cNvPr>
              <p:cNvSpPr>
                <a:spLocks noChangeArrowheads="1"/>
              </p:cNvSpPr>
              <p:nvPr/>
            </p:nvSpPr>
            <p:spPr bwMode="auto">
              <a:xfrm>
                <a:off x="3504" y="1632"/>
                <a:ext cx="96" cy="9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en-US" sz="2800">
                  <a:latin typeface="Times New Roman" panose="02020603050405020304" pitchFamily="18" charset="0"/>
                </a:endParaRPr>
              </a:p>
            </p:txBody>
          </p:sp>
          <p:sp>
            <p:nvSpPr>
              <p:cNvPr id="15553" name="Oval 23">
                <a:extLst>
                  <a:ext uri="{FF2B5EF4-FFF2-40B4-BE49-F238E27FC236}">
                    <a16:creationId xmlns:a16="http://schemas.microsoft.com/office/drawing/2014/main" id="{38B2DE0A-81F8-4AB4-BAE7-A7EEC0556628}"/>
                  </a:ext>
                </a:extLst>
              </p:cNvPr>
              <p:cNvSpPr>
                <a:spLocks noChangeArrowheads="1"/>
              </p:cNvSpPr>
              <p:nvPr/>
            </p:nvSpPr>
            <p:spPr bwMode="auto">
              <a:xfrm>
                <a:off x="3312" y="1488"/>
                <a:ext cx="96" cy="9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en-US" sz="2800">
                  <a:latin typeface="Times New Roman" panose="02020603050405020304" pitchFamily="18" charset="0"/>
                </a:endParaRPr>
              </a:p>
            </p:txBody>
          </p:sp>
          <p:sp>
            <p:nvSpPr>
              <p:cNvPr id="15554" name="Oval 24">
                <a:extLst>
                  <a:ext uri="{FF2B5EF4-FFF2-40B4-BE49-F238E27FC236}">
                    <a16:creationId xmlns:a16="http://schemas.microsoft.com/office/drawing/2014/main" id="{C5B12ADD-3BDC-4EFF-8C32-B6644DAB26EE}"/>
                  </a:ext>
                </a:extLst>
              </p:cNvPr>
              <p:cNvSpPr>
                <a:spLocks noChangeArrowheads="1"/>
              </p:cNvSpPr>
              <p:nvPr/>
            </p:nvSpPr>
            <p:spPr bwMode="auto">
              <a:xfrm>
                <a:off x="3120" y="1536"/>
                <a:ext cx="96" cy="9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en-US" sz="2800">
                  <a:latin typeface="Times New Roman" panose="02020603050405020304" pitchFamily="18" charset="0"/>
                </a:endParaRPr>
              </a:p>
            </p:txBody>
          </p:sp>
          <p:sp>
            <p:nvSpPr>
              <p:cNvPr id="15555" name="Oval 25">
                <a:extLst>
                  <a:ext uri="{FF2B5EF4-FFF2-40B4-BE49-F238E27FC236}">
                    <a16:creationId xmlns:a16="http://schemas.microsoft.com/office/drawing/2014/main" id="{D3D0C6F2-A09C-4430-83F1-E8BBA1E00759}"/>
                  </a:ext>
                </a:extLst>
              </p:cNvPr>
              <p:cNvSpPr>
                <a:spLocks noChangeArrowheads="1"/>
              </p:cNvSpPr>
              <p:nvPr/>
            </p:nvSpPr>
            <p:spPr bwMode="auto">
              <a:xfrm>
                <a:off x="3168" y="1680"/>
                <a:ext cx="96" cy="9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en-US" sz="2800">
                  <a:latin typeface="Times New Roman" panose="02020603050405020304" pitchFamily="18" charset="0"/>
                </a:endParaRPr>
              </a:p>
            </p:txBody>
          </p:sp>
          <p:sp>
            <p:nvSpPr>
              <p:cNvPr id="15556" name="Oval 26">
                <a:extLst>
                  <a:ext uri="{FF2B5EF4-FFF2-40B4-BE49-F238E27FC236}">
                    <a16:creationId xmlns:a16="http://schemas.microsoft.com/office/drawing/2014/main" id="{9535A00B-AAF8-4724-A60F-D9CD6F75F6AB}"/>
                  </a:ext>
                </a:extLst>
              </p:cNvPr>
              <p:cNvSpPr>
                <a:spLocks noChangeArrowheads="1"/>
              </p:cNvSpPr>
              <p:nvPr/>
            </p:nvSpPr>
            <p:spPr bwMode="auto">
              <a:xfrm>
                <a:off x="3264" y="1296"/>
                <a:ext cx="96" cy="9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en-US" sz="2800">
                  <a:latin typeface="Times New Roman" panose="02020603050405020304" pitchFamily="18" charset="0"/>
                </a:endParaRPr>
              </a:p>
            </p:txBody>
          </p:sp>
          <p:sp>
            <p:nvSpPr>
              <p:cNvPr id="15557" name="Oval 27">
                <a:extLst>
                  <a:ext uri="{FF2B5EF4-FFF2-40B4-BE49-F238E27FC236}">
                    <a16:creationId xmlns:a16="http://schemas.microsoft.com/office/drawing/2014/main" id="{44F2F113-5689-4FF6-8C4A-42F20F4F24B3}"/>
                  </a:ext>
                </a:extLst>
              </p:cNvPr>
              <p:cNvSpPr>
                <a:spLocks noChangeArrowheads="1"/>
              </p:cNvSpPr>
              <p:nvPr/>
            </p:nvSpPr>
            <p:spPr bwMode="auto">
              <a:xfrm>
                <a:off x="3072" y="1248"/>
                <a:ext cx="96" cy="9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en-US" sz="2800">
                  <a:latin typeface="Times New Roman" panose="02020603050405020304" pitchFamily="18" charset="0"/>
                </a:endParaRPr>
              </a:p>
            </p:txBody>
          </p:sp>
          <p:sp>
            <p:nvSpPr>
              <p:cNvPr id="15558" name="Oval 28">
                <a:extLst>
                  <a:ext uri="{FF2B5EF4-FFF2-40B4-BE49-F238E27FC236}">
                    <a16:creationId xmlns:a16="http://schemas.microsoft.com/office/drawing/2014/main" id="{FE187BC9-EAAC-4161-9418-36632E9779FF}"/>
                  </a:ext>
                </a:extLst>
              </p:cNvPr>
              <p:cNvSpPr>
                <a:spLocks noChangeArrowheads="1"/>
              </p:cNvSpPr>
              <p:nvPr/>
            </p:nvSpPr>
            <p:spPr bwMode="auto">
              <a:xfrm>
                <a:off x="3696" y="1488"/>
                <a:ext cx="96" cy="9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en-US" sz="2800">
                  <a:latin typeface="Times New Roman" panose="02020603050405020304" pitchFamily="18" charset="0"/>
                </a:endParaRPr>
              </a:p>
            </p:txBody>
          </p:sp>
          <p:sp>
            <p:nvSpPr>
              <p:cNvPr id="15559" name="Oval 29">
                <a:extLst>
                  <a:ext uri="{FF2B5EF4-FFF2-40B4-BE49-F238E27FC236}">
                    <a16:creationId xmlns:a16="http://schemas.microsoft.com/office/drawing/2014/main" id="{0CCE151B-8606-4275-8E23-858C5FE4E753}"/>
                  </a:ext>
                </a:extLst>
              </p:cNvPr>
              <p:cNvSpPr>
                <a:spLocks noChangeArrowheads="1"/>
              </p:cNvSpPr>
              <p:nvPr/>
            </p:nvSpPr>
            <p:spPr bwMode="auto">
              <a:xfrm>
                <a:off x="3552" y="1440"/>
                <a:ext cx="96" cy="9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en-US" sz="2800">
                  <a:latin typeface="Times New Roman" panose="02020603050405020304" pitchFamily="18" charset="0"/>
                </a:endParaRPr>
              </a:p>
            </p:txBody>
          </p:sp>
          <p:sp>
            <p:nvSpPr>
              <p:cNvPr id="15560" name="Oval 30">
                <a:extLst>
                  <a:ext uri="{FF2B5EF4-FFF2-40B4-BE49-F238E27FC236}">
                    <a16:creationId xmlns:a16="http://schemas.microsoft.com/office/drawing/2014/main" id="{4533D95A-88FC-48DF-90D0-55E8D8F56BA8}"/>
                  </a:ext>
                </a:extLst>
              </p:cNvPr>
              <p:cNvSpPr>
                <a:spLocks noChangeArrowheads="1"/>
              </p:cNvSpPr>
              <p:nvPr/>
            </p:nvSpPr>
            <p:spPr bwMode="auto">
              <a:xfrm>
                <a:off x="3408" y="1200"/>
                <a:ext cx="96" cy="9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en-US" sz="2800">
                  <a:latin typeface="Times New Roman" panose="02020603050405020304" pitchFamily="18" charset="0"/>
                </a:endParaRPr>
              </a:p>
            </p:txBody>
          </p:sp>
          <p:sp>
            <p:nvSpPr>
              <p:cNvPr id="15561" name="Oval 31">
                <a:extLst>
                  <a:ext uri="{FF2B5EF4-FFF2-40B4-BE49-F238E27FC236}">
                    <a16:creationId xmlns:a16="http://schemas.microsoft.com/office/drawing/2014/main" id="{E1970034-3113-4244-ACCF-A4890407F247}"/>
                  </a:ext>
                </a:extLst>
              </p:cNvPr>
              <p:cNvSpPr>
                <a:spLocks noChangeArrowheads="1"/>
              </p:cNvSpPr>
              <p:nvPr/>
            </p:nvSpPr>
            <p:spPr bwMode="auto">
              <a:xfrm>
                <a:off x="3360" y="1632"/>
                <a:ext cx="96" cy="9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en-US" sz="2800">
                  <a:latin typeface="Times New Roman" panose="02020603050405020304" pitchFamily="18" charset="0"/>
                </a:endParaRPr>
              </a:p>
            </p:txBody>
          </p:sp>
          <p:sp>
            <p:nvSpPr>
              <p:cNvPr id="15562" name="Oval 32">
                <a:extLst>
                  <a:ext uri="{FF2B5EF4-FFF2-40B4-BE49-F238E27FC236}">
                    <a16:creationId xmlns:a16="http://schemas.microsoft.com/office/drawing/2014/main" id="{A58843C0-0EC9-4DE8-89DD-6EA2B5C9141D}"/>
                  </a:ext>
                </a:extLst>
              </p:cNvPr>
              <p:cNvSpPr>
                <a:spLocks noChangeArrowheads="1"/>
              </p:cNvSpPr>
              <p:nvPr/>
            </p:nvSpPr>
            <p:spPr bwMode="auto">
              <a:xfrm>
                <a:off x="3600" y="1248"/>
                <a:ext cx="96" cy="9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en-US" sz="2800">
                  <a:latin typeface="Times New Roman" panose="02020603050405020304" pitchFamily="18" charset="0"/>
                </a:endParaRPr>
              </a:p>
            </p:txBody>
          </p:sp>
          <p:sp>
            <p:nvSpPr>
              <p:cNvPr id="15563" name="Oval 33">
                <a:extLst>
                  <a:ext uri="{FF2B5EF4-FFF2-40B4-BE49-F238E27FC236}">
                    <a16:creationId xmlns:a16="http://schemas.microsoft.com/office/drawing/2014/main" id="{C21988F3-0E06-4560-B323-43BBF74A8601}"/>
                  </a:ext>
                </a:extLst>
              </p:cNvPr>
              <p:cNvSpPr>
                <a:spLocks noChangeArrowheads="1"/>
              </p:cNvSpPr>
              <p:nvPr/>
            </p:nvSpPr>
            <p:spPr bwMode="auto">
              <a:xfrm>
                <a:off x="3648" y="1680"/>
                <a:ext cx="96" cy="9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en-US" sz="2800">
                  <a:latin typeface="Times New Roman" panose="02020603050405020304" pitchFamily="18" charset="0"/>
                </a:endParaRPr>
              </a:p>
            </p:txBody>
          </p:sp>
          <p:sp>
            <p:nvSpPr>
              <p:cNvPr id="15564" name="Oval 34">
                <a:extLst>
                  <a:ext uri="{FF2B5EF4-FFF2-40B4-BE49-F238E27FC236}">
                    <a16:creationId xmlns:a16="http://schemas.microsoft.com/office/drawing/2014/main" id="{5E77B3E5-EDC3-4087-B805-DAF8E908C9DE}"/>
                  </a:ext>
                </a:extLst>
              </p:cNvPr>
              <p:cNvSpPr>
                <a:spLocks noChangeArrowheads="1"/>
              </p:cNvSpPr>
              <p:nvPr/>
            </p:nvSpPr>
            <p:spPr bwMode="auto">
              <a:xfrm>
                <a:off x="3936" y="1584"/>
                <a:ext cx="96" cy="9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en-US" sz="2800">
                  <a:latin typeface="Times New Roman" panose="02020603050405020304" pitchFamily="18" charset="0"/>
                </a:endParaRPr>
              </a:p>
            </p:txBody>
          </p:sp>
          <p:sp>
            <p:nvSpPr>
              <p:cNvPr id="15565" name="Oval 35">
                <a:extLst>
                  <a:ext uri="{FF2B5EF4-FFF2-40B4-BE49-F238E27FC236}">
                    <a16:creationId xmlns:a16="http://schemas.microsoft.com/office/drawing/2014/main" id="{8FC0589C-3265-4BA1-9042-1417F664775E}"/>
                  </a:ext>
                </a:extLst>
              </p:cNvPr>
              <p:cNvSpPr>
                <a:spLocks noChangeArrowheads="1"/>
              </p:cNvSpPr>
              <p:nvPr/>
            </p:nvSpPr>
            <p:spPr bwMode="auto">
              <a:xfrm>
                <a:off x="3936" y="1152"/>
                <a:ext cx="96" cy="9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en-US" sz="2800">
                  <a:latin typeface="Times New Roman" panose="02020603050405020304" pitchFamily="18" charset="0"/>
                </a:endParaRPr>
              </a:p>
            </p:txBody>
          </p:sp>
          <p:sp>
            <p:nvSpPr>
              <p:cNvPr id="15566" name="Oval 36">
                <a:extLst>
                  <a:ext uri="{FF2B5EF4-FFF2-40B4-BE49-F238E27FC236}">
                    <a16:creationId xmlns:a16="http://schemas.microsoft.com/office/drawing/2014/main" id="{FDEC817A-3305-43BF-874F-457F63FFA8C0}"/>
                  </a:ext>
                </a:extLst>
              </p:cNvPr>
              <p:cNvSpPr>
                <a:spLocks noChangeArrowheads="1"/>
              </p:cNvSpPr>
              <p:nvPr/>
            </p:nvSpPr>
            <p:spPr bwMode="auto">
              <a:xfrm>
                <a:off x="3984" y="1344"/>
                <a:ext cx="96" cy="9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en-US" sz="2800">
                  <a:latin typeface="Times New Roman" panose="02020603050405020304" pitchFamily="18" charset="0"/>
                </a:endParaRPr>
              </a:p>
            </p:txBody>
          </p:sp>
          <p:sp>
            <p:nvSpPr>
              <p:cNvPr id="15567" name="Oval 37">
                <a:extLst>
                  <a:ext uri="{FF2B5EF4-FFF2-40B4-BE49-F238E27FC236}">
                    <a16:creationId xmlns:a16="http://schemas.microsoft.com/office/drawing/2014/main" id="{96786735-459E-41D3-A5B8-2FF3684E1C8E}"/>
                  </a:ext>
                </a:extLst>
              </p:cNvPr>
              <p:cNvSpPr>
                <a:spLocks noChangeArrowheads="1"/>
              </p:cNvSpPr>
              <p:nvPr/>
            </p:nvSpPr>
            <p:spPr bwMode="auto">
              <a:xfrm>
                <a:off x="3984" y="1728"/>
                <a:ext cx="96" cy="9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en-US" sz="2800">
                  <a:latin typeface="Times New Roman" panose="02020603050405020304" pitchFamily="18" charset="0"/>
                </a:endParaRPr>
              </a:p>
            </p:txBody>
          </p:sp>
          <p:grpSp>
            <p:nvGrpSpPr>
              <p:cNvPr id="15568" name="Group 38">
                <a:extLst>
                  <a:ext uri="{FF2B5EF4-FFF2-40B4-BE49-F238E27FC236}">
                    <a16:creationId xmlns:a16="http://schemas.microsoft.com/office/drawing/2014/main" id="{305C9E64-DFC9-4B7C-9D47-A6E330EEC82A}"/>
                  </a:ext>
                </a:extLst>
              </p:cNvPr>
              <p:cNvGrpSpPr>
                <a:grpSpLocks/>
              </p:cNvGrpSpPr>
              <p:nvPr/>
            </p:nvGrpSpPr>
            <p:grpSpPr bwMode="auto">
              <a:xfrm>
                <a:off x="3072" y="1248"/>
                <a:ext cx="96" cy="96"/>
                <a:chOff x="2928" y="336"/>
                <a:chExt cx="96" cy="96"/>
              </a:xfrm>
            </p:grpSpPr>
            <p:sp>
              <p:nvSpPr>
                <p:cNvPr id="15614" name="Line 39">
                  <a:extLst>
                    <a:ext uri="{FF2B5EF4-FFF2-40B4-BE49-F238E27FC236}">
                      <a16:creationId xmlns:a16="http://schemas.microsoft.com/office/drawing/2014/main" id="{2B968A37-65BB-4FA9-A2DF-E7E0493A5533}"/>
                    </a:ext>
                  </a:extLst>
                </p:cNvPr>
                <p:cNvSpPr>
                  <a:spLocks noChangeShapeType="1"/>
                </p:cNvSpPr>
                <p:nvPr/>
              </p:nvSpPr>
              <p:spPr bwMode="auto">
                <a:xfrm>
                  <a:off x="2928" y="384"/>
                  <a:ext cx="9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615" name="Line 40">
                  <a:extLst>
                    <a:ext uri="{FF2B5EF4-FFF2-40B4-BE49-F238E27FC236}">
                      <a16:creationId xmlns:a16="http://schemas.microsoft.com/office/drawing/2014/main" id="{90FCC0EC-43FC-44BB-BDC2-342F5AA88C38}"/>
                    </a:ext>
                  </a:extLst>
                </p:cNvPr>
                <p:cNvSpPr>
                  <a:spLocks noChangeShapeType="1"/>
                </p:cNvSpPr>
                <p:nvPr/>
              </p:nvSpPr>
              <p:spPr bwMode="auto">
                <a:xfrm>
                  <a:off x="2976" y="336"/>
                  <a:ext cx="0" cy="9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5569" name="Group 41">
                <a:extLst>
                  <a:ext uri="{FF2B5EF4-FFF2-40B4-BE49-F238E27FC236}">
                    <a16:creationId xmlns:a16="http://schemas.microsoft.com/office/drawing/2014/main" id="{AE2A2466-CE78-495B-A926-7CC35317EA03}"/>
                  </a:ext>
                </a:extLst>
              </p:cNvPr>
              <p:cNvGrpSpPr>
                <a:grpSpLocks/>
              </p:cNvGrpSpPr>
              <p:nvPr/>
            </p:nvGrpSpPr>
            <p:grpSpPr bwMode="auto">
              <a:xfrm>
                <a:off x="3120" y="1536"/>
                <a:ext cx="96" cy="96"/>
                <a:chOff x="2928" y="336"/>
                <a:chExt cx="96" cy="96"/>
              </a:xfrm>
            </p:grpSpPr>
            <p:sp>
              <p:nvSpPr>
                <p:cNvPr id="15612" name="Line 42">
                  <a:extLst>
                    <a:ext uri="{FF2B5EF4-FFF2-40B4-BE49-F238E27FC236}">
                      <a16:creationId xmlns:a16="http://schemas.microsoft.com/office/drawing/2014/main" id="{5F877290-E834-4DA6-9AFA-B02A71C0FF43}"/>
                    </a:ext>
                  </a:extLst>
                </p:cNvPr>
                <p:cNvSpPr>
                  <a:spLocks noChangeShapeType="1"/>
                </p:cNvSpPr>
                <p:nvPr/>
              </p:nvSpPr>
              <p:spPr bwMode="auto">
                <a:xfrm>
                  <a:off x="2928" y="384"/>
                  <a:ext cx="9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613" name="Line 43">
                  <a:extLst>
                    <a:ext uri="{FF2B5EF4-FFF2-40B4-BE49-F238E27FC236}">
                      <a16:creationId xmlns:a16="http://schemas.microsoft.com/office/drawing/2014/main" id="{B9122D21-BF12-4CB9-9BD5-18B33126116D}"/>
                    </a:ext>
                  </a:extLst>
                </p:cNvPr>
                <p:cNvSpPr>
                  <a:spLocks noChangeShapeType="1"/>
                </p:cNvSpPr>
                <p:nvPr/>
              </p:nvSpPr>
              <p:spPr bwMode="auto">
                <a:xfrm>
                  <a:off x="2976" y="336"/>
                  <a:ext cx="0" cy="9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5570" name="Group 44">
                <a:extLst>
                  <a:ext uri="{FF2B5EF4-FFF2-40B4-BE49-F238E27FC236}">
                    <a16:creationId xmlns:a16="http://schemas.microsoft.com/office/drawing/2014/main" id="{A0967944-61CF-4D9C-9D6D-4E2621360E4D}"/>
                  </a:ext>
                </a:extLst>
              </p:cNvPr>
              <p:cNvGrpSpPr>
                <a:grpSpLocks/>
              </p:cNvGrpSpPr>
              <p:nvPr/>
            </p:nvGrpSpPr>
            <p:grpSpPr bwMode="auto">
              <a:xfrm>
                <a:off x="3168" y="1680"/>
                <a:ext cx="96" cy="96"/>
                <a:chOff x="2928" y="336"/>
                <a:chExt cx="96" cy="96"/>
              </a:xfrm>
            </p:grpSpPr>
            <p:sp>
              <p:nvSpPr>
                <p:cNvPr id="15610" name="Line 45">
                  <a:extLst>
                    <a:ext uri="{FF2B5EF4-FFF2-40B4-BE49-F238E27FC236}">
                      <a16:creationId xmlns:a16="http://schemas.microsoft.com/office/drawing/2014/main" id="{0EC2760B-E4BA-400E-B44E-A96BD317961D}"/>
                    </a:ext>
                  </a:extLst>
                </p:cNvPr>
                <p:cNvSpPr>
                  <a:spLocks noChangeShapeType="1"/>
                </p:cNvSpPr>
                <p:nvPr/>
              </p:nvSpPr>
              <p:spPr bwMode="auto">
                <a:xfrm>
                  <a:off x="2928" y="384"/>
                  <a:ext cx="9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611" name="Line 46">
                  <a:extLst>
                    <a:ext uri="{FF2B5EF4-FFF2-40B4-BE49-F238E27FC236}">
                      <a16:creationId xmlns:a16="http://schemas.microsoft.com/office/drawing/2014/main" id="{55A33043-F7F8-48CC-9088-E1FA3A72AF33}"/>
                    </a:ext>
                  </a:extLst>
                </p:cNvPr>
                <p:cNvSpPr>
                  <a:spLocks noChangeShapeType="1"/>
                </p:cNvSpPr>
                <p:nvPr/>
              </p:nvSpPr>
              <p:spPr bwMode="auto">
                <a:xfrm>
                  <a:off x="2976" y="336"/>
                  <a:ext cx="0" cy="9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5571" name="Group 47">
                <a:extLst>
                  <a:ext uri="{FF2B5EF4-FFF2-40B4-BE49-F238E27FC236}">
                    <a16:creationId xmlns:a16="http://schemas.microsoft.com/office/drawing/2014/main" id="{8FE1B399-AA20-42F9-88E0-1DB9B49E8AEC}"/>
                  </a:ext>
                </a:extLst>
              </p:cNvPr>
              <p:cNvGrpSpPr>
                <a:grpSpLocks/>
              </p:cNvGrpSpPr>
              <p:nvPr/>
            </p:nvGrpSpPr>
            <p:grpSpPr bwMode="auto">
              <a:xfrm>
                <a:off x="3360" y="1632"/>
                <a:ext cx="96" cy="96"/>
                <a:chOff x="2928" y="336"/>
                <a:chExt cx="96" cy="96"/>
              </a:xfrm>
            </p:grpSpPr>
            <p:sp>
              <p:nvSpPr>
                <p:cNvPr id="15608" name="Line 48">
                  <a:extLst>
                    <a:ext uri="{FF2B5EF4-FFF2-40B4-BE49-F238E27FC236}">
                      <a16:creationId xmlns:a16="http://schemas.microsoft.com/office/drawing/2014/main" id="{3287AFB6-762B-4AE3-A29A-914669895BB5}"/>
                    </a:ext>
                  </a:extLst>
                </p:cNvPr>
                <p:cNvSpPr>
                  <a:spLocks noChangeShapeType="1"/>
                </p:cNvSpPr>
                <p:nvPr/>
              </p:nvSpPr>
              <p:spPr bwMode="auto">
                <a:xfrm>
                  <a:off x="2928" y="384"/>
                  <a:ext cx="9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609" name="Line 49">
                  <a:extLst>
                    <a:ext uri="{FF2B5EF4-FFF2-40B4-BE49-F238E27FC236}">
                      <a16:creationId xmlns:a16="http://schemas.microsoft.com/office/drawing/2014/main" id="{D9347FE8-06C4-40A9-819E-63D5970D3A4B}"/>
                    </a:ext>
                  </a:extLst>
                </p:cNvPr>
                <p:cNvSpPr>
                  <a:spLocks noChangeShapeType="1"/>
                </p:cNvSpPr>
                <p:nvPr/>
              </p:nvSpPr>
              <p:spPr bwMode="auto">
                <a:xfrm>
                  <a:off x="2976" y="336"/>
                  <a:ext cx="0" cy="9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5572" name="Group 50">
                <a:extLst>
                  <a:ext uri="{FF2B5EF4-FFF2-40B4-BE49-F238E27FC236}">
                    <a16:creationId xmlns:a16="http://schemas.microsoft.com/office/drawing/2014/main" id="{0443336E-8011-4D5B-A787-6BFF4D61B4C6}"/>
                  </a:ext>
                </a:extLst>
              </p:cNvPr>
              <p:cNvGrpSpPr>
                <a:grpSpLocks/>
              </p:cNvGrpSpPr>
              <p:nvPr/>
            </p:nvGrpSpPr>
            <p:grpSpPr bwMode="auto">
              <a:xfrm>
                <a:off x="3648" y="1680"/>
                <a:ext cx="96" cy="96"/>
                <a:chOff x="2928" y="336"/>
                <a:chExt cx="96" cy="96"/>
              </a:xfrm>
            </p:grpSpPr>
            <p:sp>
              <p:nvSpPr>
                <p:cNvPr id="15606" name="Line 51">
                  <a:extLst>
                    <a:ext uri="{FF2B5EF4-FFF2-40B4-BE49-F238E27FC236}">
                      <a16:creationId xmlns:a16="http://schemas.microsoft.com/office/drawing/2014/main" id="{6E934CD9-67FE-4959-A1ED-706F8B12CE98}"/>
                    </a:ext>
                  </a:extLst>
                </p:cNvPr>
                <p:cNvSpPr>
                  <a:spLocks noChangeShapeType="1"/>
                </p:cNvSpPr>
                <p:nvPr/>
              </p:nvSpPr>
              <p:spPr bwMode="auto">
                <a:xfrm>
                  <a:off x="2928" y="384"/>
                  <a:ext cx="9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607" name="Line 52">
                  <a:extLst>
                    <a:ext uri="{FF2B5EF4-FFF2-40B4-BE49-F238E27FC236}">
                      <a16:creationId xmlns:a16="http://schemas.microsoft.com/office/drawing/2014/main" id="{9EA30966-121D-4CA6-B298-DC35DB8D4844}"/>
                    </a:ext>
                  </a:extLst>
                </p:cNvPr>
                <p:cNvSpPr>
                  <a:spLocks noChangeShapeType="1"/>
                </p:cNvSpPr>
                <p:nvPr/>
              </p:nvSpPr>
              <p:spPr bwMode="auto">
                <a:xfrm>
                  <a:off x="2976" y="336"/>
                  <a:ext cx="0" cy="9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5573" name="Group 53">
                <a:extLst>
                  <a:ext uri="{FF2B5EF4-FFF2-40B4-BE49-F238E27FC236}">
                    <a16:creationId xmlns:a16="http://schemas.microsoft.com/office/drawing/2014/main" id="{D2A12769-5CA1-480F-8D75-5DFF558D7A3F}"/>
                  </a:ext>
                </a:extLst>
              </p:cNvPr>
              <p:cNvGrpSpPr>
                <a:grpSpLocks/>
              </p:cNvGrpSpPr>
              <p:nvPr/>
            </p:nvGrpSpPr>
            <p:grpSpPr bwMode="auto">
              <a:xfrm>
                <a:off x="3504" y="1632"/>
                <a:ext cx="96" cy="96"/>
                <a:chOff x="2928" y="336"/>
                <a:chExt cx="96" cy="96"/>
              </a:xfrm>
            </p:grpSpPr>
            <p:sp>
              <p:nvSpPr>
                <p:cNvPr id="15604" name="Line 54">
                  <a:extLst>
                    <a:ext uri="{FF2B5EF4-FFF2-40B4-BE49-F238E27FC236}">
                      <a16:creationId xmlns:a16="http://schemas.microsoft.com/office/drawing/2014/main" id="{0549F048-EE91-4DB6-9AC7-C2D02EB7E07C}"/>
                    </a:ext>
                  </a:extLst>
                </p:cNvPr>
                <p:cNvSpPr>
                  <a:spLocks noChangeShapeType="1"/>
                </p:cNvSpPr>
                <p:nvPr/>
              </p:nvSpPr>
              <p:spPr bwMode="auto">
                <a:xfrm>
                  <a:off x="2928" y="384"/>
                  <a:ext cx="9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605" name="Line 55">
                  <a:extLst>
                    <a:ext uri="{FF2B5EF4-FFF2-40B4-BE49-F238E27FC236}">
                      <a16:creationId xmlns:a16="http://schemas.microsoft.com/office/drawing/2014/main" id="{500525BC-0854-4D56-BCA9-7BCA29ED1589}"/>
                    </a:ext>
                  </a:extLst>
                </p:cNvPr>
                <p:cNvSpPr>
                  <a:spLocks noChangeShapeType="1"/>
                </p:cNvSpPr>
                <p:nvPr/>
              </p:nvSpPr>
              <p:spPr bwMode="auto">
                <a:xfrm>
                  <a:off x="2976" y="336"/>
                  <a:ext cx="0" cy="9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5574" name="Group 56">
                <a:extLst>
                  <a:ext uri="{FF2B5EF4-FFF2-40B4-BE49-F238E27FC236}">
                    <a16:creationId xmlns:a16="http://schemas.microsoft.com/office/drawing/2014/main" id="{B483A1C1-79A3-492D-A660-7B692BAB3F88}"/>
                  </a:ext>
                </a:extLst>
              </p:cNvPr>
              <p:cNvGrpSpPr>
                <a:grpSpLocks/>
              </p:cNvGrpSpPr>
              <p:nvPr/>
            </p:nvGrpSpPr>
            <p:grpSpPr bwMode="auto">
              <a:xfrm>
                <a:off x="3696" y="1488"/>
                <a:ext cx="96" cy="96"/>
                <a:chOff x="2928" y="336"/>
                <a:chExt cx="96" cy="96"/>
              </a:xfrm>
            </p:grpSpPr>
            <p:sp>
              <p:nvSpPr>
                <p:cNvPr id="15602" name="Line 57">
                  <a:extLst>
                    <a:ext uri="{FF2B5EF4-FFF2-40B4-BE49-F238E27FC236}">
                      <a16:creationId xmlns:a16="http://schemas.microsoft.com/office/drawing/2014/main" id="{F67FF822-31B6-4E3C-B121-A4DD8B225F84}"/>
                    </a:ext>
                  </a:extLst>
                </p:cNvPr>
                <p:cNvSpPr>
                  <a:spLocks noChangeShapeType="1"/>
                </p:cNvSpPr>
                <p:nvPr/>
              </p:nvSpPr>
              <p:spPr bwMode="auto">
                <a:xfrm>
                  <a:off x="2928" y="384"/>
                  <a:ext cx="9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603" name="Line 58">
                  <a:extLst>
                    <a:ext uri="{FF2B5EF4-FFF2-40B4-BE49-F238E27FC236}">
                      <a16:creationId xmlns:a16="http://schemas.microsoft.com/office/drawing/2014/main" id="{A0031C43-F2C9-4D5D-9B1B-F4704408655B}"/>
                    </a:ext>
                  </a:extLst>
                </p:cNvPr>
                <p:cNvSpPr>
                  <a:spLocks noChangeShapeType="1"/>
                </p:cNvSpPr>
                <p:nvPr/>
              </p:nvSpPr>
              <p:spPr bwMode="auto">
                <a:xfrm>
                  <a:off x="2976" y="336"/>
                  <a:ext cx="0" cy="9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5575" name="Group 59">
                <a:extLst>
                  <a:ext uri="{FF2B5EF4-FFF2-40B4-BE49-F238E27FC236}">
                    <a16:creationId xmlns:a16="http://schemas.microsoft.com/office/drawing/2014/main" id="{DAAC66BD-12ED-4AC7-856E-B424A2DC9F13}"/>
                  </a:ext>
                </a:extLst>
              </p:cNvPr>
              <p:cNvGrpSpPr>
                <a:grpSpLocks/>
              </p:cNvGrpSpPr>
              <p:nvPr/>
            </p:nvGrpSpPr>
            <p:grpSpPr bwMode="auto">
              <a:xfrm>
                <a:off x="3552" y="1440"/>
                <a:ext cx="96" cy="96"/>
                <a:chOff x="2928" y="336"/>
                <a:chExt cx="96" cy="96"/>
              </a:xfrm>
            </p:grpSpPr>
            <p:sp>
              <p:nvSpPr>
                <p:cNvPr id="15600" name="Line 60">
                  <a:extLst>
                    <a:ext uri="{FF2B5EF4-FFF2-40B4-BE49-F238E27FC236}">
                      <a16:creationId xmlns:a16="http://schemas.microsoft.com/office/drawing/2014/main" id="{76E95C74-2828-4512-8B80-899BC92DF5EF}"/>
                    </a:ext>
                  </a:extLst>
                </p:cNvPr>
                <p:cNvSpPr>
                  <a:spLocks noChangeShapeType="1"/>
                </p:cNvSpPr>
                <p:nvPr/>
              </p:nvSpPr>
              <p:spPr bwMode="auto">
                <a:xfrm>
                  <a:off x="2928" y="384"/>
                  <a:ext cx="9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601" name="Line 61">
                  <a:extLst>
                    <a:ext uri="{FF2B5EF4-FFF2-40B4-BE49-F238E27FC236}">
                      <a16:creationId xmlns:a16="http://schemas.microsoft.com/office/drawing/2014/main" id="{9362DF57-FFE4-4E15-96F4-E493269049C1}"/>
                    </a:ext>
                  </a:extLst>
                </p:cNvPr>
                <p:cNvSpPr>
                  <a:spLocks noChangeShapeType="1"/>
                </p:cNvSpPr>
                <p:nvPr/>
              </p:nvSpPr>
              <p:spPr bwMode="auto">
                <a:xfrm>
                  <a:off x="2976" y="336"/>
                  <a:ext cx="0" cy="9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5576" name="Group 62">
                <a:extLst>
                  <a:ext uri="{FF2B5EF4-FFF2-40B4-BE49-F238E27FC236}">
                    <a16:creationId xmlns:a16="http://schemas.microsoft.com/office/drawing/2014/main" id="{CB89AE5A-B7CC-4299-8AAC-14776E8F8697}"/>
                  </a:ext>
                </a:extLst>
              </p:cNvPr>
              <p:cNvGrpSpPr>
                <a:grpSpLocks/>
              </p:cNvGrpSpPr>
              <p:nvPr/>
            </p:nvGrpSpPr>
            <p:grpSpPr bwMode="auto">
              <a:xfrm>
                <a:off x="3312" y="1488"/>
                <a:ext cx="96" cy="96"/>
                <a:chOff x="2928" y="336"/>
                <a:chExt cx="96" cy="96"/>
              </a:xfrm>
            </p:grpSpPr>
            <p:sp>
              <p:nvSpPr>
                <p:cNvPr id="15598" name="Line 63">
                  <a:extLst>
                    <a:ext uri="{FF2B5EF4-FFF2-40B4-BE49-F238E27FC236}">
                      <a16:creationId xmlns:a16="http://schemas.microsoft.com/office/drawing/2014/main" id="{9711701D-AA17-41BF-8E43-15E514A16B4B}"/>
                    </a:ext>
                  </a:extLst>
                </p:cNvPr>
                <p:cNvSpPr>
                  <a:spLocks noChangeShapeType="1"/>
                </p:cNvSpPr>
                <p:nvPr/>
              </p:nvSpPr>
              <p:spPr bwMode="auto">
                <a:xfrm>
                  <a:off x="2928" y="384"/>
                  <a:ext cx="9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599" name="Line 64">
                  <a:extLst>
                    <a:ext uri="{FF2B5EF4-FFF2-40B4-BE49-F238E27FC236}">
                      <a16:creationId xmlns:a16="http://schemas.microsoft.com/office/drawing/2014/main" id="{DB83A6FF-9C63-48B2-9B52-E647235675BE}"/>
                    </a:ext>
                  </a:extLst>
                </p:cNvPr>
                <p:cNvSpPr>
                  <a:spLocks noChangeShapeType="1"/>
                </p:cNvSpPr>
                <p:nvPr/>
              </p:nvSpPr>
              <p:spPr bwMode="auto">
                <a:xfrm>
                  <a:off x="2976" y="336"/>
                  <a:ext cx="0" cy="9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5577" name="Group 65">
                <a:extLst>
                  <a:ext uri="{FF2B5EF4-FFF2-40B4-BE49-F238E27FC236}">
                    <a16:creationId xmlns:a16="http://schemas.microsoft.com/office/drawing/2014/main" id="{0D65E606-0251-40A7-8BB2-10794F6E3CBE}"/>
                  </a:ext>
                </a:extLst>
              </p:cNvPr>
              <p:cNvGrpSpPr>
                <a:grpSpLocks/>
              </p:cNvGrpSpPr>
              <p:nvPr/>
            </p:nvGrpSpPr>
            <p:grpSpPr bwMode="auto">
              <a:xfrm>
                <a:off x="3264" y="1296"/>
                <a:ext cx="96" cy="96"/>
                <a:chOff x="2928" y="336"/>
                <a:chExt cx="96" cy="96"/>
              </a:xfrm>
            </p:grpSpPr>
            <p:sp>
              <p:nvSpPr>
                <p:cNvPr id="15596" name="Line 66">
                  <a:extLst>
                    <a:ext uri="{FF2B5EF4-FFF2-40B4-BE49-F238E27FC236}">
                      <a16:creationId xmlns:a16="http://schemas.microsoft.com/office/drawing/2014/main" id="{4F882660-81C1-4484-AE2C-F3CCA50FF149}"/>
                    </a:ext>
                  </a:extLst>
                </p:cNvPr>
                <p:cNvSpPr>
                  <a:spLocks noChangeShapeType="1"/>
                </p:cNvSpPr>
                <p:nvPr/>
              </p:nvSpPr>
              <p:spPr bwMode="auto">
                <a:xfrm>
                  <a:off x="2928" y="384"/>
                  <a:ext cx="9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597" name="Line 67">
                  <a:extLst>
                    <a:ext uri="{FF2B5EF4-FFF2-40B4-BE49-F238E27FC236}">
                      <a16:creationId xmlns:a16="http://schemas.microsoft.com/office/drawing/2014/main" id="{7179E88C-08CA-406D-837C-93FE205C3A15}"/>
                    </a:ext>
                  </a:extLst>
                </p:cNvPr>
                <p:cNvSpPr>
                  <a:spLocks noChangeShapeType="1"/>
                </p:cNvSpPr>
                <p:nvPr/>
              </p:nvSpPr>
              <p:spPr bwMode="auto">
                <a:xfrm>
                  <a:off x="2976" y="336"/>
                  <a:ext cx="0" cy="9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5578" name="Group 68">
                <a:extLst>
                  <a:ext uri="{FF2B5EF4-FFF2-40B4-BE49-F238E27FC236}">
                    <a16:creationId xmlns:a16="http://schemas.microsoft.com/office/drawing/2014/main" id="{A433EAE3-67E2-47CE-8CD1-0A64AE361083}"/>
                  </a:ext>
                </a:extLst>
              </p:cNvPr>
              <p:cNvGrpSpPr>
                <a:grpSpLocks/>
              </p:cNvGrpSpPr>
              <p:nvPr/>
            </p:nvGrpSpPr>
            <p:grpSpPr bwMode="auto">
              <a:xfrm>
                <a:off x="3408" y="1200"/>
                <a:ext cx="96" cy="96"/>
                <a:chOff x="2928" y="336"/>
                <a:chExt cx="96" cy="96"/>
              </a:xfrm>
            </p:grpSpPr>
            <p:sp>
              <p:nvSpPr>
                <p:cNvPr id="15594" name="Line 69">
                  <a:extLst>
                    <a:ext uri="{FF2B5EF4-FFF2-40B4-BE49-F238E27FC236}">
                      <a16:creationId xmlns:a16="http://schemas.microsoft.com/office/drawing/2014/main" id="{0106D914-AFF4-4C12-9B20-5808795733F5}"/>
                    </a:ext>
                  </a:extLst>
                </p:cNvPr>
                <p:cNvSpPr>
                  <a:spLocks noChangeShapeType="1"/>
                </p:cNvSpPr>
                <p:nvPr/>
              </p:nvSpPr>
              <p:spPr bwMode="auto">
                <a:xfrm>
                  <a:off x="2928" y="384"/>
                  <a:ext cx="9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595" name="Line 70">
                  <a:extLst>
                    <a:ext uri="{FF2B5EF4-FFF2-40B4-BE49-F238E27FC236}">
                      <a16:creationId xmlns:a16="http://schemas.microsoft.com/office/drawing/2014/main" id="{F7B4619E-F337-4C7B-8578-55836E41E19E}"/>
                    </a:ext>
                  </a:extLst>
                </p:cNvPr>
                <p:cNvSpPr>
                  <a:spLocks noChangeShapeType="1"/>
                </p:cNvSpPr>
                <p:nvPr/>
              </p:nvSpPr>
              <p:spPr bwMode="auto">
                <a:xfrm>
                  <a:off x="2976" y="336"/>
                  <a:ext cx="0" cy="9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5579" name="Group 71">
                <a:extLst>
                  <a:ext uri="{FF2B5EF4-FFF2-40B4-BE49-F238E27FC236}">
                    <a16:creationId xmlns:a16="http://schemas.microsoft.com/office/drawing/2014/main" id="{CEC8395C-4AB5-4DE3-AB6A-268E9781C52E}"/>
                  </a:ext>
                </a:extLst>
              </p:cNvPr>
              <p:cNvGrpSpPr>
                <a:grpSpLocks/>
              </p:cNvGrpSpPr>
              <p:nvPr/>
            </p:nvGrpSpPr>
            <p:grpSpPr bwMode="auto">
              <a:xfrm>
                <a:off x="3600" y="1248"/>
                <a:ext cx="96" cy="96"/>
                <a:chOff x="2928" y="336"/>
                <a:chExt cx="96" cy="96"/>
              </a:xfrm>
            </p:grpSpPr>
            <p:sp>
              <p:nvSpPr>
                <p:cNvPr id="15592" name="Line 72">
                  <a:extLst>
                    <a:ext uri="{FF2B5EF4-FFF2-40B4-BE49-F238E27FC236}">
                      <a16:creationId xmlns:a16="http://schemas.microsoft.com/office/drawing/2014/main" id="{CD896A09-1CD1-4B81-AFB0-2FEF828A2776}"/>
                    </a:ext>
                  </a:extLst>
                </p:cNvPr>
                <p:cNvSpPr>
                  <a:spLocks noChangeShapeType="1"/>
                </p:cNvSpPr>
                <p:nvPr/>
              </p:nvSpPr>
              <p:spPr bwMode="auto">
                <a:xfrm>
                  <a:off x="2928" y="384"/>
                  <a:ext cx="9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593" name="Line 73">
                  <a:extLst>
                    <a:ext uri="{FF2B5EF4-FFF2-40B4-BE49-F238E27FC236}">
                      <a16:creationId xmlns:a16="http://schemas.microsoft.com/office/drawing/2014/main" id="{186A58C7-658F-48BA-BE74-853B7E5EC3AE}"/>
                    </a:ext>
                  </a:extLst>
                </p:cNvPr>
                <p:cNvSpPr>
                  <a:spLocks noChangeShapeType="1"/>
                </p:cNvSpPr>
                <p:nvPr/>
              </p:nvSpPr>
              <p:spPr bwMode="auto">
                <a:xfrm>
                  <a:off x="2976" y="336"/>
                  <a:ext cx="0" cy="9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5580" name="Group 74">
                <a:extLst>
                  <a:ext uri="{FF2B5EF4-FFF2-40B4-BE49-F238E27FC236}">
                    <a16:creationId xmlns:a16="http://schemas.microsoft.com/office/drawing/2014/main" id="{27A5BD01-0C42-4082-A213-BB5FDAFF82D2}"/>
                  </a:ext>
                </a:extLst>
              </p:cNvPr>
              <p:cNvGrpSpPr>
                <a:grpSpLocks/>
              </p:cNvGrpSpPr>
              <p:nvPr/>
            </p:nvGrpSpPr>
            <p:grpSpPr bwMode="auto">
              <a:xfrm>
                <a:off x="3936" y="1152"/>
                <a:ext cx="96" cy="96"/>
                <a:chOff x="2928" y="336"/>
                <a:chExt cx="96" cy="96"/>
              </a:xfrm>
            </p:grpSpPr>
            <p:sp>
              <p:nvSpPr>
                <p:cNvPr id="15590" name="Line 75">
                  <a:extLst>
                    <a:ext uri="{FF2B5EF4-FFF2-40B4-BE49-F238E27FC236}">
                      <a16:creationId xmlns:a16="http://schemas.microsoft.com/office/drawing/2014/main" id="{8BD9DBA9-1F2F-4CD6-8BE2-6CD54D724AF0}"/>
                    </a:ext>
                  </a:extLst>
                </p:cNvPr>
                <p:cNvSpPr>
                  <a:spLocks noChangeShapeType="1"/>
                </p:cNvSpPr>
                <p:nvPr/>
              </p:nvSpPr>
              <p:spPr bwMode="auto">
                <a:xfrm>
                  <a:off x="2928" y="384"/>
                  <a:ext cx="9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591" name="Line 76">
                  <a:extLst>
                    <a:ext uri="{FF2B5EF4-FFF2-40B4-BE49-F238E27FC236}">
                      <a16:creationId xmlns:a16="http://schemas.microsoft.com/office/drawing/2014/main" id="{24157D45-9210-4521-952A-B2A9A9537557}"/>
                    </a:ext>
                  </a:extLst>
                </p:cNvPr>
                <p:cNvSpPr>
                  <a:spLocks noChangeShapeType="1"/>
                </p:cNvSpPr>
                <p:nvPr/>
              </p:nvSpPr>
              <p:spPr bwMode="auto">
                <a:xfrm>
                  <a:off x="2976" y="336"/>
                  <a:ext cx="0" cy="9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5581" name="Group 77">
                <a:extLst>
                  <a:ext uri="{FF2B5EF4-FFF2-40B4-BE49-F238E27FC236}">
                    <a16:creationId xmlns:a16="http://schemas.microsoft.com/office/drawing/2014/main" id="{32E52080-0896-44C0-BF0A-B1709CEDA65E}"/>
                  </a:ext>
                </a:extLst>
              </p:cNvPr>
              <p:cNvGrpSpPr>
                <a:grpSpLocks/>
              </p:cNvGrpSpPr>
              <p:nvPr/>
            </p:nvGrpSpPr>
            <p:grpSpPr bwMode="auto">
              <a:xfrm>
                <a:off x="3984" y="1344"/>
                <a:ext cx="96" cy="96"/>
                <a:chOff x="2928" y="336"/>
                <a:chExt cx="96" cy="96"/>
              </a:xfrm>
            </p:grpSpPr>
            <p:sp>
              <p:nvSpPr>
                <p:cNvPr id="15588" name="Line 78">
                  <a:extLst>
                    <a:ext uri="{FF2B5EF4-FFF2-40B4-BE49-F238E27FC236}">
                      <a16:creationId xmlns:a16="http://schemas.microsoft.com/office/drawing/2014/main" id="{B5625F56-5BF7-4871-9F0B-E7E2B26C8E30}"/>
                    </a:ext>
                  </a:extLst>
                </p:cNvPr>
                <p:cNvSpPr>
                  <a:spLocks noChangeShapeType="1"/>
                </p:cNvSpPr>
                <p:nvPr/>
              </p:nvSpPr>
              <p:spPr bwMode="auto">
                <a:xfrm>
                  <a:off x="2928" y="384"/>
                  <a:ext cx="9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589" name="Line 79">
                  <a:extLst>
                    <a:ext uri="{FF2B5EF4-FFF2-40B4-BE49-F238E27FC236}">
                      <a16:creationId xmlns:a16="http://schemas.microsoft.com/office/drawing/2014/main" id="{2136F29D-58E9-4A4D-9A96-57BA7B1F16FA}"/>
                    </a:ext>
                  </a:extLst>
                </p:cNvPr>
                <p:cNvSpPr>
                  <a:spLocks noChangeShapeType="1"/>
                </p:cNvSpPr>
                <p:nvPr/>
              </p:nvSpPr>
              <p:spPr bwMode="auto">
                <a:xfrm>
                  <a:off x="2976" y="336"/>
                  <a:ext cx="0" cy="9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5582" name="Group 80">
                <a:extLst>
                  <a:ext uri="{FF2B5EF4-FFF2-40B4-BE49-F238E27FC236}">
                    <a16:creationId xmlns:a16="http://schemas.microsoft.com/office/drawing/2014/main" id="{B4ACE6CF-5B58-4ECF-8AEA-BAD5F71ACAEA}"/>
                  </a:ext>
                </a:extLst>
              </p:cNvPr>
              <p:cNvGrpSpPr>
                <a:grpSpLocks/>
              </p:cNvGrpSpPr>
              <p:nvPr/>
            </p:nvGrpSpPr>
            <p:grpSpPr bwMode="auto">
              <a:xfrm>
                <a:off x="3936" y="1584"/>
                <a:ext cx="96" cy="96"/>
                <a:chOff x="2928" y="336"/>
                <a:chExt cx="96" cy="96"/>
              </a:xfrm>
            </p:grpSpPr>
            <p:sp>
              <p:nvSpPr>
                <p:cNvPr id="15586" name="Line 81">
                  <a:extLst>
                    <a:ext uri="{FF2B5EF4-FFF2-40B4-BE49-F238E27FC236}">
                      <a16:creationId xmlns:a16="http://schemas.microsoft.com/office/drawing/2014/main" id="{16266DF7-44A7-44F3-9C58-BA3AF56D1738}"/>
                    </a:ext>
                  </a:extLst>
                </p:cNvPr>
                <p:cNvSpPr>
                  <a:spLocks noChangeShapeType="1"/>
                </p:cNvSpPr>
                <p:nvPr/>
              </p:nvSpPr>
              <p:spPr bwMode="auto">
                <a:xfrm>
                  <a:off x="2928" y="384"/>
                  <a:ext cx="9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587" name="Line 82">
                  <a:extLst>
                    <a:ext uri="{FF2B5EF4-FFF2-40B4-BE49-F238E27FC236}">
                      <a16:creationId xmlns:a16="http://schemas.microsoft.com/office/drawing/2014/main" id="{21B4A24E-50A9-46DF-AA62-233C58AF9457}"/>
                    </a:ext>
                  </a:extLst>
                </p:cNvPr>
                <p:cNvSpPr>
                  <a:spLocks noChangeShapeType="1"/>
                </p:cNvSpPr>
                <p:nvPr/>
              </p:nvSpPr>
              <p:spPr bwMode="auto">
                <a:xfrm>
                  <a:off x="2976" y="336"/>
                  <a:ext cx="0" cy="9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5583" name="Group 83">
                <a:extLst>
                  <a:ext uri="{FF2B5EF4-FFF2-40B4-BE49-F238E27FC236}">
                    <a16:creationId xmlns:a16="http://schemas.microsoft.com/office/drawing/2014/main" id="{50A39EB4-A7EF-4753-9E5E-E43D892AB442}"/>
                  </a:ext>
                </a:extLst>
              </p:cNvPr>
              <p:cNvGrpSpPr>
                <a:grpSpLocks/>
              </p:cNvGrpSpPr>
              <p:nvPr/>
            </p:nvGrpSpPr>
            <p:grpSpPr bwMode="auto">
              <a:xfrm>
                <a:off x="3984" y="1728"/>
                <a:ext cx="96" cy="96"/>
                <a:chOff x="2928" y="336"/>
                <a:chExt cx="96" cy="96"/>
              </a:xfrm>
            </p:grpSpPr>
            <p:sp>
              <p:nvSpPr>
                <p:cNvPr id="15584" name="Line 84">
                  <a:extLst>
                    <a:ext uri="{FF2B5EF4-FFF2-40B4-BE49-F238E27FC236}">
                      <a16:creationId xmlns:a16="http://schemas.microsoft.com/office/drawing/2014/main" id="{4C03A573-410B-4ACB-A20A-025BDB1C0759}"/>
                    </a:ext>
                  </a:extLst>
                </p:cNvPr>
                <p:cNvSpPr>
                  <a:spLocks noChangeShapeType="1"/>
                </p:cNvSpPr>
                <p:nvPr/>
              </p:nvSpPr>
              <p:spPr bwMode="auto">
                <a:xfrm>
                  <a:off x="2928" y="384"/>
                  <a:ext cx="9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585" name="Line 85">
                  <a:extLst>
                    <a:ext uri="{FF2B5EF4-FFF2-40B4-BE49-F238E27FC236}">
                      <a16:creationId xmlns:a16="http://schemas.microsoft.com/office/drawing/2014/main" id="{B300A678-BBFE-46FF-8F69-DAE53108DA2A}"/>
                    </a:ext>
                  </a:extLst>
                </p:cNvPr>
                <p:cNvSpPr>
                  <a:spLocks noChangeShapeType="1"/>
                </p:cNvSpPr>
                <p:nvPr/>
              </p:nvSpPr>
              <p:spPr bwMode="auto">
                <a:xfrm>
                  <a:off x="2976" y="336"/>
                  <a:ext cx="0" cy="9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15517" name="Group 86">
              <a:extLst>
                <a:ext uri="{FF2B5EF4-FFF2-40B4-BE49-F238E27FC236}">
                  <a16:creationId xmlns:a16="http://schemas.microsoft.com/office/drawing/2014/main" id="{C7157302-E3BC-47C1-9087-9DF781708E56}"/>
                </a:ext>
              </a:extLst>
            </p:cNvPr>
            <p:cNvGrpSpPr>
              <a:grpSpLocks/>
            </p:cNvGrpSpPr>
            <p:nvPr/>
          </p:nvGrpSpPr>
          <p:grpSpPr bwMode="auto">
            <a:xfrm>
              <a:off x="4512" y="720"/>
              <a:ext cx="1056" cy="624"/>
              <a:chOff x="4176" y="1152"/>
              <a:chExt cx="1056" cy="624"/>
            </a:xfrm>
          </p:grpSpPr>
          <p:sp>
            <p:nvSpPr>
              <p:cNvPr id="15518" name="Oval 87">
                <a:extLst>
                  <a:ext uri="{FF2B5EF4-FFF2-40B4-BE49-F238E27FC236}">
                    <a16:creationId xmlns:a16="http://schemas.microsoft.com/office/drawing/2014/main" id="{9D81A9BE-1857-4456-B726-9556838DC200}"/>
                  </a:ext>
                </a:extLst>
              </p:cNvPr>
              <p:cNvSpPr>
                <a:spLocks noChangeArrowheads="1"/>
              </p:cNvSpPr>
              <p:nvPr/>
            </p:nvSpPr>
            <p:spPr bwMode="auto">
              <a:xfrm>
                <a:off x="4224" y="1296"/>
                <a:ext cx="96" cy="96"/>
              </a:xfrm>
              <a:prstGeom prst="ellipse">
                <a:avLst/>
              </a:prstGeom>
              <a:solidFill>
                <a:srgbClr val="FF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en-US" sz="2800">
                  <a:latin typeface="Times New Roman" panose="02020603050405020304" pitchFamily="18" charset="0"/>
                </a:endParaRPr>
              </a:p>
            </p:txBody>
          </p:sp>
          <p:sp>
            <p:nvSpPr>
              <p:cNvPr id="15519" name="Oval 88">
                <a:extLst>
                  <a:ext uri="{FF2B5EF4-FFF2-40B4-BE49-F238E27FC236}">
                    <a16:creationId xmlns:a16="http://schemas.microsoft.com/office/drawing/2014/main" id="{AFF02CE0-19D4-487C-A885-BA51EB1F6260}"/>
                  </a:ext>
                </a:extLst>
              </p:cNvPr>
              <p:cNvSpPr>
                <a:spLocks noChangeArrowheads="1"/>
              </p:cNvSpPr>
              <p:nvPr/>
            </p:nvSpPr>
            <p:spPr bwMode="auto">
              <a:xfrm>
                <a:off x="4176" y="1632"/>
                <a:ext cx="96" cy="96"/>
              </a:xfrm>
              <a:prstGeom prst="ellipse">
                <a:avLst/>
              </a:prstGeom>
              <a:solidFill>
                <a:srgbClr val="FF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en-US" sz="2800">
                  <a:latin typeface="Times New Roman" panose="02020603050405020304" pitchFamily="18" charset="0"/>
                </a:endParaRPr>
              </a:p>
            </p:txBody>
          </p:sp>
          <p:sp>
            <p:nvSpPr>
              <p:cNvPr id="15520" name="Oval 89">
                <a:extLst>
                  <a:ext uri="{FF2B5EF4-FFF2-40B4-BE49-F238E27FC236}">
                    <a16:creationId xmlns:a16="http://schemas.microsoft.com/office/drawing/2014/main" id="{3F117AFA-0740-4C65-8751-33D724365EF9}"/>
                  </a:ext>
                </a:extLst>
              </p:cNvPr>
              <p:cNvSpPr>
                <a:spLocks noChangeArrowheads="1"/>
              </p:cNvSpPr>
              <p:nvPr/>
            </p:nvSpPr>
            <p:spPr bwMode="auto">
              <a:xfrm>
                <a:off x="4176" y="1488"/>
                <a:ext cx="96" cy="96"/>
              </a:xfrm>
              <a:prstGeom prst="ellipse">
                <a:avLst/>
              </a:prstGeom>
              <a:solidFill>
                <a:srgbClr val="FF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en-US" sz="2800">
                  <a:latin typeface="Times New Roman" panose="02020603050405020304" pitchFamily="18" charset="0"/>
                </a:endParaRPr>
              </a:p>
            </p:txBody>
          </p:sp>
          <p:sp>
            <p:nvSpPr>
              <p:cNvPr id="15521" name="Oval 90">
                <a:extLst>
                  <a:ext uri="{FF2B5EF4-FFF2-40B4-BE49-F238E27FC236}">
                    <a16:creationId xmlns:a16="http://schemas.microsoft.com/office/drawing/2014/main" id="{9CEE728C-25EC-4363-B9A0-0BF24CDDC94C}"/>
                  </a:ext>
                </a:extLst>
              </p:cNvPr>
              <p:cNvSpPr>
                <a:spLocks noChangeArrowheads="1"/>
              </p:cNvSpPr>
              <p:nvPr/>
            </p:nvSpPr>
            <p:spPr bwMode="auto">
              <a:xfrm>
                <a:off x="4176" y="1152"/>
                <a:ext cx="96" cy="96"/>
              </a:xfrm>
              <a:prstGeom prst="ellipse">
                <a:avLst/>
              </a:prstGeom>
              <a:solidFill>
                <a:srgbClr val="FF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en-US" sz="2800">
                  <a:latin typeface="Times New Roman" panose="02020603050405020304" pitchFamily="18" charset="0"/>
                </a:endParaRPr>
              </a:p>
            </p:txBody>
          </p:sp>
          <p:sp>
            <p:nvSpPr>
              <p:cNvPr id="15522" name="Line 91">
                <a:extLst>
                  <a:ext uri="{FF2B5EF4-FFF2-40B4-BE49-F238E27FC236}">
                    <a16:creationId xmlns:a16="http://schemas.microsoft.com/office/drawing/2014/main" id="{FD2AB942-7947-41DD-B4E7-D65C6E554FC3}"/>
                  </a:ext>
                </a:extLst>
              </p:cNvPr>
              <p:cNvSpPr>
                <a:spLocks noChangeShapeType="1"/>
              </p:cNvSpPr>
              <p:nvPr/>
            </p:nvSpPr>
            <p:spPr bwMode="auto">
              <a:xfrm>
                <a:off x="4176" y="1200"/>
                <a:ext cx="9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523" name="Line 92">
                <a:extLst>
                  <a:ext uri="{FF2B5EF4-FFF2-40B4-BE49-F238E27FC236}">
                    <a16:creationId xmlns:a16="http://schemas.microsoft.com/office/drawing/2014/main" id="{28613B8C-0E63-4925-94FF-40D4FD7295D6}"/>
                  </a:ext>
                </a:extLst>
              </p:cNvPr>
              <p:cNvSpPr>
                <a:spLocks noChangeShapeType="1"/>
              </p:cNvSpPr>
              <p:nvPr/>
            </p:nvSpPr>
            <p:spPr bwMode="auto">
              <a:xfrm>
                <a:off x="4224" y="1344"/>
                <a:ext cx="9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524" name="Line 93">
                <a:extLst>
                  <a:ext uri="{FF2B5EF4-FFF2-40B4-BE49-F238E27FC236}">
                    <a16:creationId xmlns:a16="http://schemas.microsoft.com/office/drawing/2014/main" id="{8E771B05-F2B6-412E-B794-C7120160645B}"/>
                  </a:ext>
                </a:extLst>
              </p:cNvPr>
              <p:cNvSpPr>
                <a:spLocks noChangeShapeType="1"/>
              </p:cNvSpPr>
              <p:nvPr/>
            </p:nvSpPr>
            <p:spPr bwMode="auto">
              <a:xfrm>
                <a:off x="4176" y="1536"/>
                <a:ext cx="9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525" name="Line 94">
                <a:extLst>
                  <a:ext uri="{FF2B5EF4-FFF2-40B4-BE49-F238E27FC236}">
                    <a16:creationId xmlns:a16="http://schemas.microsoft.com/office/drawing/2014/main" id="{C71C8120-E1C2-42A6-8818-5710CE134295}"/>
                  </a:ext>
                </a:extLst>
              </p:cNvPr>
              <p:cNvSpPr>
                <a:spLocks noChangeShapeType="1"/>
              </p:cNvSpPr>
              <p:nvPr/>
            </p:nvSpPr>
            <p:spPr bwMode="auto">
              <a:xfrm>
                <a:off x="4176" y="1680"/>
                <a:ext cx="9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5526" name="Group 95">
                <a:extLst>
                  <a:ext uri="{FF2B5EF4-FFF2-40B4-BE49-F238E27FC236}">
                    <a16:creationId xmlns:a16="http://schemas.microsoft.com/office/drawing/2014/main" id="{B9430387-C2D3-427D-A21E-EF96DA2B298B}"/>
                  </a:ext>
                </a:extLst>
              </p:cNvPr>
              <p:cNvGrpSpPr>
                <a:grpSpLocks/>
              </p:cNvGrpSpPr>
              <p:nvPr/>
            </p:nvGrpSpPr>
            <p:grpSpPr bwMode="auto">
              <a:xfrm>
                <a:off x="4512" y="1200"/>
                <a:ext cx="720" cy="576"/>
                <a:chOff x="4512" y="1200"/>
                <a:chExt cx="720" cy="576"/>
              </a:xfrm>
            </p:grpSpPr>
            <p:sp>
              <p:nvSpPr>
                <p:cNvPr id="15527" name="Oval 96">
                  <a:extLst>
                    <a:ext uri="{FF2B5EF4-FFF2-40B4-BE49-F238E27FC236}">
                      <a16:creationId xmlns:a16="http://schemas.microsoft.com/office/drawing/2014/main" id="{1126BDD1-EEBA-4E6A-B13C-36DCD6785DCC}"/>
                    </a:ext>
                  </a:extLst>
                </p:cNvPr>
                <p:cNvSpPr>
                  <a:spLocks noChangeArrowheads="1"/>
                </p:cNvSpPr>
                <p:nvPr/>
              </p:nvSpPr>
              <p:spPr bwMode="auto">
                <a:xfrm>
                  <a:off x="5040" y="1392"/>
                  <a:ext cx="96" cy="96"/>
                </a:xfrm>
                <a:prstGeom prst="ellipse">
                  <a:avLst/>
                </a:prstGeom>
                <a:solidFill>
                  <a:srgbClr val="FF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en-US" sz="2800">
                    <a:latin typeface="Times New Roman" panose="02020603050405020304" pitchFamily="18" charset="0"/>
                  </a:endParaRPr>
                </a:p>
              </p:txBody>
            </p:sp>
            <p:sp>
              <p:nvSpPr>
                <p:cNvPr id="15528" name="Oval 97">
                  <a:extLst>
                    <a:ext uri="{FF2B5EF4-FFF2-40B4-BE49-F238E27FC236}">
                      <a16:creationId xmlns:a16="http://schemas.microsoft.com/office/drawing/2014/main" id="{4D4921C3-3A7F-4746-8E98-97E92230A41C}"/>
                    </a:ext>
                  </a:extLst>
                </p:cNvPr>
                <p:cNvSpPr>
                  <a:spLocks noChangeArrowheads="1"/>
                </p:cNvSpPr>
                <p:nvPr/>
              </p:nvSpPr>
              <p:spPr bwMode="auto">
                <a:xfrm>
                  <a:off x="4848" y="1536"/>
                  <a:ext cx="96" cy="96"/>
                </a:xfrm>
                <a:prstGeom prst="ellipse">
                  <a:avLst/>
                </a:prstGeom>
                <a:solidFill>
                  <a:srgbClr val="FF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en-US" sz="2800">
                    <a:latin typeface="Times New Roman" panose="02020603050405020304" pitchFamily="18" charset="0"/>
                  </a:endParaRPr>
                </a:p>
              </p:txBody>
            </p:sp>
            <p:sp>
              <p:nvSpPr>
                <p:cNvPr id="15529" name="Oval 98">
                  <a:extLst>
                    <a:ext uri="{FF2B5EF4-FFF2-40B4-BE49-F238E27FC236}">
                      <a16:creationId xmlns:a16="http://schemas.microsoft.com/office/drawing/2014/main" id="{EA32F61F-ECD0-473F-828C-3A7F9A0FE534}"/>
                    </a:ext>
                  </a:extLst>
                </p:cNvPr>
                <p:cNvSpPr>
                  <a:spLocks noChangeArrowheads="1"/>
                </p:cNvSpPr>
                <p:nvPr/>
              </p:nvSpPr>
              <p:spPr bwMode="auto">
                <a:xfrm>
                  <a:off x="4752" y="1344"/>
                  <a:ext cx="96" cy="96"/>
                </a:xfrm>
                <a:prstGeom prst="ellipse">
                  <a:avLst/>
                </a:prstGeom>
                <a:solidFill>
                  <a:srgbClr val="FF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en-US" sz="2800">
                    <a:latin typeface="Times New Roman" panose="02020603050405020304" pitchFamily="18" charset="0"/>
                  </a:endParaRPr>
                </a:p>
              </p:txBody>
            </p:sp>
            <p:sp>
              <p:nvSpPr>
                <p:cNvPr id="15530" name="Oval 99">
                  <a:extLst>
                    <a:ext uri="{FF2B5EF4-FFF2-40B4-BE49-F238E27FC236}">
                      <a16:creationId xmlns:a16="http://schemas.microsoft.com/office/drawing/2014/main" id="{2BA40D5A-8CED-4DA3-94EA-5EB5DF6CF64B}"/>
                    </a:ext>
                  </a:extLst>
                </p:cNvPr>
                <p:cNvSpPr>
                  <a:spLocks noChangeArrowheads="1"/>
                </p:cNvSpPr>
                <p:nvPr/>
              </p:nvSpPr>
              <p:spPr bwMode="auto">
                <a:xfrm>
                  <a:off x="4512" y="1248"/>
                  <a:ext cx="96" cy="96"/>
                </a:xfrm>
                <a:prstGeom prst="ellipse">
                  <a:avLst/>
                </a:prstGeom>
                <a:solidFill>
                  <a:srgbClr val="FF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en-US" sz="2800">
                    <a:latin typeface="Times New Roman" panose="02020603050405020304" pitchFamily="18" charset="0"/>
                  </a:endParaRPr>
                </a:p>
              </p:txBody>
            </p:sp>
            <p:sp>
              <p:nvSpPr>
                <p:cNvPr id="15531" name="Oval 100">
                  <a:extLst>
                    <a:ext uri="{FF2B5EF4-FFF2-40B4-BE49-F238E27FC236}">
                      <a16:creationId xmlns:a16="http://schemas.microsoft.com/office/drawing/2014/main" id="{903AFB25-CBB4-4FA9-921E-EE17F5453436}"/>
                    </a:ext>
                  </a:extLst>
                </p:cNvPr>
                <p:cNvSpPr>
                  <a:spLocks noChangeArrowheads="1"/>
                </p:cNvSpPr>
                <p:nvPr/>
              </p:nvSpPr>
              <p:spPr bwMode="auto">
                <a:xfrm>
                  <a:off x="4512" y="1488"/>
                  <a:ext cx="96" cy="96"/>
                </a:xfrm>
                <a:prstGeom prst="ellipse">
                  <a:avLst/>
                </a:prstGeom>
                <a:solidFill>
                  <a:srgbClr val="FF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en-US" sz="2800">
                    <a:latin typeface="Times New Roman" panose="02020603050405020304" pitchFamily="18" charset="0"/>
                  </a:endParaRPr>
                </a:p>
              </p:txBody>
            </p:sp>
            <p:sp>
              <p:nvSpPr>
                <p:cNvPr id="15532" name="Oval 101">
                  <a:extLst>
                    <a:ext uri="{FF2B5EF4-FFF2-40B4-BE49-F238E27FC236}">
                      <a16:creationId xmlns:a16="http://schemas.microsoft.com/office/drawing/2014/main" id="{7339A722-41C9-4E06-AC94-98BD599FF5B8}"/>
                    </a:ext>
                  </a:extLst>
                </p:cNvPr>
                <p:cNvSpPr>
                  <a:spLocks noChangeArrowheads="1"/>
                </p:cNvSpPr>
                <p:nvPr/>
              </p:nvSpPr>
              <p:spPr bwMode="auto">
                <a:xfrm>
                  <a:off x="4656" y="1632"/>
                  <a:ext cx="96" cy="96"/>
                </a:xfrm>
                <a:prstGeom prst="ellipse">
                  <a:avLst/>
                </a:prstGeom>
                <a:solidFill>
                  <a:srgbClr val="FF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en-US" sz="2800">
                    <a:latin typeface="Times New Roman" panose="02020603050405020304" pitchFamily="18" charset="0"/>
                  </a:endParaRPr>
                </a:p>
              </p:txBody>
            </p:sp>
            <p:sp>
              <p:nvSpPr>
                <p:cNvPr id="15533" name="Oval 102">
                  <a:extLst>
                    <a:ext uri="{FF2B5EF4-FFF2-40B4-BE49-F238E27FC236}">
                      <a16:creationId xmlns:a16="http://schemas.microsoft.com/office/drawing/2014/main" id="{297F72B9-BF1F-48F5-9D9B-E30858E23F98}"/>
                    </a:ext>
                  </a:extLst>
                </p:cNvPr>
                <p:cNvSpPr>
                  <a:spLocks noChangeArrowheads="1"/>
                </p:cNvSpPr>
                <p:nvPr/>
              </p:nvSpPr>
              <p:spPr bwMode="auto">
                <a:xfrm>
                  <a:off x="5088" y="1680"/>
                  <a:ext cx="96" cy="96"/>
                </a:xfrm>
                <a:prstGeom prst="ellipse">
                  <a:avLst/>
                </a:prstGeom>
                <a:solidFill>
                  <a:srgbClr val="FF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en-US" sz="2800">
                    <a:latin typeface="Times New Roman" panose="02020603050405020304" pitchFamily="18" charset="0"/>
                  </a:endParaRPr>
                </a:p>
              </p:txBody>
            </p:sp>
            <p:sp>
              <p:nvSpPr>
                <p:cNvPr id="15534" name="Oval 103">
                  <a:extLst>
                    <a:ext uri="{FF2B5EF4-FFF2-40B4-BE49-F238E27FC236}">
                      <a16:creationId xmlns:a16="http://schemas.microsoft.com/office/drawing/2014/main" id="{820DBC53-FC3D-49AC-967D-E8BFA534A859}"/>
                    </a:ext>
                  </a:extLst>
                </p:cNvPr>
                <p:cNvSpPr>
                  <a:spLocks noChangeArrowheads="1"/>
                </p:cNvSpPr>
                <p:nvPr/>
              </p:nvSpPr>
              <p:spPr bwMode="auto">
                <a:xfrm>
                  <a:off x="5136" y="1200"/>
                  <a:ext cx="96" cy="96"/>
                </a:xfrm>
                <a:prstGeom prst="ellipse">
                  <a:avLst/>
                </a:prstGeom>
                <a:solidFill>
                  <a:srgbClr val="FF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en-US" sz="2800">
                    <a:latin typeface="Times New Roman" panose="02020603050405020304" pitchFamily="18" charset="0"/>
                  </a:endParaRPr>
                </a:p>
              </p:txBody>
            </p:sp>
            <p:sp>
              <p:nvSpPr>
                <p:cNvPr id="15535" name="Oval 104">
                  <a:extLst>
                    <a:ext uri="{FF2B5EF4-FFF2-40B4-BE49-F238E27FC236}">
                      <a16:creationId xmlns:a16="http://schemas.microsoft.com/office/drawing/2014/main" id="{DD0FA075-90F9-4342-9CEC-81D269C86221}"/>
                    </a:ext>
                  </a:extLst>
                </p:cNvPr>
                <p:cNvSpPr>
                  <a:spLocks noChangeArrowheads="1"/>
                </p:cNvSpPr>
                <p:nvPr/>
              </p:nvSpPr>
              <p:spPr bwMode="auto">
                <a:xfrm>
                  <a:off x="5136" y="1488"/>
                  <a:ext cx="96" cy="96"/>
                </a:xfrm>
                <a:prstGeom prst="ellipse">
                  <a:avLst/>
                </a:prstGeom>
                <a:solidFill>
                  <a:srgbClr val="FF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en-US" sz="2800">
                    <a:latin typeface="Times New Roman" panose="02020603050405020304" pitchFamily="18" charset="0"/>
                  </a:endParaRPr>
                </a:p>
              </p:txBody>
            </p:sp>
            <p:sp>
              <p:nvSpPr>
                <p:cNvPr id="15536" name="Oval 105">
                  <a:extLst>
                    <a:ext uri="{FF2B5EF4-FFF2-40B4-BE49-F238E27FC236}">
                      <a16:creationId xmlns:a16="http://schemas.microsoft.com/office/drawing/2014/main" id="{C211D0D6-D069-43CB-A850-601E46EF57F0}"/>
                    </a:ext>
                  </a:extLst>
                </p:cNvPr>
                <p:cNvSpPr>
                  <a:spLocks noChangeArrowheads="1"/>
                </p:cNvSpPr>
                <p:nvPr/>
              </p:nvSpPr>
              <p:spPr bwMode="auto">
                <a:xfrm>
                  <a:off x="4848" y="1680"/>
                  <a:ext cx="96" cy="96"/>
                </a:xfrm>
                <a:prstGeom prst="ellipse">
                  <a:avLst/>
                </a:prstGeom>
                <a:solidFill>
                  <a:srgbClr val="FF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en-US" sz="2800">
                    <a:latin typeface="Times New Roman" panose="02020603050405020304" pitchFamily="18" charset="0"/>
                  </a:endParaRPr>
                </a:p>
              </p:txBody>
            </p:sp>
            <p:sp>
              <p:nvSpPr>
                <p:cNvPr id="15537" name="Oval 106">
                  <a:extLst>
                    <a:ext uri="{FF2B5EF4-FFF2-40B4-BE49-F238E27FC236}">
                      <a16:creationId xmlns:a16="http://schemas.microsoft.com/office/drawing/2014/main" id="{0268F883-ADE0-4026-99AC-678D79DE18D9}"/>
                    </a:ext>
                  </a:extLst>
                </p:cNvPr>
                <p:cNvSpPr>
                  <a:spLocks noChangeArrowheads="1"/>
                </p:cNvSpPr>
                <p:nvPr/>
              </p:nvSpPr>
              <p:spPr bwMode="auto">
                <a:xfrm>
                  <a:off x="4512" y="1680"/>
                  <a:ext cx="96" cy="96"/>
                </a:xfrm>
                <a:prstGeom prst="ellipse">
                  <a:avLst/>
                </a:prstGeom>
                <a:solidFill>
                  <a:srgbClr val="FF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en-US" sz="2800">
                    <a:latin typeface="Times New Roman" panose="02020603050405020304" pitchFamily="18" charset="0"/>
                  </a:endParaRPr>
                </a:p>
              </p:txBody>
            </p:sp>
            <p:sp>
              <p:nvSpPr>
                <p:cNvPr id="15538" name="Oval 107">
                  <a:extLst>
                    <a:ext uri="{FF2B5EF4-FFF2-40B4-BE49-F238E27FC236}">
                      <a16:creationId xmlns:a16="http://schemas.microsoft.com/office/drawing/2014/main" id="{DA1A2ABE-42FA-4479-BCC6-C3304A37B6A8}"/>
                    </a:ext>
                  </a:extLst>
                </p:cNvPr>
                <p:cNvSpPr>
                  <a:spLocks noChangeArrowheads="1"/>
                </p:cNvSpPr>
                <p:nvPr/>
              </p:nvSpPr>
              <p:spPr bwMode="auto">
                <a:xfrm>
                  <a:off x="4752" y="1200"/>
                  <a:ext cx="96" cy="96"/>
                </a:xfrm>
                <a:prstGeom prst="ellipse">
                  <a:avLst/>
                </a:prstGeom>
                <a:solidFill>
                  <a:srgbClr val="FF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en-US" sz="2800">
                    <a:latin typeface="Times New Roman" panose="02020603050405020304" pitchFamily="18" charset="0"/>
                  </a:endParaRPr>
                </a:p>
              </p:txBody>
            </p:sp>
            <p:sp>
              <p:nvSpPr>
                <p:cNvPr id="15539" name="Oval 108">
                  <a:extLst>
                    <a:ext uri="{FF2B5EF4-FFF2-40B4-BE49-F238E27FC236}">
                      <a16:creationId xmlns:a16="http://schemas.microsoft.com/office/drawing/2014/main" id="{29F43AA8-1169-432B-8026-36E47B1A799B}"/>
                    </a:ext>
                  </a:extLst>
                </p:cNvPr>
                <p:cNvSpPr>
                  <a:spLocks noChangeArrowheads="1"/>
                </p:cNvSpPr>
                <p:nvPr/>
              </p:nvSpPr>
              <p:spPr bwMode="auto">
                <a:xfrm>
                  <a:off x="4512" y="1248"/>
                  <a:ext cx="96" cy="96"/>
                </a:xfrm>
                <a:prstGeom prst="ellipse">
                  <a:avLst/>
                </a:prstGeom>
                <a:solidFill>
                  <a:srgbClr val="FF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en-US" sz="2800">
                    <a:latin typeface="Times New Roman" panose="02020603050405020304" pitchFamily="18" charset="0"/>
                  </a:endParaRPr>
                </a:p>
              </p:txBody>
            </p:sp>
            <p:sp>
              <p:nvSpPr>
                <p:cNvPr id="15540" name="Line 109">
                  <a:extLst>
                    <a:ext uri="{FF2B5EF4-FFF2-40B4-BE49-F238E27FC236}">
                      <a16:creationId xmlns:a16="http://schemas.microsoft.com/office/drawing/2014/main" id="{F930BC55-DF84-480A-99F2-C437D0063CE0}"/>
                    </a:ext>
                  </a:extLst>
                </p:cNvPr>
                <p:cNvSpPr>
                  <a:spLocks noChangeShapeType="1"/>
                </p:cNvSpPr>
                <p:nvPr/>
              </p:nvSpPr>
              <p:spPr bwMode="auto">
                <a:xfrm>
                  <a:off x="4512" y="1728"/>
                  <a:ext cx="9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541" name="Line 110">
                  <a:extLst>
                    <a:ext uri="{FF2B5EF4-FFF2-40B4-BE49-F238E27FC236}">
                      <a16:creationId xmlns:a16="http://schemas.microsoft.com/office/drawing/2014/main" id="{E443BFE8-4A9C-4EA7-86C6-8066766033DF}"/>
                    </a:ext>
                  </a:extLst>
                </p:cNvPr>
                <p:cNvSpPr>
                  <a:spLocks noChangeShapeType="1"/>
                </p:cNvSpPr>
                <p:nvPr/>
              </p:nvSpPr>
              <p:spPr bwMode="auto">
                <a:xfrm>
                  <a:off x="4512" y="1536"/>
                  <a:ext cx="9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542" name="Line 111">
                  <a:extLst>
                    <a:ext uri="{FF2B5EF4-FFF2-40B4-BE49-F238E27FC236}">
                      <a16:creationId xmlns:a16="http://schemas.microsoft.com/office/drawing/2014/main" id="{B31A6F43-CE40-444E-B605-16D30A7A4B6C}"/>
                    </a:ext>
                  </a:extLst>
                </p:cNvPr>
                <p:cNvSpPr>
                  <a:spLocks noChangeShapeType="1"/>
                </p:cNvSpPr>
                <p:nvPr/>
              </p:nvSpPr>
              <p:spPr bwMode="auto">
                <a:xfrm>
                  <a:off x="4512" y="1296"/>
                  <a:ext cx="9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543" name="Line 112">
                  <a:extLst>
                    <a:ext uri="{FF2B5EF4-FFF2-40B4-BE49-F238E27FC236}">
                      <a16:creationId xmlns:a16="http://schemas.microsoft.com/office/drawing/2014/main" id="{09C48DDD-2B04-4B96-B8C5-EDB568913200}"/>
                    </a:ext>
                  </a:extLst>
                </p:cNvPr>
                <p:cNvSpPr>
                  <a:spLocks noChangeShapeType="1"/>
                </p:cNvSpPr>
                <p:nvPr/>
              </p:nvSpPr>
              <p:spPr bwMode="auto">
                <a:xfrm>
                  <a:off x="4752" y="1248"/>
                  <a:ext cx="9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544" name="Line 113">
                  <a:extLst>
                    <a:ext uri="{FF2B5EF4-FFF2-40B4-BE49-F238E27FC236}">
                      <a16:creationId xmlns:a16="http://schemas.microsoft.com/office/drawing/2014/main" id="{2E830FB2-0AF1-44F1-A7EE-C9BD5B103BFD}"/>
                    </a:ext>
                  </a:extLst>
                </p:cNvPr>
                <p:cNvSpPr>
                  <a:spLocks noChangeShapeType="1"/>
                </p:cNvSpPr>
                <p:nvPr/>
              </p:nvSpPr>
              <p:spPr bwMode="auto">
                <a:xfrm>
                  <a:off x="4752" y="1392"/>
                  <a:ext cx="9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545" name="Line 114">
                  <a:extLst>
                    <a:ext uri="{FF2B5EF4-FFF2-40B4-BE49-F238E27FC236}">
                      <a16:creationId xmlns:a16="http://schemas.microsoft.com/office/drawing/2014/main" id="{A12EB6F3-1D0F-4645-8F4E-2C051F5A56D9}"/>
                    </a:ext>
                  </a:extLst>
                </p:cNvPr>
                <p:cNvSpPr>
                  <a:spLocks noChangeShapeType="1"/>
                </p:cNvSpPr>
                <p:nvPr/>
              </p:nvSpPr>
              <p:spPr bwMode="auto">
                <a:xfrm>
                  <a:off x="4656" y="1680"/>
                  <a:ext cx="9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546" name="Line 115">
                  <a:extLst>
                    <a:ext uri="{FF2B5EF4-FFF2-40B4-BE49-F238E27FC236}">
                      <a16:creationId xmlns:a16="http://schemas.microsoft.com/office/drawing/2014/main" id="{F7D6E363-BEFD-41D2-BCB8-648AD9ED43EC}"/>
                    </a:ext>
                  </a:extLst>
                </p:cNvPr>
                <p:cNvSpPr>
                  <a:spLocks noChangeShapeType="1"/>
                </p:cNvSpPr>
                <p:nvPr/>
              </p:nvSpPr>
              <p:spPr bwMode="auto">
                <a:xfrm>
                  <a:off x="4848" y="1728"/>
                  <a:ext cx="9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547" name="Line 116">
                  <a:extLst>
                    <a:ext uri="{FF2B5EF4-FFF2-40B4-BE49-F238E27FC236}">
                      <a16:creationId xmlns:a16="http://schemas.microsoft.com/office/drawing/2014/main" id="{07115A85-7B16-406D-80C8-C6ACFCD0684A}"/>
                    </a:ext>
                  </a:extLst>
                </p:cNvPr>
                <p:cNvSpPr>
                  <a:spLocks noChangeShapeType="1"/>
                </p:cNvSpPr>
                <p:nvPr/>
              </p:nvSpPr>
              <p:spPr bwMode="auto">
                <a:xfrm>
                  <a:off x="4848" y="1584"/>
                  <a:ext cx="9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548" name="Line 117">
                  <a:extLst>
                    <a:ext uri="{FF2B5EF4-FFF2-40B4-BE49-F238E27FC236}">
                      <a16:creationId xmlns:a16="http://schemas.microsoft.com/office/drawing/2014/main" id="{450ADE7C-5662-40C8-AD50-2BEFA7878D2C}"/>
                    </a:ext>
                  </a:extLst>
                </p:cNvPr>
                <p:cNvSpPr>
                  <a:spLocks noChangeShapeType="1"/>
                </p:cNvSpPr>
                <p:nvPr/>
              </p:nvSpPr>
              <p:spPr bwMode="auto">
                <a:xfrm>
                  <a:off x="5040" y="1440"/>
                  <a:ext cx="9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549" name="Line 118">
                  <a:extLst>
                    <a:ext uri="{FF2B5EF4-FFF2-40B4-BE49-F238E27FC236}">
                      <a16:creationId xmlns:a16="http://schemas.microsoft.com/office/drawing/2014/main" id="{FC143048-1F55-4539-8E67-9F5E680683ED}"/>
                    </a:ext>
                  </a:extLst>
                </p:cNvPr>
                <p:cNvSpPr>
                  <a:spLocks noChangeShapeType="1"/>
                </p:cNvSpPr>
                <p:nvPr/>
              </p:nvSpPr>
              <p:spPr bwMode="auto">
                <a:xfrm>
                  <a:off x="5136" y="1248"/>
                  <a:ext cx="9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550" name="Line 119">
                  <a:extLst>
                    <a:ext uri="{FF2B5EF4-FFF2-40B4-BE49-F238E27FC236}">
                      <a16:creationId xmlns:a16="http://schemas.microsoft.com/office/drawing/2014/main" id="{20787EAA-D9E5-44F7-9DCE-F21209D7951C}"/>
                    </a:ext>
                  </a:extLst>
                </p:cNvPr>
                <p:cNvSpPr>
                  <a:spLocks noChangeShapeType="1"/>
                </p:cNvSpPr>
                <p:nvPr/>
              </p:nvSpPr>
              <p:spPr bwMode="auto">
                <a:xfrm>
                  <a:off x="5136" y="1536"/>
                  <a:ext cx="9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551" name="Line 120">
                  <a:extLst>
                    <a:ext uri="{FF2B5EF4-FFF2-40B4-BE49-F238E27FC236}">
                      <a16:creationId xmlns:a16="http://schemas.microsoft.com/office/drawing/2014/main" id="{C7E0E6F7-A0A9-4A32-BFF0-70BB9CCC017B}"/>
                    </a:ext>
                  </a:extLst>
                </p:cNvPr>
                <p:cNvSpPr>
                  <a:spLocks noChangeShapeType="1"/>
                </p:cNvSpPr>
                <p:nvPr/>
              </p:nvSpPr>
              <p:spPr bwMode="auto">
                <a:xfrm>
                  <a:off x="5088" y="1728"/>
                  <a:ext cx="9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grpSp>
        <p:nvGrpSpPr>
          <p:cNvPr id="306" name="Group 121">
            <a:extLst>
              <a:ext uri="{FF2B5EF4-FFF2-40B4-BE49-F238E27FC236}">
                <a16:creationId xmlns:a16="http://schemas.microsoft.com/office/drawing/2014/main" id="{2D164ACE-0690-4E7C-916D-B145A69A166A}"/>
              </a:ext>
            </a:extLst>
          </p:cNvPr>
          <p:cNvGrpSpPr>
            <a:grpSpLocks/>
          </p:cNvGrpSpPr>
          <p:nvPr/>
        </p:nvGrpSpPr>
        <p:grpSpPr bwMode="auto">
          <a:xfrm>
            <a:off x="4144963" y="4652963"/>
            <a:ext cx="3214687" cy="1681162"/>
            <a:chOff x="3175" y="2404"/>
            <a:chExt cx="2304" cy="1225"/>
          </a:xfrm>
        </p:grpSpPr>
        <p:sp>
          <p:nvSpPr>
            <p:cNvPr id="15381" name="Rectangle 122">
              <a:extLst>
                <a:ext uri="{FF2B5EF4-FFF2-40B4-BE49-F238E27FC236}">
                  <a16:creationId xmlns:a16="http://schemas.microsoft.com/office/drawing/2014/main" id="{45133398-F669-4E07-B6DF-4C5E1B988D27}"/>
                </a:ext>
              </a:extLst>
            </p:cNvPr>
            <p:cNvSpPr>
              <a:spLocks noChangeArrowheads="1"/>
            </p:cNvSpPr>
            <p:nvPr/>
          </p:nvSpPr>
          <p:spPr bwMode="auto">
            <a:xfrm>
              <a:off x="3175" y="2861"/>
              <a:ext cx="2304" cy="768"/>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en-US" sz="2800">
                <a:latin typeface="Times New Roman" panose="02020603050405020304" pitchFamily="18" charset="0"/>
              </a:endParaRPr>
            </a:p>
          </p:txBody>
        </p:sp>
        <p:sp>
          <p:nvSpPr>
            <p:cNvPr id="15382" name="Text Box 123">
              <a:extLst>
                <a:ext uri="{FF2B5EF4-FFF2-40B4-BE49-F238E27FC236}">
                  <a16:creationId xmlns:a16="http://schemas.microsoft.com/office/drawing/2014/main" id="{66E8A0D6-9AD9-44AA-9043-0C0122D70A62}"/>
                </a:ext>
              </a:extLst>
            </p:cNvPr>
            <p:cNvSpPr txBox="1">
              <a:spLocks noChangeArrowheads="1"/>
            </p:cNvSpPr>
            <p:nvPr/>
          </p:nvSpPr>
          <p:spPr bwMode="auto">
            <a:xfrm>
              <a:off x="3231" y="2508"/>
              <a:ext cx="864" cy="336"/>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400">
                  <a:latin typeface="Times New Roman" panose="02020603050405020304" pitchFamily="18" charset="0"/>
                </a:rPr>
                <a:t>P-N</a:t>
              </a:r>
              <a:r>
                <a:rPr kumimoji="1" lang="zh-CN" altLang="zh-CN" sz="2400">
                  <a:latin typeface="Times New Roman" panose="02020603050405020304" pitchFamily="18" charset="0"/>
                </a:rPr>
                <a:t>结</a:t>
              </a:r>
              <a:endParaRPr kumimoji="1" lang="zh-CN" altLang="en-US" sz="2400">
                <a:latin typeface="Times New Roman" panose="02020603050405020304" pitchFamily="18" charset="0"/>
              </a:endParaRPr>
            </a:p>
          </p:txBody>
        </p:sp>
        <p:sp>
          <p:nvSpPr>
            <p:cNvPr id="15383" name="Line 124">
              <a:extLst>
                <a:ext uri="{FF2B5EF4-FFF2-40B4-BE49-F238E27FC236}">
                  <a16:creationId xmlns:a16="http://schemas.microsoft.com/office/drawing/2014/main" id="{0B70A74A-E4D8-412C-992D-4751B2E6AC78}"/>
                </a:ext>
              </a:extLst>
            </p:cNvPr>
            <p:cNvSpPr>
              <a:spLocks noChangeShapeType="1"/>
            </p:cNvSpPr>
            <p:nvPr/>
          </p:nvSpPr>
          <p:spPr bwMode="auto">
            <a:xfrm flipH="1">
              <a:off x="4039" y="2765"/>
              <a:ext cx="480" cy="0"/>
            </a:xfrm>
            <a:prstGeom prst="line">
              <a:avLst/>
            </a:prstGeom>
            <a:noFill/>
            <a:ln w="38100">
              <a:solidFill>
                <a:srgbClr val="0000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5384" name="Object 125">
              <a:extLst>
                <a:ext uri="{FF2B5EF4-FFF2-40B4-BE49-F238E27FC236}">
                  <a16:creationId xmlns:a16="http://schemas.microsoft.com/office/drawing/2014/main" id="{DABB2191-D967-4F7E-BA56-469814EE0A56}"/>
                </a:ext>
              </a:extLst>
            </p:cNvPr>
            <p:cNvGraphicFramePr>
              <a:graphicFrameLocks noChangeAspect="1"/>
            </p:cNvGraphicFramePr>
            <p:nvPr/>
          </p:nvGraphicFramePr>
          <p:xfrm>
            <a:off x="4101" y="2404"/>
            <a:ext cx="392" cy="436"/>
          </p:xfrm>
          <a:graphic>
            <a:graphicData uri="http://schemas.openxmlformats.org/presentationml/2006/ole">
              <mc:AlternateContent xmlns:mc="http://schemas.openxmlformats.org/markup-compatibility/2006">
                <mc:Choice xmlns:v="urn:schemas-microsoft-com:vml" Requires="v">
                  <p:oleObj spid="_x0000_s15728" name="Equation" r:id="rId7" imgW="114266" imgH="133380" progId="Equation.DSMT4">
                    <p:embed/>
                  </p:oleObj>
                </mc:Choice>
                <mc:Fallback>
                  <p:oleObj name="Equation" r:id="rId7" imgW="114266" imgH="133380" progId="Equation.DSMT4">
                    <p:embed/>
                    <p:pic>
                      <p:nvPicPr>
                        <p:cNvPr id="0" name="Object 12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101" y="2404"/>
                          <a:ext cx="392" cy="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385" name="Line 126">
              <a:extLst>
                <a:ext uri="{FF2B5EF4-FFF2-40B4-BE49-F238E27FC236}">
                  <a16:creationId xmlns:a16="http://schemas.microsoft.com/office/drawing/2014/main" id="{F3EFBE18-15C2-40AA-81A2-9C44C0B766AA}"/>
                </a:ext>
              </a:extLst>
            </p:cNvPr>
            <p:cNvSpPr>
              <a:spLocks noChangeShapeType="1"/>
            </p:cNvSpPr>
            <p:nvPr/>
          </p:nvSpPr>
          <p:spPr bwMode="auto">
            <a:xfrm>
              <a:off x="4519" y="2573"/>
              <a:ext cx="0" cy="1056"/>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86" name="Line 127">
              <a:extLst>
                <a:ext uri="{FF2B5EF4-FFF2-40B4-BE49-F238E27FC236}">
                  <a16:creationId xmlns:a16="http://schemas.microsoft.com/office/drawing/2014/main" id="{AAB6D651-162F-4B89-AF13-07B4717A15D6}"/>
                </a:ext>
              </a:extLst>
            </p:cNvPr>
            <p:cNvSpPr>
              <a:spLocks noChangeShapeType="1"/>
            </p:cNvSpPr>
            <p:nvPr/>
          </p:nvSpPr>
          <p:spPr bwMode="auto">
            <a:xfrm>
              <a:off x="4039" y="2621"/>
              <a:ext cx="0" cy="1008"/>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5387" name="Group 128">
              <a:extLst>
                <a:ext uri="{FF2B5EF4-FFF2-40B4-BE49-F238E27FC236}">
                  <a16:creationId xmlns:a16="http://schemas.microsoft.com/office/drawing/2014/main" id="{311B16BA-9351-4DEB-AB51-7B0D4A6334EF}"/>
                </a:ext>
              </a:extLst>
            </p:cNvPr>
            <p:cNvGrpSpPr>
              <a:grpSpLocks/>
            </p:cNvGrpSpPr>
            <p:nvPr/>
          </p:nvGrpSpPr>
          <p:grpSpPr bwMode="auto">
            <a:xfrm>
              <a:off x="3223" y="2909"/>
              <a:ext cx="960" cy="672"/>
              <a:chOff x="3072" y="2736"/>
              <a:chExt cx="960" cy="672"/>
            </a:xfrm>
          </p:grpSpPr>
          <p:sp>
            <p:nvSpPr>
              <p:cNvPr id="15444" name="Oval 129">
                <a:extLst>
                  <a:ext uri="{FF2B5EF4-FFF2-40B4-BE49-F238E27FC236}">
                    <a16:creationId xmlns:a16="http://schemas.microsoft.com/office/drawing/2014/main" id="{BFEE5104-F6AA-4528-98F5-A3380A1F9E20}"/>
                  </a:ext>
                </a:extLst>
              </p:cNvPr>
              <p:cNvSpPr>
                <a:spLocks noChangeArrowheads="1"/>
              </p:cNvSpPr>
              <p:nvPr/>
            </p:nvSpPr>
            <p:spPr bwMode="auto">
              <a:xfrm>
                <a:off x="3648" y="2736"/>
                <a:ext cx="96" cy="9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en-US" sz="2800">
                  <a:latin typeface="Times New Roman" panose="02020603050405020304" pitchFamily="18" charset="0"/>
                </a:endParaRPr>
              </a:p>
            </p:txBody>
          </p:sp>
          <p:sp>
            <p:nvSpPr>
              <p:cNvPr id="15445" name="Oval 130">
                <a:extLst>
                  <a:ext uri="{FF2B5EF4-FFF2-40B4-BE49-F238E27FC236}">
                    <a16:creationId xmlns:a16="http://schemas.microsoft.com/office/drawing/2014/main" id="{AAF1F0FE-2BD4-43DE-A8B3-43C10C8FFA59}"/>
                  </a:ext>
                </a:extLst>
              </p:cNvPr>
              <p:cNvSpPr>
                <a:spLocks noChangeArrowheads="1"/>
              </p:cNvSpPr>
              <p:nvPr/>
            </p:nvSpPr>
            <p:spPr bwMode="auto">
              <a:xfrm>
                <a:off x="3600" y="2976"/>
                <a:ext cx="96" cy="9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en-US" sz="2800">
                  <a:latin typeface="Times New Roman" panose="02020603050405020304" pitchFamily="18" charset="0"/>
                </a:endParaRPr>
              </a:p>
            </p:txBody>
          </p:sp>
          <p:sp>
            <p:nvSpPr>
              <p:cNvPr id="15446" name="Oval 131">
                <a:extLst>
                  <a:ext uri="{FF2B5EF4-FFF2-40B4-BE49-F238E27FC236}">
                    <a16:creationId xmlns:a16="http://schemas.microsoft.com/office/drawing/2014/main" id="{70721629-0BB9-4062-B7ED-5D95E5E413CD}"/>
                  </a:ext>
                </a:extLst>
              </p:cNvPr>
              <p:cNvSpPr>
                <a:spLocks noChangeArrowheads="1"/>
              </p:cNvSpPr>
              <p:nvPr/>
            </p:nvSpPr>
            <p:spPr bwMode="auto">
              <a:xfrm>
                <a:off x="3408" y="2784"/>
                <a:ext cx="96" cy="9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en-US" sz="2800">
                  <a:latin typeface="Times New Roman" panose="02020603050405020304" pitchFamily="18" charset="0"/>
                </a:endParaRPr>
              </a:p>
            </p:txBody>
          </p:sp>
          <p:sp>
            <p:nvSpPr>
              <p:cNvPr id="15447" name="Oval 132">
                <a:extLst>
                  <a:ext uri="{FF2B5EF4-FFF2-40B4-BE49-F238E27FC236}">
                    <a16:creationId xmlns:a16="http://schemas.microsoft.com/office/drawing/2014/main" id="{CEBF632F-0A69-450A-B941-29C84F81E69A}"/>
                  </a:ext>
                </a:extLst>
              </p:cNvPr>
              <p:cNvSpPr>
                <a:spLocks noChangeArrowheads="1"/>
              </p:cNvSpPr>
              <p:nvPr/>
            </p:nvSpPr>
            <p:spPr bwMode="auto">
              <a:xfrm>
                <a:off x="3264" y="2976"/>
                <a:ext cx="96" cy="9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en-US" sz="2800">
                  <a:latin typeface="Times New Roman" panose="02020603050405020304" pitchFamily="18" charset="0"/>
                </a:endParaRPr>
              </a:p>
            </p:txBody>
          </p:sp>
          <p:sp>
            <p:nvSpPr>
              <p:cNvPr id="15448" name="Oval 133">
                <a:extLst>
                  <a:ext uri="{FF2B5EF4-FFF2-40B4-BE49-F238E27FC236}">
                    <a16:creationId xmlns:a16="http://schemas.microsoft.com/office/drawing/2014/main" id="{88273A34-AEF2-478D-9249-58B137A9D564}"/>
                  </a:ext>
                </a:extLst>
              </p:cNvPr>
              <p:cNvSpPr>
                <a:spLocks noChangeArrowheads="1"/>
              </p:cNvSpPr>
              <p:nvPr/>
            </p:nvSpPr>
            <p:spPr bwMode="auto">
              <a:xfrm>
                <a:off x="3408" y="3168"/>
                <a:ext cx="96" cy="9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en-US" sz="2800">
                  <a:latin typeface="Times New Roman" panose="02020603050405020304" pitchFamily="18" charset="0"/>
                </a:endParaRPr>
              </a:p>
            </p:txBody>
          </p:sp>
          <p:sp>
            <p:nvSpPr>
              <p:cNvPr id="15449" name="Oval 134">
                <a:extLst>
                  <a:ext uri="{FF2B5EF4-FFF2-40B4-BE49-F238E27FC236}">
                    <a16:creationId xmlns:a16="http://schemas.microsoft.com/office/drawing/2014/main" id="{966FB183-6878-4919-8B57-86CD0C4F7AE7}"/>
                  </a:ext>
                </a:extLst>
              </p:cNvPr>
              <p:cNvSpPr>
                <a:spLocks noChangeArrowheads="1"/>
              </p:cNvSpPr>
              <p:nvPr/>
            </p:nvSpPr>
            <p:spPr bwMode="auto">
              <a:xfrm>
                <a:off x="3648" y="3168"/>
                <a:ext cx="96" cy="9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en-US" sz="2800">
                  <a:latin typeface="Times New Roman" panose="02020603050405020304" pitchFamily="18" charset="0"/>
                </a:endParaRPr>
              </a:p>
            </p:txBody>
          </p:sp>
          <p:sp>
            <p:nvSpPr>
              <p:cNvPr id="15450" name="Oval 135">
                <a:extLst>
                  <a:ext uri="{FF2B5EF4-FFF2-40B4-BE49-F238E27FC236}">
                    <a16:creationId xmlns:a16="http://schemas.microsoft.com/office/drawing/2014/main" id="{B243B366-57B9-4607-B04A-ACBE5A006E48}"/>
                  </a:ext>
                </a:extLst>
              </p:cNvPr>
              <p:cNvSpPr>
                <a:spLocks noChangeArrowheads="1"/>
              </p:cNvSpPr>
              <p:nvPr/>
            </p:nvSpPr>
            <p:spPr bwMode="auto">
              <a:xfrm>
                <a:off x="3504" y="3312"/>
                <a:ext cx="96" cy="9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en-US" sz="2800">
                  <a:latin typeface="Times New Roman" panose="02020603050405020304" pitchFamily="18" charset="0"/>
                </a:endParaRPr>
              </a:p>
            </p:txBody>
          </p:sp>
          <p:sp>
            <p:nvSpPr>
              <p:cNvPr id="15451" name="Oval 136">
                <a:extLst>
                  <a:ext uri="{FF2B5EF4-FFF2-40B4-BE49-F238E27FC236}">
                    <a16:creationId xmlns:a16="http://schemas.microsoft.com/office/drawing/2014/main" id="{194C291F-4C3A-4B98-BFE1-5DC4FDBE79E0}"/>
                  </a:ext>
                </a:extLst>
              </p:cNvPr>
              <p:cNvSpPr>
                <a:spLocks noChangeArrowheads="1"/>
              </p:cNvSpPr>
              <p:nvPr/>
            </p:nvSpPr>
            <p:spPr bwMode="auto">
              <a:xfrm>
                <a:off x="3216" y="3264"/>
                <a:ext cx="96" cy="9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en-US" sz="2800">
                  <a:latin typeface="Times New Roman" panose="02020603050405020304" pitchFamily="18" charset="0"/>
                </a:endParaRPr>
              </a:p>
            </p:txBody>
          </p:sp>
          <p:sp>
            <p:nvSpPr>
              <p:cNvPr id="15452" name="Oval 137">
                <a:extLst>
                  <a:ext uri="{FF2B5EF4-FFF2-40B4-BE49-F238E27FC236}">
                    <a16:creationId xmlns:a16="http://schemas.microsoft.com/office/drawing/2014/main" id="{AACF5A84-B06A-40FC-BF6E-E3F1E33E087E}"/>
                  </a:ext>
                </a:extLst>
              </p:cNvPr>
              <p:cNvSpPr>
                <a:spLocks noChangeArrowheads="1"/>
              </p:cNvSpPr>
              <p:nvPr/>
            </p:nvSpPr>
            <p:spPr bwMode="auto">
              <a:xfrm>
                <a:off x="3072" y="3024"/>
                <a:ext cx="96" cy="9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en-US" sz="2800">
                  <a:latin typeface="Times New Roman" panose="02020603050405020304" pitchFamily="18" charset="0"/>
                </a:endParaRPr>
              </a:p>
            </p:txBody>
          </p:sp>
          <p:sp>
            <p:nvSpPr>
              <p:cNvPr id="15453" name="Oval 138">
                <a:extLst>
                  <a:ext uri="{FF2B5EF4-FFF2-40B4-BE49-F238E27FC236}">
                    <a16:creationId xmlns:a16="http://schemas.microsoft.com/office/drawing/2014/main" id="{AF8F2078-BBD0-4D13-995C-6A4556547ED9}"/>
                  </a:ext>
                </a:extLst>
              </p:cNvPr>
              <p:cNvSpPr>
                <a:spLocks noChangeArrowheads="1"/>
              </p:cNvSpPr>
              <p:nvPr/>
            </p:nvSpPr>
            <p:spPr bwMode="auto">
              <a:xfrm>
                <a:off x="3168" y="2784"/>
                <a:ext cx="96" cy="9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en-US" sz="2800">
                  <a:latin typeface="Times New Roman" panose="02020603050405020304" pitchFamily="18" charset="0"/>
                </a:endParaRPr>
              </a:p>
            </p:txBody>
          </p:sp>
          <p:sp>
            <p:nvSpPr>
              <p:cNvPr id="15454" name="Oval 139">
                <a:extLst>
                  <a:ext uri="{FF2B5EF4-FFF2-40B4-BE49-F238E27FC236}">
                    <a16:creationId xmlns:a16="http://schemas.microsoft.com/office/drawing/2014/main" id="{A2ADC1E8-0AA2-4F24-8CC5-2FE595C024AC}"/>
                  </a:ext>
                </a:extLst>
              </p:cNvPr>
              <p:cNvSpPr>
                <a:spLocks noChangeArrowheads="1"/>
              </p:cNvSpPr>
              <p:nvPr/>
            </p:nvSpPr>
            <p:spPr bwMode="auto">
              <a:xfrm>
                <a:off x="3408" y="2928"/>
                <a:ext cx="96" cy="9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en-US" sz="2800">
                  <a:latin typeface="Times New Roman" panose="02020603050405020304" pitchFamily="18" charset="0"/>
                </a:endParaRPr>
              </a:p>
            </p:txBody>
          </p:sp>
          <p:sp>
            <p:nvSpPr>
              <p:cNvPr id="15455" name="Oval 140">
                <a:extLst>
                  <a:ext uri="{FF2B5EF4-FFF2-40B4-BE49-F238E27FC236}">
                    <a16:creationId xmlns:a16="http://schemas.microsoft.com/office/drawing/2014/main" id="{49B11ED5-BC5F-4ED9-BC67-FB21BBD74BAC}"/>
                  </a:ext>
                </a:extLst>
              </p:cNvPr>
              <p:cNvSpPr>
                <a:spLocks noChangeArrowheads="1"/>
              </p:cNvSpPr>
              <p:nvPr/>
            </p:nvSpPr>
            <p:spPr bwMode="auto">
              <a:xfrm>
                <a:off x="3696" y="3312"/>
                <a:ext cx="96" cy="9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en-US" sz="2800">
                  <a:latin typeface="Times New Roman" panose="02020603050405020304" pitchFamily="18" charset="0"/>
                </a:endParaRPr>
              </a:p>
            </p:txBody>
          </p:sp>
          <p:sp>
            <p:nvSpPr>
              <p:cNvPr id="15456" name="Oval 141">
                <a:extLst>
                  <a:ext uri="{FF2B5EF4-FFF2-40B4-BE49-F238E27FC236}">
                    <a16:creationId xmlns:a16="http://schemas.microsoft.com/office/drawing/2014/main" id="{F9094EA8-032A-4961-8F2A-B1298D321DA3}"/>
                  </a:ext>
                </a:extLst>
              </p:cNvPr>
              <p:cNvSpPr>
                <a:spLocks noChangeArrowheads="1"/>
              </p:cNvSpPr>
              <p:nvPr/>
            </p:nvSpPr>
            <p:spPr bwMode="auto">
              <a:xfrm>
                <a:off x="3936" y="2736"/>
                <a:ext cx="96" cy="96"/>
              </a:xfrm>
              <a:prstGeom prst="ellipse">
                <a:avLst/>
              </a:prstGeom>
              <a:solidFill>
                <a:srgbClr val="FF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en-US" sz="2800">
                  <a:latin typeface="Times New Roman" panose="02020603050405020304" pitchFamily="18" charset="0"/>
                </a:endParaRPr>
              </a:p>
            </p:txBody>
          </p:sp>
          <p:sp>
            <p:nvSpPr>
              <p:cNvPr id="15457" name="Oval 142">
                <a:extLst>
                  <a:ext uri="{FF2B5EF4-FFF2-40B4-BE49-F238E27FC236}">
                    <a16:creationId xmlns:a16="http://schemas.microsoft.com/office/drawing/2014/main" id="{3F2EBCDE-D350-4CFE-8D5B-BA3CCB4AC146}"/>
                  </a:ext>
                </a:extLst>
              </p:cNvPr>
              <p:cNvSpPr>
                <a:spLocks noChangeArrowheads="1"/>
              </p:cNvSpPr>
              <p:nvPr/>
            </p:nvSpPr>
            <p:spPr bwMode="auto">
              <a:xfrm>
                <a:off x="3936" y="2928"/>
                <a:ext cx="96" cy="96"/>
              </a:xfrm>
              <a:prstGeom prst="ellipse">
                <a:avLst/>
              </a:prstGeom>
              <a:solidFill>
                <a:srgbClr val="FF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en-US" sz="2800">
                  <a:latin typeface="Times New Roman" panose="02020603050405020304" pitchFamily="18" charset="0"/>
                </a:endParaRPr>
              </a:p>
            </p:txBody>
          </p:sp>
          <p:sp>
            <p:nvSpPr>
              <p:cNvPr id="15458" name="Oval 143">
                <a:extLst>
                  <a:ext uri="{FF2B5EF4-FFF2-40B4-BE49-F238E27FC236}">
                    <a16:creationId xmlns:a16="http://schemas.microsoft.com/office/drawing/2014/main" id="{57108969-6D3D-48DB-939B-6AA7B52FEADF}"/>
                  </a:ext>
                </a:extLst>
              </p:cNvPr>
              <p:cNvSpPr>
                <a:spLocks noChangeArrowheads="1"/>
              </p:cNvSpPr>
              <p:nvPr/>
            </p:nvSpPr>
            <p:spPr bwMode="auto">
              <a:xfrm>
                <a:off x="3936" y="3120"/>
                <a:ext cx="96" cy="96"/>
              </a:xfrm>
              <a:prstGeom prst="ellipse">
                <a:avLst/>
              </a:prstGeom>
              <a:solidFill>
                <a:srgbClr val="FF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en-US" sz="2800">
                  <a:latin typeface="Times New Roman" panose="02020603050405020304" pitchFamily="18" charset="0"/>
                </a:endParaRPr>
              </a:p>
            </p:txBody>
          </p:sp>
          <p:sp>
            <p:nvSpPr>
              <p:cNvPr id="15459" name="Oval 144">
                <a:extLst>
                  <a:ext uri="{FF2B5EF4-FFF2-40B4-BE49-F238E27FC236}">
                    <a16:creationId xmlns:a16="http://schemas.microsoft.com/office/drawing/2014/main" id="{224FF91E-FE92-4CA7-A115-C5B9DED7B5E6}"/>
                  </a:ext>
                </a:extLst>
              </p:cNvPr>
              <p:cNvSpPr>
                <a:spLocks noChangeArrowheads="1"/>
              </p:cNvSpPr>
              <p:nvPr/>
            </p:nvSpPr>
            <p:spPr bwMode="auto">
              <a:xfrm>
                <a:off x="3936" y="3312"/>
                <a:ext cx="96" cy="96"/>
              </a:xfrm>
              <a:prstGeom prst="ellipse">
                <a:avLst/>
              </a:prstGeom>
              <a:solidFill>
                <a:srgbClr val="FF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en-US" sz="2800">
                  <a:latin typeface="Times New Roman" panose="02020603050405020304" pitchFamily="18" charset="0"/>
                </a:endParaRPr>
              </a:p>
            </p:txBody>
          </p:sp>
          <p:sp>
            <p:nvSpPr>
              <p:cNvPr id="15460" name="Line 145">
                <a:extLst>
                  <a:ext uri="{FF2B5EF4-FFF2-40B4-BE49-F238E27FC236}">
                    <a16:creationId xmlns:a16="http://schemas.microsoft.com/office/drawing/2014/main" id="{CF7396ED-E1AD-4263-8D6E-5CAED4A544DA}"/>
                  </a:ext>
                </a:extLst>
              </p:cNvPr>
              <p:cNvSpPr>
                <a:spLocks noChangeShapeType="1"/>
              </p:cNvSpPr>
              <p:nvPr/>
            </p:nvSpPr>
            <p:spPr bwMode="auto">
              <a:xfrm>
                <a:off x="3936" y="2784"/>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1" name="Line 146">
                <a:extLst>
                  <a:ext uri="{FF2B5EF4-FFF2-40B4-BE49-F238E27FC236}">
                    <a16:creationId xmlns:a16="http://schemas.microsoft.com/office/drawing/2014/main" id="{0966B2AE-4C72-4C9E-BBAB-89B190CAD133}"/>
                  </a:ext>
                </a:extLst>
              </p:cNvPr>
              <p:cNvSpPr>
                <a:spLocks noChangeShapeType="1"/>
              </p:cNvSpPr>
              <p:nvPr/>
            </p:nvSpPr>
            <p:spPr bwMode="auto">
              <a:xfrm>
                <a:off x="3936" y="2976"/>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2" name="Line 147">
                <a:extLst>
                  <a:ext uri="{FF2B5EF4-FFF2-40B4-BE49-F238E27FC236}">
                    <a16:creationId xmlns:a16="http://schemas.microsoft.com/office/drawing/2014/main" id="{18D2F23E-E312-4B56-A5BF-A79CC3709AB1}"/>
                  </a:ext>
                </a:extLst>
              </p:cNvPr>
              <p:cNvSpPr>
                <a:spLocks noChangeShapeType="1"/>
              </p:cNvSpPr>
              <p:nvPr/>
            </p:nvSpPr>
            <p:spPr bwMode="auto">
              <a:xfrm>
                <a:off x="3936" y="3168"/>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3" name="Line 148">
                <a:extLst>
                  <a:ext uri="{FF2B5EF4-FFF2-40B4-BE49-F238E27FC236}">
                    <a16:creationId xmlns:a16="http://schemas.microsoft.com/office/drawing/2014/main" id="{78649F99-8E4A-4EAD-A9F0-39EEEB0E73A7}"/>
                  </a:ext>
                </a:extLst>
              </p:cNvPr>
              <p:cNvSpPr>
                <a:spLocks noChangeShapeType="1"/>
              </p:cNvSpPr>
              <p:nvPr/>
            </p:nvSpPr>
            <p:spPr bwMode="auto">
              <a:xfrm>
                <a:off x="3936" y="3360"/>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5464" name="Group 149">
                <a:extLst>
                  <a:ext uri="{FF2B5EF4-FFF2-40B4-BE49-F238E27FC236}">
                    <a16:creationId xmlns:a16="http://schemas.microsoft.com/office/drawing/2014/main" id="{62432824-FFAE-4014-856A-AF58E66D831E}"/>
                  </a:ext>
                </a:extLst>
              </p:cNvPr>
              <p:cNvGrpSpPr>
                <a:grpSpLocks/>
              </p:cNvGrpSpPr>
              <p:nvPr/>
            </p:nvGrpSpPr>
            <p:grpSpPr bwMode="auto">
              <a:xfrm>
                <a:off x="3648" y="2736"/>
                <a:ext cx="96" cy="96"/>
                <a:chOff x="2928" y="336"/>
                <a:chExt cx="96" cy="96"/>
              </a:xfrm>
            </p:grpSpPr>
            <p:sp>
              <p:nvSpPr>
                <p:cNvPr id="15502" name="Line 150">
                  <a:extLst>
                    <a:ext uri="{FF2B5EF4-FFF2-40B4-BE49-F238E27FC236}">
                      <a16:creationId xmlns:a16="http://schemas.microsoft.com/office/drawing/2014/main" id="{30D83926-A094-4AB1-937A-218FBAFB87BA}"/>
                    </a:ext>
                  </a:extLst>
                </p:cNvPr>
                <p:cNvSpPr>
                  <a:spLocks noChangeShapeType="1"/>
                </p:cNvSpPr>
                <p:nvPr/>
              </p:nvSpPr>
              <p:spPr bwMode="auto">
                <a:xfrm>
                  <a:off x="2928" y="384"/>
                  <a:ext cx="9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503" name="Line 151">
                  <a:extLst>
                    <a:ext uri="{FF2B5EF4-FFF2-40B4-BE49-F238E27FC236}">
                      <a16:creationId xmlns:a16="http://schemas.microsoft.com/office/drawing/2014/main" id="{362557DB-E9FE-4E55-BB8C-6EEF0EA9F53C}"/>
                    </a:ext>
                  </a:extLst>
                </p:cNvPr>
                <p:cNvSpPr>
                  <a:spLocks noChangeShapeType="1"/>
                </p:cNvSpPr>
                <p:nvPr/>
              </p:nvSpPr>
              <p:spPr bwMode="auto">
                <a:xfrm>
                  <a:off x="2976" y="336"/>
                  <a:ext cx="0" cy="9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5465" name="Group 152">
                <a:extLst>
                  <a:ext uri="{FF2B5EF4-FFF2-40B4-BE49-F238E27FC236}">
                    <a16:creationId xmlns:a16="http://schemas.microsoft.com/office/drawing/2014/main" id="{65DD5049-0FE2-47F4-9ECE-55D28556BB18}"/>
                  </a:ext>
                </a:extLst>
              </p:cNvPr>
              <p:cNvGrpSpPr>
                <a:grpSpLocks/>
              </p:cNvGrpSpPr>
              <p:nvPr/>
            </p:nvGrpSpPr>
            <p:grpSpPr bwMode="auto">
              <a:xfrm>
                <a:off x="3408" y="2784"/>
                <a:ext cx="96" cy="96"/>
                <a:chOff x="2928" y="336"/>
                <a:chExt cx="96" cy="96"/>
              </a:xfrm>
            </p:grpSpPr>
            <p:sp>
              <p:nvSpPr>
                <p:cNvPr id="15500" name="Line 153">
                  <a:extLst>
                    <a:ext uri="{FF2B5EF4-FFF2-40B4-BE49-F238E27FC236}">
                      <a16:creationId xmlns:a16="http://schemas.microsoft.com/office/drawing/2014/main" id="{BB1484E8-E738-4D5F-ADC3-26E313A5338D}"/>
                    </a:ext>
                  </a:extLst>
                </p:cNvPr>
                <p:cNvSpPr>
                  <a:spLocks noChangeShapeType="1"/>
                </p:cNvSpPr>
                <p:nvPr/>
              </p:nvSpPr>
              <p:spPr bwMode="auto">
                <a:xfrm>
                  <a:off x="2928" y="384"/>
                  <a:ext cx="9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501" name="Line 154">
                  <a:extLst>
                    <a:ext uri="{FF2B5EF4-FFF2-40B4-BE49-F238E27FC236}">
                      <a16:creationId xmlns:a16="http://schemas.microsoft.com/office/drawing/2014/main" id="{04C566FD-3654-48EB-B891-9BF63B28EF2C}"/>
                    </a:ext>
                  </a:extLst>
                </p:cNvPr>
                <p:cNvSpPr>
                  <a:spLocks noChangeShapeType="1"/>
                </p:cNvSpPr>
                <p:nvPr/>
              </p:nvSpPr>
              <p:spPr bwMode="auto">
                <a:xfrm>
                  <a:off x="2976" y="336"/>
                  <a:ext cx="0" cy="9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5466" name="Group 155">
                <a:extLst>
                  <a:ext uri="{FF2B5EF4-FFF2-40B4-BE49-F238E27FC236}">
                    <a16:creationId xmlns:a16="http://schemas.microsoft.com/office/drawing/2014/main" id="{8169F1CF-DBB7-4E0A-BF2D-055F32C56689}"/>
                  </a:ext>
                </a:extLst>
              </p:cNvPr>
              <p:cNvGrpSpPr>
                <a:grpSpLocks/>
              </p:cNvGrpSpPr>
              <p:nvPr/>
            </p:nvGrpSpPr>
            <p:grpSpPr bwMode="auto">
              <a:xfrm>
                <a:off x="3168" y="2784"/>
                <a:ext cx="96" cy="96"/>
                <a:chOff x="2928" y="336"/>
                <a:chExt cx="96" cy="96"/>
              </a:xfrm>
            </p:grpSpPr>
            <p:sp>
              <p:nvSpPr>
                <p:cNvPr id="15498" name="Line 156">
                  <a:extLst>
                    <a:ext uri="{FF2B5EF4-FFF2-40B4-BE49-F238E27FC236}">
                      <a16:creationId xmlns:a16="http://schemas.microsoft.com/office/drawing/2014/main" id="{1CFC88FE-90A8-4951-85A6-7E9D81A3C1AF}"/>
                    </a:ext>
                  </a:extLst>
                </p:cNvPr>
                <p:cNvSpPr>
                  <a:spLocks noChangeShapeType="1"/>
                </p:cNvSpPr>
                <p:nvPr/>
              </p:nvSpPr>
              <p:spPr bwMode="auto">
                <a:xfrm>
                  <a:off x="2928" y="384"/>
                  <a:ext cx="9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99" name="Line 157">
                  <a:extLst>
                    <a:ext uri="{FF2B5EF4-FFF2-40B4-BE49-F238E27FC236}">
                      <a16:creationId xmlns:a16="http://schemas.microsoft.com/office/drawing/2014/main" id="{7FE7B751-8A66-4B62-ACE4-E998BD5783CF}"/>
                    </a:ext>
                  </a:extLst>
                </p:cNvPr>
                <p:cNvSpPr>
                  <a:spLocks noChangeShapeType="1"/>
                </p:cNvSpPr>
                <p:nvPr/>
              </p:nvSpPr>
              <p:spPr bwMode="auto">
                <a:xfrm>
                  <a:off x="2976" y="336"/>
                  <a:ext cx="0" cy="9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5467" name="Group 158">
                <a:extLst>
                  <a:ext uri="{FF2B5EF4-FFF2-40B4-BE49-F238E27FC236}">
                    <a16:creationId xmlns:a16="http://schemas.microsoft.com/office/drawing/2014/main" id="{FD44548B-27AB-42FD-9854-3BD7B6B29B04}"/>
                  </a:ext>
                </a:extLst>
              </p:cNvPr>
              <p:cNvGrpSpPr>
                <a:grpSpLocks/>
              </p:cNvGrpSpPr>
              <p:nvPr/>
            </p:nvGrpSpPr>
            <p:grpSpPr bwMode="auto">
              <a:xfrm>
                <a:off x="3072" y="3024"/>
                <a:ext cx="96" cy="96"/>
                <a:chOff x="2928" y="336"/>
                <a:chExt cx="96" cy="96"/>
              </a:xfrm>
            </p:grpSpPr>
            <p:sp>
              <p:nvSpPr>
                <p:cNvPr id="15496" name="Line 159">
                  <a:extLst>
                    <a:ext uri="{FF2B5EF4-FFF2-40B4-BE49-F238E27FC236}">
                      <a16:creationId xmlns:a16="http://schemas.microsoft.com/office/drawing/2014/main" id="{D091265B-D716-4099-9E79-457024E6C374}"/>
                    </a:ext>
                  </a:extLst>
                </p:cNvPr>
                <p:cNvSpPr>
                  <a:spLocks noChangeShapeType="1"/>
                </p:cNvSpPr>
                <p:nvPr/>
              </p:nvSpPr>
              <p:spPr bwMode="auto">
                <a:xfrm>
                  <a:off x="2928" y="384"/>
                  <a:ext cx="9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97" name="Line 160">
                  <a:extLst>
                    <a:ext uri="{FF2B5EF4-FFF2-40B4-BE49-F238E27FC236}">
                      <a16:creationId xmlns:a16="http://schemas.microsoft.com/office/drawing/2014/main" id="{518DD0E0-43E1-46A3-AD51-2B2D03C09E15}"/>
                    </a:ext>
                  </a:extLst>
                </p:cNvPr>
                <p:cNvSpPr>
                  <a:spLocks noChangeShapeType="1"/>
                </p:cNvSpPr>
                <p:nvPr/>
              </p:nvSpPr>
              <p:spPr bwMode="auto">
                <a:xfrm>
                  <a:off x="2976" y="336"/>
                  <a:ext cx="0" cy="9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5468" name="Group 161">
                <a:extLst>
                  <a:ext uri="{FF2B5EF4-FFF2-40B4-BE49-F238E27FC236}">
                    <a16:creationId xmlns:a16="http://schemas.microsoft.com/office/drawing/2014/main" id="{D8935FFF-927F-448D-88B7-98D419E07A4C}"/>
                  </a:ext>
                </a:extLst>
              </p:cNvPr>
              <p:cNvGrpSpPr>
                <a:grpSpLocks/>
              </p:cNvGrpSpPr>
              <p:nvPr/>
            </p:nvGrpSpPr>
            <p:grpSpPr bwMode="auto">
              <a:xfrm>
                <a:off x="3264" y="2976"/>
                <a:ext cx="96" cy="96"/>
                <a:chOff x="2928" y="336"/>
                <a:chExt cx="96" cy="96"/>
              </a:xfrm>
            </p:grpSpPr>
            <p:sp>
              <p:nvSpPr>
                <p:cNvPr id="15494" name="Line 162">
                  <a:extLst>
                    <a:ext uri="{FF2B5EF4-FFF2-40B4-BE49-F238E27FC236}">
                      <a16:creationId xmlns:a16="http://schemas.microsoft.com/office/drawing/2014/main" id="{009A4C06-AA3D-449E-8E43-364BEAEB52BD}"/>
                    </a:ext>
                  </a:extLst>
                </p:cNvPr>
                <p:cNvSpPr>
                  <a:spLocks noChangeShapeType="1"/>
                </p:cNvSpPr>
                <p:nvPr/>
              </p:nvSpPr>
              <p:spPr bwMode="auto">
                <a:xfrm>
                  <a:off x="2928" y="384"/>
                  <a:ext cx="9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95" name="Line 163">
                  <a:extLst>
                    <a:ext uri="{FF2B5EF4-FFF2-40B4-BE49-F238E27FC236}">
                      <a16:creationId xmlns:a16="http://schemas.microsoft.com/office/drawing/2014/main" id="{F12E68A6-4F1F-4A74-8230-595CDF7628CF}"/>
                    </a:ext>
                  </a:extLst>
                </p:cNvPr>
                <p:cNvSpPr>
                  <a:spLocks noChangeShapeType="1"/>
                </p:cNvSpPr>
                <p:nvPr/>
              </p:nvSpPr>
              <p:spPr bwMode="auto">
                <a:xfrm>
                  <a:off x="2976" y="336"/>
                  <a:ext cx="0" cy="9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5469" name="Group 164">
                <a:extLst>
                  <a:ext uri="{FF2B5EF4-FFF2-40B4-BE49-F238E27FC236}">
                    <a16:creationId xmlns:a16="http://schemas.microsoft.com/office/drawing/2014/main" id="{FC63D459-6E2D-475F-804F-324A3E48252A}"/>
                  </a:ext>
                </a:extLst>
              </p:cNvPr>
              <p:cNvGrpSpPr>
                <a:grpSpLocks/>
              </p:cNvGrpSpPr>
              <p:nvPr/>
            </p:nvGrpSpPr>
            <p:grpSpPr bwMode="auto">
              <a:xfrm>
                <a:off x="3408" y="2928"/>
                <a:ext cx="96" cy="96"/>
                <a:chOff x="2928" y="336"/>
                <a:chExt cx="96" cy="96"/>
              </a:xfrm>
            </p:grpSpPr>
            <p:sp>
              <p:nvSpPr>
                <p:cNvPr id="15492" name="Line 165">
                  <a:extLst>
                    <a:ext uri="{FF2B5EF4-FFF2-40B4-BE49-F238E27FC236}">
                      <a16:creationId xmlns:a16="http://schemas.microsoft.com/office/drawing/2014/main" id="{76FC8299-8A37-4DB5-A481-268BA515F3CF}"/>
                    </a:ext>
                  </a:extLst>
                </p:cNvPr>
                <p:cNvSpPr>
                  <a:spLocks noChangeShapeType="1"/>
                </p:cNvSpPr>
                <p:nvPr/>
              </p:nvSpPr>
              <p:spPr bwMode="auto">
                <a:xfrm>
                  <a:off x="2928" y="384"/>
                  <a:ext cx="9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93" name="Line 166">
                  <a:extLst>
                    <a:ext uri="{FF2B5EF4-FFF2-40B4-BE49-F238E27FC236}">
                      <a16:creationId xmlns:a16="http://schemas.microsoft.com/office/drawing/2014/main" id="{6DFE1EAA-3A6A-43EE-BD8D-F5D246E35127}"/>
                    </a:ext>
                  </a:extLst>
                </p:cNvPr>
                <p:cNvSpPr>
                  <a:spLocks noChangeShapeType="1"/>
                </p:cNvSpPr>
                <p:nvPr/>
              </p:nvSpPr>
              <p:spPr bwMode="auto">
                <a:xfrm>
                  <a:off x="2976" y="336"/>
                  <a:ext cx="0" cy="9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5470" name="Group 167">
                <a:extLst>
                  <a:ext uri="{FF2B5EF4-FFF2-40B4-BE49-F238E27FC236}">
                    <a16:creationId xmlns:a16="http://schemas.microsoft.com/office/drawing/2014/main" id="{F60FF5B7-9A47-486C-8114-E5330E75CA3A}"/>
                  </a:ext>
                </a:extLst>
              </p:cNvPr>
              <p:cNvGrpSpPr>
                <a:grpSpLocks/>
              </p:cNvGrpSpPr>
              <p:nvPr/>
            </p:nvGrpSpPr>
            <p:grpSpPr bwMode="auto">
              <a:xfrm>
                <a:off x="3600" y="2976"/>
                <a:ext cx="96" cy="96"/>
                <a:chOff x="2928" y="336"/>
                <a:chExt cx="96" cy="96"/>
              </a:xfrm>
            </p:grpSpPr>
            <p:sp>
              <p:nvSpPr>
                <p:cNvPr id="15490" name="Line 168">
                  <a:extLst>
                    <a:ext uri="{FF2B5EF4-FFF2-40B4-BE49-F238E27FC236}">
                      <a16:creationId xmlns:a16="http://schemas.microsoft.com/office/drawing/2014/main" id="{C6E1963E-4C3F-4258-93EF-A690DD4DBCDA}"/>
                    </a:ext>
                  </a:extLst>
                </p:cNvPr>
                <p:cNvSpPr>
                  <a:spLocks noChangeShapeType="1"/>
                </p:cNvSpPr>
                <p:nvPr/>
              </p:nvSpPr>
              <p:spPr bwMode="auto">
                <a:xfrm>
                  <a:off x="2928" y="384"/>
                  <a:ext cx="9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91" name="Line 169">
                  <a:extLst>
                    <a:ext uri="{FF2B5EF4-FFF2-40B4-BE49-F238E27FC236}">
                      <a16:creationId xmlns:a16="http://schemas.microsoft.com/office/drawing/2014/main" id="{A1D1A34F-9421-4497-9580-B43171664F8E}"/>
                    </a:ext>
                  </a:extLst>
                </p:cNvPr>
                <p:cNvSpPr>
                  <a:spLocks noChangeShapeType="1"/>
                </p:cNvSpPr>
                <p:nvPr/>
              </p:nvSpPr>
              <p:spPr bwMode="auto">
                <a:xfrm>
                  <a:off x="2976" y="336"/>
                  <a:ext cx="0" cy="9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5471" name="Group 170">
                <a:extLst>
                  <a:ext uri="{FF2B5EF4-FFF2-40B4-BE49-F238E27FC236}">
                    <a16:creationId xmlns:a16="http://schemas.microsoft.com/office/drawing/2014/main" id="{A2E4574D-5B87-4E67-A1EF-4ACDD164037F}"/>
                  </a:ext>
                </a:extLst>
              </p:cNvPr>
              <p:cNvGrpSpPr>
                <a:grpSpLocks/>
              </p:cNvGrpSpPr>
              <p:nvPr/>
            </p:nvGrpSpPr>
            <p:grpSpPr bwMode="auto">
              <a:xfrm>
                <a:off x="3648" y="3168"/>
                <a:ext cx="96" cy="96"/>
                <a:chOff x="2928" y="336"/>
                <a:chExt cx="96" cy="96"/>
              </a:xfrm>
            </p:grpSpPr>
            <p:sp>
              <p:nvSpPr>
                <p:cNvPr id="15488" name="Line 171">
                  <a:extLst>
                    <a:ext uri="{FF2B5EF4-FFF2-40B4-BE49-F238E27FC236}">
                      <a16:creationId xmlns:a16="http://schemas.microsoft.com/office/drawing/2014/main" id="{61110171-B499-400C-AD43-E1F1AEEFEC98}"/>
                    </a:ext>
                  </a:extLst>
                </p:cNvPr>
                <p:cNvSpPr>
                  <a:spLocks noChangeShapeType="1"/>
                </p:cNvSpPr>
                <p:nvPr/>
              </p:nvSpPr>
              <p:spPr bwMode="auto">
                <a:xfrm>
                  <a:off x="2928" y="384"/>
                  <a:ext cx="9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89" name="Line 172">
                  <a:extLst>
                    <a:ext uri="{FF2B5EF4-FFF2-40B4-BE49-F238E27FC236}">
                      <a16:creationId xmlns:a16="http://schemas.microsoft.com/office/drawing/2014/main" id="{105B4E4B-D119-4F9D-90FB-50C10741F906}"/>
                    </a:ext>
                  </a:extLst>
                </p:cNvPr>
                <p:cNvSpPr>
                  <a:spLocks noChangeShapeType="1"/>
                </p:cNvSpPr>
                <p:nvPr/>
              </p:nvSpPr>
              <p:spPr bwMode="auto">
                <a:xfrm>
                  <a:off x="2976" y="336"/>
                  <a:ext cx="0" cy="9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5472" name="Group 173">
                <a:extLst>
                  <a:ext uri="{FF2B5EF4-FFF2-40B4-BE49-F238E27FC236}">
                    <a16:creationId xmlns:a16="http://schemas.microsoft.com/office/drawing/2014/main" id="{399460CB-9B27-487D-B313-9C1FEEF870FA}"/>
                  </a:ext>
                </a:extLst>
              </p:cNvPr>
              <p:cNvGrpSpPr>
                <a:grpSpLocks/>
              </p:cNvGrpSpPr>
              <p:nvPr/>
            </p:nvGrpSpPr>
            <p:grpSpPr bwMode="auto">
              <a:xfrm>
                <a:off x="3696" y="3312"/>
                <a:ext cx="96" cy="96"/>
                <a:chOff x="2928" y="336"/>
                <a:chExt cx="96" cy="96"/>
              </a:xfrm>
            </p:grpSpPr>
            <p:sp>
              <p:nvSpPr>
                <p:cNvPr id="15486" name="Line 174">
                  <a:extLst>
                    <a:ext uri="{FF2B5EF4-FFF2-40B4-BE49-F238E27FC236}">
                      <a16:creationId xmlns:a16="http://schemas.microsoft.com/office/drawing/2014/main" id="{48525560-129D-4516-A2B1-96ADB796FE19}"/>
                    </a:ext>
                  </a:extLst>
                </p:cNvPr>
                <p:cNvSpPr>
                  <a:spLocks noChangeShapeType="1"/>
                </p:cNvSpPr>
                <p:nvPr/>
              </p:nvSpPr>
              <p:spPr bwMode="auto">
                <a:xfrm>
                  <a:off x="2928" y="384"/>
                  <a:ext cx="9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87" name="Line 175">
                  <a:extLst>
                    <a:ext uri="{FF2B5EF4-FFF2-40B4-BE49-F238E27FC236}">
                      <a16:creationId xmlns:a16="http://schemas.microsoft.com/office/drawing/2014/main" id="{BE063A50-825C-4BE5-A054-F8A2A25B8D35}"/>
                    </a:ext>
                  </a:extLst>
                </p:cNvPr>
                <p:cNvSpPr>
                  <a:spLocks noChangeShapeType="1"/>
                </p:cNvSpPr>
                <p:nvPr/>
              </p:nvSpPr>
              <p:spPr bwMode="auto">
                <a:xfrm>
                  <a:off x="2976" y="336"/>
                  <a:ext cx="0" cy="9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5473" name="Group 176">
                <a:extLst>
                  <a:ext uri="{FF2B5EF4-FFF2-40B4-BE49-F238E27FC236}">
                    <a16:creationId xmlns:a16="http://schemas.microsoft.com/office/drawing/2014/main" id="{D3ABD2CA-A704-477E-989E-138528D94BC8}"/>
                  </a:ext>
                </a:extLst>
              </p:cNvPr>
              <p:cNvGrpSpPr>
                <a:grpSpLocks/>
              </p:cNvGrpSpPr>
              <p:nvPr/>
            </p:nvGrpSpPr>
            <p:grpSpPr bwMode="auto">
              <a:xfrm>
                <a:off x="3408" y="3168"/>
                <a:ext cx="96" cy="96"/>
                <a:chOff x="2928" y="336"/>
                <a:chExt cx="96" cy="96"/>
              </a:xfrm>
            </p:grpSpPr>
            <p:sp>
              <p:nvSpPr>
                <p:cNvPr id="15484" name="Line 177">
                  <a:extLst>
                    <a:ext uri="{FF2B5EF4-FFF2-40B4-BE49-F238E27FC236}">
                      <a16:creationId xmlns:a16="http://schemas.microsoft.com/office/drawing/2014/main" id="{E09EB377-003D-47E6-BF52-14EAD5DD9518}"/>
                    </a:ext>
                  </a:extLst>
                </p:cNvPr>
                <p:cNvSpPr>
                  <a:spLocks noChangeShapeType="1"/>
                </p:cNvSpPr>
                <p:nvPr/>
              </p:nvSpPr>
              <p:spPr bwMode="auto">
                <a:xfrm>
                  <a:off x="2928" y="384"/>
                  <a:ext cx="9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85" name="Line 178">
                  <a:extLst>
                    <a:ext uri="{FF2B5EF4-FFF2-40B4-BE49-F238E27FC236}">
                      <a16:creationId xmlns:a16="http://schemas.microsoft.com/office/drawing/2014/main" id="{B7820269-CEC3-4A34-80F3-FF4E71D76B15}"/>
                    </a:ext>
                  </a:extLst>
                </p:cNvPr>
                <p:cNvSpPr>
                  <a:spLocks noChangeShapeType="1"/>
                </p:cNvSpPr>
                <p:nvPr/>
              </p:nvSpPr>
              <p:spPr bwMode="auto">
                <a:xfrm>
                  <a:off x="2976" y="336"/>
                  <a:ext cx="0" cy="9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5474" name="Group 179">
                <a:extLst>
                  <a:ext uri="{FF2B5EF4-FFF2-40B4-BE49-F238E27FC236}">
                    <a16:creationId xmlns:a16="http://schemas.microsoft.com/office/drawing/2014/main" id="{172EDEDA-4169-4C53-BC5C-2D4273B82638}"/>
                  </a:ext>
                </a:extLst>
              </p:cNvPr>
              <p:cNvGrpSpPr>
                <a:grpSpLocks/>
              </p:cNvGrpSpPr>
              <p:nvPr/>
            </p:nvGrpSpPr>
            <p:grpSpPr bwMode="auto">
              <a:xfrm>
                <a:off x="3504" y="3312"/>
                <a:ext cx="96" cy="96"/>
                <a:chOff x="2928" y="336"/>
                <a:chExt cx="96" cy="96"/>
              </a:xfrm>
            </p:grpSpPr>
            <p:sp>
              <p:nvSpPr>
                <p:cNvPr id="15482" name="Line 180">
                  <a:extLst>
                    <a:ext uri="{FF2B5EF4-FFF2-40B4-BE49-F238E27FC236}">
                      <a16:creationId xmlns:a16="http://schemas.microsoft.com/office/drawing/2014/main" id="{6D83009C-16BF-4141-95FD-8A1F0FBE73BD}"/>
                    </a:ext>
                  </a:extLst>
                </p:cNvPr>
                <p:cNvSpPr>
                  <a:spLocks noChangeShapeType="1"/>
                </p:cNvSpPr>
                <p:nvPr/>
              </p:nvSpPr>
              <p:spPr bwMode="auto">
                <a:xfrm>
                  <a:off x="2928" y="384"/>
                  <a:ext cx="9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83" name="Line 181">
                  <a:extLst>
                    <a:ext uri="{FF2B5EF4-FFF2-40B4-BE49-F238E27FC236}">
                      <a16:creationId xmlns:a16="http://schemas.microsoft.com/office/drawing/2014/main" id="{91184D45-B8C5-4B12-A5B6-F296637823D9}"/>
                    </a:ext>
                  </a:extLst>
                </p:cNvPr>
                <p:cNvSpPr>
                  <a:spLocks noChangeShapeType="1"/>
                </p:cNvSpPr>
                <p:nvPr/>
              </p:nvSpPr>
              <p:spPr bwMode="auto">
                <a:xfrm>
                  <a:off x="2976" y="336"/>
                  <a:ext cx="0" cy="9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5475" name="Group 182">
                <a:extLst>
                  <a:ext uri="{FF2B5EF4-FFF2-40B4-BE49-F238E27FC236}">
                    <a16:creationId xmlns:a16="http://schemas.microsoft.com/office/drawing/2014/main" id="{18301B29-9DC7-4A64-9414-63493142DCDC}"/>
                  </a:ext>
                </a:extLst>
              </p:cNvPr>
              <p:cNvGrpSpPr>
                <a:grpSpLocks/>
              </p:cNvGrpSpPr>
              <p:nvPr/>
            </p:nvGrpSpPr>
            <p:grpSpPr bwMode="auto">
              <a:xfrm>
                <a:off x="3216" y="3264"/>
                <a:ext cx="96" cy="96"/>
                <a:chOff x="2928" y="336"/>
                <a:chExt cx="96" cy="96"/>
              </a:xfrm>
            </p:grpSpPr>
            <p:sp>
              <p:nvSpPr>
                <p:cNvPr id="15480" name="Line 183">
                  <a:extLst>
                    <a:ext uri="{FF2B5EF4-FFF2-40B4-BE49-F238E27FC236}">
                      <a16:creationId xmlns:a16="http://schemas.microsoft.com/office/drawing/2014/main" id="{D00E549A-5194-4D83-8742-B6636144B3B8}"/>
                    </a:ext>
                  </a:extLst>
                </p:cNvPr>
                <p:cNvSpPr>
                  <a:spLocks noChangeShapeType="1"/>
                </p:cNvSpPr>
                <p:nvPr/>
              </p:nvSpPr>
              <p:spPr bwMode="auto">
                <a:xfrm>
                  <a:off x="2928" y="384"/>
                  <a:ext cx="9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81" name="Line 184">
                  <a:extLst>
                    <a:ext uri="{FF2B5EF4-FFF2-40B4-BE49-F238E27FC236}">
                      <a16:creationId xmlns:a16="http://schemas.microsoft.com/office/drawing/2014/main" id="{8F52206D-9CE9-436D-8E17-BE1008FDF688}"/>
                    </a:ext>
                  </a:extLst>
                </p:cNvPr>
                <p:cNvSpPr>
                  <a:spLocks noChangeShapeType="1"/>
                </p:cNvSpPr>
                <p:nvPr/>
              </p:nvSpPr>
              <p:spPr bwMode="auto">
                <a:xfrm>
                  <a:off x="2976" y="336"/>
                  <a:ext cx="0" cy="9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5476" name="Line 185">
                <a:extLst>
                  <a:ext uri="{FF2B5EF4-FFF2-40B4-BE49-F238E27FC236}">
                    <a16:creationId xmlns:a16="http://schemas.microsoft.com/office/drawing/2014/main" id="{8D9638B5-3D25-4B31-9A3B-2CE3717F3FB2}"/>
                  </a:ext>
                </a:extLst>
              </p:cNvPr>
              <p:cNvSpPr>
                <a:spLocks noChangeShapeType="1"/>
              </p:cNvSpPr>
              <p:nvPr/>
            </p:nvSpPr>
            <p:spPr bwMode="auto">
              <a:xfrm>
                <a:off x="3936" y="2784"/>
                <a:ext cx="9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77" name="Line 186">
                <a:extLst>
                  <a:ext uri="{FF2B5EF4-FFF2-40B4-BE49-F238E27FC236}">
                    <a16:creationId xmlns:a16="http://schemas.microsoft.com/office/drawing/2014/main" id="{8DD88CAF-231B-4389-81DC-A1AAD49720A0}"/>
                  </a:ext>
                </a:extLst>
              </p:cNvPr>
              <p:cNvSpPr>
                <a:spLocks noChangeShapeType="1"/>
              </p:cNvSpPr>
              <p:nvPr/>
            </p:nvSpPr>
            <p:spPr bwMode="auto">
              <a:xfrm>
                <a:off x="3936" y="2976"/>
                <a:ext cx="9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78" name="Line 187">
                <a:extLst>
                  <a:ext uri="{FF2B5EF4-FFF2-40B4-BE49-F238E27FC236}">
                    <a16:creationId xmlns:a16="http://schemas.microsoft.com/office/drawing/2014/main" id="{8D9C695A-D029-42AD-B74C-908E41160990}"/>
                  </a:ext>
                </a:extLst>
              </p:cNvPr>
              <p:cNvSpPr>
                <a:spLocks noChangeShapeType="1"/>
              </p:cNvSpPr>
              <p:nvPr/>
            </p:nvSpPr>
            <p:spPr bwMode="auto">
              <a:xfrm>
                <a:off x="3936" y="3168"/>
                <a:ext cx="9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79" name="Line 188">
                <a:extLst>
                  <a:ext uri="{FF2B5EF4-FFF2-40B4-BE49-F238E27FC236}">
                    <a16:creationId xmlns:a16="http://schemas.microsoft.com/office/drawing/2014/main" id="{FDB178CD-F854-40B8-9702-F6067F2397AE}"/>
                  </a:ext>
                </a:extLst>
              </p:cNvPr>
              <p:cNvSpPr>
                <a:spLocks noChangeShapeType="1"/>
              </p:cNvSpPr>
              <p:nvPr/>
            </p:nvSpPr>
            <p:spPr bwMode="auto">
              <a:xfrm>
                <a:off x="3936" y="3360"/>
                <a:ext cx="9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5388" name="Group 189">
              <a:extLst>
                <a:ext uri="{FF2B5EF4-FFF2-40B4-BE49-F238E27FC236}">
                  <a16:creationId xmlns:a16="http://schemas.microsoft.com/office/drawing/2014/main" id="{C700EAAA-8A9E-46BC-A8FB-38F453771FB4}"/>
                </a:ext>
              </a:extLst>
            </p:cNvPr>
            <p:cNvGrpSpPr>
              <a:grpSpLocks/>
            </p:cNvGrpSpPr>
            <p:nvPr/>
          </p:nvGrpSpPr>
          <p:grpSpPr bwMode="auto">
            <a:xfrm>
              <a:off x="4375" y="2909"/>
              <a:ext cx="1008" cy="672"/>
              <a:chOff x="4224" y="2736"/>
              <a:chExt cx="1008" cy="672"/>
            </a:xfrm>
          </p:grpSpPr>
          <p:sp>
            <p:nvSpPr>
              <p:cNvPr id="15389" name="Oval 190">
                <a:extLst>
                  <a:ext uri="{FF2B5EF4-FFF2-40B4-BE49-F238E27FC236}">
                    <a16:creationId xmlns:a16="http://schemas.microsoft.com/office/drawing/2014/main" id="{3957DEA6-BA07-48E0-9A4A-21CAA16169B0}"/>
                  </a:ext>
                </a:extLst>
              </p:cNvPr>
              <p:cNvSpPr>
                <a:spLocks noChangeArrowheads="1"/>
              </p:cNvSpPr>
              <p:nvPr/>
            </p:nvSpPr>
            <p:spPr bwMode="auto">
              <a:xfrm>
                <a:off x="4464" y="2784"/>
                <a:ext cx="96" cy="96"/>
              </a:xfrm>
              <a:prstGeom prst="ellipse">
                <a:avLst/>
              </a:prstGeom>
              <a:solidFill>
                <a:srgbClr val="FF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en-US" sz="2800">
                  <a:latin typeface="Times New Roman" panose="02020603050405020304" pitchFamily="18" charset="0"/>
                </a:endParaRPr>
              </a:p>
            </p:txBody>
          </p:sp>
          <p:sp>
            <p:nvSpPr>
              <p:cNvPr id="15390" name="Oval 191">
                <a:extLst>
                  <a:ext uri="{FF2B5EF4-FFF2-40B4-BE49-F238E27FC236}">
                    <a16:creationId xmlns:a16="http://schemas.microsoft.com/office/drawing/2014/main" id="{441461A7-1C2C-4967-A84C-3FB999AAF60E}"/>
                  </a:ext>
                </a:extLst>
              </p:cNvPr>
              <p:cNvSpPr>
                <a:spLocks noChangeArrowheads="1"/>
              </p:cNvSpPr>
              <p:nvPr/>
            </p:nvSpPr>
            <p:spPr bwMode="auto">
              <a:xfrm>
                <a:off x="4608" y="2784"/>
                <a:ext cx="96" cy="96"/>
              </a:xfrm>
              <a:prstGeom prst="ellipse">
                <a:avLst/>
              </a:prstGeom>
              <a:solidFill>
                <a:srgbClr val="FF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en-US" sz="2800">
                  <a:latin typeface="Times New Roman" panose="02020603050405020304" pitchFamily="18" charset="0"/>
                </a:endParaRPr>
              </a:p>
            </p:txBody>
          </p:sp>
          <p:sp>
            <p:nvSpPr>
              <p:cNvPr id="15391" name="Oval 192">
                <a:extLst>
                  <a:ext uri="{FF2B5EF4-FFF2-40B4-BE49-F238E27FC236}">
                    <a16:creationId xmlns:a16="http://schemas.microsoft.com/office/drawing/2014/main" id="{70C48E3D-8ED3-45D9-86AF-CAD9F48F15C7}"/>
                  </a:ext>
                </a:extLst>
              </p:cNvPr>
              <p:cNvSpPr>
                <a:spLocks noChangeArrowheads="1"/>
              </p:cNvSpPr>
              <p:nvPr/>
            </p:nvSpPr>
            <p:spPr bwMode="auto">
              <a:xfrm>
                <a:off x="4992" y="2784"/>
                <a:ext cx="96" cy="96"/>
              </a:xfrm>
              <a:prstGeom prst="ellipse">
                <a:avLst/>
              </a:prstGeom>
              <a:solidFill>
                <a:srgbClr val="FF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en-US" sz="2800">
                  <a:latin typeface="Times New Roman" panose="02020603050405020304" pitchFamily="18" charset="0"/>
                </a:endParaRPr>
              </a:p>
            </p:txBody>
          </p:sp>
          <p:sp>
            <p:nvSpPr>
              <p:cNvPr id="15392" name="Oval 193">
                <a:extLst>
                  <a:ext uri="{FF2B5EF4-FFF2-40B4-BE49-F238E27FC236}">
                    <a16:creationId xmlns:a16="http://schemas.microsoft.com/office/drawing/2014/main" id="{C0C9F2AF-3837-4279-A2F5-CA062D4B53B9}"/>
                  </a:ext>
                </a:extLst>
              </p:cNvPr>
              <p:cNvSpPr>
                <a:spLocks noChangeArrowheads="1"/>
              </p:cNvSpPr>
              <p:nvPr/>
            </p:nvSpPr>
            <p:spPr bwMode="auto">
              <a:xfrm>
                <a:off x="4896" y="2928"/>
                <a:ext cx="96" cy="96"/>
              </a:xfrm>
              <a:prstGeom prst="ellipse">
                <a:avLst/>
              </a:prstGeom>
              <a:solidFill>
                <a:srgbClr val="FF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en-US" sz="2800">
                  <a:latin typeface="Times New Roman" panose="02020603050405020304" pitchFamily="18" charset="0"/>
                </a:endParaRPr>
              </a:p>
            </p:txBody>
          </p:sp>
          <p:sp>
            <p:nvSpPr>
              <p:cNvPr id="15393" name="Oval 194">
                <a:extLst>
                  <a:ext uri="{FF2B5EF4-FFF2-40B4-BE49-F238E27FC236}">
                    <a16:creationId xmlns:a16="http://schemas.microsoft.com/office/drawing/2014/main" id="{DAF29E09-1D46-4D11-B934-F56904678F11}"/>
                  </a:ext>
                </a:extLst>
              </p:cNvPr>
              <p:cNvSpPr>
                <a:spLocks noChangeArrowheads="1"/>
              </p:cNvSpPr>
              <p:nvPr/>
            </p:nvSpPr>
            <p:spPr bwMode="auto">
              <a:xfrm>
                <a:off x="4704" y="3120"/>
                <a:ext cx="96" cy="96"/>
              </a:xfrm>
              <a:prstGeom prst="ellipse">
                <a:avLst/>
              </a:prstGeom>
              <a:solidFill>
                <a:srgbClr val="FF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en-US" sz="2800">
                  <a:latin typeface="Times New Roman" panose="02020603050405020304" pitchFamily="18" charset="0"/>
                </a:endParaRPr>
              </a:p>
            </p:txBody>
          </p:sp>
          <p:sp>
            <p:nvSpPr>
              <p:cNvPr id="15394" name="Oval 195">
                <a:extLst>
                  <a:ext uri="{FF2B5EF4-FFF2-40B4-BE49-F238E27FC236}">
                    <a16:creationId xmlns:a16="http://schemas.microsoft.com/office/drawing/2014/main" id="{589E7072-1277-43BC-8846-22A0ACF4F373}"/>
                  </a:ext>
                </a:extLst>
              </p:cNvPr>
              <p:cNvSpPr>
                <a:spLocks noChangeArrowheads="1"/>
              </p:cNvSpPr>
              <p:nvPr/>
            </p:nvSpPr>
            <p:spPr bwMode="auto">
              <a:xfrm>
                <a:off x="4992" y="3120"/>
                <a:ext cx="96" cy="96"/>
              </a:xfrm>
              <a:prstGeom prst="ellipse">
                <a:avLst/>
              </a:prstGeom>
              <a:solidFill>
                <a:srgbClr val="FF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en-US" sz="2800">
                  <a:latin typeface="Times New Roman" panose="02020603050405020304" pitchFamily="18" charset="0"/>
                </a:endParaRPr>
              </a:p>
            </p:txBody>
          </p:sp>
          <p:sp>
            <p:nvSpPr>
              <p:cNvPr id="15395" name="Oval 196">
                <a:extLst>
                  <a:ext uri="{FF2B5EF4-FFF2-40B4-BE49-F238E27FC236}">
                    <a16:creationId xmlns:a16="http://schemas.microsoft.com/office/drawing/2014/main" id="{F0D46959-620C-4E32-8DBA-AFC84F339AEB}"/>
                  </a:ext>
                </a:extLst>
              </p:cNvPr>
              <p:cNvSpPr>
                <a:spLocks noChangeArrowheads="1"/>
              </p:cNvSpPr>
              <p:nvPr/>
            </p:nvSpPr>
            <p:spPr bwMode="auto">
              <a:xfrm>
                <a:off x="4896" y="3216"/>
                <a:ext cx="96" cy="96"/>
              </a:xfrm>
              <a:prstGeom prst="ellipse">
                <a:avLst/>
              </a:prstGeom>
              <a:solidFill>
                <a:srgbClr val="FF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en-US" sz="2800">
                  <a:latin typeface="Times New Roman" panose="02020603050405020304" pitchFamily="18" charset="0"/>
                </a:endParaRPr>
              </a:p>
            </p:txBody>
          </p:sp>
          <p:sp>
            <p:nvSpPr>
              <p:cNvPr id="15396" name="Oval 197">
                <a:extLst>
                  <a:ext uri="{FF2B5EF4-FFF2-40B4-BE49-F238E27FC236}">
                    <a16:creationId xmlns:a16="http://schemas.microsoft.com/office/drawing/2014/main" id="{1E510770-EA30-46F6-836E-CECA1DE9B1B5}"/>
                  </a:ext>
                </a:extLst>
              </p:cNvPr>
              <p:cNvSpPr>
                <a:spLocks noChangeArrowheads="1"/>
              </p:cNvSpPr>
              <p:nvPr/>
            </p:nvSpPr>
            <p:spPr bwMode="auto">
              <a:xfrm>
                <a:off x="5136" y="2976"/>
                <a:ext cx="96" cy="96"/>
              </a:xfrm>
              <a:prstGeom prst="ellipse">
                <a:avLst/>
              </a:prstGeom>
              <a:solidFill>
                <a:srgbClr val="FF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en-US" sz="2800">
                  <a:latin typeface="Times New Roman" panose="02020603050405020304" pitchFamily="18" charset="0"/>
                </a:endParaRPr>
              </a:p>
            </p:txBody>
          </p:sp>
          <p:sp>
            <p:nvSpPr>
              <p:cNvPr id="15397" name="Oval 198">
                <a:extLst>
                  <a:ext uri="{FF2B5EF4-FFF2-40B4-BE49-F238E27FC236}">
                    <a16:creationId xmlns:a16="http://schemas.microsoft.com/office/drawing/2014/main" id="{E686782E-B442-471D-B930-0D3E564864F9}"/>
                  </a:ext>
                </a:extLst>
              </p:cNvPr>
              <p:cNvSpPr>
                <a:spLocks noChangeArrowheads="1"/>
              </p:cNvSpPr>
              <p:nvPr/>
            </p:nvSpPr>
            <p:spPr bwMode="auto">
              <a:xfrm>
                <a:off x="4464" y="3072"/>
                <a:ext cx="96" cy="96"/>
              </a:xfrm>
              <a:prstGeom prst="ellipse">
                <a:avLst/>
              </a:prstGeom>
              <a:solidFill>
                <a:srgbClr val="FF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en-US" sz="2800">
                  <a:latin typeface="Times New Roman" panose="02020603050405020304" pitchFamily="18" charset="0"/>
                </a:endParaRPr>
              </a:p>
            </p:txBody>
          </p:sp>
          <p:sp>
            <p:nvSpPr>
              <p:cNvPr id="15398" name="Oval 199">
                <a:extLst>
                  <a:ext uri="{FF2B5EF4-FFF2-40B4-BE49-F238E27FC236}">
                    <a16:creationId xmlns:a16="http://schemas.microsoft.com/office/drawing/2014/main" id="{FF60032F-5CD6-4C97-BD3A-776C8370B79B}"/>
                  </a:ext>
                </a:extLst>
              </p:cNvPr>
              <p:cNvSpPr>
                <a:spLocks noChangeArrowheads="1"/>
              </p:cNvSpPr>
              <p:nvPr/>
            </p:nvSpPr>
            <p:spPr bwMode="auto">
              <a:xfrm>
                <a:off x="4560" y="3216"/>
                <a:ext cx="96" cy="96"/>
              </a:xfrm>
              <a:prstGeom prst="ellipse">
                <a:avLst/>
              </a:prstGeom>
              <a:solidFill>
                <a:srgbClr val="FF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en-US" sz="2800">
                  <a:latin typeface="Times New Roman" panose="02020603050405020304" pitchFamily="18" charset="0"/>
                </a:endParaRPr>
              </a:p>
            </p:txBody>
          </p:sp>
          <p:sp>
            <p:nvSpPr>
              <p:cNvPr id="15399" name="Oval 200">
                <a:extLst>
                  <a:ext uri="{FF2B5EF4-FFF2-40B4-BE49-F238E27FC236}">
                    <a16:creationId xmlns:a16="http://schemas.microsoft.com/office/drawing/2014/main" id="{D8292046-F8C1-48FB-9627-BEDE95E8CB7F}"/>
                  </a:ext>
                </a:extLst>
              </p:cNvPr>
              <p:cNvSpPr>
                <a:spLocks noChangeArrowheads="1"/>
              </p:cNvSpPr>
              <p:nvPr/>
            </p:nvSpPr>
            <p:spPr bwMode="auto">
              <a:xfrm>
                <a:off x="4656" y="2928"/>
                <a:ext cx="96" cy="96"/>
              </a:xfrm>
              <a:prstGeom prst="ellipse">
                <a:avLst/>
              </a:prstGeom>
              <a:solidFill>
                <a:srgbClr val="FF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en-US" sz="2800">
                  <a:latin typeface="Times New Roman" panose="02020603050405020304" pitchFamily="18" charset="0"/>
                </a:endParaRPr>
              </a:p>
            </p:txBody>
          </p:sp>
          <p:sp>
            <p:nvSpPr>
              <p:cNvPr id="15400" name="Oval 201">
                <a:extLst>
                  <a:ext uri="{FF2B5EF4-FFF2-40B4-BE49-F238E27FC236}">
                    <a16:creationId xmlns:a16="http://schemas.microsoft.com/office/drawing/2014/main" id="{3ADE9ED2-EF04-4E18-88A5-D4E80D675E81}"/>
                  </a:ext>
                </a:extLst>
              </p:cNvPr>
              <p:cNvSpPr>
                <a:spLocks noChangeArrowheads="1"/>
              </p:cNvSpPr>
              <p:nvPr/>
            </p:nvSpPr>
            <p:spPr bwMode="auto">
              <a:xfrm>
                <a:off x="4704" y="3264"/>
                <a:ext cx="96" cy="96"/>
              </a:xfrm>
              <a:prstGeom prst="ellipse">
                <a:avLst/>
              </a:prstGeom>
              <a:solidFill>
                <a:srgbClr val="FF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en-US" sz="2800">
                  <a:latin typeface="Times New Roman" panose="02020603050405020304" pitchFamily="18" charset="0"/>
                </a:endParaRPr>
              </a:p>
            </p:txBody>
          </p:sp>
          <p:sp>
            <p:nvSpPr>
              <p:cNvPr id="15401" name="Oval 202">
                <a:extLst>
                  <a:ext uri="{FF2B5EF4-FFF2-40B4-BE49-F238E27FC236}">
                    <a16:creationId xmlns:a16="http://schemas.microsoft.com/office/drawing/2014/main" id="{A882A209-6671-4C48-B229-F46678C1621C}"/>
                  </a:ext>
                </a:extLst>
              </p:cNvPr>
              <p:cNvSpPr>
                <a:spLocks noChangeArrowheads="1"/>
              </p:cNvSpPr>
              <p:nvPr/>
            </p:nvSpPr>
            <p:spPr bwMode="auto">
              <a:xfrm>
                <a:off x="4224" y="2928"/>
                <a:ext cx="96" cy="9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en-US" sz="2800">
                  <a:latin typeface="Times New Roman" panose="02020603050405020304" pitchFamily="18" charset="0"/>
                </a:endParaRPr>
              </a:p>
            </p:txBody>
          </p:sp>
          <p:sp>
            <p:nvSpPr>
              <p:cNvPr id="15402" name="Oval 203">
                <a:extLst>
                  <a:ext uri="{FF2B5EF4-FFF2-40B4-BE49-F238E27FC236}">
                    <a16:creationId xmlns:a16="http://schemas.microsoft.com/office/drawing/2014/main" id="{CDF19003-361A-4D6E-B8CD-19D82FE3EFC0}"/>
                  </a:ext>
                </a:extLst>
              </p:cNvPr>
              <p:cNvSpPr>
                <a:spLocks noChangeArrowheads="1"/>
              </p:cNvSpPr>
              <p:nvPr/>
            </p:nvSpPr>
            <p:spPr bwMode="auto">
              <a:xfrm>
                <a:off x="4224" y="3120"/>
                <a:ext cx="96" cy="9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en-US" sz="2800">
                  <a:latin typeface="Times New Roman" panose="02020603050405020304" pitchFamily="18" charset="0"/>
                </a:endParaRPr>
              </a:p>
            </p:txBody>
          </p:sp>
          <p:sp>
            <p:nvSpPr>
              <p:cNvPr id="15403" name="Oval 204">
                <a:extLst>
                  <a:ext uri="{FF2B5EF4-FFF2-40B4-BE49-F238E27FC236}">
                    <a16:creationId xmlns:a16="http://schemas.microsoft.com/office/drawing/2014/main" id="{72853CA0-6422-4B8E-AD1F-F501AD83257F}"/>
                  </a:ext>
                </a:extLst>
              </p:cNvPr>
              <p:cNvSpPr>
                <a:spLocks noChangeArrowheads="1"/>
              </p:cNvSpPr>
              <p:nvPr/>
            </p:nvSpPr>
            <p:spPr bwMode="auto">
              <a:xfrm>
                <a:off x="4224" y="3312"/>
                <a:ext cx="96" cy="9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en-US" sz="2800">
                  <a:latin typeface="Times New Roman" panose="02020603050405020304" pitchFamily="18" charset="0"/>
                </a:endParaRPr>
              </a:p>
            </p:txBody>
          </p:sp>
          <p:grpSp>
            <p:nvGrpSpPr>
              <p:cNvPr id="15404" name="Group 205">
                <a:extLst>
                  <a:ext uri="{FF2B5EF4-FFF2-40B4-BE49-F238E27FC236}">
                    <a16:creationId xmlns:a16="http://schemas.microsoft.com/office/drawing/2014/main" id="{965232A8-BAC3-49C6-B316-FC30D6A7BBB1}"/>
                  </a:ext>
                </a:extLst>
              </p:cNvPr>
              <p:cNvGrpSpPr>
                <a:grpSpLocks/>
              </p:cNvGrpSpPr>
              <p:nvPr/>
            </p:nvGrpSpPr>
            <p:grpSpPr bwMode="auto">
              <a:xfrm>
                <a:off x="4224" y="2736"/>
                <a:ext cx="96" cy="96"/>
                <a:chOff x="1776" y="2160"/>
                <a:chExt cx="96" cy="96"/>
              </a:xfrm>
            </p:grpSpPr>
            <p:sp>
              <p:nvSpPr>
                <p:cNvPr id="15441" name="Oval 206">
                  <a:extLst>
                    <a:ext uri="{FF2B5EF4-FFF2-40B4-BE49-F238E27FC236}">
                      <a16:creationId xmlns:a16="http://schemas.microsoft.com/office/drawing/2014/main" id="{13BE8A4F-AC19-4041-BED8-A4EAB3C051C1}"/>
                    </a:ext>
                  </a:extLst>
                </p:cNvPr>
                <p:cNvSpPr>
                  <a:spLocks noChangeArrowheads="1"/>
                </p:cNvSpPr>
                <p:nvPr/>
              </p:nvSpPr>
              <p:spPr bwMode="auto">
                <a:xfrm>
                  <a:off x="1776" y="2160"/>
                  <a:ext cx="96" cy="9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en-US" sz="2800">
                    <a:latin typeface="Times New Roman" panose="02020603050405020304" pitchFamily="18" charset="0"/>
                  </a:endParaRPr>
                </a:p>
              </p:txBody>
            </p:sp>
            <p:sp>
              <p:nvSpPr>
                <p:cNvPr id="15442" name="Line 207">
                  <a:extLst>
                    <a:ext uri="{FF2B5EF4-FFF2-40B4-BE49-F238E27FC236}">
                      <a16:creationId xmlns:a16="http://schemas.microsoft.com/office/drawing/2014/main" id="{E2BED464-91C9-498B-82F1-4296FE8DF2F4}"/>
                    </a:ext>
                  </a:extLst>
                </p:cNvPr>
                <p:cNvSpPr>
                  <a:spLocks noChangeShapeType="1"/>
                </p:cNvSpPr>
                <p:nvPr/>
              </p:nvSpPr>
              <p:spPr bwMode="auto">
                <a:xfrm>
                  <a:off x="1776" y="2208"/>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43" name="Line 208">
                  <a:extLst>
                    <a:ext uri="{FF2B5EF4-FFF2-40B4-BE49-F238E27FC236}">
                      <a16:creationId xmlns:a16="http://schemas.microsoft.com/office/drawing/2014/main" id="{E63C1E98-7954-45DE-88A1-503768518475}"/>
                    </a:ext>
                  </a:extLst>
                </p:cNvPr>
                <p:cNvSpPr>
                  <a:spLocks noChangeShapeType="1"/>
                </p:cNvSpPr>
                <p:nvPr/>
              </p:nvSpPr>
              <p:spPr bwMode="auto">
                <a:xfrm>
                  <a:off x="1824" y="2160"/>
                  <a:ext cx="0"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5405" name="Group 209">
                <a:extLst>
                  <a:ext uri="{FF2B5EF4-FFF2-40B4-BE49-F238E27FC236}">
                    <a16:creationId xmlns:a16="http://schemas.microsoft.com/office/drawing/2014/main" id="{AB9E644F-8F12-4CE3-8ADE-0493B0419517}"/>
                  </a:ext>
                </a:extLst>
              </p:cNvPr>
              <p:cNvGrpSpPr>
                <a:grpSpLocks/>
              </p:cNvGrpSpPr>
              <p:nvPr/>
            </p:nvGrpSpPr>
            <p:grpSpPr bwMode="auto">
              <a:xfrm>
                <a:off x="4224" y="2928"/>
                <a:ext cx="96" cy="96"/>
                <a:chOff x="1776" y="2160"/>
                <a:chExt cx="96" cy="96"/>
              </a:xfrm>
            </p:grpSpPr>
            <p:sp>
              <p:nvSpPr>
                <p:cNvPr id="15438" name="Oval 210">
                  <a:extLst>
                    <a:ext uri="{FF2B5EF4-FFF2-40B4-BE49-F238E27FC236}">
                      <a16:creationId xmlns:a16="http://schemas.microsoft.com/office/drawing/2014/main" id="{EFE7BB0B-1052-44B3-8ED3-0CAD10FC2B00}"/>
                    </a:ext>
                  </a:extLst>
                </p:cNvPr>
                <p:cNvSpPr>
                  <a:spLocks noChangeArrowheads="1"/>
                </p:cNvSpPr>
                <p:nvPr/>
              </p:nvSpPr>
              <p:spPr bwMode="auto">
                <a:xfrm>
                  <a:off x="1776" y="2160"/>
                  <a:ext cx="96" cy="9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en-US" sz="2800">
                    <a:latin typeface="Times New Roman" panose="02020603050405020304" pitchFamily="18" charset="0"/>
                  </a:endParaRPr>
                </a:p>
              </p:txBody>
            </p:sp>
            <p:sp>
              <p:nvSpPr>
                <p:cNvPr id="15439" name="Line 211">
                  <a:extLst>
                    <a:ext uri="{FF2B5EF4-FFF2-40B4-BE49-F238E27FC236}">
                      <a16:creationId xmlns:a16="http://schemas.microsoft.com/office/drawing/2014/main" id="{5BF5FF49-1FEB-45C6-8F10-297153D23D3F}"/>
                    </a:ext>
                  </a:extLst>
                </p:cNvPr>
                <p:cNvSpPr>
                  <a:spLocks noChangeShapeType="1"/>
                </p:cNvSpPr>
                <p:nvPr/>
              </p:nvSpPr>
              <p:spPr bwMode="auto">
                <a:xfrm>
                  <a:off x="1776" y="2208"/>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40" name="Line 212">
                  <a:extLst>
                    <a:ext uri="{FF2B5EF4-FFF2-40B4-BE49-F238E27FC236}">
                      <a16:creationId xmlns:a16="http://schemas.microsoft.com/office/drawing/2014/main" id="{13E83E59-E03E-482E-B9F8-95AA721DA409}"/>
                    </a:ext>
                  </a:extLst>
                </p:cNvPr>
                <p:cNvSpPr>
                  <a:spLocks noChangeShapeType="1"/>
                </p:cNvSpPr>
                <p:nvPr/>
              </p:nvSpPr>
              <p:spPr bwMode="auto">
                <a:xfrm>
                  <a:off x="1824" y="2160"/>
                  <a:ext cx="0"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5406" name="Group 213">
                <a:extLst>
                  <a:ext uri="{FF2B5EF4-FFF2-40B4-BE49-F238E27FC236}">
                    <a16:creationId xmlns:a16="http://schemas.microsoft.com/office/drawing/2014/main" id="{2C0E1B1E-F4C6-421E-8C0B-259C4FB2DE69}"/>
                  </a:ext>
                </a:extLst>
              </p:cNvPr>
              <p:cNvGrpSpPr>
                <a:grpSpLocks/>
              </p:cNvGrpSpPr>
              <p:nvPr/>
            </p:nvGrpSpPr>
            <p:grpSpPr bwMode="auto">
              <a:xfrm>
                <a:off x="4224" y="3120"/>
                <a:ext cx="96" cy="96"/>
                <a:chOff x="1776" y="2160"/>
                <a:chExt cx="96" cy="96"/>
              </a:xfrm>
            </p:grpSpPr>
            <p:sp>
              <p:nvSpPr>
                <p:cNvPr id="15435" name="Oval 214">
                  <a:extLst>
                    <a:ext uri="{FF2B5EF4-FFF2-40B4-BE49-F238E27FC236}">
                      <a16:creationId xmlns:a16="http://schemas.microsoft.com/office/drawing/2014/main" id="{D53EBD5B-7889-48CB-9085-DCB65359B291}"/>
                    </a:ext>
                  </a:extLst>
                </p:cNvPr>
                <p:cNvSpPr>
                  <a:spLocks noChangeArrowheads="1"/>
                </p:cNvSpPr>
                <p:nvPr/>
              </p:nvSpPr>
              <p:spPr bwMode="auto">
                <a:xfrm>
                  <a:off x="1776" y="2160"/>
                  <a:ext cx="96" cy="9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en-US" sz="2800">
                    <a:latin typeface="Times New Roman" panose="02020603050405020304" pitchFamily="18" charset="0"/>
                  </a:endParaRPr>
                </a:p>
              </p:txBody>
            </p:sp>
            <p:sp>
              <p:nvSpPr>
                <p:cNvPr id="15436" name="Line 215">
                  <a:extLst>
                    <a:ext uri="{FF2B5EF4-FFF2-40B4-BE49-F238E27FC236}">
                      <a16:creationId xmlns:a16="http://schemas.microsoft.com/office/drawing/2014/main" id="{E474A63D-01D1-485B-9F7C-9F9E46192728}"/>
                    </a:ext>
                  </a:extLst>
                </p:cNvPr>
                <p:cNvSpPr>
                  <a:spLocks noChangeShapeType="1"/>
                </p:cNvSpPr>
                <p:nvPr/>
              </p:nvSpPr>
              <p:spPr bwMode="auto">
                <a:xfrm>
                  <a:off x="1776" y="2208"/>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37" name="Line 216">
                  <a:extLst>
                    <a:ext uri="{FF2B5EF4-FFF2-40B4-BE49-F238E27FC236}">
                      <a16:creationId xmlns:a16="http://schemas.microsoft.com/office/drawing/2014/main" id="{549B57F7-6F05-433E-8CA5-A4B05D81576A}"/>
                    </a:ext>
                  </a:extLst>
                </p:cNvPr>
                <p:cNvSpPr>
                  <a:spLocks noChangeShapeType="1"/>
                </p:cNvSpPr>
                <p:nvPr/>
              </p:nvSpPr>
              <p:spPr bwMode="auto">
                <a:xfrm>
                  <a:off x="1824" y="2160"/>
                  <a:ext cx="0"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5407" name="Group 217">
                <a:extLst>
                  <a:ext uri="{FF2B5EF4-FFF2-40B4-BE49-F238E27FC236}">
                    <a16:creationId xmlns:a16="http://schemas.microsoft.com/office/drawing/2014/main" id="{31DD139F-A29E-4B17-AF32-98720C3AE9FB}"/>
                  </a:ext>
                </a:extLst>
              </p:cNvPr>
              <p:cNvGrpSpPr>
                <a:grpSpLocks/>
              </p:cNvGrpSpPr>
              <p:nvPr/>
            </p:nvGrpSpPr>
            <p:grpSpPr bwMode="auto">
              <a:xfrm>
                <a:off x="4224" y="3312"/>
                <a:ext cx="96" cy="96"/>
                <a:chOff x="1776" y="2160"/>
                <a:chExt cx="96" cy="96"/>
              </a:xfrm>
            </p:grpSpPr>
            <p:sp>
              <p:nvSpPr>
                <p:cNvPr id="15432" name="Oval 218">
                  <a:extLst>
                    <a:ext uri="{FF2B5EF4-FFF2-40B4-BE49-F238E27FC236}">
                      <a16:creationId xmlns:a16="http://schemas.microsoft.com/office/drawing/2014/main" id="{E81BB4DA-E0A1-40EA-A746-1FE9061E101F}"/>
                    </a:ext>
                  </a:extLst>
                </p:cNvPr>
                <p:cNvSpPr>
                  <a:spLocks noChangeArrowheads="1"/>
                </p:cNvSpPr>
                <p:nvPr/>
              </p:nvSpPr>
              <p:spPr bwMode="auto">
                <a:xfrm>
                  <a:off x="1776" y="2160"/>
                  <a:ext cx="96" cy="9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en-US" sz="2800">
                    <a:latin typeface="Times New Roman" panose="02020603050405020304" pitchFamily="18" charset="0"/>
                  </a:endParaRPr>
                </a:p>
              </p:txBody>
            </p:sp>
            <p:sp>
              <p:nvSpPr>
                <p:cNvPr id="15433" name="Line 219">
                  <a:extLst>
                    <a:ext uri="{FF2B5EF4-FFF2-40B4-BE49-F238E27FC236}">
                      <a16:creationId xmlns:a16="http://schemas.microsoft.com/office/drawing/2014/main" id="{C38BFF5E-9852-4EDD-AA93-EF86E913A22F}"/>
                    </a:ext>
                  </a:extLst>
                </p:cNvPr>
                <p:cNvSpPr>
                  <a:spLocks noChangeShapeType="1"/>
                </p:cNvSpPr>
                <p:nvPr/>
              </p:nvSpPr>
              <p:spPr bwMode="auto">
                <a:xfrm>
                  <a:off x="1776" y="2208"/>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34" name="Line 220">
                  <a:extLst>
                    <a:ext uri="{FF2B5EF4-FFF2-40B4-BE49-F238E27FC236}">
                      <a16:creationId xmlns:a16="http://schemas.microsoft.com/office/drawing/2014/main" id="{3EAD2067-B5B4-4CFE-8F4D-FB88D0DB1BA0}"/>
                    </a:ext>
                  </a:extLst>
                </p:cNvPr>
                <p:cNvSpPr>
                  <a:spLocks noChangeShapeType="1"/>
                </p:cNvSpPr>
                <p:nvPr/>
              </p:nvSpPr>
              <p:spPr bwMode="auto">
                <a:xfrm>
                  <a:off x="1824" y="2160"/>
                  <a:ext cx="0"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5408" name="Group 221">
                <a:extLst>
                  <a:ext uri="{FF2B5EF4-FFF2-40B4-BE49-F238E27FC236}">
                    <a16:creationId xmlns:a16="http://schemas.microsoft.com/office/drawing/2014/main" id="{14B0692B-5CDA-4C79-8EEB-8B5441CF59E2}"/>
                  </a:ext>
                </a:extLst>
              </p:cNvPr>
              <p:cNvGrpSpPr>
                <a:grpSpLocks/>
              </p:cNvGrpSpPr>
              <p:nvPr/>
            </p:nvGrpSpPr>
            <p:grpSpPr bwMode="auto">
              <a:xfrm>
                <a:off x="4224" y="2736"/>
                <a:ext cx="96" cy="96"/>
                <a:chOff x="2928" y="336"/>
                <a:chExt cx="96" cy="96"/>
              </a:xfrm>
            </p:grpSpPr>
            <p:sp>
              <p:nvSpPr>
                <p:cNvPr id="15430" name="Line 222">
                  <a:extLst>
                    <a:ext uri="{FF2B5EF4-FFF2-40B4-BE49-F238E27FC236}">
                      <a16:creationId xmlns:a16="http://schemas.microsoft.com/office/drawing/2014/main" id="{9B73268F-8FBA-43A8-B5DC-B5653E367CAA}"/>
                    </a:ext>
                  </a:extLst>
                </p:cNvPr>
                <p:cNvSpPr>
                  <a:spLocks noChangeShapeType="1"/>
                </p:cNvSpPr>
                <p:nvPr/>
              </p:nvSpPr>
              <p:spPr bwMode="auto">
                <a:xfrm>
                  <a:off x="2928" y="384"/>
                  <a:ext cx="9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31" name="Line 223">
                  <a:extLst>
                    <a:ext uri="{FF2B5EF4-FFF2-40B4-BE49-F238E27FC236}">
                      <a16:creationId xmlns:a16="http://schemas.microsoft.com/office/drawing/2014/main" id="{C9F36942-38DA-4A08-BC02-0B83E1C4755E}"/>
                    </a:ext>
                  </a:extLst>
                </p:cNvPr>
                <p:cNvSpPr>
                  <a:spLocks noChangeShapeType="1"/>
                </p:cNvSpPr>
                <p:nvPr/>
              </p:nvSpPr>
              <p:spPr bwMode="auto">
                <a:xfrm>
                  <a:off x="2976" y="336"/>
                  <a:ext cx="0" cy="9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5409" name="Group 224">
                <a:extLst>
                  <a:ext uri="{FF2B5EF4-FFF2-40B4-BE49-F238E27FC236}">
                    <a16:creationId xmlns:a16="http://schemas.microsoft.com/office/drawing/2014/main" id="{38794B90-3070-4C81-8F90-4703F6C25AE7}"/>
                  </a:ext>
                </a:extLst>
              </p:cNvPr>
              <p:cNvGrpSpPr>
                <a:grpSpLocks/>
              </p:cNvGrpSpPr>
              <p:nvPr/>
            </p:nvGrpSpPr>
            <p:grpSpPr bwMode="auto">
              <a:xfrm>
                <a:off x="4224" y="2928"/>
                <a:ext cx="96" cy="96"/>
                <a:chOff x="2928" y="336"/>
                <a:chExt cx="96" cy="96"/>
              </a:xfrm>
            </p:grpSpPr>
            <p:sp>
              <p:nvSpPr>
                <p:cNvPr id="15428" name="Line 225">
                  <a:extLst>
                    <a:ext uri="{FF2B5EF4-FFF2-40B4-BE49-F238E27FC236}">
                      <a16:creationId xmlns:a16="http://schemas.microsoft.com/office/drawing/2014/main" id="{69843BEF-12EF-4B91-A3FC-5BD4694116E9}"/>
                    </a:ext>
                  </a:extLst>
                </p:cNvPr>
                <p:cNvSpPr>
                  <a:spLocks noChangeShapeType="1"/>
                </p:cNvSpPr>
                <p:nvPr/>
              </p:nvSpPr>
              <p:spPr bwMode="auto">
                <a:xfrm>
                  <a:off x="2928" y="384"/>
                  <a:ext cx="9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29" name="Line 226">
                  <a:extLst>
                    <a:ext uri="{FF2B5EF4-FFF2-40B4-BE49-F238E27FC236}">
                      <a16:creationId xmlns:a16="http://schemas.microsoft.com/office/drawing/2014/main" id="{E529D954-7B7D-4D3C-9A04-94D95731D61A}"/>
                    </a:ext>
                  </a:extLst>
                </p:cNvPr>
                <p:cNvSpPr>
                  <a:spLocks noChangeShapeType="1"/>
                </p:cNvSpPr>
                <p:nvPr/>
              </p:nvSpPr>
              <p:spPr bwMode="auto">
                <a:xfrm>
                  <a:off x="2976" y="336"/>
                  <a:ext cx="0" cy="9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5410" name="Group 227">
                <a:extLst>
                  <a:ext uri="{FF2B5EF4-FFF2-40B4-BE49-F238E27FC236}">
                    <a16:creationId xmlns:a16="http://schemas.microsoft.com/office/drawing/2014/main" id="{86B3DB87-70BC-436C-B95F-85FBCF556F03}"/>
                  </a:ext>
                </a:extLst>
              </p:cNvPr>
              <p:cNvGrpSpPr>
                <a:grpSpLocks/>
              </p:cNvGrpSpPr>
              <p:nvPr/>
            </p:nvGrpSpPr>
            <p:grpSpPr bwMode="auto">
              <a:xfrm>
                <a:off x="4224" y="3120"/>
                <a:ext cx="96" cy="96"/>
                <a:chOff x="2928" y="336"/>
                <a:chExt cx="96" cy="96"/>
              </a:xfrm>
            </p:grpSpPr>
            <p:sp>
              <p:nvSpPr>
                <p:cNvPr id="15426" name="Line 228">
                  <a:extLst>
                    <a:ext uri="{FF2B5EF4-FFF2-40B4-BE49-F238E27FC236}">
                      <a16:creationId xmlns:a16="http://schemas.microsoft.com/office/drawing/2014/main" id="{A9EF6B5D-B5EE-4B5E-89B8-6D0E687C3102}"/>
                    </a:ext>
                  </a:extLst>
                </p:cNvPr>
                <p:cNvSpPr>
                  <a:spLocks noChangeShapeType="1"/>
                </p:cNvSpPr>
                <p:nvPr/>
              </p:nvSpPr>
              <p:spPr bwMode="auto">
                <a:xfrm>
                  <a:off x="2928" y="384"/>
                  <a:ext cx="9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27" name="Line 229">
                  <a:extLst>
                    <a:ext uri="{FF2B5EF4-FFF2-40B4-BE49-F238E27FC236}">
                      <a16:creationId xmlns:a16="http://schemas.microsoft.com/office/drawing/2014/main" id="{1C47A2B7-E773-4438-9F57-5E4A678A02A1}"/>
                    </a:ext>
                  </a:extLst>
                </p:cNvPr>
                <p:cNvSpPr>
                  <a:spLocks noChangeShapeType="1"/>
                </p:cNvSpPr>
                <p:nvPr/>
              </p:nvSpPr>
              <p:spPr bwMode="auto">
                <a:xfrm>
                  <a:off x="2976" y="336"/>
                  <a:ext cx="0" cy="9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5411" name="Group 230">
                <a:extLst>
                  <a:ext uri="{FF2B5EF4-FFF2-40B4-BE49-F238E27FC236}">
                    <a16:creationId xmlns:a16="http://schemas.microsoft.com/office/drawing/2014/main" id="{4BDA3F91-1B75-4A74-A7C2-7B7BD22DDD99}"/>
                  </a:ext>
                </a:extLst>
              </p:cNvPr>
              <p:cNvGrpSpPr>
                <a:grpSpLocks/>
              </p:cNvGrpSpPr>
              <p:nvPr/>
            </p:nvGrpSpPr>
            <p:grpSpPr bwMode="auto">
              <a:xfrm>
                <a:off x="4224" y="3312"/>
                <a:ext cx="96" cy="96"/>
                <a:chOff x="2928" y="336"/>
                <a:chExt cx="96" cy="96"/>
              </a:xfrm>
            </p:grpSpPr>
            <p:sp>
              <p:nvSpPr>
                <p:cNvPr id="15424" name="Line 231">
                  <a:extLst>
                    <a:ext uri="{FF2B5EF4-FFF2-40B4-BE49-F238E27FC236}">
                      <a16:creationId xmlns:a16="http://schemas.microsoft.com/office/drawing/2014/main" id="{6CD532C7-8711-444D-B244-AA974CED6ED6}"/>
                    </a:ext>
                  </a:extLst>
                </p:cNvPr>
                <p:cNvSpPr>
                  <a:spLocks noChangeShapeType="1"/>
                </p:cNvSpPr>
                <p:nvPr/>
              </p:nvSpPr>
              <p:spPr bwMode="auto">
                <a:xfrm>
                  <a:off x="2928" y="384"/>
                  <a:ext cx="9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25" name="Line 232">
                  <a:extLst>
                    <a:ext uri="{FF2B5EF4-FFF2-40B4-BE49-F238E27FC236}">
                      <a16:creationId xmlns:a16="http://schemas.microsoft.com/office/drawing/2014/main" id="{B2F159BB-91A1-4B80-84C3-94B893FE2571}"/>
                    </a:ext>
                  </a:extLst>
                </p:cNvPr>
                <p:cNvSpPr>
                  <a:spLocks noChangeShapeType="1"/>
                </p:cNvSpPr>
                <p:nvPr/>
              </p:nvSpPr>
              <p:spPr bwMode="auto">
                <a:xfrm>
                  <a:off x="2976" y="336"/>
                  <a:ext cx="0" cy="9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5412" name="Line 233">
                <a:extLst>
                  <a:ext uri="{FF2B5EF4-FFF2-40B4-BE49-F238E27FC236}">
                    <a16:creationId xmlns:a16="http://schemas.microsoft.com/office/drawing/2014/main" id="{AE1281B0-ECE2-42FF-A389-DBC9862F43F0}"/>
                  </a:ext>
                </a:extLst>
              </p:cNvPr>
              <p:cNvSpPr>
                <a:spLocks noChangeShapeType="1"/>
              </p:cNvSpPr>
              <p:nvPr/>
            </p:nvSpPr>
            <p:spPr bwMode="auto">
              <a:xfrm>
                <a:off x="4464" y="2832"/>
                <a:ext cx="9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13" name="Line 234">
                <a:extLst>
                  <a:ext uri="{FF2B5EF4-FFF2-40B4-BE49-F238E27FC236}">
                    <a16:creationId xmlns:a16="http://schemas.microsoft.com/office/drawing/2014/main" id="{A8E98552-C3FA-4410-BB6B-62BC6065E49E}"/>
                  </a:ext>
                </a:extLst>
              </p:cNvPr>
              <p:cNvSpPr>
                <a:spLocks noChangeShapeType="1"/>
              </p:cNvSpPr>
              <p:nvPr/>
            </p:nvSpPr>
            <p:spPr bwMode="auto">
              <a:xfrm>
                <a:off x="4464" y="3120"/>
                <a:ext cx="9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14" name="Line 235">
                <a:extLst>
                  <a:ext uri="{FF2B5EF4-FFF2-40B4-BE49-F238E27FC236}">
                    <a16:creationId xmlns:a16="http://schemas.microsoft.com/office/drawing/2014/main" id="{49D634CE-9D5C-479F-B930-73CAA032AE15}"/>
                  </a:ext>
                </a:extLst>
              </p:cNvPr>
              <p:cNvSpPr>
                <a:spLocks noChangeShapeType="1"/>
              </p:cNvSpPr>
              <p:nvPr/>
            </p:nvSpPr>
            <p:spPr bwMode="auto">
              <a:xfrm>
                <a:off x="4608" y="2832"/>
                <a:ext cx="9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15" name="Line 236">
                <a:extLst>
                  <a:ext uri="{FF2B5EF4-FFF2-40B4-BE49-F238E27FC236}">
                    <a16:creationId xmlns:a16="http://schemas.microsoft.com/office/drawing/2014/main" id="{E64CEA6A-258E-4BAF-A06D-048EE3E4DE1D}"/>
                  </a:ext>
                </a:extLst>
              </p:cNvPr>
              <p:cNvSpPr>
                <a:spLocks noChangeShapeType="1"/>
              </p:cNvSpPr>
              <p:nvPr/>
            </p:nvSpPr>
            <p:spPr bwMode="auto">
              <a:xfrm>
                <a:off x="4656" y="2976"/>
                <a:ext cx="9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16" name="Line 237">
                <a:extLst>
                  <a:ext uri="{FF2B5EF4-FFF2-40B4-BE49-F238E27FC236}">
                    <a16:creationId xmlns:a16="http://schemas.microsoft.com/office/drawing/2014/main" id="{2696B5A2-2BA7-4F28-B13C-73600B6C2401}"/>
                  </a:ext>
                </a:extLst>
              </p:cNvPr>
              <p:cNvSpPr>
                <a:spLocks noChangeShapeType="1"/>
              </p:cNvSpPr>
              <p:nvPr/>
            </p:nvSpPr>
            <p:spPr bwMode="auto">
              <a:xfrm>
                <a:off x="4560" y="3264"/>
                <a:ext cx="9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17" name="Line 238">
                <a:extLst>
                  <a:ext uri="{FF2B5EF4-FFF2-40B4-BE49-F238E27FC236}">
                    <a16:creationId xmlns:a16="http://schemas.microsoft.com/office/drawing/2014/main" id="{500823B5-F42B-4508-B243-31E739036236}"/>
                  </a:ext>
                </a:extLst>
              </p:cNvPr>
              <p:cNvSpPr>
                <a:spLocks noChangeShapeType="1"/>
              </p:cNvSpPr>
              <p:nvPr/>
            </p:nvSpPr>
            <p:spPr bwMode="auto">
              <a:xfrm>
                <a:off x="4704" y="3168"/>
                <a:ext cx="9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18" name="Line 239">
                <a:extLst>
                  <a:ext uri="{FF2B5EF4-FFF2-40B4-BE49-F238E27FC236}">
                    <a16:creationId xmlns:a16="http://schemas.microsoft.com/office/drawing/2014/main" id="{557379CE-ADB7-4FE8-AE7F-5E966770A584}"/>
                  </a:ext>
                </a:extLst>
              </p:cNvPr>
              <p:cNvSpPr>
                <a:spLocks noChangeShapeType="1"/>
              </p:cNvSpPr>
              <p:nvPr/>
            </p:nvSpPr>
            <p:spPr bwMode="auto">
              <a:xfrm>
                <a:off x="4704" y="3312"/>
                <a:ext cx="9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19" name="Line 240">
                <a:extLst>
                  <a:ext uri="{FF2B5EF4-FFF2-40B4-BE49-F238E27FC236}">
                    <a16:creationId xmlns:a16="http://schemas.microsoft.com/office/drawing/2014/main" id="{439B4D08-25A4-461C-987F-9B1138BB5C8C}"/>
                  </a:ext>
                </a:extLst>
              </p:cNvPr>
              <p:cNvSpPr>
                <a:spLocks noChangeShapeType="1"/>
              </p:cNvSpPr>
              <p:nvPr/>
            </p:nvSpPr>
            <p:spPr bwMode="auto">
              <a:xfrm>
                <a:off x="4896" y="3264"/>
                <a:ext cx="9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20" name="Line 241">
                <a:extLst>
                  <a:ext uri="{FF2B5EF4-FFF2-40B4-BE49-F238E27FC236}">
                    <a16:creationId xmlns:a16="http://schemas.microsoft.com/office/drawing/2014/main" id="{0CFB1405-A262-4CD5-8BD4-B1F7E8207CFB}"/>
                  </a:ext>
                </a:extLst>
              </p:cNvPr>
              <p:cNvSpPr>
                <a:spLocks noChangeShapeType="1"/>
              </p:cNvSpPr>
              <p:nvPr/>
            </p:nvSpPr>
            <p:spPr bwMode="auto">
              <a:xfrm>
                <a:off x="4992" y="3168"/>
                <a:ext cx="9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21" name="Line 242">
                <a:extLst>
                  <a:ext uri="{FF2B5EF4-FFF2-40B4-BE49-F238E27FC236}">
                    <a16:creationId xmlns:a16="http://schemas.microsoft.com/office/drawing/2014/main" id="{E4E5BD5B-C179-43E0-BCD8-A40A84D28830}"/>
                  </a:ext>
                </a:extLst>
              </p:cNvPr>
              <p:cNvSpPr>
                <a:spLocks noChangeShapeType="1"/>
              </p:cNvSpPr>
              <p:nvPr/>
            </p:nvSpPr>
            <p:spPr bwMode="auto">
              <a:xfrm>
                <a:off x="4896" y="2976"/>
                <a:ext cx="9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22" name="Line 243">
                <a:extLst>
                  <a:ext uri="{FF2B5EF4-FFF2-40B4-BE49-F238E27FC236}">
                    <a16:creationId xmlns:a16="http://schemas.microsoft.com/office/drawing/2014/main" id="{3917EACA-C6F6-48CB-AD8E-1473D7733530}"/>
                  </a:ext>
                </a:extLst>
              </p:cNvPr>
              <p:cNvSpPr>
                <a:spLocks noChangeShapeType="1"/>
              </p:cNvSpPr>
              <p:nvPr/>
            </p:nvSpPr>
            <p:spPr bwMode="auto">
              <a:xfrm>
                <a:off x="4992" y="2832"/>
                <a:ext cx="9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23" name="Line 244">
                <a:extLst>
                  <a:ext uri="{FF2B5EF4-FFF2-40B4-BE49-F238E27FC236}">
                    <a16:creationId xmlns:a16="http://schemas.microsoft.com/office/drawing/2014/main" id="{7CC40560-A924-40BF-B4E9-36C6ECA1B658}"/>
                  </a:ext>
                </a:extLst>
              </p:cNvPr>
              <p:cNvSpPr>
                <a:spLocks noChangeShapeType="1"/>
              </p:cNvSpPr>
              <p:nvPr/>
            </p:nvSpPr>
            <p:spPr bwMode="auto">
              <a:xfrm>
                <a:off x="5136" y="3024"/>
                <a:ext cx="9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9" name="右箭头 8">
            <a:extLst>
              <a:ext uri="{FF2B5EF4-FFF2-40B4-BE49-F238E27FC236}">
                <a16:creationId xmlns:a16="http://schemas.microsoft.com/office/drawing/2014/main" id="{5CFD1556-6AFD-4E69-810B-77DF500621F6}"/>
              </a:ext>
            </a:extLst>
          </p:cNvPr>
          <p:cNvSpPr/>
          <p:nvPr/>
        </p:nvSpPr>
        <p:spPr>
          <a:xfrm>
            <a:off x="3511550" y="5616575"/>
            <a:ext cx="431800" cy="395288"/>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tx1"/>
              </a:solidFill>
            </a:endParaRPr>
          </a:p>
        </p:txBody>
      </p:sp>
      <p:sp>
        <p:nvSpPr>
          <p:cNvPr id="430" name="矩形 429">
            <a:extLst>
              <a:ext uri="{FF2B5EF4-FFF2-40B4-BE49-F238E27FC236}">
                <a16:creationId xmlns:a16="http://schemas.microsoft.com/office/drawing/2014/main" id="{570B8D2C-116B-4211-BE42-C6BFF402A31D}"/>
              </a:ext>
            </a:extLst>
          </p:cNvPr>
          <p:cNvSpPr>
            <a:spLocks noChangeArrowheads="1"/>
          </p:cNvSpPr>
          <p:nvPr/>
        </p:nvSpPr>
        <p:spPr bwMode="auto">
          <a:xfrm>
            <a:off x="6238875" y="6389688"/>
            <a:ext cx="26924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kumimoji="1" lang="en-US" altLang="zh-CN" sz="2400" b="1">
                <a:solidFill>
                  <a:srgbClr val="FF0000"/>
                </a:solidFill>
                <a:latin typeface="Times New Roman" panose="02020603050405020304" pitchFamily="18" charset="0"/>
                <a:ea typeface="楷体_GB2312"/>
                <a:cs typeface="楷体_GB2312"/>
              </a:rPr>
              <a:t>pn</a:t>
            </a:r>
            <a:r>
              <a:rPr kumimoji="1" lang="zh-CN" altLang="en-US" sz="2400" b="1">
                <a:solidFill>
                  <a:srgbClr val="FF0000"/>
                </a:solidFill>
                <a:latin typeface="Times New Roman" panose="02020603050405020304" pitchFamily="18" charset="0"/>
                <a:ea typeface="楷体_GB2312"/>
                <a:cs typeface="楷体_GB2312"/>
              </a:rPr>
              <a:t>结的单向导电性</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9"/>
                                        </p:tgtEl>
                                        <p:attrNameLst>
                                          <p:attrName>style.visibility</p:attrName>
                                        </p:attrNameLst>
                                      </p:cBhvr>
                                      <p:to>
                                        <p:strVal val="visible"/>
                                      </p:to>
                                    </p:set>
                                    <p:animEffect transition="in" filter="fade">
                                      <p:cBhvr>
                                        <p:cTn id="14" dur="1000"/>
                                        <p:tgtEl>
                                          <p:spTgt spid="39"/>
                                        </p:tgtEl>
                                      </p:cBhvr>
                                    </p:animEffect>
                                    <p:anim calcmode="lin" valueType="num">
                                      <p:cBhvr>
                                        <p:cTn id="15" dur="1000" fill="hold"/>
                                        <p:tgtEl>
                                          <p:spTgt spid="39"/>
                                        </p:tgtEl>
                                        <p:attrNameLst>
                                          <p:attrName>ppt_x</p:attrName>
                                        </p:attrNameLst>
                                      </p:cBhvr>
                                      <p:tavLst>
                                        <p:tav tm="0">
                                          <p:val>
                                            <p:strVal val="#ppt_x"/>
                                          </p:val>
                                        </p:tav>
                                        <p:tav tm="100000">
                                          <p:val>
                                            <p:strVal val="#ppt_x"/>
                                          </p:val>
                                        </p:tav>
                                      </p:tavLst>
                                    </p:anim>
                                    <p:anim calcmode="lin" valueType="num">
                                      <p:cBhvr>
                                        <p:cTn id="16" dur="1000" fill="hold"/>
                                        <p:tgtEl>
                                          <p:spTgt spid="39"/>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07"/>
                                        </p:tgtEl>
                                        <p:attrNameLst>
                                          <p:attrName>style.visibility</p:attrName>
                                        </p:attrNameLst>
                                      </p:cBhvr>
                                      <p:to>
                                        <p:strVal val="visible"/>
                                      </p:to>
                                    </p:set>
                                    <p:animEffect transition="in" filter="fade">
                                      <p:cBhvr>
                                        <p:cTn id="21" dur="1000"/>
                                        <p:tgtEl>
                                          <p:spTgt spid="107"/>
                                        </p:tgtEl>
                                      </p:cBhvr>
                                    </p:animEffect>
                                    <p:anim calcmode="lin" valueType="num">
                                      <p:cBhvr>
                                        <p:cTn id="22" dur="1000" fill="hold"/>
                                        <p:tgtEl>
                                          <p:spTgt spid="107"/>
                                        </p:tgtEl>
                                        <p:attrNameLst>
                                          <p:attrName>ppt_x</p:attrName>
                                        </p:attrNameLst>
                                      </p:cBhvr>
                                      <p:tavLst>
                                        <p:tav tm="0">
                                          <p:val>
                                            <p:strVal val="#ppt_x"/>
                                          </p:val>
                                        </p:tav>
                                        <p:tav tm="100000">
                                          <p:val>
                                            <p:strVal val="#ppt_x"/>
                                          </p:val>
                                        </p:tav>
                                      </p:tavLst>
                                    </p:anim>
                                    <p:anim calcmode="lin" valueType="num">
                                      <p:cBhvr>
                                        <p:cTn id="23" dur="1000" fill="hold"/>
                                        <p:tgtEl>
                                          <p:spTgt spid="107"/>
                                        </p:tgtEl>
                                        <p:attrNameLst>
                                          <p:attrName>ppt_y</p:attrName>
                                        </p:attrNameLst>
                                      </p:cBhvr>
                                      <p:tavLst>
                                        <p:tav tm="0">
                                          <p:val>
                                            <p:strVal val="#ppt_y+.1"/>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4" fill="hold"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wipe(down)">
                                      <p:cBhvr>
                                        <p:cTn id="28" dur="500"/>
                                        <p:tgtEl>
                                          <p:spTgt spid="8"/>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2"/>
                                        </p:tgtEl>
                                        <p:attrNameLst>
                                          <p:attrName>style.visibility</p:attrName>
                                        </p:attrNameLst>
                                      </p:cBhvr>
                                      <p:to>
                                        <p:strVal val="visible"/>
                                      </p:to>
                                    </p:set>
                                    <p:animEffect transition="in" filter="fade">
                                      <p:cBhvr>
                                        <p:cTn id="33" dur="1000"/>
                                        <p:tgtEl>
                                          <p:spTgt spid="2"/>
                                        </p:tgtEl>
                                      </p:cBhvr>
                                    </p:animEffect>
                                    <p:anim calcmode="lin" valueType="num">
                                      <p:cBhvr>
                                        <p:cTn id="34" dur="1000" fill="hold"/>
                                        <p:tgtEl>
                                          <p:spTgt spid="2"/>
                                        </p:tgtEl>
                                        <p:attrNameLst>
                                          <p:attrName>ppt_x</p:attrName>
                                        </p:attrNameLst>
                                      </p:cBhvr>
                                      <p:tavLst>
                                        <p:tav tm="0">
                                          <p:val>
                                            <p:strVal val="#ppt_x"/>
                                          </p:val>
                                        </p:tav>
                                        <p:tav tm="100000">
                                          <p:val>
                                            <p:strVal val="#ppt_x"/>
                                          </p:val>
                                        </p:tav>
                                      </p:tavLst>
                                    </p:anim>
                                    <p:anim calcmode="lin" valueType="num">
                                      <p:cBhvr>
                                        <p:cTn id="35"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36" fill="hold" nodeType="clickPar">
                      <p:stCondLst>
                        <p:cond delay="indefinite"/>
                      </p:stCondLst>
                      <p:childTnLst>
                        <p:par>
                          <p:cTn id="37" fill="hold" nodeType="withGroup">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3"/>
                                        </p:tgtEl>
                                        <p:attrNameLst>
                                          <p:attrName>style.visibility</p:attrName>
                                        </p:attrNameLst>
                                      </p:cBhvr>
                                      <p:to>
                                        <p:strVal val="visible"/>
                                      </p:to>
                                    </p:set>
                                    <p:animEffect transition="in" filter="fade">
                                      <p:cBhvr>
                                        <p:cTn id="40" dur="1000"/>
                                        <p:tgtEl>
                                          <p:spTgt spid="3"/>
                                        </p:tgtEl>
                                      </p:cBhvr>
                                    </p:animEffect>
                                    <p:anim calcmode="lin" valueType="num">
                                      <p:cBhvr>
                                        <p:cTn id="41" dur="1000" fill="hold"/>
                                        <p:tgtEl>
                                          <p:spTgt spid="3"/>
                                        </p:tgtEl>
                                        <p:attrNameLst>
                                          <p:attrName>ppt_x</p:attrName>
                                        </p:attrNameLst>
                                      </p:cBhvr>
                                      <p:tavLst>
                                        <p:tav tm="0">
                                          <p:val>
                                            <p:strVal val="#ppt_x"/>
                                          </p:val>
                                        </p:tav>
                                        <p:tav tm="100000">
                                          <p:val>
                                            <p:strVal val="#ppt_x"/>
                                          </p:val>
                                        </p:tav>
                                      </p:tavLst>
                                    </p:anim>
                                    <p:anim calcmode="lin" valueType="num">
                                      <p:cBhvr>
                                        <p:cTn id="42" dur="1000" fill="hold"/>
                                        <p:tgtEl>
                                          <p:spTgt spid="3"/>
                                        </p:tgtEl>
                                        <p:attrNameLst>
                                          <p:attrName>ppt_y</p:attrName>
                                        </p:attrNameLst>
                                      </p:cBhvr>
                                      <p:tavLst>
                                        <p:tav tm="0">
                                          <p:val>
                                            <p:strVal val="#ppt_y+.1"/>
                                          </p:val>
                                        </p:tav>
                                        <p:tav tm="100000">
                                          <p:val>
                                            <p:strVal val="#ppt_y"/>
                                          </p:val>
                                        </p:tav>
                                      </p:tavLst>
                                    </p:anim>
                                  </p:childTnLst>
                                </p:cTn>
                              </p:par>
                              <p:par>
                                <p:cTn id="43" presetID="42" presetClass="entr" presetSubtype="0" fill="hold" grpId="0" nodeType="withEffect">
                                  <p:stCondLst>
                                    <p:cond delay="0"/>
                                  </p:stCondLst>
                                  <p:childTnLst>
                                    <p:set>
                                      <p:cBhvr>
                                        <p:cTn id="44" dur="1" fill="hold">
                                          <p:stCondLst>
                                            <p:cond delay="0"/>
                                          </p:stCondLst>
                                        </p:cTn>
                                        <p:tgtEl>
                                          <p:spTgt spid="108"/>
                                        </p:tgtEl>
                                        <p:attrNameLst>
                                          <p:attrName>style.visibility</p:attrName>
                                        </p:attrNameLst>
                                      </p:cBhvr>
                                      <p:to>
                                        <p:strVal val="visible"/>
                                      </p:to>
                                    </p:set>
                                    <p:animEffect transition="in" filter="fade">
                                      <p:cBhvr>
                                        <p:cTn id="45" dur="1000"/>
                                        <p:tgtEl>
                                          <p:spTgt spid="108"/>
                                        </p:tgtEl>
                                      </p:cBhvr>
                                    </p:animEffect>
                                    <p:anim calcmode="lin" valueType="num">
                                      <p:cBhvr>
                                        <p:cTn id="46" dur="1000" fill="hold"/>
                                        <p:tgtEl>
                                          <p:spTgt spid="108"/>
                                        </p:tgtEl>
                                        <p:attrNameLst>
                                          <p:attrName>ppt_x</p:attrName>
                                        </p:attrNameLst>
                                      </p:cBhvr>
                                      <p:tavLst>
                                        <p:tav tm="0">
                                          <p:val>
                                            <p:strVal val="#ppt_x"/>
                                          </p:val>
                                        </p:tav>
                                        <p:tav tm="100000">
                                          <p:val>
                                            <p:strVal val="#ppt_x"/>
                                          </p:val>
                                        </p:tav>
                                      </p:tavLst>
                                    </p:anim>
                                    <p:anim calcmode="lin" valueType="num">
                                      <p:cBhvr>
                                        <p:cTn id="47" dur="1000" fill="hold"/>
                                        <p:tgtEl>
                                          <p:spTgt spid="108"/>
                                        </p:tgtEl>
                                        <p:attrNameLst>
                                          <p:attrName>ppt_y</p:attrName>
                                        </p:attrNameLst>
                                      </p:cBhvr>
                                      <p:tavLst>
                                        <p:tav tm="0">
                                          <p:val>
                                            <p:strVal val="#ppt_y+.1"/>
                                          </p:val>
                                        </p:tav>
                                        <p:tav tm="100000">
                                          <p:val>
                                            <p:strVal val="#ppt_y"/>
                                          </p:val>
                                        </p:tav>
                                      </p:tavLst>
                                    </p:anim>
                                  </p:childTnLst>
                                </p:cTn>
                              </p:par>
                              <p:par>
                                <p:cTn id="48" presetID="42" presetClass="entr" presetSubtype="0" fill="hold" grpId="0" nodeType="withEffect">
                                  <p:stCondLst>
                                    <p:cond delay="0"/>
                                  </p:stCondLst>
                                  <p:childTnLst>
                                    <p:set>
                                      <p:cBhvr>
                                        <p:cTn id="49" dur="1" fill="hold">
                                          <p:stCondLst>
                                            <p:cond delay="0"/>
                                          </p:stCondLst>
                                        </p:cTn>
                                        <p:tgtEl>
                                          <p:spTgt spid="109"/>
                                        </p:tgtEl>
                                        <p:attrNameLst>
                                          <p:attrName>style.visibility</p:attrName>
                                        </p:attrNameLst>
                                      </p:cBhvr>
                                      <p:to>
                                        <p:strVal val="visible"/>
                                      </p:to>
                                    </p:set>
                                    <p:animEffect transition="in" filter="fade">
                                      <p:cBhvr>
                                        <p:cTn id="50" dur="1000"/>
                                        <p:tgtEl>
                                          <p:spTgt spid="109"/>
                                        </p:tgtEl>
                                      </p:cBhvr>
                                    </p:animEffect>
                                    <p:anim calcmode="lin" valueType="num">
                                      <p:cBhvr>
                                        <p:cTn id="51" dur="1000" fill="hold"/>
                                        <p:tgtEl>
                                          <p:spTgt spid="109"/>
                                        </p:tgtEl>
                                        <p:attrNameLst>
                                          <p:attrName>ppt_x</p:attrName>
                                        </p:attrNameLst>
                                      </p:cBhvr>
                                      <p:tavLst>
                                        <p:tav tm="0">
                                          <p:val>
                                            <p:strVal val="#ppt_x"/>
                                          </p:val>
                                        </p:tav>
                                        <p:tav tm="100000">
                                          <p:val>
                                            <p:strVal val="#ppt_x"/>
                                          </p:val>
                                        </p:tav>
                                      </p:tavLst>
                                    </p:anim>
                                    <p:anim calcmode="lin" valueType="num">
                                      <p:cBhvr>
                                        <p:cTn id="52" dur="1000" fill="hold"/>
                                        <p:tgtEl>
                                          <p:spTgt spid="109"/>
                                        </p:tgtEl>
                                        <p:attrNameLst>
                                          <p:attrName>ppt_y</p:attrName>
                                        </p:attrNameLst>
                                      </p:cBhvr>
                                      <p:tavLst>
                                        <p:tav tm="0">
                                          <p:val>
                                            <p:strVal val="#ppt_y+.1"/>
                                          </p:val>
                                        </p:tav>
                                        <p:tav tm="100000">
                                          <p:val>
                                            <p:strVal val="#ppt_y"/>
                                          </p:val>
                                        </p:tav>
                                      </p:tavLst>
                                    </p:anim>
                                  </p:childTnLst>
                                </p:cTn>
                              </p:par>
                            </p:childTnLst>
                          </p:cTn>
                        </p:par>
                      </p:childTnLst>
                    </p:cTn>
                  </p:par>
                  <p:par>
                    <p:cTn id="53" fill="hold" nodeType="clickPar">
                      <p:stCondLst>
                        <p:cond delay="indefinite"/>
                      </p:stCondLst>
                      <p:childTnLst>
                        <p:par>
                          <p:cTn id="54" fill="hold" nodeType="withGroup">
                            <p:stCondLst>
                              <p:cond delay="0"/>
                            </p:stCondLst>
                            <p:childTnLst>
                              <p:par>
                                <p:cTn id="55" presetID="42" presetClass="entr" presetSubtype="0" fill="hold" grpId="0" nodeType="clickEffect">
                                  <p:stCondLst>
                                    <p:cond delay="0"/>
                                  </p:stCondLst>
                                  <p:childTnLst>
                                    <p:set>
                                      <p:cBhvr>
                                        <p:cTn id="56" dur="1" fill="hold">
                                          <p:stCondLst>
                                            <p:cond delay="0"/>
                                          </p:stCondLst>
                                        </p:cTn>
                                        <p:tgtEl>
                                          <p:spTgt spid="110"/>
                                        </p:tgtEl>
                                        <p:attrNameLst>
                                          <p:attrName>style.visibility</p:attrName>
                                        </p:attrNameLst>
                                      </p:cBhvr>
                                      <p:to>
                                        <p:strVal val="visible"/>
                                      </p:to>
                                    </p:set>
                                    <p:animEffect transition="in" filter="fade">
                                      <p:cBhvr>
                                        <p:cTn id="57" dur="1000"/>
                                        <p:tgtEl>
                                          <p:spTgt spid="110"/>
                                        </p:tgtEl>
                                      </p:cBhvr>
                                    </p:animEffect>
                                    <p:anim calcmode="lin" valueType="num">
                                      <p:cBhvr>
                                        <p:cTn id="58" dur="1000" fill="hold"/>
                                        <p:tgtEl>
                                          <p:spTgt spid="110"/>
                                        </p:tgtEl>
                                        <p:attrNameLst>
                                          <p:attrName>ppt_x</p:attrName>
                                        </p:attrNameLst>
                                      </p:cBhvr>
                                      <p:tavLst>
                                        <p:tav tm="0">
                                          <p:val>
                                            <p:strVal val="#ppt_x"/>
                                          </p:val>
                                        </p:tav>
                                        <p:tav tm="100000">
                                          <p:val>
                                            <p:strVal val="#ppt_x"/>
                                          </p:val>
                                        </p:tav>
                                      </p:tavLst>
                                    </p:anim>
                                    <p:anim calcmode="lin" valueType="num">
                                      <p:cBhvr>
                                        <p:cTn id="59" dur="1000" fill="hold"/>
                                        <p:tgtEl>
                                          <p:spTgt spid="110"/>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111"/>
                                        </p:tgtEl>
                                        <p:attrNameLst>
                                          <p:attrName>style.visibility</p:attrName>
                                        </p:attrNameLst>
                                      </p:cBhvr>
                                      <p:to>
                                        <p:strVal val="visible"/>
                                      </p:to>
                                    </p:set>
                                    <p:animEffect transition="in" filter="fade">
                                      <p:cBhvr>
                                        <p:cTn id="62" dur="1000"/>
                                        <p:tgtEl>
                                          <p:spTgt spid="111"/>
                                        </p:tgtEl>
                                      </p:cBhvr>
                                    </p:animEffect>
                                    <p:anim calcmode="lin" valueType="num">
                                      <p:cBhvr>
                                        <p:cTn id="63" dur="1000" fill="hold"/>
                                        <p:tgtEl>
                                          <p:spTgt spid="111"/>
                                        </p:tgtEl>
                                        <p:attrNameLst>
                                          <p:attrName>ppt_x</p:attrName>
                                        </p:attrNameLst>
                                      </p:cBhvr>
                                      <p:tavLst>
                                        <p:tav tm="0">
                                          <p:val>
                                            <p:strVal val="#ppt_x"/>
                                          </p:val>
                                        </p:tav>
                                        <p:tav tm="100000">
                                          <p:val>
                                            <p:strVal val="#ppt_x"/>
                                          </p:val>
                                        </p:tav>
                                      </p:tavLst>
                                    </p:anim>
                                    <p:anim calcmode="lin" valueType="num">
                                      <p:cBhvr>
                                        <p:cTn id="64" dur="1000" fill="hold"/>
                                        <p:tgtEl>
                                          <p:spTgt spid="111"/>
                                        </p:tgtEl>
                                        <p:attrNameLst>
                                          <p:attrName>ppt_y</p:attrName>
                                        </p:attrNameLst>
                                      </p:cBhvr>
                                      <p:tavLst>
                                        <p:tav tm="0">
                                          <p:val>
                                            <p:strVal val="#ppt_y+.1"/>
                                          </p:val>
                                        </p:tav>
                                        <p:tav tm="100000">
                                          <p:val>
                                            <p:strVal val="#ppt_y"/>
                                          </p:val>
                                        </p:tav>
                                      </p:tavLst>
                                    </p:anim>
                                  </p:childTnLst>
                                </p:cTn>
                              </p:par>
                              <p:par>
                                <p:cTn id="65" presetID="42" presetClass="entr" presetSubtype="0" fill="hold" nodeType="withEffect">
                                  <p:stCondLst>
                                    <p:cond delay="0"/>
                                  </p:stCondLst>
                                  <p:childTnLst>
                                    <p:set>
                                      <p:cBhvr>
                                        <p:cTn id="66" dur="1" fill="hold">
                                          <p:stCondLst>
                                            <p:cond delay="0"/>
                                          </p:stCondLst>
                                        </p:cTn>
                                        <p:tgtEl>
                                          <p:spTgt spid="6"/>
                                        </p:tgtEl>
                                        <p:attrNameLst>
                                          <p:attrName>style.visibility</p:attrName>
                                        </p:attrNameLst>
                                      </p:cBhvr>
                                      <p:to>
                                        <p:strVal val="visible"/>
                                      </p:to>
                                    </p:set>
                                    <p:animEffect transition="in" filter="fade">
                                      <p:cBhvr>
                                        <p:cTn id="67" dur="1000"/>
                                        <p:tgtEl>
                                          <p:spTgt spid="6"/>
                                        </p:tgtEl>
                                      </p:cBhvr>
                                    </p:animEffect>
                                    <p:anim calcmode="lin" valueType="num">
                                      <p:cBhvr>
                                        <p:cTn id="68" dur="1000" fill="hold"/>
                                        <p:tgtEl>
                                          <p:spTgt spid="6"/>
                                        </p:tgtEl>
                                        <p:attrNameLst>
                                          <p:attrName>ppt_x</p:attrName>
                                        </p:attrNameLst>
                                      </p:cBhvr>
                                      <p:tavLst>
                                        <p:tav tm="0">
                                          <p:val>
                                            <p:strVal val="#ppt_x"/>
                                          </p:val>
                                        </p:tav>
                                        <p:tav tm="100000">
                                          <p:val>
                                            <p:strVal val="#ppt_x"/>
                                          </p:val>
                                        </p:tav>
                                      </p:tavLst>
                                    </p:anim>
                                    <p:anim calcmode="lin" valueType="num">
                                      <p:cBhvr>
                                        <p:cTn id="6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70" fill="hold" nodeType="clickPar">
                      <p:stCondLst>
                        <p:cond delay="indefinite"/>
                      </p:stCondLst>
                      <p:childTnLst>
                        <p:par>
                          <p:cTn id="71" fill="hold" nodeType="withGroup">
                            <p:stCondLst>
                              <p:cond delay="0"/>
                            </p:stCondLst>
                            <p:childTnLst>
                              <p:par>
                                <p:cTn id="72" presetID="42" presetClass="entr" presetSubtype="0" fill="hold" grpId="0" nodeType="clickEffect">
                                  <p:stCondLst>
                                    <p:cond delay="0"/>
                                  </p:stCondLst>
                                  <p:childTnLst>
                                    <p:set>
                                      <p:cBhvr>
                                        <p:cTn id="73" dur="1" fill="hold">
                                          <p:stCondLst>
                                            <p:cond delay="0"/>
                                          </p:stCondLst>
                                        </p:cTn>
                                        <p:tgtEl>
                                          <p:spTgt spid="112"/>
                                        </p:tgtEl>
                                        <p:attrNameLst>
                                          <p:attrName>style.visibility</p:attrName>
                                        </p:attrNameLst>
                                      </p:cBhvr>
                                      <p:to>
                                        <p:strVal val="visible"/>
                                      </p:to>
                                    </p:set>
                                    <p:animEffect transition="in" filter="fade">
                                      <p:cBhvr>
                                        <p:cTn id="74" dur="1000"/>
                                        <p:tgtEl>
                                          <p:spTgt spid="112"/>
                                        </p:tgtEl>
                                      </p:cBhvr>
                                    </p:animEffect>
                                    <p:anim calcmode="lin" valueType="num">
                                      <p:cBhvr>
                                        <p:cTn id="75" dur="1000" fill="hold"/>
                                        <p:tgtEl>
                                          <p:spTgt spid="112"/>
                                        </p:tgtEl>
                                        <p:attrNameLst>
                                          <p:attrName>ppt_x</p:attrName>
                                        </p:attrNameLst>
                                      </p:cBhvr>
                                      <p:tavLst>
                                        <p:tav tm="0">
                                          <p:val>
                                            <p:strVal val="#ppt_x"/>
                                          </p:val>
                                        </p:tav>
                                        <p:tav tm="100000">
                                          <p:val>
                                            <p:strVal val="#ppt_x"/>
                                          </p:val>
                                        </p:tav>
                                      </p:tavLst>
                                    </p:anim>
                                    <p:anim calcmode="lin" valueType="num">
                                      <p:cBhvr>
                                        <p:cTn id="76" dur="1000" fill="hold"/>
                                        <p:tgtEl>
                                          <p:spTgt spid="112"/>
                                        </p:tgtEl>
                                        <p:attrNameLst>
                                          <p:attrName>ppt_y</p:attrName>
                                        </p:attrNameLst>
                                      </p:cBhvr>
                                      <p:tavLst>
                                        <p:tav tm="0">
                                          <p:val>
                                            <p:strVal val="#ppt_y+.1"/>
                                          </p:val>
                                        </p:tav>
                                        <p:tav tm="100000">
                                          <p:val>
                                            <p:strVal val="#ppt_y"/>
                                          </p:val>
                                        </p:tav>
                                      </p:tavLst>
                                    </p:anim>
                                  </p:childTnLst>
                                </p:cTn>
                              </p:par>
                              <p:par>
                                <p:cTn id="77" presetID="42" presetClass="entr" presetSubtype="0" fill="hold" nodeType="withEffect">
                                  <p:stCondLst>
                                    <p:cond delay="0"/>
                                  </p:stCondLst>
                                  <p:childTnLst>
                                    <p:set>
                                      <p:cBhvr>
                                        <p:cTn id="78" dur="1" fill="hold">
                                          <p:stCondLst>
                                            <p:cond delay="0"/>
                                          </p:stCondLst>
                                        </p:cTn>
                                        <p:tgtEl>
                                          <p:spTgt spid="7"/>
                                        </p:tgtEl>
                                        <p:attrNameLst>
                                          <p:attrName>style.visibility</p:attrName>
                                        </p:attrNameLst>
                                      </p:cBhvr>
                                      <p:to>
                                        <p:strVal val="visible"/>
                                      </p:to>
                                    </p:set>
                                    <p:animEffect transition="in" filter="fade">
                                      <p:cBhvr>
                                        <p:cTn id="79" dur="1000"/>
                                        <p:tgtEl>
                                          <p:spTgt spid="7"/>
                                        </p:tgtEl>
                                      </p:cBhvr>
                                    </p:animEffect>
                                    <p:anim calcmode="lin" valueType="num">
                                      <p:cBhvr>
                                        <p:cTn id="80" dur="1000" fill="hold"/>
                                        <p:tgtEl>
                                          <p:spTgt spid="7"/>
                                        </p:tgtEl>
                                        <p:attrNameLst>
                                          <p:attrName>ppt_x</p:attrName>
                                        </p:attrNameLst>
                                      </p:cBhvr>
                                      <p:tavLst>
                                        <p:tav tm="0">
                                          <p:val>
                                            <p:strVal val="#ppt_x"/>
                                          </p:val>
                                        </p:tav>
                                        <p:tav tm="100000">
                                          <p:val>
                                            <p:strVal val="#ppt_x"/>
                                          </p:val>
                                        </p:tav>
                                      </p:tavLst>
                                    </p:anim>
                                    <p:anim calcmode="lin" valueType="num">
                                      <p:cBhvr>
                                        <p:cTn id="81"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82" fill="hold" nodeType="clickPar">
                      <p:stCondLst>
                        <p:cond delay="indefinite"/>
                      </p:stCondLst>
                      <p:childTnLst>
                        <p:par>
                          <p:cTn id="83" fill="hold" nodeType="withGroup">
                            <p:stCondLst>
                              <p:cond delay="0"/>
                            </p:stCondLst>
                            <p:childTnLst>
                              <p:par>
                                <p:cTn id="84" presetID="42" presetClass="entr" presetSubtype="0" fill="hold" grpId="0" nodeType="clickEffect">
                                  <p:stCondLst>
                                    <p:cond delay="0"/>
                                  </p:stCondLst>
                                  <p:childTnLst>
                                    <p:set>
                                      <p:cBhvr>
                                        <p:cTn id="85" dur="1" fill="hold">
                                          <p:stCondLst>
                                            <p:cond delay="0"/>
                                          </p:stCondLst>
                                        </p:cTn>
                                        <p:tgtEl>
                                          <p:spTgt spid="192"/>
                                        </p:tgtEl>
                                        <p:attrNameLst>
                                          <p:attrName>style.visibility</p:attrName>
                                        </p:attrNameLst>
                                      </p:cBhvr>
                                      <p:to>
                                        <p:strVal val="visible"/>
                                      </p:to>
                                    </p:set>
                                    <p:animEffect transition="in" filter="fade">
                                      <p:cBhvr>
                                        <p:cTn id="86" dur="1000"/>
                                        <p:tgtEl>
                                          <p:spTgt spid="192"/>
                                        </p:tgtEl>
                                      </p:cBhvr>
                                    </p:animEffect>
                                    <p:anim calcmode="lin" valueType="num">
                                      <p:cBhvr>
                                        <p:cTn id="87" dur="1000" fill="hold"/>
                                        <p:tgtEl>
                                          <p:spTgt spid="192"/>
                                        </p:tgtEl>
                                        <p:attrNameLst>
                                          <p:attrName>ppt_x</p:attrName>
                                        </p:attrNameLst>
                                      </p:cBhvr>
                                      <p:tavLst>
                                        <p:tav tm="0">
                                          <p:val>
                                            <p:strVal val="#ppt_x"/>
                                          </p:val>
                                        </p:tav>
                                        <p:tav tm="100000">
                                          <p:val>
                                            <p:strVal val="#ppt_x"/>
                                          </p:val>
                                        </p:tav>
                                      </p:tavLst>
                                    </p:anim>
                                    <p:anim calcmode="lin" valueType="num">
                                      <p:cBhvr>
                                        <p:cTn id="88" dur="1000" fill="hold"/>
                                        <p:tgtEl>
                                          <p:spTgt spid="192"/>
                                        </p:tgtEl>
                                        <p:attrNameLst>
                                          <p:attrName>ppt_y</p:attrName>
                                        </p:attrNameLst>
                                      </p:cBhvr>
                                      <p:tavLst>
                                        <p:tav tm="0">
                                          <p:val>
                                            <p:strVal val="#ppt_y+.1"/>
                                          </p:val>
                                        </p:tav>
                                        <p:tav tm="100000">
                                          <p:val>
                                            <p:strVal val="#ppt_y"/>
                                          </p:val>
                                        </p:tav>
                                      </p:tavLst>
                                    </p:anim>
                                  </p:childTnLst>
                                </p:cTn>
                              </p:par>
                            </p:childTnLst>
                          </p:cTn>
                        </p:par>
                      </p:childTnLst>
                    </p:cTn>
                  </p:par>
                  <p:par>
                    <p:cTn id="89" fill="hold" nodeType="clickPar">
                      <p:stCondLst>
                        <p:cond delay="indefinite"/>
                      </p:stCondLst>
                      <p:childTnLst>
                        <p:par>
                          <p:cTn id="90" fill="hold" nodeType="withGroup">
                            <p:stCondLst>
                              <p:cond delay="0"/>
                            </p:stCondLst>
                            <p:childTnLst>
                              <p:par>
                                <p:cTn id="91" presetID="42" presetClass="entr" presetSubtype="0" fill="hold" nodeType="clickEffect">
                                  <p:stCondLst>
                                    <p:cond delay="0"/>
                                  </p:stCondLst>
                                  <p:childTnLst>
                                    <p:set>
                                      <p:cBhvr>
                                        <p:cTn id="92" dur="1" fill="hold">
                                          <p:stCondLst>
                                            <p:cond delay="0"/>
                                          </p:stCondLst>
                                        </p:cTn>
                                        <p:tgtEl>
                                          <p:spTgt spid="193"/>
                                        </p:tgtEl>
                                        <p:attrNameLst>
                                          <p:attrName>style.visibility</p:attrName>
                                        </p:attrNameLst>
                                      </p:cBhvr>
                                      <p:to>
                                        <p:strVal val="visible"/>
                                      </p:to>
                                    </p:set>
                                    <p:animEffect transition="in" filter="fade">
                                      <p:cBhvr>
                                        <p:cTn id="93" dur="1000"/>
                                        <p:tgtEl>
                                          <p:spTgt spid="193"/>
                                        </p:tgtEl>
                                      </p:cBhvr>
                                    </p:animEffect>
                                    <p:anim calcmode="lin" valueType="num">
                                      <p:cBhvr>
                                        <p:cTn id="94" dur="1000" fill="hold"/>
                                        <p:tgtEl>
                                          <p:spTgt spid="193"/>
                                        </p:tgtEl>
                                        <p:attrNameLst>
                                          <p:attrName>ppt_x</p:attrName>
                                        </p:attrNameLst>
                                      </p:cBhvr>
                                      <p:tavLst>
                                        <p:tav tm="0">
                                          <p:val>
                                            <p:strVal val="#ppt_x"/>
                                          </p:val>
                                        </p:tav>
                                        <p:tav tm="100000">
                                          <p:val>
                                            <p:strVal val="#ppt_x"/>
                                          </p:val>
                                        </p:tav>
                                      </p:tavLst>
                                    </p:anim>
                                    <p:anim calcmode="lin" valueType="num">
                                      <p:cBhvr>
                                        <p:cTn id="95" dur="1000" fill="hold"/>
                                        <p:tgtEl>
                                          <p:spTgt spid="193"/>
                                        </p:tgtEl>
                                        <p:attrNameLst>
                                          <p:attrName>ppt_y</p:attrName>
                                        </p:attrNameLst>
                                      </p:cBhvr>
                                      <p:tavLst>
                                        <p:tav tm="0">
                                          <p:val>
                                            <p:strVal val="#ppt_y+.1"/>
                                          </p:val>
                                        </p:tav>
                                        <p:tav tm="100000">
                                          <p:val>
                                            <p:strVal val="#ppt_y"/>
                                          </p:val>
                                        </p:tav>
                                      </p:tavLst>
                                    </p:anim>
                                  </p:childTnLst>
                                </p:cTn>
                              </p:par>
                            </p:childTnLst>
                          </p:cTn>
                        </p:par>
                      </p:childTnLst>
                    </p:cTn>
                  </p:par>
                  <p:par>
                    <p:cTn id="96" fill="hold" nodeType="clickPar">
                      <p:stCondLst>
                        <p:cond delay="indefinite"/>
                      </p:stCondLst>
                      <p:childTnLst>
                        <p:par>
                          <p:cTn id="97" fill="hold" nodeType="withGroup">
                            <p:stCondLst>
                              <p:cond delay="0"/>
                            </p:stCondLst>
                            <p:childTnLst>
                              <p:par>
                                <p:cTn id="98" presetID="42" presetClass="entr" presetSubtype="0" fill="hold" grpId="0" nodeType="clickEffect">
                                  <p:stCondLst>
                                    <p:cond delay="0"/>
                                  </p:stCondLst>
                                  <p:childTnLst>
                                    <p:set>
                                      <p:cBhvr>
                                        <p:cTn id="99" dur="1" fill="hold">
                                          <p:stCondLst>
                                            <p:cond delay="0"/>
                                          </p:stCondLst>
                                        </p:cTn>
                                        <p:tgtEl>
                                          <p:spTgt spid="9"/>
                                        </p:tgtEl>
                                        <p:attrNameLst>
                                          <p:attrName>style.visibility</p:attrName>
                                        </p:attrNameLst>
                                      </p:cBhvr>
                                      <p:to>
                                        <p:strVal val="visible"/>
                                      </p:to>
                                    </p:set>
                                    <p:animEffect transition="in" filter="fade">
                                      <p:cBhvr>
                                        <p:cTn id="100" dur="1000"/>
                                        <p:tgtEl>
                                          <p:spTgt spid="9"/>
                                        </p:tgtEl>
                                      </p:cBhvr>
                                    </p:animEffect>
                                    <p:anim calcmode="lin" valueType="num">
                                      <p:cBhvr>
                                        <p:cTn id="101" dur="1000" fill="hold"/>
                                        <p:tgtEl>
                                          <p:spTgt spid="9"/>
                                        </p:tgtEl>
                                        <p:attrNameLst>
                                          <p:attrName>ppt_x</p:attrName>
                                        </p:attrNameLst>
                                      </p:cBhvr>
                                      <p:tavLst>
                                        <p:tav tm="0">
                                          <p:val>
                                            <p:strVal val="#ppt_x"/>
                                          </p:val>
                                        </p:tav>
                                        <p:tav tm="100000">
                                          <p:val>
                                            <p:strVal val="#ppt_x"/>
                                          </p:val>
                                        </p:tav>
                                      </p:tavLst>
                                    </p:anim>
                                    <p:anim calcmode="lin" valueType="num">
                                      <p:cBhvr>
                                        <p:cTn id="102" dur="1000" fill="hold"/>
                                        <p:tgtEl>
                                          <p:spTgt spid="9"/>
                                        </p:tgtEl>
                                        <p:attrNameLst>
                                          <p:attrName>ppt_y</p:attrName>
                                        </p:attrNameLst>
                                      </p:cBhvr>
                                      <p:tavLst>
                                        <p:tav tm="0">
                                          <p:val>
                                            <p:strVal val="#ppt_y+.1"/>
                                          </p:val>
                                        </p:tav>
                                        <p:tav tm="100000">
                                          <p:val>
                                            <p:strVal val="#ppt_y"/>
                                          </p:val>
                                        </p:tav>
                                      </p:tavLst>
                                    </p:anim>
                                  </p:childTnLst>
                                </p:cTn>
                              </p:par>
                              <p:par>
                                <p:cTn id="103" presetID="42" presetClass="entr" presetSubtype="0" fill="hold" nodeType="withEffect">
                                  <p:stCondLst>
                                    <p:cond delay="0"/>
                                  </p:stCondLst>
                                  <p:childTnLst>
                                    <p:set>
                                      <p:cBhvr>
                                        <p:cTn id="104" dur="1" fill="hold">
                                          <p:stCondLst>
                                            <p:cond delay="0"/>
                                          </p:stCondLst>
                                        </p:cTn>
                                        <p:tgtEl>
                                          <p:spTgt spid="306"/>
                                        </p:tgtEl>
                                        <p:attrNameLst>
                                          <p:attrName>style.visibility</p:attrName>
                                        </p:attrNameLst>
                                      </p:cBhvr>
                                      <p:to>
                                        <p:strVal val="visible"/>
                                      </p:to>
                                    </p:set>
                                    <p:animEffect transition="in" filter="fade">
                                      <p:cBhvr>
                                        <p:cTn id="105" dur="1000"/>
                                        <p:tgtEl>
                                          <p:spTgt spid="306"/>
                                        </p:tgtEl>
                                      </p:cBhvr>
                                    </p:animEffect>
                                    <p:anim calcmode="lin" valueType="num">
                                      <p:cBhvr>
                                        <p:cTn id="106" dur="1000" fill="hold"/>
                                        <p:tgtEl>
                                          <p:spTgt spid="306"/>
                                        </p:tgtEl>
                                        <p:attrNameLst>
                                          <p:attrName>ppt_x</p:attrName>
                                        </p:attrNameLst>
                                      </p:cBhvr>
                                      <p:tavLst>
                                        <p:tav tm="0">
                                          <p:val>
                                            <p:strVal val="#ppt_x"/>
                                          </p:val>
                                        </p:tav>
                                        <p:tav tm="100000">
                                          <p:val>
                                            <p:strVal val="#ppt_x"/>
                                          </p:val>
                                        </p:tav>
                                      </p:tavLst>
                                    </p:anim>
                                    <p:anim calcmode="lin" valueType="num">
                                      <p:cBhvr>
                                        <p:cTn id="107" dur="1000" fill="hold"/>
                                        <p:tgtEl>
                                          <p:spTgt spid="306"/>
                                        </p:tgtEl>
                                        <p:attrNameLst>
                                          <p:attrName>ppt_y</p:attrName>
                                        </p:attrNameLst>
                                      </p:cBhvr>
                                      <p:tavLst>
                                        <p:tav tm="0">
                                          <p:val>
                                            <p:strVal val="#ppt_y+.1"/>
                                          </p:val>
                                        </p:tav>
                                        <p:tav tm="100000">
                                          <p:val>
                                            <p:strVal val="#ppt_y"/>
                                          </p:val>
                                        </p:tav>
                                      </p:tavLst>
                                    </p:anim>
                                  </p:childTnLst>
                                </p:cTn>
                              </p:par>
                            </p:childTnLst>
                          </p:cTn>
                        </p:par>
                      </p:childTnLst>
                    </p:cTn>
                  </p:par>
                  <p:par>
                    <p:cTn id="108" fill="hold" nodeType="clickPar">
                      <p:stCondLst>
                        <p:cond delay="indefinite"/>
                      </p:stCondLst>
                      <p:childTnLst>
                        <p:par>
                          <p:cTn id="109" fill="hold" nodeType="withGroup">
                            <p:stCondLst>
                              <p:cond delay="0"/>
                            </p:stCondLst>
                            <p:childTnLst>
                              <p:par>
                                <p:cTn id="110" presetID="42" presetClass="entr" presetSubtype="0" fill="hold" grpId="0" nodeType="clickEffect">
                                  <p:stCondLst>
                                    <p:cond delay="0"/>
                                  </p:stCondLst>
                                  <p:childTnLst>
                                    <p:set>
                                      <p:cBhvr>
                                        <p:cTn id="111" dur="1" fill="hold">
                                          <p:stCondLst>
                                            <p:cond delay="0"/>
                                          </p:stCondLst>
                                        </p:cTn>
                                        <p:tgtEl>
                                          <p:spTgt spid="430"/>
                                        </p:tgtEl>
                                        <p:attrNameLst>
                                          <p:attrName>style.visibility</p:attrName>
                                        </p:attrNameLst>
                                      </p:cBhvr>
                                      <p:to>
                                        <p:strVal val="visible"/>
                                      </p:to>
                                    </p:set>
                                    <p:animEffect transition="in" filter="fade">
                                      <p:cBhvr>
                                        <p:cTn id="112" dur="1000"/>
                                        <p:tgtEl>
                                          <p:spTgt spid="430"/>
                                        </p:tgtEl>
                                      </p:cBhvr>
                                    </p:animEffect>
                                    <p:anim calcmode="lin" valueType="num">
                                      <p:cBhvr>
                                        <p:cTn id="113" dur="1000" fill="hold"/>
                                        <p:tgtEl>
                                          <p:spTgt spid="430"/>
                                        </p:tgtEl>
                                        <p:attrNameLst>
                                          <p:attrName>ppt_x</p:attrName>
                                        </p:attrNameLst>
                                      </p:cBhvr>
                                      <p:tavLst>
                                        <p:tav tm="0">
                                          <p:val>
                                            <p:strVal val="#ppt_x"/>
                                          </p:val>
                                        </p:tav>
                                        <p:tav tm="100000">
                                          <p:val>
                                            <p:strVal val="#ppt_x"/>
                                          </p:val>
                                        </p:tav>
                                      </p:tavLst>
                                    </p:anim>
                                    <p:anim calcmode="lin" valueType="num">
                                      <p:cBhvr>
                                        <p:cTn id="114" dur="1000" fill="hold"/>
                                        <p:tgtEl>
                                          <p:spTgt spid="43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39" grpId="0"/>
      <p:bldP spid="107" grpId="0"/>
      <p:bldP spid="2" grpId="0"/>
      <p:bldP spid="3" grpId="0" animBg="1"/>
      <p:bldP spid="108" grpId="0"/>
      <p:bldP spid="109" grpId="0"/>
      <p:bldP spid="110" grpId="0" animBg="1"/>
      <p:bldP spid="111" grpId="0"/>
      <p:bldP spid="112" grpId="0"/>
      <p:bldP spid="192" grpId="0"/>
      <p:bldP spid="9" grpId="0" animBg="1"/>
      <p:bldP spid="430" grpId="0"/>
    </p:bldLst>
  </p:timing>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386" name="图片 3">
            <a:extLst>
              <a:ext uri="{FF2B5EF4-FFF2-40B4-BE49-F238E27FC236}">
                <a16:creationId xmlns:a16="http://schemas.microsoft.com/office/drawing/2014/main" id="{A928ED1C-31F7-45DD-91EB-FA50F2C6EFC7}"/>
              </a:ext>
            </a:extLst>
          </p:cNvPr>
          <p:cNvPicPr>
            <a:picLocks noChangeAspect="1"/>
          </p:cNvPicPr>
          <p:nvPr/>
        </p:nvPicPr>
        <p:blipFill>
          <a:blip r:embed="rId2">
            <a:extLst>
              <a:ext uri="{28A0092B-C50C-407E-A947-70E740481C1C}">
                <a14:useLocalDpi xmlns:a14="http://schemas.microsoft.com/office/drawing/2010/main" val="0"/>
              </a:ext>
            </a:extLst>
          </a:blip>
          <a:srcRect l="1700" t="34599" r="20601" b="31799"/>
          <a:stretch>
            <a:fillRect/>
          </a:stretch>
        </p:blipFill>
        <p:spPr bwMode="auto">
          <a:xfrm>
            <a:off x="755650" y="254000"/>
            <a:ext cx="7488238" cy="242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矩形 4">
            <a:extLst>
              <a:ext uri="{FF2B5EF4-FFF2-40B4-BE49-F238E27FC236}">
                <a16:creationId xmlns:a16="http://schemas.microsoft.com/office/drawing/2014/main" id="{096316DC-CA5C-43CC-B4EC-62008BD07CB2}"/>
              </a:ext>
            </a:extLst>
          </p:cNvPr>
          <p:cNvSpPr/>
          <p:nvPr/>
        </p:nvSpPr>
        <p:spPr>
          <a:xfrm>
            <a:off x="755650" y="1336675"/>
            <a:ext cx="5256213" cy="136842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7" name="流程图: 汇总连接 6">
            <a:extLst>
              <a:ext uri="{FF2B5EF4-FFF2-40B4-BE49-F238E27FC236}">
                <a16:creationId xmlns:a16="http://schemas.microsoft.com/office/drawing/2014/main" id="{5FBB1345-2598-4487-BA50-7FFD197B8BFD}"/>
              </a:ext>
            </a:extLst>
          </p:cNvPr>
          <p:cNvSpPr/>
          <p:nvPr/>
        </p:nvSpPr>
        <p:spPr>
          <a:xfrm>
            <a:off x="1763713" y="1516063"/>
            <a:ext cx="1008062" cy="1008062"/>
          </a:xfrm>
          <a:prstGeom prst="flowChartSummingJunction">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8" name="文本框 7">
            <a:extLst>
              <a:ext uri="{FF2B5EF4-FFF2-40B4-BE49-F238E27FC236}">
                <a16:creationId xmlns:a16="http://schemas.microsoft.com/office/drawing/2014/main" id="{13F39A25-3C28-419F-AF02-5AC3FAF598FA}"/>
              </a:ext>
            </a:extLst>
          </p:cNvPr>
          <p:cNvSpPr txBox="1">
            <a:spLocks noChangeArrowheads="1"/>
          </p:cNvSpPr>
          <p:nvPr/>
        </p:nvSpPr>
        <p:spPr bwMode="auto">
          <a:xfrm>
            <a:off x="184150" y="2827338"/>
            <a:ext cx="8205788"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b="1">
                <a:solidFill>
                  <a:srgbClr val="FF0000"/>
                </a:solidFill>
              </a:rPr>
              <a:t>锑是</a:t>
            </a:r>
            <a:r>
              <a:rPr lang="en-US" altLang="zh-CN" sz="2800" b="1">
                <a:solidFill>
                  <a:srgbClr val="FF0000"/>
                </a:solidFill>
              </a:rPr>
              <a:t>5</a:t>
            </a:r>
            <a:r>
              <a:rPr lang="zh-CN" altLang="en-US" sz="2800" b="1">
                <a:solidFill>
                  <a:srgbClr val="FF0000"/>
                </a:solidFill>
              </a:rPr>
              <a:t>价</a:t>
            </a:r>
            <a:r>
              <a:rPr lang="zh-CN" altLang="en-US" sz="2800" b="1"/>
              <a:t>，锗晶体中</a:t>
            </a:r>
            <a:r>
              <a:rPr lang="zh-CN" altLang="en-US" sz="2800" b="1">
                <a:solidFill>
                  <a:srgbClr val="FF0000"/>
                </a:solidFill>
              </a:rPr>
              <a:t>掺杂锑</a:t>
            </a:r>
            <a:r>
              <a:rPr lang="zh-CN" altLang="en-US" sz="2800" b="1"/>
              <a:t>形成</a:t>
            </a:r>
            <a:r>
              <a:rPr lang="en-US" altLang="zh-CN" sz="2800" b="1">
                <a:solidFill>
                  <a:srgbClr val="FF0000"/>
                </a:solidFill>
              </a:rPr>
              <a:t>n</a:t>
            </a:r>
            <a:r>
              <a:rPr lang="zh-CN" altLang="en-US" sz="2800" b="1">
                <a:solidFill>
                  <a:srgbClr val="FF0000"/>
                </a:solidFill>
              </a:rPr>
              <a:t>型半导体</a:t>
            </a:r>
            <a:r>
              <a:rPr lang="en-US" altLang="zh-CN" sz="2800" b="1"/>
              <a:t>(</a:t>
            </a:r>
            <a:r>
              <a:rPr lang="zh-CN" altLang="en-US" sz="2800" b="1">
                <a:solidFill>
                  <a:srgbClr val="FF0000"/>
                </a:solidFill>
              </a:rPr>
              <a:t>磷</a:t>
            </a:r>
            <a:r>
              <a:rPr lang="en-US" altLang="zh-CN" sz="2800" b="1">
                <a:solidFill>
                  <a:srgbClr val="FF0000"/>
                </a:solidFill>
              </a:rPr>
              <a:t>,</a:t>
            </a:r>
            <a:r>
              <a:rPr lang="zh-CN" altLang="en-US" sz="2800" b="1">
                <a:solidFill>
                  <a:srgbClr val="FF0000"/>
                </a:solidFill>
              </a:rPr>
              <a:t>砷</a:t>
            </a:r>
            <a:r>
              <a:rPr lang="en-US" altLang="zh-CN" sz="2800" b="1">
                <a:solidFill>
                  <a:srgbClr val="FF0000"/>
                </a:solidFill>
              </a:rPr>
              <a:t>,</a:t>
            </a:r>
            <a:r>
              <a:rPr lang="zh-CN" altLang="en-US" sz="2800" b="1">
                <a:solidFill>
                  <a:srgbClr val="FF0000"/>
                </a:solidFill>
              </a:rPr>
              <a:t>锑</a:t>
            </a:r>
            <a:r>
              <a:rPr lang="en-US" altLang="zh-CN" sz="2800" b="1"/>
              <a:t>)</a:t>
            </a:r>
            <a:endParaRPr lang="zh-CN" altLang="en-US" sz="2800" b="1"/>
          </a:p>
        </p:txBody>
      </p:sp>
      <p:sp>
        <p:nvSpPr>
          <p:cNvPr id="9" name="文本框 8">
            <a:extLst>
              <a:ext uri="{FF2B5EF4-FFF2-40B4-BE49-F238E27FC236}">
                <a16:creationId xmlns:a16="http://schemas.microsoft.com/office/drawing/2014/main" id="{3F43881E-7BDF-4E2E-B7C1-DDE911C4F178}"/>
              </a:ext>
            </a:extLst>
          </p:cNvPr>
          <p:cNvSpPr txBox="1">
            <a:spLocks noChangeArrowheads="1"/>
          </p:cNvSpPr>
          <p:nvPr/>
        </p:nvSpPr>
        <p:spPr bwMode="auto">
          <a:xfrm>
            <a:off x="184150" y="3481388"/>
            <a:ext cx="89249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b="1">
                <a:solidFill>
                  <a:srgbClr val="FF0000"/>
                </a:solidFill>
              </a:rPr>
              <a:t>铟是</a:t>
            </a:r>
            <a:r>
              <a:rPr lang="en-US" altLang="zh-CN" sz="2800" b="1">
                <a:solidFill>
                  <a:srgbClr val="FF0000"/>
                </a:solidFill>
              </a:rPr>
              <a:t>3</a:t>
            </a:r>
            <a:r>
              <a:rPr lang="zh-CN" altLang="en-US" sz="2800" b="1">
                <a:solidFill>
                  <a:srgbClr val="FF0000"/>
                </a:solidFill>
              </a:rPr>
              <a:t>价</a:t>
            </a:r>
            <a:r>
              <a:rPr lang="zh-CN" altLang="en-US" sz="2800" b="1"/>
              <a:t>，锗晶体中</a:t>
            </a:r>
            <a:r>
              <a:rPr lang="zh-CN" altLang="en-US" sz="2800" b="1">
                <a:solidFill>
                  <a:srgbClr val="FF0000"/>
                </a:solidFill>
              </a:rPr>
              <a:t>掺杂铟</a:t>
            </a:r>
            <a:r>
              <a:rPr lang="zh-CN" altLang="en-US" sz="2800" b="1"/>
              <a:t>形成</a:t>
            </a:r>
            <a:r>
              <a:rPr lang="en-US" altLang="zh-CN" sz="2800" b="1">
                <a:solidFill>
                  <a:srgbClr val="FF0000"/>
                </a:solidFill>
              </a:rPr>
              <a:t>p</a:t>
            </a:r>
            <a:r>
              <a:rPr lang="zh-CN" altLang="en-US" sz="2800" b="1">
                <a:solidFill>
                  <a:srgbClr val="FF0000"/>
                </a:solidFill>
              </a:rPr>
              <a:t>型半导体</a:t>
            </a:r>
            <a:r>
              <a:rPr lang="en-US" altLang="zh-CN" sz="2800" b="1"/>
              <a:t>(</a:t>
            </a:r>
            <a:r>
              <a:rPr lang="zh-CN" altLang="en-US" sz="2800" b="1">
                <a:solidFill>
                  <a:srgbClr val="FF0000"/>
                </a:solidFill>
              </a:rPr>
              <a:t>硼</a:t>
            </a:r>
            <a:r>
              <a:rPr lang="en-US" altLang="zh-CN" sz="2800" b="1">
                <a:solidFill>
                  <a:srgbClr val="FF0000"/>
                </a:solidFill>
              </a:rPr>
              <a:t>,</a:t>
            </a:r>
            <a:r>
              <a:rPr lang="zh-CN" altLang="en-US" sz="2800" b="1">
                <a:solidFill>
                  <a:srgbClr val="FF0000"/>
                </a:solidFill>
              </a:rPr>
              <a:t>铝</a:t>
            </a:r>
            <a:r>
              <a:rPr lang="en-US" altLang="zh-CN" sz="2800" b="1">
                <a:solidFill>
                  <a:srgbClr val="FF0000"/>
                </a:solidFill>
              </a:rPr>
              <a:t>,</a:t>
            </a:r>
            <a:r>
              <a:rPr lang="zh-CN" altLang="en-US" sz="2800" b="1">
                <a:solidFill>
                  <a:srgbClr val="FF0000"/>
                </a:solidFill>
              </a:rPr>
              <a:t>镓</a:t>
            </a:r>
            <a:r>
              <a:rPr lang="en-US" altLang="zh-CN" sz="2800" b="1">
                <a:solidFill>
                  <a:srgbClr val="FF0000"/>
                </a:solidFill>
              </a:rPr>
              <a:t>,</a:t>
            </a:r>
            <a:r>
              <a:rPr lang="zh-CN" altLang="en-US" sz="2800" b="1">
                <a:solidFill>
                  <a:srgbClr val="FF0000"/>
                </a:solidFill>
              </a:rPr>
              <a:t>铟</a:t>
            </a:r>
            <a:r>
              <a:rPr lang="en-US" altLang="zh-CN" sz="2800" b="1"/>
              <a:t>)</a:t>
            </a:r>
            <a:endParaRPr lang="zh-CN" altLang="en-US" sz="2800" b="1"/>
          </a:p>
        </p:txBody>
      </p:sp>
      <p:grpSp>
        <p:nvGrpSpPr>
          <p:cNvPr id="13" name="组合 12">
            <a:extLst>
              <a:ext uri="{FF2B5EF4-FFF2-40B4-BE49-F238E27FC236}">
                <a16:creationId xmlns:a16="http://schemas.microsoft.com/office/drawing/2014/main" id="{0978F0CB-EF74-4B44-903A-64007006B8F2}"/>
              </a:ext>
            </a:extLst>
          </p:cNvPr>
          <p:cNvGrpSpPr>
            <a:grpSpLocks/>
          </p:cNvGrpSpPr>
          <p:nvPr/>
        </p:nvGrpSpPr>
        <p:grpSpPr bwMode="auto">
          <a:xfrm>
            <a:off x="4962525" y="4114800"/>
            <a:ext cx="3792538" cy="2554288"/>
            <a:chOff x="4962123" y="4149080"/>
            <a:chExt cx="3792341" cy="2554691"/>
          </a:xfrm>
        </p:grpSpPr>
        <p:pic>
          <p:nvPicPr>
            <p:cNvPr id="16392" name="图片 9">
              <a:extLst>
                <a:ext uri="{FF2B5EF4-FFF2-40B4-BE49-F238E27FC236}">
                  <a16:creationId xmlns:a16="http://schemas.microsoft.com/office/drawing/2014/main" id="{C798E9A9-A153-49A3-9EBB-7A646AE81D8D}"/>
                </a:ext>
              </a:extLst>
            </p:cNvPr>
            <p:cNvPicPr>
              <a:picLocks noChangeAspect="1"/>
            </p:cNvPicPr>
            <p:nvPr/>
          </p:nvPicPr>
          <p:blipFill>
            <a:blip r:embed="rId3">
              <a:extLst>
                <a:ext uri="{28A0092B-C50C-407E-A947-70E740481C1C}">
                  <a14:useLocalDpi xmlns:a14="http://schemas.microsoft.com/office/drawing/2010/main" val="0"/>
                </a:ext>
              </a:extLst>
            </a:blip>
            <a:srcRect t="25073"/>
            <a:stretch>
              <a:fillRect/>
            </a:stretch>
          </p:blipFill>
          <p:spPr bwMode="auto">
            <a:xfrm>
              <a:off x="4962123" y="4149080"/>
              <a:ext cx="3792341" cy="2554691"/>
            </a:xfrm>
            <a:prstGeom prst="rect">
              <a:avLst/>
            </a:prstGeom>
            <a:solidFill>
              <a:srgbClr val="FF0000">
                <a:alpha val="20000"/>
              </a:srgbClr>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11" name="矩形 10">
              <a:extLst>
                <a:ext uri="{FF2B5EF4-FFF2-40B4-BE49-F238E27FC236}">
                  <a16:creationId xmlns:a16="http://schemas.microsoft.com/office/drawing/2014/main" id="{36ACF7C6-19F2-4A1F-9157-9E958E7097D3}"/>
                </a:ext>
              </a:extLst>
            </p:cNvPr>
            <p:cNvSpPr/>
            <p:nvPr/>
          </p:nvSpPr>
          <p:spPr>
            <a:xfrm>
              <a:off x="4962123" y="4149080"/>
              <a:ext cx="690527" cy="2554691"/>
            </a:xfrm>
            <a:prstGeom prst="rect">
              <a:avLst/>
            </a:prstGeom>
            <a:solidFill>
              <a:srgbClr val="FF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2" name="矩形 11">
              <a:extLst>
                <a:ext uri="{FF2B5EF4-FFF2-40B4-BE49-F238E27FC236}">
                  <a16:creationId xmlns:a16="http://schemas.microsoft.com/office/drawing/2014/main" id="{18770F1F-1A32-4EC2-AB3E-31CCD243E0A0}"/>
                </a:ext>
              </a:extLst>
            </p:cNvPr>
            <p:cNvSpPr/>
            <p:nvPr/>
          </p:nvSpPr>
          <p:spPr>
            <a:xfrm>
              <a:off x="6198722" y="4149080"/>
              <a:ext cx="690526" cy="2554691"/>
            </a:xfrm>
            <a:prstGeom prst="rect">
              <a:avLst/>
            </a:prstGeom>
            <a:solidFill>
              <a:srgbClr val="00FF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anim calcmode="lin" valueType="num">
                                      <p:cBhvr>
                                        <p:cTn id="13" dur="1000" fill="hold"/>
                                        <p:tgtEl>
                                          <p:spTgt spid="7"/>
                                        </p:tgtEl>
                                        <p:attrNameLst>
                                          <p:attrName>ppt_x</p:attrName>
                                        </p:attrNameLst>
                                      </p:cBhvr>
                                      <p:tavLst>
                                        <p:tav tm="0">
                                          <p:val>
                                            <p:strVal val="#ppt_x"/>
                                          </p:val>
                                        </p:tav>
                                        <p:tav tm="100000">
                                          <p:val>
                                            <p:strVal val="#ppt_x"/>
                                          </p:val>
                                        </p:tav>
                                      </p:tavLst>
                                    </p:anim>
                                    <p:anim calcmode="lin" valueType="num">
                                      <p:cBhvr>
                                        <p:cTn id="14"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1000"/>
                                        <p:tgtEl>
                                          <p:spTgt spid="8"/>
                                        </p:tgtEl>
                                      </p:cBhvr>
                                    </p:animEffect>
                                    <p:anim calcmode="lin" valueType="num">
                                      <p:cBhvr>
                                        <p:cTn id="20" dur="1000" fill="hold"/>
                                        <p:tgtEl>
                                          <p:spTgt spid="8"/>
                                        </p:tgtEl>
                                        <p:attrNameLst>
                                          <p:attrName>ppt_x</p:attrName>
                                        </p:attrNameLst>
                                      </p:cBhvr>
                                      <p:tavLst>
                                        <p:tav tm="0">
                                          <p:val>
                                            <p:strVal val="#ppt_x"/>
                                          </p:val>
                                        </p:tav>
                                        <p:tav tm="100000">
                                          <p:val>
                                            <p:strVal val="#ppt_x"/>
                                          </p:val>
                                        </p:tav>
                                      </p:tavLst>
                                    </p:anim>
                                    <p:anim calcmode="lin" valueType="num">
                                      <p:cBhvr>
                                        <p:cTn id="21"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2" fill="hold" nodeType="clickPar">
                      <p:stCondLst>
                        <p:cond delay="indefinite"/>
                      </p:stCondLst>
                      <p:childTnLst>
                        <p:par>
                          <p:cTn id="23" fill="hold" nodeType="withGroup">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1000"/>
                                        <p:tgtEl>
                                          <p:spTgt spid="9"/>
                                        </p:tgtEl>
                                      </p:cBhvr>
                                    </p:animEffect>
                                    <p:anim calcmode="lin" valueType="num">
                                      <p:cBhvr>
                                        <p:cTn id="27" dur="1000" fill="hold"/>
                                        <p:tgtEl>
                                          <p:spTgt spid="9"/>
                                        </p:tgtEl>
                                        <p:attrNameLst>
                                          <p:attrName>ppt_x</p:attrName>
                                        </p:attrNameLst>
                                      </p:cBhvr>
                                      <p:tavLst>
                                        <p:tav tm="0">
                                          <p:val>
                                            <p:strVal val="#ppt_x"/>
                                          </p:val>
                                        </p:tav>
                                        <p:tav tm="100000">
                                          <p:val>
                                            <p:strVal val="#ppt_x"/>
                                          </p:val>
                                        </p:tav>
                                      </p:tavLst>
                                    </p:anim>
                                    <p:anim calcmode="lin" valueType="num">
                                      <p:cBhvr>
                                        <p:cTn id="28"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42" presetClass="entr" presetSubtype="0" fill="hold" nodeType="click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1000"/>
                                        <p:tgtEl>
                                          <p:spTgt spid="13"/>
                                        </p:tgtEl>
                                      </p:cBhvr>
                                    </p:animEffect>
                                    <p:anim calcmode="lin" valueType="num">
                                      <p:cBhvr>
                                        <p:cTn id="34" dur="1000" fill="hold"/>
                                        <p:tgtEl>
                                          <p:spTgt spid="13"/>
                                        </p:tgtEl>
                                        <p:attrNameLst>
                                          <p:attrName>ppt_x</p:attrName>
                                        </p:attrNameLst>
                                      </p:cBhvr>
                                      <p:tavLst>
                                        <p:tav tm="0">
                                          <p:val>
                                            <p:strVal val="#ppt_x"/>
                                          </p:val>
                                        </p:tav>
                                        <p:tav tm="100000">
                                          <p:val>
                                            <p:strVal val="#ppt_x"/>
                                          </p:val>
                                        </p:tav>
                                      </p:tavLst>
                                    </p:anim>
                                    <p:anim calcmode="lin" valueType="num">
                                      <p:cBhvr>
                                        <p:cTn id="35"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p:bldP spid="9" grpId="0"/>
    </p:bldLst>
  </p:timing>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410" name="TextBox 3">
            <a:extLst>
              <a:ext uri="{FF2B5EF4-FFF2-40B4-BE49-F238E27FC236}">
                <a16:creationId xmlns:a16="http://schemas.microsoft.com/office/drawing/2014/main" id="{471F9448-DCA0-4751-A0B0-BFB41511BFB5}"/>
              </a:ext>
            </a:extLst>
          </p:cNvPr>
          <p:cNvSpPr txBox="1">
            <a:spLocks noChangeArrowheads="1"/>
          </p:cNvSpPr>
          <p:nvPr/>
        </p:nvSpPr>
        <p:spPr bwMode="auto">
          <a:xfrm>
            <a:off x="2786063" y="115888"/>
            <a:ext cx="34290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800">
                <a:latin typeface="黑体" panose="02010609060101010101" pitchFamily="49" charset="-122"/>
                <a:ea typeface="黑体" panose="02010609060101010101" pitchFamily="49" charset="-122"/>
              </a:rPr>
              <a:t>内容回顾</a:t>
            </a:r>
          </a:p>
        </p:txBody>
      </p:sp>
      <p:sp>
        <p:nvSpPr>
          <p:cNvPr id="5" name="Rectangle 12">
            <a:extLst>
              <a:ext uri="{FF2B5EF4-FFF2-40B4-BE49-F238E27FC236}">
                <a16:creationId xmlns:a16="http://schemas.microsoft.com/office/drawing/2014/main" id="{F1F80966-7B36-460C-89C1-1E26B64234E5}"/>
              </a:ext>
            </a:extLst>
          </p:cNvPr>
          <p:cNvSpPr>
            <a:spLocks noChangeArrowheads="1"/>
          </p:cNvSpPr>
          <p:nvPr/>
        </p:nvSpPr>
        <p:spPr bwMode="auto">
          <a:xfrm>
            <a:off x="107950" y="692150"/>
            <a:ext cx="68738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lang="en-US" altLang="zh-CN" sz="2800" dirty="0">
                <a:solidFill>
                  <a:schemeClr val="accent2"/>
                </a:solidFill>
                <a:effectLst>
                  <a:outerShdw blurRad="38100" dist="38100" dir="2700000" algn="tl">
                    <a:srgbClr val="000000"/>
                  </a:outerShdw>
                </a:effectLst>
                <a:latin typeface="Times New Roman" pitchFamily="18" charset="0"/>
                <a:cs typeface="Times New Roman" pitchFamily="18" charset="0"/>
              </a:rPr>
              <a:t>2. </a:t>
            </a:r>
            <a:r>
              <a:rPr lang="zh-CN" altLang="en-US" sz="2800" dirty="0">
                <a:solidFill>
                  <a:schemeClr val="accent2"/>
                </a:solidFill>
                <a:effectLst>
                  <a:outerShdw blurRad="38100" dist="38100" dir="2700000" algn="tl">
                    <a:srgbClr val="000000"/>
                  </a:outerShdw>
                </a:effectLst>
                <a:latin typeface="Times New Roman" pitchFamily="18" charset="0"/>
                <a:cs typeface="Times New Roman" pitchFamily="18" charset="0"/>
              </a:rPr>
              <a:t>激光</a:t>
            </a:r>
          </a:p>
        </p:txBody>
      </p:sp>
      <p:sp>
        <p:nvSpPr>
          <p:cNvPr id="39" name="Text Box 24">
            <a:extLst>
              <a:ext uri="{FF2B5EF4-FFF2-40B4-BE49-F238E27FC236}">
                <a16:creationId xmlns:a16="http://schemas.microsoft.com/office/drawing/2014/main" id="{8CBBC215-D474-44B7-9CA3-AE4480C5745D}"/>
              </a:ext>
            </a:extLst>
          </p:cNvPr>
          <p:cNvSpPr txBox="1">
            <a:spLocks noChangeArrowheads="1"/>
          </p:cNvSpPr>
          <p:nvPr/>
        </p:nvSpPr>
        <p:spPr bwMode="auto">
          <a:xfrm>
            <a:off x="122238" y="1314450"/>
            <a:ext cx="73818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 typeface="Wingdings" panose="05000000000000000000" pitchFamily="2" charset="2"/>
              <a:buChar char="Ø"/>
            </a:pPr>
            <a:r>
              <a:rPr kumimoji="1" lang="zh-CN" altLang="en-US" sz="2800" b="1">
                <a:latin typeface="Times New Roman" panose="02020603050405020304" pitchFamily="18" charset="0"/>
              </a:rPr>
              <a:t>三个过程：自发辐射，受激辐射，受激吸收</a:t>
            </a:r>
          </a:p>
        </p:txBody>
      </p:sp>
      <p:sp>
        <p:nvSpPr>
          <p:cNvPr id="107" name="Text Box 20">
            <a:extLst>
              <a:ext uri="{FF2B5EF4-FFF2-40B4-BE49-F238E27FC236}">
                <a16:creationId xmlns:a16="http://schemas.microsoft.com/office/drawing/2014/main" id="{CF10AFA0-0990-436E-B2CD-3E0F36A48526}"/>
              </a:ext>
            </a:extLst>
          </p:cNvPr>
          <p:cNvSpPr txBox="1">
            <a:spLocks noChangeArrowheads="1"/>
          </p:cNvSpPr>
          <p:nvPr/>
        </p:nvSpPr>
        <p:spPr bwMode="auto">
          <a:xfrm>
            <a:off x="138113" y="1889125"/>
            <a:ext cx="73834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 typeface="Wingdings" panose="05000000000000000000" pitchFamily="2" charset="2"/>
              <a:buChar char="Ø"/>
            </a:pPr>
            <a:r>
              <a:rPr kumimoji="1" lang="en-US" altLang="zh-CN" sz="2800" b="1">
                <a:latin typeface="Times New Roman" panose="02020603050405020304" pitchFamily="18" charset="0"/>
                <a:ea typeface="楷体_GB2312"/>
                <a:cs typeface="楷体_GB2312"/>
              </a:rPr>
              <a:t>He-Ne</a:t>
            </a:r>
            <a:r>
              <a:rPr kumimoji="1" lang="zh-CN" altLang="en-US" sz="2800" b="1">
                <a:latin typeface="Times New Roman" panose="02020603050405020304" pitchFamily="18" charset="0"/>
                <a:ea typeface="楷体_GB2312"/>
                <a:cs typeface="楷体_GB2312"/>
              </a:rPr>
              <a:t>激光器</a:t>
            </a:r>
          </a:p>
        </p:txBody>
      </p:sp>
      <p:sp>
        <p:nvSpPr>
          <p:cNvPr id="360" name="Text Box 20">
            <a:extLst>
              <a:ext uri="{FF2B5EF4-FFF2-40B4-BE49-F238E27FC236}">
                <a16:creationId xmlns:a16="http://schemas.microsoft.com/office/drawing/2014/main" id="{EED07AC5-73F7-4AA9-A9A0-8E39CE4C2BA0}"/>
              </a:ext>
            </a:extLst>
          </p:cNvPr>
          <p:cNvSpPr txBox="1">
            <a:spLocks noChangeArrowheads="1"/>
          </p:cNvSpPr>
          <p:nvPr/>
        </p:nvSpPr>
        <p:spPr bwMode="auto">
          <a:xfrm>
            <a:off x="153988" y="2506663"/>
            <a:ext cx="8882062" cy="1169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 typeface="Wingdings" panose="05000000000000000000" pitchFamily="2" charset="2"/>
              <a:buChar char="Ø"/>
            </a:pPr>
            <a:r>
              <a:rPr kumimoji="1" lang="zh-CN" altLang="en-US" sz="2800" b="1">
                <a:latin typeface="Times New Roman" panose="02020603050405020304" pitchFamily="18" charset="0"/>
                <a:ea typeface="楷体_GB2312"/>
                <a:cs typeface="楷体_GB2312"/>
              </a:rPr>
              <a:t>谐振腔：放大、定向、提高单色性</a:t>
            </a:r>
          </a:p>
          <a:p>
            <a:pPr eaLnBrk="1" hangingPunct="1">
              <a:spcBef>
                <a:spcPct val="50000"/>
              </a:spcBef>
              <a:buFont typeface="Wingdings" panose="05000000000000000000" pitchFamily="2" charset="2"/>
              <a:buChar char="Ø"/>
            </a:pPr>
            <a:r>
              <a:rPr kumimoji="1" lang="zh-CN" altLang="en-US" sz="2800" b="1">
                <a:latin typeface="Times New Roman" panose="02020603050405020304" pitchFamily="18" charset="0"/>
                <a:ea typeface="楷体_GB2312"/>
                <a:cs typeface="楷体_GB2312"/>
              </a:rPr>
              <a:t>激光三要素：激励能源，工作物质，光学谐振腔</a:t>
            </a:r>
          </a:p>
        </p:txBody>
      </p:sp>
      <p:graphicFrame>
        <p:nvGraphicFramePr>
          <p:cNvPr id="361" name="Object 3">
            <a:extLst>
              <a:ext uri="{FF2B5EF4-FFF2-40B4-BE49-F238E27FC236}">
                <a16:creationId xmlns:a16="http://schemas.microsoft.com/office/drawing/2014/main" id="{1E4867EC-B9C7-4F0E-AC81-A7E6A8880583}"/>
              </a:ext>
            </a:extLst>
          </p:cNvPr>
          <p:cNvGraphicFramePr>
            <a:graphicFrameLocks noChangeAspect="1"/>
          </p:cNvGraphicFramePr>
          <p:nvPr/>
        </p:nvGraphicFramePr>
        <p:xfrm>
          <a:off x="885825" y="4719638"/>
          <a:ext cx="5849938" cy="1066800"/>
        </p:xfrm>
        <a:graphic>
          <a:graphicData uri="http://schemas.openxmlformats.org/presentationml/2006/ole">
            <mc:AlternateContent xmlns:mc="http://schemas.openxmlformats.org/markup-compatibility/2006">
              <mc:Choice xmlns:v="urn:schemas-microsoft-com:vml" Requires="v">
                <p:oleObj spid="_x0000_s17449" name="BMP 图象" r:id="rId3" imgW="5847619" imgH="1066667" progId="Paint.Picture">
                  <p:embed/>
                </p:oleObj>
              </mc:Choice>
              <mc:Fallback>
                <p:oleObj name="BMP 图象" r:id="rId3" imgW="5847619" imgH="1066667" progId="Paint.Picture">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5825" y="4719638"/>
                        <a:ext cx="5849938"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62" name="Object 4">
            <a:extLst>
              <a:ext uri="{FF2B5EF4-FFF2-40B4-BE49-F238E27FC236}">
                <a16:creationId xmlns:a16="http://schemas.microsoft.com/office/drawing/2014/main" id="{8EC5252A-13C4-450F-AE06-9A743C898438}"/>
              </a:ext>
            </a:extLst>
          </p:cNvPr>
          <p:cNvGraphicFramePr>
            <a:graphicFrameLocks noChangeAspect="1"/>
          </p:cNvGraphicFramePr>
          <p:nvPr/>
        </p:nvGraphicFramePr>
        <p:xfrm>
          <a:off x="3948113" y="4848225"/>
          <a:ext cx="1066800" cy="184150"/>
        </p:xfrm>
        <a:graphic>
          <a:graphicData uri="http://schemas.openxmlformats.org/presentationml/2006/ole">
            <mc:AlternateContent xmlns:mc="http://schemas.openxmlformats.org/markup-compatibility/2006">
              <mc:Choice xmlns:v="urn:schemas-microsoft-com:vml" Requires="v">
                <p:oleObj spid="_x0000_s17450" name="公式" r:id="rId5" imgW="583947" imgH="101556" progId="Equation.3">
                  <p:embed/>
                </p:oleObj>
              </mc:Choice>
              <mc:Fallback>
                <p:oleObj name="公式" r:id="rId5" imgW="583947" imgH="101556"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48113" y="4848225"/>
                        <a:ext cx="1066800" cy="184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63" name="Object 5">
            <a:extLst>
              <a:ext uri="{FF2B5EF4-FFF2-40B4-BE49-F238E27FC236}">
                <a16:creationId xmlns:a16="http://schemas.microsoft.com/office/drawing/2014/main" id="{F5237B6A-7680-4125-B27F-691737FAC812}"/>
              </a:ext>
            </a:extLst>
          </p:cNvPr>
          <p:cNvGraphicFramePr>
            <a:graphicFrameLocks noChangeAspect="1"/>
          </p:cNvGraphicFramePr>
          <p:nvPr/>
        </p:nvGraphicFramePr>
        <p:xfrm>
          <a:off x="2728913" y="4956175"/>
          <a:ext cx="1143000" cy="196850"/>
        </p:xfrm>
        <a:graphic>
          <a:graphicData uri="http://schemas.openxmlformats.org/presentationml/2006/ole">
            <mc:AlternateContent xmlns:mc="http://schemas.openxmlformats.org/markup-compatibility/2006">
              <mc:Choice xmlns:v="urn:schemas-microsoft-com:vml" Requires="v">
                <p:oleObj spid="_x0000_s17451" name="公式" r:id="rId7" imgW="583947" imgH="101556" progId="Equation.3">
                  <p:embed/>
                </p:oleObj>
              </mc:Choice>
              <mc:Fallback>
                <p:oleObj name="公式" r:id="rId7" imgW="583947" imgH="101556"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28913" y="4956175"/>
                        <a:ext cx="1143000" cy="196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64" name="Object 6">
            <a:extLst>
              <a:ext uri="{FF2B5EF4-FFF2-40B4-BE49-F238E27FC236}">
                <a16:creationId xmlns:a16="http://schemas.microsoft.com/office/drawing/2014/main" id="{847A414B-9134-49DA-BCD0-45DF7E6DF047}"/>
              </a:ext>
            </a:extLst>
          </p:cNvPr>
          <p:cNvGraphicFramePr>
            <a:graphicFrameLocks noChangeAspect="1"/>
          </p:cNvGraphicFramePr>
          <p:nvPr/>
        </p:nvGraphicFramePr>
        <p:xfrm>
          <a:off x="2652713" y="5381625"/>
          <a:ext cx="1219200" cy="209550"/>
        </p:xfrm>
        <a:graphic>
          <a:graphicData uri="http://schemas.openxmlformats.org/presentationml/2006/ole">
            <mc:AlternateContent xmlns:mc="http://schemas.openxmlformats.org/markup-compatibility/2006">
              <mc:Choice xmlns:v="urn:schemas-microsoft-com:vml" Requires="v">
                <p:oleObj spid="_x0000_s17452" name="公式" r:id="rId8" imgW="583947" imgH="101556" progId="Equation.3">
                  <p:embed/>
                </p:oleObj>
              </mc:Choice>
              <mc:Fallback>
                <p:oleObj name="公式" r:id="rId8" imgW="583947" imgH="101556"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52713" y="5381625"/>
                        <a:ext cx="1219200" cy="209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65" name="Object 7">
            <a:extLst>
              <a:ext uri="{FF2B5EF4-FFF2-40B4-BE49-F238E27FC236}">
                <a16:creationId xmlns:a16="http://schemas.microsoft.com/office/drawing/2014/main" id="{D39E9DC6-17F3-4464-B984-5EC4D88CB791}"/>
              </a:ext>
            </a:extLst>
          </p:cNvPr>
          <p:cNvGraphicFramePr>
            <a:graphicFrameLocks noChangeAspect="1"/>
          </p:cNvGraphicFramePr>
          <p:nvPr/>
        </p:nvGraphicFramePr>
        <p:xfrm>
          <a:off x="3948113" y="5534025"/>
          <a:ext cx="1143000" cy="196850"/>
        </p:xfrm>
        <a:graphic>
          <a:graphicData uri="http://schemas.openxmlformats.org/presentationml/2006/ole">
            <mc:AlternateContent xmlns:mc="http://schemas.openxmlformats.org/markup-compatibility/2006">
              <mc:Choice xmlns:v="urn:schemas-microsoft-com:vml" Requires="v">
                <p:oleObj spid="_x0000_s17453" name="公式" r:id="rId9" imgW="583947" imgH="101556" progId="Equation.3">
                  <p:embed/>
                </p:oleObj>
              </mc:Choice>
              <mc:Fallback>
                <p:oleObj name="公式" r:id="rId9" imgW="583947" imgH="101556"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48113" y="5534025"/>
                        <a:ext cx="1143000" cy="196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66" name="AutoShape 8">
            <a:extLst>
              <a:ext uri="{FF2B5EF4-FFF2-40B4-BE49-F238E27FC236}">
                <a16:creationId xmlns:a16="http://schemas.microsoft.com/office/drawing/2014/main" id="{92889E7F-BC7C-410D-82AA-C96442707C5A}"/>
              </a:ext>
            </a:extLst>
          </p:cNvPr>
          <p:cNvSpPr>
            <a:spLocks noChangeArrowheads="1"/>
          </p:cNvSpPr>
          <p:nvPr/>
        </p:nvSpPr>
        <p:spPr bwMode="auto">
          <a:xfrm>
            <a:off x="2195513" y="3933825"/>
            <a:ext cx="1981200" cy="609600"/>
          </a:xfrm>
          <a:prstGeom prst="wedgeRectCallout">
            <a:avLst>
              <a:gd name="adj1" fmla="val 4727"/>
              <a:gd name="adj2" fmla="val 110676"/>
            </a:avLst>
          </a:prstGeom>
          <a:noFill/>
          <a:ln w="158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2800" b="1">
                <a:latin typeface="Times New Roman" panose="02020603050405020304" pitchFamily="18" charset="0"/>
                <a:ea typeface="楷体_GB2312"/>
                <a:cs typeface="楷体_GB2312"/>
              </a:rPr>
              <a:t>氦、氖气体</a:t>
            </a:r>
          </a:p>
        </p:txBody>
      </p:sp>
      <p:sp>
        <p:nvSpPr>
          <p:cNvPr id="367" name="AutoShape 9">
            <a:extLst>
              <a:ext uri="{FF2B5EF4-FFF2-40B4-BE49-F238E27FC236}">
                <a16:creationId xmlns:a16="http://schemas.microsoft.com/office/drawing/2014/main" id="{BF70E613-2CD1-4400-9459-51AC03982823}"/>
              </a:ext>
            </a:extLst>
          </p:cNvPr>
          <p:cNvSpPr>
            <a:spLocks noChangeArrowheads="1"/>
          </p:cNvSpPr>
          <p:nvPr/>
        </p:nvSpPr>
        <p:spPr bwMode="auto">
          <a:xfrm>
            <a:off x="4481513" y="3933825"/>
            <a:ext cx="1435100" cy="609600"/>
          </a:xfrm>
          <a:prstGeom prst="wedgeRectCallout">
            <a:avLst>
              <a:gd name="adj1" fmla="val -31194"/>
              <a:gd name="adj2" fmla="val 151042"/>
            </a:avLst>
          </a:prstGeom>
          <a:noFill/>
          <a:ln w="158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2800" b="1">
                <a:latin typeface="Times New Roman" panose="02020603050405020304" pitchFamily="18" charset="0"/>
                <a:ea typeface="楷体_GB2312"/>
                <a:cs typeface="楷体_GB2312"/>
              </a:rPr>
              <a:t>阴极</a:t>
            </a:r>
          </a:p>
        </p:txBody>
      </p:sp>
      <p:graphicFrame>
        <p:nvGraphicFramePr>
          <p:cNvPr id="368" name="Object 10">
            <a:extLst>
              <a:ext uri="{FF2B5EF4-FFF2-40B4-BE49-F238E27FC236}">
                <a16:creationId xmlns:a16="http://schemas.microsoft.com/office/drawing/2014/main" id="{7CAD5184-4B06-4654-B4B0-C930DF7AB120}"/>
              </a:ext>
            </a:extLst>
          </p:cNvPr>
          <p:cNvGraphicFramePr>
            <a:graphicFrameLocks noChangeAspect="1"/>
          </p:cNvGraphicFramePr>
          <p:nvPr/>
        </p:nvGraphicFramePr>
        <p:xfrm>
          <a:off x="4640263" y="4097338"/>
          <a:ext cx="249237" cy="317500"/>
        </p:xfrm>
        <a:graphic>
          <a:graphicData uri="http://schemas.openxmlformats.org/presentationml/2006/ole">
            <mc:AlternateContent xmlns:mc="http://schemas.openxmlformats.org/markup-compatibility/2006">
              <mc:Choice xmlns:v="urn:schemas-microsoft-com:vml" Requires="v">
                <p:oleObj spid="_x0000_s17454" name="Equation" r:id="rId10" imgW="190417" imgH="241195" progId="Equation.DSMT4">
                  <p:embed/>
                </p:oleObj>
              </mc:Choice>
              <mc:Fallback>
                <p:oleObj name="Equation" r:id="rId10" imgW="190417" imgH="241195" progId="Equation.DSMT4">
                  <p:embed/>
                  <p:pic>
                    <p:nvPicPr>
                      <p:cNvPr id="0" name="Object 1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640263" y="4097338"/>
                        <a:ext cx="249237"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69" name="Text Box 11">
            <a:extLst>
              <a:ext uri="{FF2B5EF4-FFF2-40B4-BE49-F238E27FC236}">
                <a16:creationId xmlns:a16="http://schemas.microsoft.com/office/drawing/2014/main" id="{6E7F332B-0C73-4ECE-A8F3-7D58080BC960}"/>
              </a:ext>
            </a:extLst>
          </p:cNvPr>
          <p:cNvSpPr txBox="1">
            <a:spLocks noChangeArrowheads="1"/>
          </p:cNvSpPr>
          <p:nvPr/>
        </p:nvSpPr>
        <p:spPr bwMode="auto">
          <a:xfrm>
            <a:off x="515938" y="5727700"/>
            <a:ext cx="16160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a:latin typeface="Times New Roman" panose="02020603050405020304" pitchFamily="18" charset="0"/>
                <a:ea typeface="楷体_GB2312"/>
                <a:cs typeface="楷体_GB2312"/>
              </a:rPr>
              <a:t>反射镜</a:t>
            </a:r>
            <a:endParaRPr kumimoji="1" lang="zh-CN" altLang="en-US" sz="2800">
              <a:latin typeface="Times New Roman" panose="02020603050405020304" pitchFamily="18" charset="0"/>
              <a:ea typeface="楷体_GB2312"/>
              <a:cs typeface="楷体_GB2312"/>
            </a:endParaRPr>
          </a:p>
        </p:txBody>
      </p:sp>
      <p:sp>
        <p:nvSpPr>
          <p:cNvPr id="370" name="Rectangle 12">
            <a:extLst>
              <a:ext uri="{FF2B5EF4-FFF2-40B4-BE49-F238E27FC236}">
                <a16:creationId xmlns:a16="http://schemas.microsoft.com/office/drawing/2014/main" id="{2F7FEE1F-B217-43DD-9604-650AFC22D448}"/>
              </a:ext>
            </a:extLst>
          </p:cNvPr>
          <p:cNvSpPr>
            <a:spLocks noChangeArrowheads="1"/>
          </p:cNvSpPr>
          <p:nvPr/>
        </p:nvSpPr>
        <p:spPr bwMode="auto">
          <a:xfrm>
            <a:off x="5267325" y="5727700"/>
            <a:ext cx="14287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a:latin typeface="Times New Roman" panose="02020603050405020304" pitchFamily="18" charset="0"/>
                <a:ea typeface="楷体_GB2312"/>
                <a:cs typeface="楷体_GB2312"/>
              </a:rPr>
              <a:t>反射镜</a:t>
            </a:r>
          </a:p>
        </p:txBody>
      </p:sp>
      <p:graphicFrame>
        <p:nvGraphicFramePr>
          <p:cNvPr id="371" name="Object 13">
            <a:extLst>
              <a:ext uri="{FF2B5EF4-FFF2-40B4-BE49-F238E27FC236}">
                <a16:creationId xmlns:a16="http://schemas.microsoft.com/office/drawing/2014/main" id="{4A0554C5-EBAE-4DD2-846C-72C73E7C856E}"/>
              </a:ext>
            </a:extLst>
          </p:cNvPr>
          <p:cNvGraphicFramePr>
            <a:graphicFrameLocks noChangeAspect="1"/>
          </p:cNvGraphicFramePr>
          <p:nvPr/>
        </p:nvGraphicFramePr>
        <p:xfrm>
          <a:off x="1811338" y="5867400"/>
          <a:ext cx="803275" cy="293688"/>
        </p:xfrm>
        <a:graphic>
          <a:graphicData uri="http://schemas.openxmlformats.org/presentationml/2006/ole">
            <mc:AlternateContent xmlns:mc="http://schemas.openxmlformats.org/markup-compatibility/2006">
              <mc:Choice xmlns:v="urn:schemas-microsoft-com:vml" Requires="v">
                <p:oleObj spid="_x0000_s17455" name="Equation" r:id="rId12" imgW="660113" imgH="241195" progId="Equation.DSMT4">
                  <p:embed/>
                </p:oleObj>
              </mc:Choice>
              <mc:Fallback>
                <p:oleObj name="Equation" r:id="rId12" imgW="660113" imgH="241195" progId="Equation.DSMT4">
                  <p:embed/>
                  <p:pic>
                    <p:nvPicPr>
                      <p:cNvPr id="0" name="Object 1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811338" y="5867400"/>
                        <a:ext cx="803275" cy="293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72" name="Object 14">
            <a:extLst>
              <a:ext uri="{FF2B5EF4-FFF2-40B4-BE49-F238E27FC236}">
                <a16:creationId xmlns:a16="http://schemas.microsoft.com/office/drawing/2014/main" id="{1FA010EC-C9EB-444B-9E41-8B2A73125FBA}"/>
              </a:ext>
            </a:extLst>
          </p:cNvPr>
          <p:cNvGraphicFramePr>
            <a:graphicFrameLocks noChangeAspect="1"/>
          </p:cNvGraphicFramePr>
          <p:nvPr/>
        </p:nvGraphicFramePr>
        <p:xfrm>
          <a:off x="6564313" y="5872163"/>
          <a:ext cx="720725" cy="319087"/>
        </p:xfrm>
        <a:graphic>
          <a:graphicData uri="http://schemas.openxmlformats.org/presentationml/2006/ole">
            <mc:AlternateContent xmlns:mc="http://schemas.openxmlformats.org/markup-compatibility/2006">
              <mc:Choice xmlns:v="urn:schemas-microsoft-com:vml" Requires="v">
                <p:oleObj spid="_x0000_s17456" name="Equation" r:id="rId14" imgW="545863" imgH="241195" progId="Equation.DSMT4">
                  <p:embed/>
                </p:oleObj>
              </mc:Choice>
              <mc:Fallback>
                <p:oleObj name="Equation" r:id="rId14" imgW="545863" imgH="241195" progId="Equation.DSMT4">
                  <p:embed/>
                  <p:pic>
                    <p:nvPicPr>
                      <p:cNvPr id="0" name="Object 14"/>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564313" y="5872163"/>
                        <a:ext cx="720725" cy="319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73" name="Line 15">
            <a:extLst>
              <a:ext uri="{FF2B5EF4-FFF2-40B4-BE49-F238E27FC236}">
                <a16:creationId xmlns:a16="http://schemas.microsoft.com/office/drawing/2014/main" id="{48322C72-ABE0-498C-B514-91A9F5860691}"/>
              </a:ext>
            </a:extLst>
          </p:cNvPr>
          <p:cNvSpPr>
            <a:spLocks noChangeShapeType="1"/>
          </p:cNvSpPr>
          <p:nvPr/>
        </p:nvSpPr>
        <p:spPr bwMode="auto">
          <a:xfrm>
            <a:off x="1585913" y="4467225"/>
            <a:ext cx="914400" cy="533400"/>
          </a:xfrm>
          <a:prstGeom prst="line">
            <a:avLst/>
          </a:prstGeom>
          <a:noFill/>
          <a:ln w="28575">
            <a:solidFill>
              <a:srgbClr val="FF33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74" name="Text Box 16">
            <a:extLst>
              <a:ext uri="{FF2B5EF4-FFF2-40B4-BE49-F238E27FC236}">
                <a16:creationId xmlns:a16="http://schemas.microsoft.com/office/drawing/2014/main" id="{174F410F-712C-465A-B9EC-46961737C8F9}"/>
              </a:ext>
            </a:extLst>
          </p:cNvPr>
          <p:cNvSpPr txBox="1">
            <a:spLocks noChangeArrowheads="1"/>
          </p:cNvSpPr>
          <p:nvPr/>
        </p:nvSpPr>
        <p:spPr bwMode="auto">
          <a:xfrm>
            <a:off x="823913" y="3957638"/>
            <a:ext cx="1058862" cy="538162"/>
          </a:xfrm>
          <a:prstGeom prst="rect">
            <a:avLst/>
          </a:prstGeom>
          <a:noFill/>
          <a:ln w="19050">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a:latin typeface="Times New Roman" panose="02020603050405020304" pitchFamily="18" charset="0"/>
                <a:ea typeface="楷体_GB2312"/>
                <a:cs typeface="楷体_GB2312"/>
              </a:rPr>
              <a:t>阳极</a:t>
            </a:r>
          </a:p>
        </p:txBody>
      </p:sp>
      <p:grpSp>
        <p:nvGrpSpPr>
          <p:cNvPr id="375" name="Group 31">
            <a:extLst>
              <a:ext uri="{FF2B5EF4-FFF2-40B4-BE49-F238E27FC236}">
                <a16:creationId xmlns:a16="http://schemas.microsoft.com/office/drawing/2014/main" id="{EC973F3A-189F-4A2E-82FF-02AB7D970654}"/>
              </a:ext>
            </a:extLst>
          </p:cNvPr>
          <p:cNvGrpSpPr>
            <a:grpSpLocks/>
          </p:cNvGrpSpPr>
          <p:nvPr/>
        </p:nvGrpSpPr>
        <p:grpSpPr bwMode="auto">
          <a:xfrm>
            <a:off x="1681163" y="5095875"/>
            <a:ext cx="4267200" cy="304800"/>
            <a:chOff x="1872" y="720"/>
            <a:chExt cx="2688" cy="432"/>
          </a:xfrm>
        </p:grpSpPr>
        <p:sp>
          <p:nvSpPr>
            <p:cNvPr id="17431" name="Line 32">
              <a:extLst>
                <a:ext uri="{FF2B5EF4-FFF2-40B4-BE49-F238E27FC236}">
                  <a16:creationId xmlns:a16="http://schemas.microsoft.com/office/drawing/2014/main" id="{3456CF3C-7CE2-4599-9553-A8013340E896}"/>
                </a:ext>
              </a:extLst>
            </p:cNvPr>
            <p:cNvSpPr>
              <a:spLocks noChangeShapeType="1"/>
            </p:cNvSpPr>
            <p:nvPr/>
          </p:nvSpPr>
          <p:spPr bwMode="auto">
            <a:xfrm flipH="1">
              <a:off x="1872" y="720"/>
              <a:ext cx="192" cy="432"/>
            </a:xfrm>
            <a:prstGeom prst="line">
              <a:avLst/>
            </a:prstGeom>
            <a:noFill/>
            <a:ln w="57150">
              <a:pattFill prst="wdUpDiag">
                <a:fgClr>
                  <a:srgbClr val="EAEAEA"/>
                </a:fgClr>
                <a:bgClr>
                  <a:srgbClr val="FFFFFF"/>
                </a:bgClr>
              </a:patt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32" name="Line 33">
              <a:extLst>
                <a:ext uri="{FF2B5EF4-FFF2-40B4-BE49-F238E27FC236}">
                  <a16:creationId xmlns:a16="http://schemas.microsoft.com/office/drawing/2014/main" id="{56C9337B-A660-4989-946A-36BE0335BEEB}"/>
                </a:ext>
              </a:extLst>
            </p:cNvPr>
            <p:cNvSpPr>
              <a:spLocks noChangeShapeType="1"/>
            </p:cNvSpPr>
            <p:nvPr/>
          </p:nvSpPr>
          <p:spPr bwMode="auto">
            <a:xfrm>
              <a:off x="4320" y="720"/>
              <a:ext cx="240" cy="384"/>
            </a:xfrm>
            <a:prstGeom prst="line">
              <a:avLst/>
            </a:prstGeom>
            <a:noFill/>
            <a:ln w="57150">
              <a:pattFill prst="wdDnDiag">
                <a:fgClr>
                  <a:srgbClr val="EAEAEA"/>
                </a:fgClr>
                <a:bgClr>
                  <a:srgbClr val="FFFFFF"/>
                </a:bgClr>
              </a:patt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378" name="AutoShape 9">
            <a:extLst>
              <a:ext uri="{FF2B5EF4-FFF2-40B4-BE49-F238E27FC236}">
                <a16:creationId xmlns:a16="http://schemas.microsoft.com/office/drawing/2014/main" id="{7AB2CB1D-8312-437C-8DB9-44ACE9832600}"/>
              </a:ext>
            </a:extLst>
          </p:cNvPr>
          <p:cNvSpPr>
            <a:spLocks noChangeArrowheads="1"/>
          </p:cNvSpPr>
          <p:nvPr/>
        </p:nvSpPr>
        <p:spPr bwMode="auto">
          <a:xfrm>
            <a:off x="6075363" y="3933825"/>
            <a:ext cx="1863725" cy="609600"/>
          </a:xfrm>
          <a:prstGeom prst="wedgeRectCallout">
            <a:avLst>
              <a:gd name="adj1" fmla="val -64481"/>
              <a:gd name="adj2" fmla="val 155287"/>
            </a:avLst>
          </a:prstGeom>
          <a:noFill/>
          <a:ln w="19050">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2800" b="1">
                <a:latin typeface="Times New Roman" panose="02020603050405020304" pitchFamily="18" charset="0"/>
                <a:ea typeface="楷体_GB2312"/>
                <a:cs typeface="楷体_GB2312"/>
              </a:rPr>
              <a:t>布儒斯特窗</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9"/>
                                        </p:tgtEl>
                                        <p:attrNameLst>
                                          <p:attrName>style.visibility</p:attrName>
                                        </p:attrNameLst>
                                      </p:cBhvr>
                                      <p:to>
                                        <p:strVal val="visible"/>
                                      </p:to>
                                    </p:set>
                                    <p:animEffect transition="in" filter="fade">
                                      <p:cBhvr>
                                        <p:cTn id="14" dur="1000"/>
                                        <p:tgtEl>
                                          <p:spTgt spid="39"/>
                                        </p:tgtEl>
                                      </p:cBhvr>
                                    </p:animEffect>
                                    <p:anim calcmode="lin" valueType="num">
                                      <p:cBhvr>
                                        <p:cTn id="15" dur="1000" fill="hold"/>
                                        <p:tgtEl>
                                          <p:spTgt spid="39"/>
                                        </p:tgtEl>
                                        <p:attrNameLst>
                                          <p:attrName>ppt_x</p:attrName>
                                        </p:attrNameLst>
                                      </p:cBhvr>
                                      <p:tavLst>
                                        <p:tav tm="0">
                                          <p:val>
                                            <p:strVal val="#ppt_x"/>
                                          </p:val>
                                        </p:tav>
                                        <p:tav tm="100000">
                                          <p:val>
                                            <p:strVal val="#ppt_x"/>
                                          </p:val>
                                        </p:tav>
                                      </p:tavLst>
                                    </p:anim>
                                    <p:anim calcmode="lin" valueType="num">
                                      <p:cBhvr>
                                        <p:cTn id="16" dur="1000" fill="hold"/>
                                        <p:tgtEl>
                                          <p:spTgt spid="39"/>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07"/>
                                        </p:tgtEl>
                                        <p:attrNameLst>
                                          <p:attrName>style.visibility</p:attrName>
                                        </p:attrNameLst>
                                      </p:cBhvr>
                                      <p:to>
                                        <p:strVal val="visible"/>
                                      </p:to>
                                    </p:set>
                                    <p:animEffect transition="in" filter="fade">
                                      <p:cBhvr>
                                        <p:cTn id="21" dur="1000"/>
                                        <p:tgtEl>
                                          <p:spTgt spid="107"/>
                                        </p:tgtEl>
                                      </p:cBhvr>
                                    </p:animEffect>
                                    <p:anim calcmode="lin" valueType="num">
                                      <p:cBhvr>
                                        <p:cTn id="22" dur="1000" fill="hold"/>
                                        <p:tgtEl>
                                          <p:spTgt spid="107"/>
                                        </p:tgtEl>
                                        <p:attrNameLst>
                                          <p:attrName>ppt_x</p:attrName>
                                        </p:attrNameLst>
                                      </p:cBhvr>
                                      <p:tavLst>
                                        <p:tav tm="0">
                                          <p:val>
                                            <p:strVal val="#ppt_x"/>
                                          </p:val>
                                        </p:tav>
                                        <p:tav tm="100000">
                                          <p:val>
                                            <p:strVal val="#ppt_x"/>
                                          </p:val>
                                        </p:tav>
                                      </p:tavLst>
                                    </p:anim>
                                    <p:anim calcmode="lin" valueType="num">
                                      <p:cBhvr>
                                        <p:cTn id="23" dur="1000" fill="hold"/>
                                        <p:tgtEl>
                                          <p:spTgt spid="107"/>
                                        </p:tgtEl>
                                        <p:attrNameLst>
                                          <p:attrName>ppt_y</p:attrName>
                                        </p:attrNameLst>
                                      </p:cBhvr>
                                      <p:tavLst>
                                        <p:tav tm="0">
                                          <p:val>
                                            <p:strVal val="#ppt_y+.1"/>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60"/>
                                        </p:tgtEl>
                                        <p:attrNameLst>
                                          <p:attrName>style.visibility</p:attrName>
                                        </p:attrNameLst>
                                      </p:cBhvr>
                                      <p:to>
                                        <p:strVal val="visible"/>
                                      </p:to>
                                    </p:set>
                                    <p:animEffect transition="in" filter="fade">
                                      <p:cBhvr>
                                        <p:cTn id="28" dur="1000"/>
                                        <p:tgtEl>
                                          <p:spTgt spid="360"/>
                                        </p:tgtEl>
                                      </p:cBhvr>
                                    </p:animEffect>
                                    <p:anim calcmode="lin" valueType="num">
                                      <p:cBhvr>
                                        <p:cTn id="29" dur="1000" fill="hold"/>
                                        <p:tgtEl>
                                          <p:spTgt spid="360"/>
                                        </p:tgtEl>
                                        <p:attrNameLst>
                                          <p:attrName>ppt_x</p:attrName>
                                        </p:attrNameLst>
                                      </p:cBhvr>
                                      <p:tavLst>
                                        <p:tav tm="0">
                                          <p:val>
                                            <p:strVal val="#ppt_x"/>
                                          </p:val>
                                        </p:tav>
                                        <p:tav tm="100000">
                                          <p:val>
                                            <p:strVal val="#ppt_x"/>
                                          </p:val>
                                        </p:tav>
                                      </p:tavLst>
                                    </p:anim>
                                    <p:anim calcmode="lin" valueType="num">
                                      <p:cBhvr>
                                        <p:cTn id="30" dur="1000" fill="hold"/>
                                        <p:tgtEl>
                                          <p:spTgt spid="360"/>
                                        </p:tgtEl>
                                        <p:attrNameLst>
                                          <p:attrName>ppt_y</p:attrName>
                                        </p:attrNameLst>
                                      </p:cBhvr>
                                      <p:tavLst>
                                        <p:tav tm="0">
                                          <p:val>
                                            <p:strVal val="#ppt_y+.1"/>
                                          </p:val>
                                        </p:tav>
                                        <p:tav tm="100000">
                                          <p:val>
                                            <p:strVal val="#ppt_y"/>
                                          </p:val>
                                        </p:tav>
                                      </p:tavLst>
                                    </p:anim>
                                  </p:childTnLst>
                                </p:cTn>
                              </p:par>
                              <p:par>
                                <p:cTn id="31" presetID="42" presetClass="entr" presetSubtype="0" fill="hold" nodeType="withEffect">
                                  <p:stCondLst>
                                    <p:cond delay="0"/>
                                  </p:stCondLst>
                                  <p:childTnLst>
                                    <p:set>
                                      <p:cBhvr>
                                        <p:cTn id="32" dur="1" fill="hold">
                                          <p:stCondLst>
                                            <p:cond delay="0"/>
                                          </p:stCondLst>
                                        </p:cTn>
                                        <p:tgtEl>
                                          <p:spTgt spid="361"/>
                                        </p:tgtEl>
                                        <p:attrNameLst>
                                          <p:attrName>style.visibility</p:attrName>
                                        </p:attrNameLst>
                                      </p:cBhvr>
                                      <p:to>
                                        <p:strVal val="visible"/>
                                      </p:to>
                                    </p:set>
                                    <p:animEffect transition="in" filter="fade">
                                      <p:cBhvr>
                                        <p:cTn id="33" dur="1000"/>
                                        <p:tgtEl>
                                          <p:spTgt spid="361"/>
                                        </p:tgtEl>
                                      </p:cBhvr>
                                    </p:animEffect>
                                    <p:anim calcmode="lin" valueType="num">
                                      <p:cBhvr>
                                        <p:cTn id="34" dur="1000" fill="hold"/>
                                        <p:tgtEl>
                                          <p:spTgt spid="361"/>
                                        </p:tgtEl>
                                        <p:attrNameLst>
                                          <p:attrName>ppt_x</p:attrName>
                                        </p:attrNameLst>
                                      </p:cBhvr>
                                      <p:tavLst>
                                        <p:tav tm="0">
                                          <p:val>
                                            <p:strVal val="#ppt_x"/>
                                          </p:val>
                                        </p:tav>
                                        <p:tav tm="100000">
                                          <p:val>
                                            <p:strVal val="#ppt_x"/>
                                          </p:val>
                                        </p:tav>
                                      </p:tavLst>
                                    </p:anim>
                                    <p:anim calcmode="lin" valueType="num">
                                      <p:cBhvr>
                                        <p:cTn id="35" dur="1000" fill="hold"/>
                                        <p:tgtEl>
                                          <p:spTgt spid="361"/>
                                        </p:tgtEl>
                                        <p:attrNameLst>
                                          <p:attrName>ppt_y</p:attrName>
                                        </p:attrNameLst>
                                      </p:cBhvr>
                                      <p:tavLst>
                                        <p:tav tm="0">
                                          <p:val>
                                            <p:strVal val="#ppt_y+.1"/>
                                          </p:val>
                                        </p:tav>
                                        <p:tav tm="100000">
                                          <p:val>
                                            <p:strVal val="#ppt_y"/>
                                          </p:val>
                                        </p:tav>
                                      </p:tavLst>
                                    </p:anim>
                                  </p:childTnLst>
                                </p:cTn>
                              </p:par>
                              <p:par>
                                <p:cTn id="36" presetID="42" presetClass="entr" presetSubtype="0" fill="hold" nodeType="withEffect">
                                  <p:stCondLst>
                                    <p:cond delay="0"/>
                                  </p:stCondLst>
                                  <p:childTnLst>
                                    <p:set>
                                      <p:cBhvr>
                                        <p:cTn id="37" dur="1" fill="hold">
                                          <p:stCondLst>
                                            <p:cond delay="0"/>
                                          </p:stCondLst>
                                        </p:cTn>
                                        <p:tgtEl>
                                          <p:spTgt spid="362"/>
                                        </p:tgtEl>
                                        <p:attrNameLst>
                                          <p:attrName>style.visibility</p:attrName>
                                        </p:attrNameLst>
                                      </p:cBhvr>
                                      <p:to>
                                        <p:strVal val="visible"/>
                                      </p:to>
                                    </p:set>
                                    <p:animEffect transition="in" filter="fade">
                                      <p:cBhvr>
                                        <p:cTn id="38" dur="1000"/>
                                        <p:tgtEl>
                                          <p:spTgt spid="362"/>
                                        </p:tgtEl>
                                      </p:cBhvr>
                                    </p:animEffect>
                                    <p:anim calcmode="lin" valueType="num">
                                      <p:cBhvr>
                                        <p:cTn id="39" dur="1000" fill="hold"/>
                                        <p:tgtEl>
                                          <p:spTgt spid="362"/>
                                        </p:tgtEl>
                                        <p:attrNameLst>
                                          <p:attrName>ppt_x</p:attrName>
                                        </p:attrNameLst>
                                      </p:cBhvr>
                                      <p:tavLst>
                                        <p:tav tm="0">
                                          <p:val>
                                            <p:strVal val="#ppt_x"/>
                                          </p:val>
                                        </p:tav>
                                        <p:tav tm="100000">
                                          <p:val>
                                            <p:strVal val="#ppt_x"/>
                                          </p:val>
                                        </p:tav>
                                      </p:tavLst>
                                    </p:anim>
                                    <p:anim calcmode="lin" valueType="num">
                                      <p:cBhvr>
                                        <p:cTn id="40" dur="1000" fill="hold"/>
                                        <p:tgtEl>
                                          <p:spTgt spid="362"/>
                                        </p:tgtEl>
                                        <p:attrNameLst>
                                          <p:attrName>ppt_y</p:attrName>
                                        </p:attrNameLst>
                                      </p:cBhvr>
                                      <p:tavLst>
                                        <p:tav tm="0">
                                          <p:val>
                                            <p:strVal val="#ppt_y+.1"/>
                                          </p:val>
                                        </p:tav>
                                        <p:tav tm="100000">
                                          <p:val>
                                            <p:strVal val="#ppt_y"/>
                                          </p:val>
                                        </p:tav>
                                      </p:tavLst>
                                    </p:anim>
                                  </p:childTnLst>
                                </p:cTn>
                              </p:par>
                              <p:par>
                                <p:cTn id="41" presetID="42" presetClass="entr" presetSubtype="0" fill="hold" nodeType="withEffect">
                                  <p:stCondLst>
                                    <p:cond delay="0"/>
                                  </p:stCondLst>
                                  <p:childTnLst>
                                    <p:set>
                                      <p:cBhvr>
                                        <p:cTn id="42" dur="1" fill="hold">
                                          <p:stCondLst>
                                            <p:cond delay="0"/>
                                          </p:stCondLst>
                                        </p:cTn>
                                        <p:tgtEl>
                                          <p:spTgt spid="363"/>
                                        </p:tgtEl>
                                        <p:attrNameLst>
                                          <p:attrName>style.visibility</p:attrName>
                                        </p:attrNameLst>
                                      </p:cBhvr>
                                      <p:to>
                                        <p:strVal val="visible"/>
                                      </p:to>
                                    </p:set>
                                    <p:animEffect transition="in" filter="fade">
                                      <p:cBhvr>
                                        <p:cTn id="43" dur="1000"/>
                                        <p:tgtEl>
                                          <p:spTgt spid="363"/>
                                        </p:tgtEl>
                                      </p:cBhvr>
                                    </p:animEffect>
                                    <p:anim calcmode="lin" valueType="num">
                                      <p:cBhvr>
                                        <p:cTn id="44" dur="1000" fill="hold"/>
                                        <p:tgtEl>
                                          <p:spTgt spid="363"/>
                                        </p:tgtEl>
                                        <p:attrNameLst>
                                          <p:attrName>ppt_x</p:attrName>
                                        </p:attrNameLst>
                                      </p:cBhvr>
                                      <p:tavLst>
                                        <p:tav tm="0">
                                          <p:val>
                                            <p:strVal val="#ppt_x"/>
                                          </p:val>
                                        </p:tav>
                                        <p:tav tm="100000">
                                          <p:val>
                                            <p:strVal val="#ppt_x"/>
                                          </p:val>
                                        </p:tav>
                                      </p:tavLst>
                                    </p:anim>
                                    <p:anim calcmode="lin" valueType="num">
                                      <p:cBhvr>
                                        <p:cTn id="45" dur="1000" fill="hold"/>
                                        <p:tgtEl>
                                          <p:spTgt spid="363"/>
                                        </p:tgtEl>
                                        <p:attrNameLst>
                                          <p:attrName>ppt_y</p:attrName>
                                        </p:attrNameLst>
                                      </p:cBhvr>
                                      <p:tavLst>
                                        <p:tav tm="0">
                                          <p:val>
                                            <p:strVal val="#ppt_y+.1"/>
                                          </p:val>
                                        </p:tav>
                                        <p:tav tm="100000">
                                          <p:val>
                                            <p:strVal val="#ppt_y"/>
                                          </p:val>
                                        </p:tav>
                                      </p:tavLst>
                                    </p:anim>
                                  </p:childTnLst>
                                </p:cTn>
                              </p:par>
                              <p:par>
                                <p:cTn id="46" presetID="42" presetClass="entr" presetSubtype="0" fill="hold" nodeType="withEffect">
                                  <p:stCondLst>
                                    <p:cond delay="0"/>
                                  </p:stCondLst>
                                  <p:childTnLst>
                                    <p:set>
                                      <p:cBhvr>
                                        <p:cTn id="47" dur="1" fill="hold">
                                          <p:stCondLst>
                                            <p:cond delay="0"/>
                                          </p:stCondLst>
                                        </p:cTn>
                                        <p:tgtEl>
                                          <p:spTgt spid="364"/>
                                        </p:tgtEl>
                                        <p:attrNameLst>
                                          <p:attrName>style.visibility</p:attrName>
                                        </p:attrNameLst>
                                      </p:cBhvr>
                                      <p:to>
                                        <p:strVal val="visible"/>
                                      </p:to>
                                    </p:set>
                                    <p:animEffect transition="in" filter="fade">
                                      <p:cBhvr>
                                        <p:cTn id="48" dur="1000"/>
                                        <p:tgtEl>
                                          <p:spTgt spid="364"/>
                                        </p:tgtEl>
                                      </p:cBhvr>
                                    </p:animEffect>
                                    <p:anim calcmode="lin" valueType="num">
                                      <p:cBhvr>
                                        <p:cTn id="49" dur="1000" fill="hold"/>
                                        <p:tgtEl>
                                          <p:spTgt spid="364"/>
                                        </p:tgtEl>
                                        <p:attrNameLst>
                                          <p:attrName>ppt_x</p:attrName>
                                        </p:attrNameLst>
                                      </p:cBhvr>
                                      <p:tavLst>
                                        <p:tav tm="0">
                                          <p:val>
                                            <p:strVal val="#ppt_x"/>
                                          </p:val>
                                        </p:tav>
                                        <p:tav tm="100000">
                                          <p:val>
                                            <p:strVal val="#ppt_x"/>
                                          </p:val>
                                        </p:tav>
                                      </p:tavLst>
                                    </p:anim>
                                    <p:anim calcmode="lin" valueType="num">
                                      <p:cBhvr>
                                        <p:cTn id="50" dur="1000" fill="hold"/>
                                        <p:tgtEl>
                                          <p:spTgt spid="364"/>
                                        </p:tgtEl>
                                        <p:attrNameLst>
                                          <p:attrName>ppt_y</p:attrName>
                                        </p:attrNameLst>
                                      </p:cBhvr>
                                      <p:tavLst>
                                        <p:tav tm="0">
                                          <p:val>
                                            <p:strVal val="#ppt_y+.1"/>
                                          </p:val>
                                        </p:tav>
                                        <p:tav tm="100000">
                                          <p:val>
                                            <p:strVal val="#ppt_y"/>
                                          </p:val>
                                        </p:tav>
                                      </p:tavLst>
                                    </p:anim>
                                  </p:childTnLst>
                                </p:cTn>
                              </p:par>
                              <p:par>
                                <p:cTn id="51" presetID="42" presetClass="entr" presetSubtype="0" fill="hold" nodeType="withEffect">
                                  <p:stCondLst>
                                    <p:cond delay="0"/>
                                  </p:stCondLst>
                                  <p:childTnLst>
                                    <p:set>
                                      <p:cBhvr>
                                        <p:cTn id="52" dur="1" fill="hold">
                                          <p:stCondLst>
                                            <p:cond delay="0"/>
                                          </p:stCondLst>
                                        </p:cTn>
                                        <p:tgtEl>
                                          <p:spTgt spid="365"/>
                                        </p:tgtEl>
                                        <p:attrNameLst>
                                          <p:attrName>style.visibility</p:attrName>
                                        </p:attrNameLst>
                                      </p:cBhvr>
                                      <p:to>
                                        <p:strVal val="visible"/>
                                      </p:to>
                                    </p:set>
                                    <p:animEffect transition="in" filter="fade">
                                      <p:cBhvr>
                                        <p:cTn id="53" dur="1000"/>
                                        <p:tgtEl>
                                          <p:spTgt spid="365"/>
                                        </p:tgtEl>
                                      </p:cBhvr>
                                    </p:animEffect>
                                    <p:anim calcmode="lin" valueType="num">
                                      <p:cBhvr>
                                        <p:cTn id="54" dur="1000" fill="hold"/>
                                        <p:tgtEl>
                                          <p:spTgt spid="365"/>
                                        </p:tgtEl>
                                        <p:attrNameLst>
                                          <p:attrName>ppt_x</p:attrName>
                                        </p:attrNameLst>
                                      </p:cBhvr>
                                      <p:tavLst>
                                        <p:tav tm="0">
                                          <p:val>
                                            <p:strVal val="#ppt_x"/>
                                          </p:val>
                                        </p:tav>
                                        <p:tav tm="100000">
                                          <p:val>
                                            <p:strVal val="#ppt_x"/>
                                          </p:val>
                                        </p:tav>
                                      </p:tavLst>
                                    </p:anim>
                                    <p:anim calcmode="lin" valueType="num">
                                      <p:cBhvr>
                                        <p:cTn id="55" dur="1000" fill="hold"/>
                                        <p:tgtEl>
                                          <p:spTgt spid="365"/>
                                        </p:tgtEl>
                                        <p:attrNameLst>
                                          <p:attrName>ppt_y</p:attrName>
                                        </p:attrNameLst>
                                      </p:cBhvr>
                                      <p:tavLst>
                                        <p:tav tm="0">
                                          <p:val>
                                            <p:strVal val="#ppt_y+.1"/>
                                          </p:val>
                                        </p:tav>
                                        <p:tav tm="100000">
                                          <p:val>
                                            <p:strVal val="#ppt_y"/>
                                          </p:val>
                                        </p:tav>
                                      </p:tavLst>
                                    </p:anim>
                                  </p:childTnLst>
                                </p:cTn>
                              </p:par>
                              <p:par>
                                <p:cTn id="56" presetID="42" presetClass="entr" presetSubtype="0" fill="hold" grpId="0" nodeType="withEffect">
                                  <p:stCondLst>
                                    <p:cond delay="0"/>
                                  </p:stCondLst>
                                  <p:childTnLst>
                                    <p:set>
                                      <p:cBhvr>
                                        <p:cTn id="57" dur="1" fill="hold">
                                          <p:stCondLst>
                                            <p:cond delay="0"/>
                                          </p:stCondLst>
                                        </p:cTn>
                                        <p:tgtEl>
                                          <p:spTgt spid="366"/>
                                        </p:tgtEl>
                                        <p:attrNameLst>
                                          <p:attrName>style.visibility</p:attrName>
                                        </p:attrNameLst>
                                      </p:cBhvr>
                                      <p:to>
                                        <p:strVal val="visible"/>
                                      </p:to>
                                    </p:set>
                                    <p:animEffect transition="in" filter="fade">
                                      <p:cBhvr>
                                        <p:cTn id="58" dur="1000"/>
                                        <p:tgtEl>
                                          <p:spTgt spid="366"/>
                                        </p:tgtEl>
                                      </p:cBhvr>
                                    </p:animEffect>
                                    <p:anim calcmode="lin" valueType="num">
                                      <p:cBhvr>
                                        <p:cTn id="59" dur="1000" fill="hold"/>
                                        <p:tgtEl>
                                          <p:spTgt spid="366"/>
                                        </p:tgtEl>
                                        <p:attrNameLst>
                                          <p:attrName>ppt_x</p:attrName>
                                        </p:attrNameLst>
                                      </p:cBhvr>
                                      <p:tavLst>
                                        <p:tav tm="0">
                                          <p:val>
                                            <p:strVal val="#ppt_x"/>
                                          </p:val>
                                        </p:tav>
                                        <p:tav tm="100000">
                                          <p:val>
                                            <p:strVal val="#ppt_x"/>
                                          </p:val>
                                        </p:tav>
                                      </p:tavLst>
                                    </p:anim>
                                    <p:anim calcmode="lin" valueType="num">
                                      <p:cBhvr>
                                        <p:cTn id="60" dur="1000" fill="hold"/>
                                        <p:tgtEl>
                                          <p:spTgt spid="366"/>
                                        </p:tgtEl>
                                        <p:attrNameLst>
                                          <p:attrName>ppt_y</p:attrName>
                                        </p:attrNameLst>
                                      </p:cBhvr>
                                      <p:tavLst>
                                        <p:tav tm="0">
                                          <p:val>
                                            <p:strVal val="#ppt_y+.1"/>
                                          </p:val>
                                        </p:tav>
                                        <p:tav tm="100000">
                                          <p:val>
                                            <p:strVal val="#ppt_y"/>
                                          </p:val>
                                        </p:tav>
                                      </p:tavLst>
                                    </p:anim>
                                  </p:childTnLst>
                                </p:cTn>
                              </p:par>
                              <p:par>
                                <p:cTn id="61" presetID="42" presetClass="entr" presetSubtype="0" fill="hold" grpId="0" nodeType="withEffect">
                                  <p:stCondLst>
                                    <p:cond delay="0"/>
                                  </p:stCondLst>
                                  <p:childTnLst>
                                    <p:set>
                                      <p:cBhvr>
                                        <p:cTn id="62" dur="1" fill="hold">
                                          <p:stCondLst>
                                            <p:cond delay="0"/>
                                          </p:stCondLst>
                                        </p:cTn>
                                        <p:tgtEl>
                                          <p:spTgt spid="367"/>
                                        </p:tgtEl>
                                        <p:attrNameLst>
                                          <p:attrName>style.visibility</p:attrName>
                                        </p:attrNameLst>
                                      </p:cBhvr>
                                      <p:to>
                                        <p:strVal val="visible"/>
                                      </p:to>
                                    </p:set>
                                    <p:animEffect transition="in" filter="fade">
                                      <p:cBhvr>
                                        <p:cTn id="63" dur="1000"/>
                                        <p:tgtEl>
                                          <p:spTgt spid="367"/>
                                        </p:tgtEl>
                                      </p:cBhvr>
                                    </p:animEffect>
                                    <p:anim calcmode="lin" valueType="num">
                                      <p:cBhvr>
                                        <p:cTn id="64" dur="1000" fill="hold"/>
                                        <p:tgtEl>
                                          <p:spTgt spid="367"/>
                                        </p:tgtEl>
                                        <p:attrNameLst>
                                          <p:attrName>ppt_x</p:attrName>
                                        </p:attrNameLst>
                                      </p:cBhvr>
                                      <p:tavLst>
                                        <p:tav tm="0">
                                          <p:val>
                                            <p:strVal val="#ppt_x"/>
                                          </p:val>
                                        </p:tav>
                                        <p:tav tm="100000">
                                          <p:val>
                                            <p:strVal val="#ppt_x"/>
                                          </p:val>
                                        </p:tav>
                                      </p:tavLst>
                                    </p:anim>
                                    <p:anim calcmode="lin" valueType="num">
                                      <p:cBhvr>
                                        <p:cTn id="65" dur="1000" fill="hold"/>
                                        <p:tgtEl>
                                          <p:spTgt spid="367"/>
                                        </p:tgtEl>
                                        <p:attrNameLst>
                                          <p:attrName>ppt_y</p:attrName>
                                        </p:attrNameLst>
                                      </p:cBhvr>
                                      <p:tavLst>
                                        <p:tav tm="0">
                                          <p:val>
                                            <p:strVal val="#ppt_y+.1"/>
                                          </p:val>
                                        </p:tav>
                                        <p:tav tm="100000">
                                          <p:val>
                                            <p:strVal val="#ppt_y"/>
                                          </p:val>
                                        </p:tav>
                                      </p:tavLst>
                                    </p:anim>
                                  </p:childTnLst>
                                </p:cTn>
                              </p:par>
                              <p:par>
                                <p:cTn id="66" presetID="42" presetClass="entr" presetSubtype="0" fill="hold" nodeType="withEffect">
                                  <p:stCondLst>
                                    <p:cond delay="0"/>
                                  </p:stCondLst>
                                  <p:childTnLst>
                                    <p:set>
                                      <p:cBhvr>
                                        <p:cTn id="67" dur="1" fill="hold">
                                          <p:stCondLst>
                                            <p:cond delay="0"/>
                                          </p:stCondLst>
                                        </p:cTn>
                                        <p:tgtEl>
                                          <p:spTgt spid="368"/>
                                        </p:tgtEl>
                                        <p:attrNameLst>
                                          <p:attrName>style.visibility</p:attrName>
                                        </p:attrNameLst>
                                      </p:cBhvr>
                                      <p:to>
                                        <p:strVal val="visible"/>
                                      </p:to>
                                    </p:set>
                                    <p:animEffect transition="in" filter="fade">
                                      <p:cBhvr>
                                        <p:cTn id="68" dur="1000"/>
                                        <p:tgtEl>
                                          <p:spTgt spid="368"/>
                                        </p:tgtEl>
                                      </p:cBhvr>
                                    </p:animEffect>
                                    <p:anim calcmode="lin" valueType="num">
                                      <p:cBhvr>
                                        <p:cTn id="69" dur="1000" fill="hold"/>
                                        <p:tgtEl>
                                          <p:spTgt spid="368"/>
                                        </p:tgtEl>
                                        <p:attrNameLst>
                                          <p:attrName>ppt_x</p:attrName>
                                        </p:attrNameLst>
                                      </p:cBhvr>
                                      <p:tavLst>
                                        <p:tav tm="0">
                                          <p:val>
                                            <p:strVal val="#ppt_x"/>
                                          </p:val>
                                        </p:tav>
                                        <p:tav tm="100000">
                                          <p:val>
                                            <p:strVal val="#ppt_x"/>
                                          </p:val>
                                        </p:tav>
                                      </p:tavLst>
                                    </p:anim>
                                    <p:anim calcmode="lin" valueType="num">
                                      <p:cBhvr>
                                        <p:cTn id="70" dur="1000" fill="hold"/>
                                        <p:tgtEl>
                                          <p:spTgt spid="368"/>
                                        </p:tgtEl>
                                        <p:attrNameLst>
                                          <p:attrName>ppt_y</p:attrName>
                                        </p:attrNameLst>
                                      </p:cBhvr>
                                      <p:tavLst>
                                        <p:tav tm="0">
                                          <p:val>
                                            <p:strVal val="#ppt_y+.1"/>
                                          </p:val>
                                        </p:tav>
                                        <p:tav tm="100000">
                                          <p:val>
                                            <p:strVal val="#ppt_y"/>
                                          </p:val>
                                        </p:tav>
                                      </p:tavLst>
                                    </p:anim>
                                  </p:childTnLst>
                                </p:cTn>
                              </p:par>
                              <p:par>
                                <p:cTn id="71" presetID="42" presetClass="entr" presetSubtype="0" fill="hold" grpId="0" nodeType="withEffect">
                                  <p:stCondLst>
                                    <p:cond delay="0"/>
                                  </p:stCondLst>
                                  <p:childTnLst>
                                    <p:set>
                                      <p:cBhvr>
                                        <p:cTn id="72" dur="1" fill="hold">
                                          <p:stCondLst>
                                            <p:cond delay="0"/>
                                          </p:stCondLst>
                                        </p:cTn>
                                        <p:tgtEl>
                                          <p:spTgt spid="374"/>
                                        </p:tgtEl>
                                        <p:attrNameLst>
                                          <p:attrName>style.visibility</p:attrName>
                                        </p:attrNameLst>
                                      </p:cBhvr>
                                      <p:to>
                                        <p:strVal val="visible"/>
                                      </p:to>
                                    </p:set>
                                    <p:animEffect transition="in" filter="fade">
                                      <p:cBhvr>
                                        <p:cTn id="73" dur="1000"/>
                                        <p:tgtEl>
                                          <p:spTgt spid="374"/>
                                        </p:tgtEl>
                                      </p:cBhvr>
                                    </p:animEffect>
                                    <p:anim calcmode="lin" valueType="num">
                                      <p:cBhvr>
                                        <p:cTn id="74" dur="1000" fill="hold"/>
                                        <p:tgtEl>
                                          <p:spTgt spid="374"/>
                                        </p:tgtEl>
                                        <p:attrNameLst>
                                          <p:attrName>ppt_x</p:attrName>
                                        </p:attrNameLst>
                                      </p:cBhvr>
                                      <p:tavLst>
                                        <p:tav tm="0">
                                          <p:val>
                                            <p:strVal val="#ppt_x"/>
                                          </p:val>
                                        </p:tav>
                                        <p:tav tm="100000">
                                          <p:val>
                                            <p:strVal val="#ppt_x"/>
                                          </p:val>
                                        </p:tav>
                                      </p:tavLst>
                                    </p:anim>
                                    <p:anim calcmode="lin" valueType="num">
                                      <p:cBhvr>
                                        <p:cTn id="75" dur="1000" fill="hold"/>
                                        <p:tgtEl>
                                          <p:spTgt spid="374"/>
                                        </p:tgtEl>
                                        <p:attrNameLst>
                                          <p:attrName>ppt_y</p:attrName>
                                        </p:attrNameLst>
                                      </p:cBhvr>
                                      <p:tavLst>
                                        <p:tav tm="0">
                                          <p:val>
                                            <p:strVal val="#ppt_y+.1"/>
                                          </p:val>
                                        </p:tav>
                                        <p:tav tm="100000">
                                          <p:val>
                                            <p:strVal val="#ppt_y"/>
                                          </p:val>
                                        </p:tav>
                                      </p:tavLst>
                                    </p:anim>
                                  </p:childTnLst>
                                </p:cTn>
                              </p:par>
                              <p:par>
                                <p:cTn id="76" presetID="42" presetClass="entr" presetSubtype="0" fill="hold" nodeType="withEffect">
                                  <p:stCondLst>
                                    <p:cond delay="0"/>
                                  </p:stCondLst>
                                  <p:childTnLst>
                                    <p:set>
                                      <p:cBhvr>
                                        <p:cTn id="77" dur="1" fill="hold">
                                          <p:stCondLst>
                                            <p:cond delay="0"/>
                                          </p:stCondLst>
                                        </p:cTn>
                                        <p:tgtEl>
                                          <p:spTgt spid="373"/>
                                        </p:tgtEl>
                                        <p:attrNameLst>
                                          <p:attrName>style.visibility</p:attrName>
                                        </p:attrNameLst>
                                      </p:cBhvr>
                                      <p:to>
                                        <p:strVal val="visible"/>
                                      </p:to>
                                    </p:set>
                                    <p:animEffect transition="in" filter="fade">
                                      <p:cBhvr>
                                        <p:cTn id="78" dur="1000"/>
                                        <p:tgtEl>
                                          <p:spTgt spid="373"/>
                                        </p:tgtEl>
                                      </p:cBhvr>
                                    </p:animEffect>
                                    <p:anim calcmode="lin" valueType="num">
                                      <p:cBhvr>
                                        <p:cTn id="79" dur="1000" fill="hold"/>
                                        <p:tgtEl>
                                          <p:spTgt spid="373"/>
                                        </p:tgtEl>
                                        <p:attrNameLst>
                                          <p:attrName>ppt_x</p:attrName>
                                        </p:attrNameLst>
                                      </p:cBhvr>
                                      <p:tavLst>
                                        <p:tav tm="0">
                                          <p:val>
                                            <p:strVal val="#ppt_x"/>
                                          </p:val>
                                        </p:tav>
                                        <p:tav tm="100000">
                                          <p:val>
                                            <p:strVal val="#ppt_x"/>
                                          </p:val>
                                        </p:tav>
                                      </p:tavLst>
                                    </p:anim>
                                    <p:anim calcmode="lin" valueType="num">
                                      <p:cBhvr>
                                        <p:cTn id="80" dur="1000" fill="hold"/>
                                        <p:tgtEl>
                                          <p:spTgt spid="373"/>
                                        </p:tgtEl>
                                        <p:attrNameLst>
                                          <p:attrName>ppt_y</p:attrName>
                                        </p:attrNameLst>
                                      </p:cBhvr>
                                      <p:tavLst>
                                        <p:tav tm="0">
                                          <p:val>
                                            <p:strVal val="#ppt_y+.1"/>
                                          </p:val>
                                        </p:tav>
                                        <p:tav tm="100000">
                                          <p:val>
                                            <p:strVal val="#ppt_y"/>
                                          </p:val>
                                        </p:tav>
                                      </p:tavLst>
                                    </p:anim>
                                  </p:childTnLst>
                                </p:cTn>
                              </p:par>
                              <p:par>
                                <p:cTn id="81" presetID="42" presetClass="entr" presetSubtype="0" fill="hold" grpId="0" nodeType="withEffect">
                                  <p:stCondLst>
                                    <p:cond delay="0"/>
                                  </p:stCondLst>
                                  <p:childTnLst>
                                    <p:set>
                                      <p:cBhvr>
                                        <p:cTn id="82" dur="1" fill="hold">
                                          <p:stCondLst>
                                            <p:cond delay="0"/>
                                          </p:stCondLst>
                                        </p:cTn>
                                        <p:tgtEl>
                                          <p:spTgt spid="369"/>
                                        </p:tgtEl>
                                        <p:attrNameLst>
                                          <p:attrName>style.visibility</p:attrName>
                                        </p:attrNameLst>
                                      </p:cBhvr>
                                      <p:to>
                                        <p:strVal val="visible"/>
                                      </p:to>
                                    </p:set>
                                    <p:animEffect transition="in" filter="fade">
                                      <p:cBhvr>
                                        <p:cTn id="83" dur="1000"/>
                                        <p:tgtEl>
                                          <p:spTgt spid="369"/>
                                        </p:tgtEl>
                                      </p:cBhvr>
                                    </p:animEffect>
                                    <p:anim calcmode="lin" valueType="num">
                                      <p:cBhvr>
                                        <p:cTn id="84" dur="1000" fill="hold"/>
                                        <p:tgtEl>
                                          <p:spTgt spid="369"/>
                                        </p:tgtEl>
                                        <p:attrNameLst>
                                          <p:attrName>ppt_x</p:attrName>
                                        </p:attrNameLst>
                                      </p:cBhvr>
                                      <p:tavLst>
                                        <p:tav tm="0">
                                          <p:val>
                                            <p:strVal val="#ppt_x"/>
                                          </p:val>
                                        </p:tav>
                                        <p:tav tm="100000">
                                          <p:val>
                                            <p:strVal val="#ppt_x"/>
                                          </p:val>
                                        </p:tav>
                                      </p:tavLst>
                                    </p:anim>
                                    <p:anim calcmode="lin" valueType="num">
                                      <p:cBhvr>
                                        <p:cTn id="85" dur="1000" fill="hold"/>
                                        <p:tgtEl>
                                          <p:spTgt spid="369"/>
                                        </p:tgtEl>
                                        <p:attrNameLst>
                                          <p:attrName>ppt_y</p:attrName>
                                        </p:attrNameLst>
                                      </p:cBhvr>
                                      <p:tavLst>
                                        <p:tav tm="0">
                                          <p:val>
                                            <p:strVal val="#ppt_y+.1"/>
                                          </p:val>
                                        </p:tav>
                                        <p:tav tm="100000">
                                          <p:val>
                                            <p:strVal val="#ppt_y"/>
                                          </p:val>
                                        </p:tav>
                                      </p:tavLst>
                                    </p:anim>
                                  </p:childTnLst>
                                </p:cTn>
                              </p:par>
                              <p:par>
                                <p:cTn id="86" presetID="42" presetClass="entr" presetSubtype="0" fill="hold" nodeType="withEffect">
                                  <p:stCondLst>
                                    <p:cond delay="0"/>
                                  </p:stCondLst>
                                  <p:childTnLst>
                                    <p:set>
                                      <p:cBhvr>
                                        <p:cTn id="87" dur="1" fill="hold">
                                          <p:stCondLst>
                                            <p:cond delay="0"/>
                                          </p:stCondLst>
                                        </p:cTn>
                                        <p:tgtEl>
                                          <p:spTgt spid="371"/>
                                        </p:tgtEl>
                                        <p:attrNameLst>
                                          <p:attrName>style.visibility</p:attrName>
                                        </p:attrNameLst>
                                      </p:cBhvr>
                                      <p:to>
                                        <p:strVal val="visible"/>
                                      </p:to>
                                    </p:set>
                                    <p:animEffect transition="in" filter="fade">
                                      <p:cBhvr>
                                        <p:cTn id="88" dur="1000"/>
                                        <p:tgtEl>
                                          <p:spTgt spid="371"/>
                                        </p:tgtEl>
                                      </p:cBhvr>
                                    </p:animEffect>
                                    <p:anim calcmode="lin" valueType="num">
                                      <p:cBhvr>
                                        <p:cTn id="89" dur="1000" fill="hold"/>
                                        <p:tgtEl>
                                          <p:spTgt spid="371"/>
                                        </p:tgtEl>
                                        <p:attrNameLst>
                                          <p:attrName>ppt_x</p:attrName>
                                        </p:attrNameLst>
                                      </p:cBhvr>
                                      <p:tavLst>
                                        <p:tav tm="0">
                                          <p:val>
                                            <p:strVal val="#ppt_x"/>
                                          </p:val>
                                        </p:tav>
                                        <p:tav tm="100000">
                                          <p:val>
                                            <p:strVal val="#ppt_x"/>
                                          </p:val>
                                        </p:tav>
                                      </p:tavLst>
                                    </p:anim>
                                    <p:anim calcmode="lin" valueType="num">
                                      <p:cBhvr>
                                        <p:cTn id="90" dur="1000" fill="hold"/>
                                        <p:tgtEl>
                                          <p:spTgt spid="371"/>
                                        </p:tgtEl>
                                        <p:attrNameLst>
                                          <p:attrName>ppt_y</p:attrName>
                                        </p:attrNameLst>
                                      </p:cBhvr>
                                      <p:tavLst>
                                        <p:tav tm="0">
                                          <p:val>
                                            <p:strVal val="#ppt_y+.1"/>
                                          </p:val>
                                        </p:tav>
                                        <p:tav tm="100000">
                                          <p:val>
                                            <p:strVal val="#ppt_y"/>
                                          </p:val>
                                        </p:tav>
                                      </p:tavLst>
                                    </p:anim>
                                  </p:childTnLst>
                                </p:cTn>
                              </p:par>
                              <p:par>
                                <p:cTn id="91" presetID="42" presetClass="entr" presetSubtype="0" fill="hold" grpId="0" nodeType="withEffect">
                                  <p:stCondLst>
                                    <p:cond delay="0"/>
                                  </p:stCondLst>
                                  <p:childTnLst>
                                    <p:set>
                                      <p:cBhvr>
                                        <p:cTn id="92" dur="1" fill="hold">
                                          <p:stCondLst>
                                            <p:cond delay="0"/>
                                          </p:stCondLst>
                                        </p:cTn>
                                        <p:tgtEl>
                                          <p:spTgt spid="370"/>
                                        </p:tgtEl>
                                        <p:attrNameLst>
                                          <p:attrName>style.visibility</p:attrName>
                                        </p:attrNameLst>
                                      </p:cBhvr>
                                      <p:to>
                                        <p:strVal val="visible"/>
                                      </p:to>
                                    </p:set>
                                    <p:animEffect transition="in" filter="fade">
                                      <p:cBhvr>
                                        <p:cTn id="93" dur="1000"/>
                                        <p:tgtEl>
                                          <p:spTgt spid="370"/>
                                        </p:tgtEl>
                                      </p:cBhvr>
                                    </p:animEffect>
                                    <p:anim calcmode="lin" valueType="num">
                                      <p:cBhvr>
                                        <p:cTn id="94" dur="1000" fill="hold"/>
                                        <p:tgtEl>
                                          <p:spTgt spid="370"/>
                                        </p:tgtEl>
                                        <p:attrNameLst>
                                          <p:attrName>ppt_x</p:attrName>
                                        </p:attrNameLst>
                                      </p:cBhvr>
                                      <p:tavLst>
                                        <p:tav tm="0">
                                          <p:val>
                                            <p:strVal val="#ppt_x"/>
                                          </p:val>
                                        </p:tav>
                                        <p:tav tm="100000">
                                          <p:val>
                                            <p:strVal val="#ppt_x"/>
                                          </p:val>
                                        </p:tav>
                                      </p:tavLst>
                                    </p:anim>
                                    <p:anim calcmode="lin" valueType="num">
                                      <p:cBhvr>
                                        <p:cTn id="95" dur="1000" fill="hold"/>
                                        <p:tgtEl>
                                          <p:spTgt spid="370"/>
                                        </p:tgtEl>
                                        <p:attrNameLst>
                                          <p:attrName>ppt_y</p:attrName>
                                        </p:attrNameLst>
                                      </p:cBhvr>
                                      <p:tavLst>
                                        <p:tav tm="0">
                                          <p:val>
                                            <p:strVal val="#ppt_y+.1"/>
                                          </p:val>
                                        </p:tav>
                                        <p:tav tm="100000">
                                          <p:val>
                                            <p:strVal val="#ppt_y"/>
                                          </p:val>
                                        </p:tav>
                                      </p:tavLst>
                                    </p:anim>
                                  </p:childTnLst>
                                </p:cTn>
                              </p:par>
                              <p:par>
                                <p:cTn id="96" presetID="42" presetClass="entr" presetSubtype="0" fill="hold" nodeType="withEffect">
                                  <p:stCondLst>
                                    <p:cond delay="0"/>
                                  </p:stCondLst>
                                  <p:childTnLst>
                                    <p:set>
                                      <p:cBhvr>
                                        <p:cTn id="97" dur="1" fill="hold">
                                          <p:stCondLst>
                                            <p:cond delay="0"/>
                                          </p:stCondLst>
                                        </p:cTn>
                                        <p:tgtEl>
                                          <p:spTgt spid="372"/>
                                        </p:tgtEl>
                                        <p:attrNameLst>
                                          <p:attrName>style.visibility</p:attrName>
                                        </p:attrNameLst>
                                      </p:cBhvr>
                                      <p:to>
                                        <p:strVal val="visible"/>
                                      </p:to>
                                    </p:set>
                                    <p:animEffect transition="in" filter="fade">
                                      <p:cBhvr>
                                        <p:cTn id="98" dur="1000"/>
                                        <p:tgtEl>
                                          <p:spTgt spid="372"/>
                                        </p:tgtEl>
                                      </p:cBhvr>
                                    </p:animEffect>
                                    <p:anim calcmode="lin" valueType="num">
                                      <p:cBhvr>
                                        <p:cTn id="99" dur="1000" fill="hold"/>
                                        <p:tgtEl>
                                          <p:spTgt spid="372"/>
                                        </p:tgtEl>
                                        <p:attrNameLst>
                                          <p:attrName>ppt_x</p:attrName>
                                        </p:attrNameLst>
                                      </p:cBhvr>
                                      <p:tavLst>
                                        <p:tav tm="0">
                                          <p:val>
                                            <p:strVal val="#ppt_x"/>
                                          </p:val>
                                        </p:tav>
                                        <p:tav tm="100000">
                                          <p:val>
                                            <p:strVal val="#ppt_x"/>
                                          </p:val>
                                        </p:tav>
                                      </p:tavLst>
                                    </p:anim>
                                    <p:anim calcmode="lin" valueType="num">
                                      <p:cBhvr>
                                        <p:cTn id="100" dur="1000" fill="hold"/>
                                        <p:tgtEl>
                                          <p:spTgt spid="372"/>
                                        </p:tgtEl>
                                        <p:attrNameLst>
                                          <p:attrName>ppt_y</p:attrName>
                                        </p:attrNameLst>
                                      </p:cBhvr>
                                      <p:tavLst>
                                        <p:tav tm="0">
                                          <p:val>
                                            <p:strVal val="#ppt_y+.1"/>
                                          </p:val>
                                        </p:tav>
                                        <p:tav tm="100000">
                                          <p:val>
                                            <p:strVal val="#ppt_y"/>
                                          </p:val>
                                        </p:tav>
                                      </p:tavLst>
                                    </p:anim>
                                  </p:childTnLst>
                                </p:cTn>
                              </p:par>
                              <p:par>
                                <p:cTn id="101" presetID="42" presetClass="entr" presetSubtype="0" fill="hold" nodeType="withEffect">
                                  <p:stCondLst>
                                    <p:cond delay="0"/>
                                  </p:stCondLst>
                                  <p:childTnLst>
                                    <p:set>
                                      <p:cBhvr>
                                        <p:cTn id="102" dur="1" fill="hold">
                                          <p:stCondLst>
                                            <p:cond delay="0"/>
                                          </p:stCondLst>
                                        </p:cTn>
                                        <p:tgtEl>
                                          <p:spTgt spid="375"/>
                                        </p:tgtEl>
                                        <p:attrNameLst>
                                          <p:attrName>style.visibility</p:attrName>
                                        </p:attrNameLst>
                                      </p:cBhvr>
                                      <p:to>
                                        <p:strVal val="visible"/>
                                      </p:to>
                                    </p:set>
                                    <p:animEffect transition="in" filter="fade">
                                      <p:cBhvr>
                                        <p:cTn id="103" dur="1000"/>
                                        <p:tgtEl>
                                          <p:spTgt spid="375"/>
                                        </p:tgtEl>
                                      </p:cBhvr>
                                    </p:animEffect>
                                    <p:anim calcmode="lin" valueType="num">
                                      <p:cBhvr>
                                        <p:cTn id="104" dur="1000" fill="hold"/>
                                        <p:tgtEl>
                                          <p:spTgt spid="375"/>
                                        </p:tgtEl>
                                        <p:attrNameLst>
                                          <p:attrName>ppt_x</p:attrName>
                                        </p:attrNameLst>
                                      </p:cBhvr>
                                      <p:tavLst>
                                        <p:tav tm="0">
                                          <p:val>
                                            <p:strVal val="#ppt_x"/>
                                          </p:val>
                                        </p:tav>
                                        <p:tav tm="100000">
                                          <p:val>
                                            <p:strVal val="#ppt_x"/>
                                          </p:val>
                                        </p:tav>
                                      </p:tavLst>
                                    </p:anim>
                                    <p:anim calcmode="lin" valueType="num">
                                      <p:cBhvr>
                                        <p:cTn id="105" dur="1000" fill="hold"/>
                                        <p:tgtEl>
                                          <p:spTgt spid="375"/>
                                        </p:tgtEl>
                                        <p:attrNameLst>
                                          <p:attrName>ppt_y</p:attrName>
                                        </p:attrNameLst>
                                      </p:cBhvr>
                                      <p:tavLst>
                                        <p:tav tm="0">
                                          <p:val>
                                            <p:strVal val="#ppt_y+.1"/>
                                          </p:val>
                                        </p:tav>
                                        <p:tav tm="100000">
                                          <p:val>
                                            <p:strVal val="#ppt_y"/>
                                          </p:val>
                                        </p:tav>
                                      </p:tavLst>
                                    </p:anim>
                                  </p:childTnLst>
                                </p:cTn>
                              </p:par>
                              <p:par>
                                <p:cTn id="106" presetID="42" presetClass="entr" presetSubtype="0" fill="hold" grpId="0" nodeType="withEffect">
                                  <p:stCondLst>
                                    <p:cond delay="0"/>
                                  </p:stCondLst>
                                  <p:childTnLst>
                                    <p:set>
                                      <p:cBhvr>
                                        <p:cTn id="107" dur="1" fill="hold">
                                          <p:stCondLst>
                                            <p:cond delay="0"/>
                                          </p:stCondLst>
                                        </p:cTn>
                                        <p:tgtEl>
                                          <p:spTgt spid="378"/>
                                        </p:tgtEl>
                                        <p:attrNameLst>
                                          <p:attrName>style.visibility</p:attrName>
                                        </p:attrNameLst>
                                      </p:cBhvr>
                                      <p:to>
                                        <p:strVal val="visible"/>
                                      </p:to>
                                    </p:set>
                                    <p:animEffect transition="in" filter="fade">
                                      <p:cBhvr>
                                        <p:cTn id="108" dur="1000"/>
                                        <p:tgtEl>
                                          <p:spTgt spid="378"/>
                                        </p:tgtEl>
                                      </p:cBhvr>
                                    </p:animEffect>
                                    <p:anim calcmode="lin" valueType="num">
                                      <p:cBhvr>
                                        <p:cTn id="109" dur="1000" fill="hold"/>
                                        <p:tgtEl>
                                          <p:spTgt spid="378"/>
                                        </p:tgtEl>
                                        <p:attrNameLst>
                                          <p:attrName>ppt_x</p:attrName>
                                        </p:attrNameLst>
                                      </p:cBhvr>
                                      <p:tavLst>
                                        <p:tav tm="0">
                                          <p:val>
                                            <p:strVal val="#ppt_x"/>
                                          </p:val>
                                        </p:tav>
                                        <p:tav tm="100000">
                                          <p:val>
                                            <p:strVal val="#ppt_x"/>
                                          </p:val>
                                        </p:tav>
                                      </p:tavLst>
                                    </p:anim>
                                    <p:anim calcmode="lin" valueType="num">
                                      <p:cBhvr>
                                        <p:cTn id="110" dur="1000" fill="hold"/>
                                        <p:tgtEl>
                                          <p:spTgt spid="37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39" grpId="0"/>
      <p:bldP spid="107" grpId="0"/>
      <p:bldP spid="360" grpId="0"/>
      <p:bldP spid="366" grpId="0" animBg="1"/>
      <p:bldP spid="367" grpId="0" animBg="1"/>
      <p:bldP spid="369" grpId="0"/>
      <p:bldP spid="370" grpId="0"/>
      <p:bldP spid="374" grpId="0" animBg="1"/>
      <p:bldP spid="378"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lumMod val="50000"/>
          </a:schemeClr>
        </a:solidFill>
        <a:effectLst/>
      </p:bgPr>
    </p:bg>
    <p:spTree>
      <p:nvGrpSpPr>
        <p:cNvPr id="1" name=""/>
        <p:cNvGrpSpPr/>
        <p:nvPr/>
      </p:nvGrpSpPr>
      <p:grpSpPr>
        <a:xfrm>
          <a:off x="0" y="0"/>
          <a:ext cx="0" cy="0"/>
          <a:chOff x="0" y="0"/>
          <a:chExt cx="0" cy="0"/>
        </a:xfrm>
      </p:grpSpPr>
      <p:sp>
        <p:nvSpPr>
          <p:cNvPr id="59394" name="TextBox 1">
            <a:extLst>
              <a:ext uri="{FF2B5EF4-FFF2-40B4-BE49-F238E27FC236}">
                <a16:creationId xmlns:a16="http://schemas.microsoft.com/office/drawing/2014/main" id="{869E2DDD-DA74-4116-B98A-16E1C93A191F}"/>
              </a:ext>
            </a:extLst>
          </p:cNvPr>
          <p:cNvSpPr txBox="1">
            <a:spLocks noChangeArrowheads="1"/>
          </p:cNvSpPr>
          <p:nvPr/>
        </p:nvSpPr>
        <p:spPr bwMode="auto">
          <a:xfrm>
            <a:off x="3419475" y="333375"/>
            <a:ext cx="2520950"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2800" b="1">
                <a:solidFill>
                  <a:srgbClr val="FFFF00"/>
                </a:solidFill>
                <a:latin typeface="黑体" panose="02010609060101010101" pitchFamily="49" charset="-122"/>
                <a:ea typeface="黑体" panose="02010609060101010101" pitchFamily="49" charset="-122"/>
              </a:rPr>
              <a:t>内容回顾</a:t>
            </a:r>
          </a:p>
        </p:txBody>
      </p:sp>
      <p:sp>
        <p:nvSpPr>
          <p:cNvPr id="59395" name="TextBox 2">
            <a:extLst>
              <a:ext uri="{FF2B5EF4-FFF2-40B4-BE49-F238E27FC236}">
                <a16:creationId xmlns:a16="http://schemas.microsoft.com/office/drawing/2014/main" id="{0B2FC489-F7E1-4B2A-99CE-2C8ADFFAC769}"/>
              </a:ext>
            </a:extLst>
          </p:cNvPr>
          <p:cNvSpPr txBox="1">
            <a:spLocks noChangeArrowheads="1"/>
          </p:cNvSpPr>
          <p:nvPr/>
        </p:nvSpPr>
        <p:spPr bwMode="auto">
          <a:xfrm>
            <a:off x="827088" y="1196975"/>
            <a:ext cx="4176712"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 typeface="Wingdings" panose="05000000000000000000" pitchFamily="2" charset="2"/>
              <a:buChar char="Ø"/>
            </a:pPr>
            <a:r>
              <a:rPr lang="zh-CN" altLang="en-US" sz="2800" b="1">
                <a:solidFill>
                  <a:srgbClr val="FFFF00"/>
                </a:solidFill>
              </a:rPr>
              <a:t>放射性衰变定律</a:t>
            </a:r>
          </a:p>
        </p:txBody>
      </p:sp>
      <p:sp>
        <p:nvSpPr>
          <p:cNvPr id="59396" name="Rectangle 6">
            <a:extLst>
              <a:ext uri="{FF2B5EF4-FFF2-40B4-BE49-F238E27FC236}">
                <a16:creationId xmlns:a16="http://schemas.microsoft.com/office/drawing/2014/main" id="{C2FF4E2F-829C-43E4-8E44-80E63312D3B0}"/>
              </a:ext>
            </a:extLst>
          </p:cNvPr>
          <p:cNvSpPr>
            <a:spLocks noChangeArrowheads="1"/>
          </p:cNvSpPr>
          <p:nvPr/>
        </p:nvSpPr>
        <p:spPr bwMode="auto">
          <a:xfrm>
            <a:off x="1331913" y="3092450"/>
            <a:ext cx="6911975"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b="1">
                <a:solidFill>
                  <a:schemeClr val="bg1"/>
                </a:solidFill>
                <a:latin typeface="Times New Roman" panose="02020603050405020304" pitchFamily="18" charset="0"/>
                <a:cs typeface="Times New Roman" panose="02020603050405020304" pitchFamily="18" charset="0"/>
              </a:rPr>
              <a:t>式中</a:t>
            </a:r>
            <a:r>
              <a:rPr lang="el-GR" altLang="zh-CN" sz="2400" b="1">
                <a:solidFill>
                  <a:srgbClr val="FFFF00"/>
                </a:solidFill>
                <a:latin typeface="Times New Roman" panose="02020603050405020304" pitchFamily="18" charset="0"/>
                <a:cs typeface="Times New Roman" panose="02020603050405020304" pitchFamily="18" charset="0"/>
              </a:rPr>
              <a:t>λ</a:t>
            </a:r>
            <a:r>
              <a:rPr lang="zh-CN" altLang="en-US" sz="2400" b="1">
                <a:solidFill>
                  <a:schemeClr val="bg1"/>
                </a:solidFill>
                <a:latin typeface="Times New Roman" panose="02020603050405020304" pitchFamily="18" charset="0"/>
                <a:cs typeface="Times New Roman" panose="02020603050405020304" pitchFamily="18" charset="0"/>
              </a:rPr>
              <a:t>是表征衰变快慢的比例常数，叫做</a:t>
            </a:r>
            <a:r>
              <a:rPr lang="zh-CN" altLang="en-US" sz="2400" b="1">
                <a:solidFill>
                  <a:srgbClr val="FFFF00"/>
                </a:solidFill>
                <a:latin typeface="Times New Roman" panose="02020603050405020304" pitchFamily="18" charset="0"/>
                <a:cs typeface="Times New Roman" panose="02020603050405020304" pitchFamily="18" charset="0"/>
              </a:rPr>
              <a:t>衰变常数</a:t>
            </a:r>
            <a:r>
              <a:rPr lang="zh-CN" altLang="en-US" sz="2400" b="1">
                <a:solidFill>
                  <a:schemeClr val="bg1"/>
                </a:solidFill>
                <a:latin typeface="Times New Roman" panose="02020603050405020304" pitchFamily="18" charset="0"/>
                <a:cs typeface="Times New Roman" panose="02020603050405020304" pitchFamily="18" charset="0"/>
              </a:rPr>
              <a:t>。负号表示原子核数在减少。</a:t>
            </a:r>
          </a:p>
        </p:txBody>
      </p:sp>
      <p:graphicFrame>
        <p:nvGraphicFramePr>
          <p:cNvPr id="59397" name="Object 3">
            <a:extLst>
              <a:ext uri="{FF2B5EF4-FFF2-40B4-BE49-F238E27FC236}">
                <a16:creationId xmlns:a16="http://schemas.microsoft.com/office/drawing/2014/main" id="{1474A487-867C-4B18-B4A0-02E9A1889D1E}"/>
              </a:ext>
            </a:extLst>
          </p:cNvPr>
          <p:cNvGraphicFramePr>
            <a:graphicFrameLocks noChangeAspect="1"/>
          </p:cNvGraphicFramePr>
          <p:nvPr/>
        </p:nvGraphicFramePr>
        <p:xfrm>
          <a:off x="3452813" y="1916113"/>
          <a:ext cx="2114550" cy="1052512"/>
        </p:xfrm>
        <a:graphic>
          <a:graphicData uri="http://schemas.openxmlformats.org/presentationml/2006/ole">
            <mc:AlternateContent xmlns:mc="http://schemas.openxmlformats.org/markup-compatibility/2006">
              <mc:Choice xmlns:v="urn:schemas-microsoft-com:vml" Requires="v">
                <p:oleObj spid="_x0000_s59411" name="Equation" r:id="rId3" imgW="812447" imgH="406224" progId="Equation.DSMT4">
                  <p:embed/>
                </p:oleObj>
              </mc:Choice>
              <mc:Fallback>
                <p:oleObj name="Equation" r:id="rId3" imgW="812447" imgH="406224"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52813" y="1916113"/>
                        <a:ext cx="2114550" cy="1052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 name="Object 2">
            <a:extLst>
              <a:ext uri="{FF2B5EF4-FFF2-40B4-BE49-F238E27FC236}">
                <a16:creationId xmlns:a16="http://schemas.microsoft.com/office/drawing/2014/main" id="{9B29FAFC-6349-4EBB-B311-221FB7B75133}"/>
              </a:ext>
            </a:extLst>
          </p:cNvPr>
          <p:cNvGraphicFramePr>
            <a:graphicFrameLocks noChangeAspect="1"/>
          </p:cNvGraphicFramePr>
          <p:nvPr/>
        </p:nvGraphicFramePr>
        <p:xfrm>
          <a:off x="1619250" y="5516563"/>
          <a:ext cx="4491038" cy="1066800"/>
        </p:xfrm>
        <a:graphic>
          <a:graphicData uri="http://schemas.openxmlformats.org/presentationml/2006/ole">
            <mc:AlternateContent xmlns:mc="http://schemas.openxmlformats.org/markup-compatibility/2006">
              <mc:Choice xmlns:v="urn:schemas-microsoft-com:vml" Requires="v">
                <p:oleObj spid="_x0000_s59412" name="Equation" r:id="rId5" imgW="1701800" imgH="406400" progId="Equation.DSMT4">
                  <p:embed/>
                </p:oleObj>
              </mc:Choice>
              <mc:Fallback>
                <p:oleObj name="Equation" r:id="rId5" imgW="1701800" imgH="406400" progId="Equation.DSMT4">
                  <p:embed/>
                  <p:pic>
                    <p:nvPicPr>
                      <p:cNvPr id="0"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19250" y="5516563"/>
                        <a:ext cx="4491038" cy="1066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0" name="Group 12">
            <a:extLst>
              <a:ext uri="{FF2B5EF4-FFF2-40B4-BE49-F238E27FC236}">
                <a16:creationId xmlns:a16="http://schemas.microsoft.com/office/drawing/2014/main" id="{865C0D7D-F86B-4D80-A522-AB09601DA3F5}"/>
              </a:ext>
            </a:extLst>
          </p:cNvPr>
          <p:cNvGrpSpPr>
            <a:grpSpLocks/>
          </p:cNvGrpSpPr>
          <p:nvPr/>
        </p:nvGrpSpPr>
        <p:grpSpPr bwMode="auto">
          <a:xfrm>
            <a:off x="766763" y="4076700"/>
            <a:ext cx="8145462" cy="1409700"/>
            <a:chOff x="263" y="1537"/>
            <a:chExt cx="5131" cy="888"/>
          </a:xfrm>
        </p:grpSpPr>
        <p:sp>
          <p:nvSpPr>
            <p:cNvPr id="59401" name="Rectangle 8">
              <a:extLst>
                <a:ext uri="{FF2B5EF4-FFF2-40B4-BE49-F238E27FC236}">
                  <a16:creationId xmlns:a16="http://schemas.microsoft.com/office/drawing/2014/main" id="{D854FCB7-D4FE-4D8B-BE9B-DE025E868802}"/>
                </a:ext>
              </a:extLst>
            </p:cNvPr>
            <p:cNvSpPr>
              <a:spLocks noChangeArrowheads="1"/>
            </p:cNvSpPr>
            <p:nvPr/>
          </p:nvSpPr>
          <p:spPr bwMode="auto">
            <a:xfrm>
              <a:off x="263" y="1537"/>
              <a:ext cx="5131" cy="7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0"/>
                </a:spcBef>
                <a:buFont typeface="Wingdings" panose="05000000000000000000" pitchFamily="2" charset="2"/>
                <a:buChar char="Ø"/>
              </a:pPr>
              <a:r>
                <a:rPr lang="zh-CN" altLang="en-US" sz="2800" b="1">
                  <a:solidFill>
                    <a:srgbClr val="FFFF00"/>
                  </a:solidFill>
                  <a:latin typeface="Times New Roman" panose="02020603050405020304" pitchFamily="18" charset="0"/>
                  <a:cs typeface="Times New Roman" panose="02020603050405020304" pitchFamily="18" charset="0"/>
                </a:rPr>
                <a:t>放射性活度</a:t>
              </a:r>
              <a:r>
                <a:rPr lang="zh-CN" altLang="en-US" sz="2800" b="1">
                  <a:solidFill>
                    <a:schemeClr val="bg1"/>
                  </a:solidFill>
                  <a:latin typeface="Times New Roman" panose="02020603050405020304" pitchFamily="18" charset="0"/>
                  <a:cs typeface="Times New Roman" panose="02020603050405020304" pitchFamily="18" charset="0"/>
                </a:rPr>
                <a:t>是指一个放射源，在单位时间内发生的核衰变次数        ，用</a:t>
              </a:r>
              <a:r>
                <a:rPr lang="en-US" altLang="zh-CN" sz="2800" b="1" i="1">
                  <a:solidFill>
                    <a:srgbClr val="FFFF00"/>
                  </a:solidFill>
                  <a:latin typeface="Times New Roman" panose="02020603050405020304" pitchFamily="18" charset="0"/>
                  <a:cs typeface="Times New Roman" panose="02020603050405020304" pitchFamily="18" charset="0"/>
                </a:rPr>
                <a:t>A</a:t>
              </a:r>
              <a:r>
                <a:rPr lang="zh-CN" altLang="en-US" sz="2800" b="1">
                  <a:solidFill>
                    <a:schemeClr val="bg1"/>
                  </a:solidFill>
                  <a:latin typeface="Times New Roman" panose="02020603050405020304" pitchFamily="18" charset="0"/>
                  <a:cs typeface="Times New Roman" panose="02020603050405020304" pitchFamily="18" charset="0"/>
                </a:rPr>
                <a:t>表示 ：</a:t>
              </a:r>
            </a:p>
          </p:txBody>
        </p:sp>
        <p:graphicFrame>
          <p:nvGraphicFramePr>
            <p:cNvPr id="59402" name="Object 5">
              <a:extLst>
                <a:ext uri="{FF2B5EF4-FFF2-40B4-BE49-F238E27FC236}">
                  <a16:creationId xmlns:a16="http://schemas.microsoft.com/office/drawing/2014/main" id="{B5E1BA3A-7DA8-4DB8-989C-7DA45A056FCC}"/>
                </a:ext>
              </a:extLst>
            </p:cNvPr>
            <p:cNvGraphicFramePr>
              <a:graphicFrameLocks noChangeAspect="1"/>
            </p:cNvGraphicFramePr>
            <p:nvPr/>
          </p:nvGraphicFramePr>
          <p:xfrm>
            <a:off x="2025" y="1810"/>
            <a:ext cx="426" cy="615"/>
          </p:xfrm>
          <a:graphic>
            <a:graphicData uri="http://schemas.openxmlformats.org/presentationml/2006/ole">
              <mc:AlternateContent xmlns:mc="http://schemas.openxmlformats.org/markup-compatibility/2006">
                <mc:Choice xmlns:v="urn:schemas-microsoft-com:vml" Requires="v">
                  <p:oleObj spid="_x0000_s59413" name="Equation" r:id="rId7" imgW="279279" imgH="406224" progId="Equation.DSMT4">
                    <p:embed/>
                  </p:oleObj>
                </mc:Choice>
                <mc:Fallback>
                  <p:oleObj name="Equation" r:id="rId7" imgW="279279" imgH="406224" progId="Equation.DSMT4">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25" y="1810"/>
                          <a:ext cx="426" cy="6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11" name="Object 2">
            <a:extLst>
              <a:ext uri="{FF2B5EF4-FFF2-40B4-BE49-F238E27FC236}">
                <a16:creationId xmlns:a16="http://schemas.microsoft.com/office/drawing/2014/main" id="{05E8CEBA-8A17-47B2-A9AF-94FA82DE17D7}"/>
              </a:ext>
            </a:extLst>
          </p:cNvPr>
          <p:cNvGraphicFramePr>
            <a:graphicFrameLocks noChangeAspect="1"/>
          </p:cNvGraphicFramePr>
          <p:nvPr/>
        </p:nvGraphicFramePr>
        <p:xfrm>
          <a:off x="6129338" y="5805488"/>
          <a:ext cx="1647825" cy="592137"/>
        </p:xfrm>
        <a:graphic>
          <a:graphicData uri="http://schemas.openxmlformats.org/presentationml/2006/ole">
            <mc:AlternateContent xmlns:mc="http://schemas.openxmlformats.org/markup-compatibility/2006">
              <mc:Choice xmlns:v="urn:schemas-microsoft-com:vml" Requires="v">
                <p:oleObj spid="_x0000_s59414" name="Equation" r:id="rId9" imgW="596900" imgH="241300" progId="Equation.DSMT4">
                  <p:embed/>
                </p:oleObj>
              </mc:Choice>
              <mc:Fallback>
                <p:oleObj name="Equation" r:id="rId9" imgW="596900" imgH="241300" progId="Equation.DSMT4">
                  <p:embed/>
                  <p:pic>
                    <p:nvPicPr>
                      <p:cNvPr id="0" name="Object 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129338" y="5805488"/>
                        <a:ext cx="1647825" cy="5921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6"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arn(inHorizontal)">
                                      <p:cBhvr>
                                        <p:cTn id="7" dur="500"/>
                                        <p:tgtEl>
                                          <p:spTgt spid="1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slide(fromBottom)">
                                      <p:cBhvr>
                                        <p:cTn id="12" dur="500"/>
                                        <p:tgtEl>
                                          <p:spTgt spid="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down)">
                                      <p:cBhvr>
                                        <p:cTn id="1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lumMod val="50000"/>
          </a:schemeClr>
        </a:solidFill>
        <a:effectLst/>
      </p:bgPr>
    </p:bg>
    <p:spTree>
      <p:nvGrpSpPr>
        <p:cNvPr id="1" name=""/>
        <p:cNvGrpSpPr/>
        <p:nvPr/>
      </p:nvGrpSpPr>
      <p:grpSpPr>
        <a:xfrm>
          <a:off x="0" y="0"/>
          <a:ext cx="0" cy="0"/>
          <a:chOff x="0" y="0"/>
          <a:chExt cx="0" cy="0"/>
        </a:xfrm>
      </p:grpSpPr>
      <p:sp>
        <p:nvSpPr>
          <p:cNvPr id="60418" name="TextBox 1">
            <a:extLst>
              <a:ext uri="{FF2B5EF4-FFF2-40B4-BE49-F238E27FC236}">
                <a16:creationId xmlns:a16="http://schemas.microsoft.com/office/drawing/2014/main" id="{DD61A244-1C68-46C7-A1BE-9160D47028BE}"/>
              </a:ext>
            </a:extLst>
          </p:cNvPr>
          <p:cNvSpPr txBox="1">
            <a:spLocks noChangeArrowheads="1"/>
          </p:cNvSpPr>
          <p:nvPr/>
        </p:nvSpPr>
        <p:spPr bwMode="auto">
          <a:xfrm>
            <a:off x="3419475" y="333375"/>
            <a:ext cx="2520950"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2800" b="1">
                <a:solidFill>
                  <a:srgbClr val="FFFF00"/>
                </a:solidFill>
                <a:latin typeface="黑体" panose="02010609060101010101" pitchFamily="49" charset="-122"/>
                <a:ea typeface="黑体" panose="02010609060101010101" pitchFamily="49" charset="-122"/>
              </a:rPr>
              <a:t>内容回顾</a:t>
            </a:r>
          </a:p>
        </p:txBody>
      </p:sp>
      <p:sp>
        <p:nvSpPr>
          <p:cNvPr id="11" name="Text Box 5">
            <a:extLst>
              <a:ext uri="{FF2B5EF4-FFF2-40B4-BE49-F238E27FC236}">
                <a16:creationId xmlns:a16="http://schemas.microsoft.com/office/drawing/2014/main" id="{B48E4958-AF60-4EA5-BEE3-A30AF67C75DE}"/>
              </a:ext>
            </a:extLst>
          </p:cNvPr>
          <p:cNvSpPr txBox="1">
            <a:spLocks noChangeArrowheads="1"/>
          </p:cNvSpPr>
          <p:nvPr/>
        </p:nvSpPr>
        <p:spPr bwMode="auto">
          <a:xfrm>
            <a:off x="963613" y="1550988"/>
            <a:ext cx="376396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a:solidFill>
                  <a:schemeClr val="bg1"/>
                </a:solidFill>
                <a:latin typeface="Times New Roman" panose="02020603050405020304" pitchFamily="18" charset="0"/>
                <a:sym typeface="Symbol" panose="05050102010706020507" pitchFamily="18" charset="2"/>
              </a:rPr>
              <a:t></a:t>
            </a:r>
            <a:r>
              <a:rPr kumimoji="1" lang="zh-CN" altLang="en-US" sz="2800" b="1">
                <a:solidFill>
                  <a:schemeClr val="bg1"/>
                </a:solidFill>
                <a:latin typeface="Times New Roman" panose="02020603050405020304" pitchFamily="18" charset="0"/>
                <a:cs typeface="Times New Roman" panose="02020603050405020304" pitchFamily="18" charset="0"/>
                <a:sym typeface="Mathematica1"/>
              </a:rPr>
              <a:t>粒子</a:t>
            </a:r>
            <a:r>
              <a:rPr kumimoji="1" lang="zh-CN" altLang="en-US" sz="2800" b="1">
                <a:solidFill>
                  <a:schemeClr val="bg1"/>
                </a:solidFill>
                <a:latin typeface="Times New Roman" panose="02020603050405020304" pitchFamily="18" charset="0"/>
                <a:cs typeface="Times New Roman" panose="02020603050405020304" pitchFamily="18" charset="0"/>
              </a:rPr>
              <a:t>衰变</a:t>
            </a:r>
          </a:p>
        </p:txBody>
      </p:sp>
      <p:graphicFrame>
        <p:nvGraphicFramePr>
          <p:cNvPr id="12" name="Object 6">
            <a:extLst>
              <a:ext uri="{FF2B5EF4-FFF2-40B4-BE49-F238E27FC236}">
                <a16:creationId xmlns:a16="http://schemas.microsoft.com/office/drawing/2014/main" id="{A682506A-4D12-4C2C-975A-D7094BDFF126}"/>
              </a:ext>
            </a:extLst>
          </p:cNvPr>
          <p:cNvGraphicFramePr>
            <a:graphicFrameLocks noChangeAspect="1"/>
          </p:cNvGraphicFramePr>
          <p:nvPr/>
        </p:nvGraphicFramePr>
        <p:xfrm>
          <a:off x="2868613" y="1514475"/>
          <a:ext cx="2527300" cy="608013"/>
        </p:xfrm>
        <a:graphic>
          <a:graphicData uri="http://schemas.openxmlformats.org/presentationml/2006/ole">
            <mc:AlternateContent xmlns:mc="http://schemas.openxmlformats.org/markup-compatibility/2006">
              <mc:Choice xmlns:v="urn:schemas-microsoft-com:vml" Requires="v">
                <p:oleObj spid="_x0000_s60445" name="Equation" r:id="rId3" imgW="1002865" imgH="241195" progId="Equation.DSMT4">
                  <p:embed/>
                </p:oleObj>
              </mc:Choice>
              <mc:Fallback>
                <p:oleObj name="Equation" r:id="rId3" imgW="1002865" imgH="241195" progId="Equation.DSMT4">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68613" y="1514475"/>
                        <a:ext cx="2527300" cy="6080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 name="Text Box 5">
            <a:extLst>
              <a:ext uri="{FF2B5EF4-FFF2-40B4-BE49-F238E27FC236}">
                <a16:creationId xmlns:a16="http://schemas.microsoft.com/office/drawing/2014/main" id="{CE2A852A-8999-4A6E-8B81-218E51A60B58}"/>
              </a:ext>
            </a:extLst>
          </p:cNvPr>
          <p:cNvSpPr txBox="1">
            <a:spLocks noChangeArrowheads="1"/>
          </p:cNvSpPr>
          <p:nvPr/>
        </p:nvSpPr>
        <p:spPr bwMode="auto">
          <a:xfrm>
            <a:off x="863600" y="893763"/>
            <a:ext cx="37639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 typeface="Wingdings" panose="05000000000000000000" pitchFamily="2" charset="2"/>
              <a:buChar char="Ø"/>
            </a:pPr>
            <a:r>
              <a:rPr lang="zh-CN" altLang="en-US" sz="2800" b="1">
                <a:solidFill>
                  <a:srgbClr val="FFFF00"/>
                </a:solidFill>
              </a:rPr>
              <a:t>原子核的衰变</a:t>
            </a:r>
          </a:p>
        </p:txBody>
      </p:sp>
      <p:sp>
        <p:nvSpPr>
          <p:cNvPr id="14" name="Text Box 3">
            <a:extLst>
              <a:ext uri="{FF2B5EF4-FFF2-40B4-BE49-F238E27FC236}">
                <a16:creationId xmlns:a16="http://schemas.microsoft.com/office/drawing/2014/main" id="{ABBBDD15-1C9C-46FF-A4E8-9A9DB589F84E}"/>
              </a:ext>
            </a:extLst>
          </p:cNvPr>
          <p:cNvSpPr txBox="1">
            <a:spLocks noChangeArrowheads="1"/>
          </p:cNvSpPr>
          <p:nvPr/>
        </p:nvSpPr>
        <p:spPr bwMode="auto">
          <a:xfrm>
            <a:off x="963613" y="2216150"/>
            <a:ext cx="14414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50000"/>
              </a:spcBef>
              <a:buFontTx/>
              <a:buNone/>
            </a:pPr>
            <a:r>
              <a:rPr kumimoji="1" lang="zh-CN" altLang="en-US" sz="2800" b="1">
                <a:solidFill>
                  <a:schemeClr val="bg1"/>
                </a:solidFill>
                <a:latin typeface="Times New Roman" panose="02020603050405020304" pitchFamily="18" charset="0"/>
                <a:sym typeface="Symbol" panose="05050102010706020507" pitchFamily="18" charset="2"/>
              </a:rPr>
              <a:t> </a:t>
            </a:r>
            <a:r>
              <a:rPr kumimoji="1" lang="en-US" altLang="zh-CN" sz="2800" b="1" baseline="30000">
                <a:solidFill>
                  <a:schemeClr val="bg1"/>
                </a:solidFill>
                <a:latin typeface="Times New Roman" panose="02020603050405020304" pitchFamily="18" charset="0"/>
                <a:sym typeface="Symbol" panose="05050102010706020507" pitchFamily="18" charset="2"/>
              </a:rPr>
              <a:t>-</a:t>
            </a:r>
            <a:r>
              <a:rPr kumimoji="1" lang="zh-CN" altLang="en-US" sz="2800" b="1">
                <a:solidFill>
                  <a:schemeClr val="bg1"/>
                </a:solidFill>
                <a:latin typeface="Times New Roman" panose="02020603050405020304" pitchFamily="18" charset="0"/>
                <a:sym typeface="Symbol" panose="05050102010706020507" pitchFamily="18" charset="2"/>
              </a:rPr>
              <a:t>衰变</a:t>
            </a:r>
          </a:p>
        </p:txBody>
      </p:sp>
      <p:sp>
        <p:nvSpPr>
          <p:cNvPr id="15" name="Text Box 4">
            <a:extLst>
              <a:ext uri="{FF2B5EF4-FFF2-40B4-BE49-F238E27FC236}">
                <a16:creationId xmlns:a16="http://schemas.microsoft.com/office/drawing/2014/main" id="{E9FB31F3-BE34-4C8F-AAD4-486982E6BCEF}"/>
              </a:ext>
            </a:extLst>
          </p:cNvPr>
          <p:cNvSpPr txBox="1">
            <a:spLocks noChangeArrowheads="1"/>
          </p:cNvSpPr>
          <p:nvPr/>
        </p:nvSpPr>
        <p:spPr bwMode="auto">
          <a:xfrm>
            <a:off x="973138" y="3049588"/>
            <a:ext cx="1570037"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50000"/>
              </a:spcBef>
              <a:buFontTx/>
              <a:buNone/>
            </a:pPr>
            <a:r>
              <a:rPr kumimoji="1" lang="zh-CN" altLang="en-US" sz="2800" b="1">
                <a:solidFill>
                  <a:schemeClr val="bg1"/>
                </a:solidFill>
                <a:latin typeface="Times New Roman" panose="02020603050405020304" pitchFamily="18" charset="0"/>
                <a:sym typeface="Symbol" panose="05050102010706020507" pitchFamily="18" charset="2"/>
              </a:rPr>
              <a:t> </a:t>
            </a:r>
            <a:r>
              <a:rPr kumimoji="1" lang="en-US" altLang="zh-CN" sz="2800" b="1" baseline="30000">
                <a:solidFill>
                  <a:schemeClr val="bg1"/>
                </a:solidFill>
                <a:latin typeface="Times New Roman" panose="02020603050405020304" pitchFamily="18" charset="0"/>
                <a:sym typeface="Symbol" panose="05050102010706020507" pitchFamily="18" charset="2"/>
              </a:rPr>
              <a:t>+</a:t>
            </a:r>
            <a:r>
              <a:rPr kumimoji="1" lang="zh-CN" altLang="en-US" sz="2800" b="1">
                <a:solidFill>
                  <a:schemeClr val="bg1"/>
                </a:solidFill>
                <a:latin typeface="Times New Roman" panose="02020603050405020304" pitchFamily="18" charset="0"/>
                <a:sym typeface="Symbol" panose="05050102010706020507" pitchFamily="18" charset="2"/>
              </a:rPr>
              <a:t>衰变</a:t>
            </a:r>
          </a:p>
        </p:txBody>
      </p:sp>
      <p:graphicFrame>
        <p:nvGraphicFramePr>
          <p:cNvPr id="16" name="Object 7">
            <a:extLst>
              <a:ext uri="{FF2B5EF4-FFF2-40B4-BE49-F238E27FC236}">
                <a16:creationId xmlns:a16="http://schemas.microsoft.com/office/drawing/2014/main" id="{F112EC7B-1857-44B1-AA18-70BAA40AB451}"/>
              </a:ext>
            </a:extLst>
          </p:cNvPr>
          <p:cNvGraphicFramePr>
            <a:graphicFrameLocks noChangeAspect="1"/>
          </p:cNvGraphicFramePr>
          <p:nvPr/>
        </p:nvGraphicFramePr>
        <p:xfrm>
          <a:off x="2405063" y="2254250"/>
          <a:ext cx="2882900" cy="608013"/>
        </p:xfrm>
        <a:graphic>
          <a:graphicData uri="http://schemas.openxmlformats.org/presentationml/2006/ole">
            <mc:AlternateContent xmlns:mc="http://schemas.openxmlformats.org/markup-compatibility/2006">
              <mc:Choice xmlns:v="urn:schemas-microsoft-com:vml" Requires="v">
                <p:oleObj spid="_x0000_s60446" name="MathType 6.0 Equation" r:id="rId5" imgW="1143000" imgH="241300" progId="Equation.DSMT4">
                  <p:embed/>
                </p:oleObj>
              </mc:Choice>
              <mc:Fallback>
                <p:oleObj name="MathType 6.0 Equation" r:id="rId5" imgW="1143000" imgH="241300" progId="Equation.DSMT4">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05063" y="2254250"/>
                        <a:ext cx="2882900" cy="6080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 name="Object 8">
            <a:extLst>
              <a:ext uri="{FF2B5EF4-FFF2-40B4-BE49-F238E27FC236}">
                <a16:creationId xmlns:a16="http://schemas.microsoft.com/office/drawing/2014/main" id="{B4515D15-D2C6-4B82-AB6F-5F61C0CAFFB5}"/>
              </a:ext>
            </a:extLst>
          </p:cNvPr>
          <p:cNvGraphicFramePr>
            <a:graphicFrameLocks noChangeAspect="1"/>
          </p:cNvGraphicFramePr>
          <p:nvPr/>
        </p:nvGraphicFramePr>
        <p:xfrm>
          <a:off x="2405063" y="3111500"/>
          <a:ext cx="2716212" cy="600075"/>
        </p:xfrm>
        <a:graphic>
          <a:graphicData uri="http://schemas.openxmlformats.org/presentationml/2006/ole">
            <mc:AlternateContent xmlns:mc="http://schemas.openxmlformats.org/markup-compatibility/2006">
              <mc:Choice xmlns:v="urn:schemas-microsoft-com:vml" Requires="v">
                <p:oleObj spid="_x0000_s60447" name="MathType 6.0 Equation" r:id="rId7" imgW="1091726" imgH="241195" progId="Equation.DSMT4">
                  <p:embed/>
                </p:oleObj>
              </mc:Choice>
              <mc:Fallback>
                <p:oleObj name="MathType 6.0 Equation" r:id="rId7" imgW="1091726" imgH="241195" progId="Equation.DSMT4">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05063" y="3111500"/>
                        <a:ext cx="2716212" cy="6000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 name="Text Box 3">
            <a:extLst>
              <a:ext uri="{FF2B5EF4-FFF2-40B4-BE49-F238E27FC236}">
                <a16:creationId xmlns:a16="http://schemas.microsoft.com/office/drawing/2014/main" id="{BC36C8C7-2097-4041-9BE5-3B8EAC2B9B91}"/>
              </a:ext>
            </a:extLst>
          </p:cNvPr>
          <p:cNvSpPr txBox="1">
            <a:spLocks noChangeArrowheads="1"/>
          </p:cNvSpPr>
          <p:nvPr/>
        </p:nvSpPr>
        <p:spPr bwMode="auto">
          <a:xfrm>
            <a:off x="1009650" y="3892550"/>
            <a:ext cx="27559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a:solidFill>
                  <a:schemeClr val="bg1"/>
                </a:solidFill>
                <a:latin typeface="Times New Roman" panose="02020603050405020304" pitchFamily="18" charset="0"/>
                <a:sym typeface="Symbol" panose="05050102010706020507" pitchFamily="18" charset="2"/>
              </a:rPr>
              <a:t> 衰变</a:t>
            </a:r>
          </a:p>
        </p:txBody>
      </p:sp>
      <p:graphicFrame>
        <p:nvGraphicFramePr>
          <p:cNvPr id="19" name="Object 4">
            <a:extLst>
              <a:ext uri="{FF2B5EF4-FFF2-40B4-BE49-F238E27FC236}">
                <a16:creationId xmlns:a16="http://schemas.microsoft.com/office/drawing/2014/main" id="{8DFAEE1D-A444-4311-81A5-0DBAB706F2F5}"/>
              </a:ext>
            </a:extLst>
          </p:cNvPr>
          <p:cNvGraphicFramePr>
            <a:graphicFrameLocks noChangeAspect="1"/>
          </p:cNvGraphicFramePr>
          <p:nvPr/>
        </p:nvGraphicFramePr>
        <p:xfrm>
          <a:off x="2306638" y="3878263"/>
          <a:ext cx="4173537" cy="534987"/>
        </p:xfrm>
        <a:graphic>
          <a:graphicData uri="http://schemas.openxmlformats.org/presentationml/2006/ole">
            <mc:AlternateContent xmlns:mc="http://schemas.openxmlformats.org/markup-compatibility/2006">
              <mc:Choice xmlns:v="urn:schemas-microsoft-com:vml" Requires="v">
                <p:oleObj spid="_x0000_s60448" name="Equation" r:id="rId9" imgW="1879600" imgH="241300" progId="Equation.DSMT4">
                  <p:embed/>
                </p:oleObj>
              </mc:Choice>
              <mc:Fallback>
                <p:oleObj name="Equation" r:id="rId9" imgW="1879600" imgH="241300" progId="Equation.DSMT4">
                  <p:embed/>
                  <p:pic>
                    <p:nvPicPr>
                      <p:cNvPr id="0" name="Object 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306638" y="3878263"/>
                        <a:ext cx="4173537" cy="5349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 name="Text Box 5">
            <a:extLst>
              <a:ext uri="{FF2B5EF4-FFF2-40B4-BE49-F238E27FC236}">
                <a16:creationId xmlns:a16="http://schemas.microsoft.com/office/drawing/2014/main" id="{274E4C09-2E6A-43C2-86A5-BB069EA6AE54}"/>
              </a:ext>
            </a:extLst>
          </p:cNvPr>
          <p:cNvSpPr txBox="1">
            <a:spLocks noChangeArrowheads="1"/>
          </p:cNvSpPr>
          <p:nvPr/>
        </p:nvSpPr>
        <p:spPr bwMode="auto">
          <a:xfrm>
            <a:off x="966788" y="4635500"/>
            <a:ext cx="29527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a:solidFill>
                  <a:schemeClr val="bg1"/>
                </a:solidFill>
                <a:latin typeface="Times New Roman" panose="02020603050405020304" pitchFamily="18" charset="0"/>
                <a:cs typeface="Times New Roman" panose="02020603050405020304" pitchFamily="18" charset="0"/>
              </a:rPr>
              <a:t>重核的裂变</a:t>
            </a:r>
          </a:p>
        </p:txBody>
      </p:sp>
      <p:grpSp>
        <p:nvGrpSpPr>
          <p:cNvPr id="3" name="组合 2">
            <a:extLst>
              <a:ext uri="{FF2B5EF4-FFF2-40B4-BE49-F238E27FC236}">
                <a16:creationId xmlns:a16="http://schemas.microsoft.com/office/drawing/2014/main" id="{C7D3D81E-0469-4CF0-8737-EE088AE6A2E5}"/>
              </a:ext>
            </a:extLst>
          </p:cNvPr>
          <p:cNvGrpSpPr>
            <a:grpSpLocks/>
          </p:cNvGrpSpPr>
          <p:nvPr/>
        </p:nvGrpSpPr>
        <p:grpSpPr bwMode="auto">
          <a:xfrm>
            <a:off x="2916238" y="4581525"/>
            <a:ext cx="4608512" cy="712788"/>
            <a:chOff x="2483768" y="5204162"/>
            <a:chExt cx="4608512" cy="713768"/>
          </a:xfrm>
        </p:grpSpPr>
        <p:sp>
          <p:nvSpPr>
            <p:cNvPr id="2" name="矩形 1">
              <a:extLst>
                <a:ext uri="{FF2B5EF4-FFF2-40B4-BE49-F238E27FC236}">
                  <a16:creationId xmlns:a16="http://schemas.microsoft.com/office/drawing/2014/main" id="{8633E19E-F188-4215-AF21-BE812BB946EE}"/>
                </a:ext>
              </a:extLst>
            </p:cNvPr>
            <p:cNvSpPr/>
            <p:nvPr/>
          </p:nvSpPr>
          <p:spPr>
            <a:xfrm>
              <a:off x="2483768" y="5204162"/>
              <a:ext cx="4608512" cy="7137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21" name="Group 23">
              <a:extLst>
                <a:ext uri="{FF2B5EF4-FFF2-40B4-BE49-F238E27FC236}">
                  <a16:creationId xmlns:a16="http://schemas.microsoft.com/office/drawing/2014/main" id="{4C9C0B5F-8076-413F-B66E-75CDF328CECC}"/>
                </a:ext>
              </a:extLst>
            </p:cNvPr>
            <p:cNvGrpSpPr>
              <a:grpSpLocks/>
            </p:cNvGrpSpPr>
            <p:nvPr/>
          </p:nvGrpSpPr>
          <p:grpSpPr bwMode="auto">
            <a:xfrm>
              <a:off x="2658938" y="5284654"/>
              <a:ext cx="4319587" cy="565150"/>
              <a:chOff x="1565" y="2296"/>
              <a:chExt cx="2721" cy="356"/>
            </a:xfrm>
            <a:solidFill>
              <a:schemeClr val="bg1"/>
            </a:solidFill>
          </p:grpSpPr>
          <p:sp>
            <p:nvSpPr>
              <p:cNvPr id="22" name="Rectangle 24">
                <a:extLst>
                  <a:ext uri="{FF2B5EF4-FFF2-40B4-BE49-F238E27FC236}">
                    <a16:creationId xmlns:a16="http://schemas.microsoft.com/office/drawing/2014/main" id="{CAC2A5DD-94BD-437D-BA0A-A7471940C955}"/>
                  </a:ext>
                </a:extLst>
              </p:cNvPr>
              <p:cNvSpPr>
                <a:spLocks noChangeArrowheads="1"/>
              </p:cNvSpPr>
              <p:nvPr/>
            </p:nvSpPr>
            <p:spPr bwMode="auto">
              <a:xfrm>
                <a:off x="3588" y="2329"/>
                <a:ext cx="698" cy="2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2600" b="1" dirty="0">
                    <a:solidFill>
                      <a:srgbClr val="FF0000"/>
                    </a:solidFill>
                    <a:latin typeface="Times New Roman" panose="02020603050405020304" pitchFamily="18" charset="0"/>
                  </a:rPr>
                  <a:t>5.6MeV</a:t>
                </a:r>
                <a:endParaRPr kumimoji="1" lang="en-US" altLang="zh-CN" sz="2800" b="1" dirty="0">
                  <a:solidFill>
                    <a:srgbClr val="FF0000"/>
                  </a:solidFill>
                  <a:latin typeface="Times New Roman" panose="02020603050405020304" pitchFamily="18" charset="0"/>
                </a:endParaRPr>
              </a:p>
            </p:txBody>
          </p:sp>
          <p:sp>
            <p:nvSpPr>
              <p:cNvPr id="23" name="Rectangle 25">
                <a:extLst>
                  <a:ext uri="{FF2B5EF4-FFF2-40B4-BE49-F238E27FC236}">
                    <a16:creationId xmlns:a16="http://schemas.microsoft.com/office/drawing/2014/main" id="{FAFAE5CD-D5EC-4BD2-805C-011ED08134E4}"/>
                  </a:ext>
                </a:extLst>
              </p:cNvPr>
              <p:cNvSpPr>
                <a:spLocks noChangeArrowheads="1"/>
              </p:cNvSpPr>
              <p:nvPr/>
            </p:nvSpPr>
            <p:spPr bwMode="auto">
              <a:xfrm>
                <a:off x="3103" y="2329"/>
                <a:ext cx="258" cy="2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2600" b="1">
                    <a:solidFill>
                      <a:srgbClr val="FF0000"/>
                    </a:solidFill>
                    <a:latin typeface="Times New Roman" panose="02020603050405020304" pitchFamily="18" charset="0"/>
                  </a:rPr>
                  <a:t>He</a:t>
                </a:r>
                <a:endParaRPr kumimoji="1" lang="en-US" altLang="zh-CN" sz="2800" b="1">
                  <a:solidFill>
                    <a:srgbClr val="FF0000"/>
                  </a:solidFill>
                  <a:latin typeface="Times New Roman" panose="02020603050405020304" pitchFamily="18" charset="0"/>
                </a:endParaRPr>
              </a:p>
            </p:txBody>
          </p:sp>
          <p:sp>
            <p:nvSpPr>
              <p:cNvPr id="24" name="Rectangle 26">
                <a:extLst>
                  <a:ext uri="{FF2B5EF4-FFF2-40B4-BE49-F238E27FC236}">
                    <a16:creationId xmlns:a16="http://schemas.microsoft.com/office/drawing/2014/main" id="{0CFAA653-0650-45D6-B398-7791E1D38C9C}"/>
                  </a:ext>
                </a:extLst>
              </p:cNvPr>
              <p:cNvSpPr>
                <a:spLocks noChangeArrowheads="1"/>
              </p:cNvSpPr>
              <p:nvPr/>
            </p:nvSpPr>
            <p:spPr bwMode="auto">
              <a:xfrm>
                <a:off x="2611" y="2329"/>
                <a:ext cx="150" cy="2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2600" b="1" dirty="0">
                    <a:solidFill>
                      <a:srgbClr val="FF0000"/>
                    </a:solidFill>
                    <a:latin typeface="Times New Roman" panose="02020603050405020304" pitchFamily="18" charset="0"/>
                  </a:rPr>
                  <a:t>U</a:t>
                </a:r>
                <a:endParaRPr kumimoji="1" lang="en-US" altLang="zh-CN" sz="2800" b="1" dirty="0">
                  <a:solidFill>
                    <a:srgbClr val="FF0000"/>
                  </a:solidFill>
                  <a:latin typeface="Times New Roman" panose="02020603050405020304" pitchFamily="18" charset="0"/>
                </a:endParaRPr>
              </a:p>
            </p:txBody>
          </p:sp>
          <p:sp>
            <p:nvSpPr>
              <p:cNvPr id="25" name="Rectangle 27">
                <a:extLst>
                  <a:ext uri="{FF2B5EF4-FFF2-40B4-BE49-F238E27FC236}">
                    <a16:creationId xmlns:a16="http://schemas.microsoft.com/office/drawing/2014/main" id="{39A299A9-EC81-4877-A814-4A2D4D02532C}"/>
                  </a:ext>
                </a:extLst>
              </p:cNvPr>
              <p:cNvSpPr>
                <a:spLocks noChangeArrowheads="1"/>
              </p:cNvSpPr>
              <p:nvPr/>
            </p:nvSpPr>
            <p:spPr bwMode="auto">
              <a:xfrm>
                <a:off x="1795" y="2329"/>
                <a:ext cx="245" cy="25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2600" b="1" dirty="0" err="1">
                    <a:solidFill>
                      <a:srgbClr val="FF0000"/>
                    </a:solidFill>
                    <a:latin typeface="Times New Roman" panose="02020603050405020304" pitchFamily="18" charset="0"/>
                  </a:rPr>
                  <a:t>Pu</a:t>
                </a:r>
                <a:endParaRPr kumimoji="1" lang="en-US" altLang="zh-CN" sz="2400" b="1" dirty="0">
                  <a:solidFill>
                    <a:srgbClr val="FF0000"/>
                  </a:solidFill>
                  <a:latin typeface="Times New Roman" panose="02020603050405020304" pitchFamily="18" charset="0"/>
                </a:endParaRPr>
              </a:p>
            </p:txBody>
          </p:sp>
          <p:sp>
            <p:nvSpPr>
              <p:cNvPr id="26" name="Rectangle 28">
                <a:extLst>
                  <a:ext uri="{FF2B5EF4-FFF2-40B4-BE49-F238E27FC236}">
                    <a16:creationId xmlns:a16="http://schemas.microsoft.com/office/drawing/2014/main" id="{7608E747-38CD-4526-8913-4249E4897649}"/>
                  </a:ext>
                </a:extLst>
              </p:cNvPr>
              <p:cNvSpPr>
                <a:spLocks noChangeArrowheads="1"/>
              </p:cNvSpPr>
              <p:nvPr/>
            </p:nvSpPr>
            <p:spPr bwMode="auto">
              <a:xfrm>
                <a:off x="3017" y="2306"/>
                <a:ext cx="60" cy="14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500" b="1">
                    <a:solidFill>
                      <a:srgbClr val="FF0000"/>
                    </a:solidFill>
                    <a:latin typeface="Times New Roman" panose="02020603050405020304" pitchFamily="18" charset="0"/>
                  </a:rPr>
                  <a:t>4</a:t>
                </a:r>
                <a:endParaRPr kumimoji="1" lang="en-US" altLang="zh-CN" sz="2800" b="1">
                  <a:solidFill>
                    <a:srgbClr val="FF0000"/>
                  </a:solidFill>
                  <a:latin typeface="Times New Roman" panose="02020603050405020304" pitchFamily="18" charset="0"/>
                </a:endParaRPr>
              </a:p>
            </p:txBody>
          </p:sp>
          <p:sp>
            <p:nvSpPr>
              <p:cNvPr id="27" name="Rectangle 29">
                <a:extLst>
                  <a:ext uri="{FF2B5EF4-FFF2-40B4-BE49-F238E27FC236}">
                    <a16:creationId xmlns:a16="http://schemas.microsoft.com/office/drawing/2014/main" id="{847EDE97-2BC4-4A51-AFC2-531A90495EFA}"/>
                  </a:ext>
                </a:extLst>
              </p:cNvPr>
              <p:cNvSpPr>
                <a:spLocks noChangeArrowheads="1"/>
              </p:cNvSpPr>
              <p:nvPr/>
            </p:nvSpPr>
            <p:spPr bwMode="auto">
              <a:xfrm>
                <a:off x="3017" y="2507"/>
                <a:ext cx="60" cy="14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500" b="1">
                    <a:solidFill>
                      <a:srgbClr val="FF0000"/>
                    </a:solidFill>
                    <a:latin typeface="Times New Roman" panose="02020603050405020304" pitchFamily="18" charset="0"/>
                  </a:rPr>
                  <a:t>2</a:t>
                </a:r>
                <a:endParaRPr kumimoji="1" lang="en-US" altLang="zh-CN" sz="2800" b="1">
                  <a:solidFill>
                    <a:srgbClr val="FF0000"/>
                  </a:solidFill>
                  <a:latin typeface="Times New Roman" panose="02020603050405020304" pitchFamily="18" charset="0"/>
                </a:endParaRPr>
              </a:p>
            </p:txBody>
          </p:sp>
          <p:sp>
            <p:nvSpPr>
              <p:cNvPr id="28" name="Rectangle 30">
                <a:extLst>
                  <a:ext uri="{FF2B5EF4-FFF2-40B4-BE49-F238E27FC236}">
                    <a16:creationId xmlns:a16="http://schemas.microsoft.com/office/drawing/2014/main" id="{AAC85A29-AC0F-456B-9773-2F9CA54E8134}"/>
                  </a:ext>
                </a:extLst>
              </p:cNvPr>
              <p:cNvSpPr>
                <a:spLocks noChangeArrowheads="1"/>
              </p:cNvSpPr>
              <p:nvPr/>
            </p:nvSpPr>
            <p:spPr bwMode="auto">
              <a:xfrm>
                <a:off x="2382" y="2306"/>
                <a:ext cx="180" cy="14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500" b="1" dirty="0">
                    <a:solidFill>
                      <a:srgbClr val="FF0000"/>
                    </a:solidFill>
                    <a:latin typeface="Times New Roman" panose="02020603050405020304" pitchFamily="18" charset="0"/>
                  </a:rPr>
                  <a:t>234</a:t>
                </a:r>
                <a:endParaRPr kumimoji="1" lang="en-US" altLang="zh-CN" sz="2800" b="1" dirty="0">
                  <a:solidFill>
                    <a:srgbClr val="FF0000"/>
                  </a:solidFill>
                  <a:latin typeface="Times New Roman" panose="02020603050405020304" pitchFamily="18" charset="0"/>
                </a:endParaRPr>
              </a:p>
            </p:txBody>
          </p:sp>
          <p:sp>
            <p:nvSpPr>
              <p:cNvPr id="29" name="Rectangle 31">
                <a:extLst>
                  <a:ext uri="{FF2B5EF4-FFF2-40B4-BE49-F238E27FC236}">
                    <a16:creationId xmlns:a16="http://schemas.microsoft.com/office/drawing/2014/main" id="{B2F98494-C1F8-4D61-95CA-4D89BBB20F5B}"/>
                  </a:ext>
                </a:extLst>
              </p:cNvPr>
              <p:cNvSpPr>
                <a:spLocks noChangeArrowheads="1"/>
              </p:cNvSpPr>
              <p:nvPr/>
            </p:nvSpPr>
            <p:spPr bwMode="auto">
              <a:xfrm>
                <a:off x="2450" y="2507"/>
                <a:ext cx="121" cy="14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500" b="1">
                    <a:solidFill>
                      <a:srgbClr val="FF0000"/>
                    </a:solidFill>
                    <a:latin typeface="Times New Roman" panose="02020603050405020304" pitchFamily="18" charset="0"/>
                  </a:rPr>
                  <a:t>92</a:t>
                </a:r>
                <a:endParaRPr kumimoji="1" lang="en-US" altLang="zh-CN" sz="2800" b="1">
                  <a:solidFill>
                    <a:srgbClr val="FF0000"/>
                  </a:solidFill>
                  <a:latin typeface="Times New Roman" panose="02020603050405020304" pitchFamily="18" charset="0"/>
                </a:endParaRPr>
              </a:p>
            </p:txBody>
          </p:sp>
          <p:sp>
            <p:nvSpPr>
              <p:cNvPr id="30" name="Rectangle 32">
                <a:extLst>
                  <a:ext uri="{FF2B5EF4-FFF2-40B4-BE49-F238E27FC236}">
                    <a16:creationId xmlns:a16="http://schemas.microsoft.com/office/drawing/2014/main" id="{DA868F07-154C-41D0-AC44-E7E2A00DD672}"/>
                  </a:ext>
                </a:extLst>
              </p:cNvPr>
              <p:cNvSpPr>
                <a:spLocks noChangeArrowheads="1"/>
              </p:cNvSpPr>
              <p:nvPr/>
            </p:nvSpPr>
            <p:spPr bwMode="auto">
              <a:xfrm>
                <a:off x="1565" y="2306"/>
                <a:ext cx="180" cy="14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500" b="1">
                    <a:solidFill>
                      <a:srgbClr val="FF0000"/>
                    </a:solidFill>
                    <a:latin typeface="Times New Roman" panose="02020603050405020304" pitchFamily="18" charset="0"/>
                  </a:rPr>
                  <a:t>238</a:t>
                </a:r>
                <a:endParaRPr kumimoji="1" lang="en-US" altLang="zh-CN" sz="2800" b="1">
                  <a:solidFill>
                    <a:srgbClr val="FF0000"/>
                  </a:solidFill>
                  <a:latin typeface="Times New Roman" panose="02020603050405020304" pitchFamily="18" charset="0"/>
                </a:endParaRPr>
              </a:p>
            </p:txBody>
          </p:sp>
          <p:sp>
            <p:nvSpPr>
              <p:cNvPr id="31" name="Rectangle 33">
                <a:extLst>
                  <a:ext uri="{FF2B5EF4-FFF2-40B4-BE49-F238E27FC236}">
                    <a16:creationId xmlns:a16="http://schemas.microsoft.com/office/drawing/2014/main" id="{3AECBFED-3DC4-4FA9-8C51-6B7869FEDA19}"/>
                  </a:ext>
                </a:extLst>
              </p:cNvPr>
              <p:cNvSpPr>
                <a:spLocks noChangeArrowheads="1"/>
              </p:cNvSpPr>
              <p:nvPr/>
            </p:nvSpPr>
            <p:spPr bwMode="auto">
              <a:xfrm>
                <a:off x="1630" y="2507"/>
                <a:ext cx="120" cy="14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500" b="1">
                    <a:solidFill>
                      <a:srgbClr val="FF0000"/>
                    </a:solidFill>
                    <a:latin typeface="Times New Roman" panose="02020603050405020304" pitchFamily="18" charset="0"/>
                  </a:rPr>
                  <a:t>94</a:t>
                </a:r>
                <a:endParaRPr kumimoji="1" lang="en-US" altLang="zh-CN" sz="2800" b="1">
                  <a:solidFill>
                    <a:srgbClr val="FF0000"/>
                  </a:solidFill>
                  <a:latin typeface="Times New Roman" panose="02020603050405020304" pitchFamily="18" charset="0"/>
                </a:endParaRPr>
              </a:p>
            </p:txBody>
          </p:sp>
          <p:sp>
            <p:nvSpPr>
              <p:cNvPr id="32" name="Rectangle 34">
                <a:extLst>
                  <a:ext uri="{FF2B5EF4-FFF2-40B4-BE49-F238E27FC236}">
                    <a16:creationId xmlns:a16="http://schemas.microsoft.com/office/drawing/2014/main" id="{635EDA05-4D8A-4898-8736-697A3F1D83B2}"/>
                  </a:ext>
                </a:extLst>
              </p:cNvPr>
              <p:cNvSpPr>
                <a:spLocks noChangeArrowheads="1"/>
              </p:cNvSpPr>
              <p:nvPr/>
            </p:nvSpPr>
            <p:spPr bwMode="auto">
              <a:xfrm>
                <a:off x="3425" y="2296"/>
                <a:ext cx="114" cy="2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2600" b="1">
                    <a:solidFill>
                      <a:srgbClr val="FF0000"/>
                    </a:solidFill>
                    <a:latin typeface="Symbol" panose="05050102010706020507" pitchFamily="18" charset="2"/>
                  </a:rPr>
                  <a:t>+</a:t>
                </a:r>
                <a:endParaRPr kumimoji="1" lang="en-US" altLang="zh-CN" sz="2800" b="1">
                  <a:solidFill>
                    <a:srgbClr val="FF0000"/>
                  </a:solidFill>
                  <a:latin typeface="Times New Roman" panose="02020603050405020304" pitchFamily="18" charset="0"/>
                </a:endParaRPr>
              </a:p>
            </p:txBody>
          </p:sp>
          <p:sp>
            <p:nvSpPr>
              <p:cNvPr id="33" name="Rectangle 35">
                <a:extLst>
                  <a:ext uri="{FF2B5EF4-FFF2-40B4-BE49-F238E27FC236}">
                    <a16:creationId xmlns:a16="http://schemas.microsoft.com/office/drawing/2014/main" id="{DD7DBB04-F124-4420-9C42-C0514222C316}"/>
                  </a:ext>
                </a:extLst>
              </p:cNvPr>
              <p:cNvSpPr>
                <a:spLocks noChangeArrowheads="1"/>
              </p:cNvSpPr>
              <p:nvPr/>
            </p:nvSpPr>
            <p:spPr bwMode="auto">
              <a:xfrm>
                <a:off x="2835" y="2296"/>
                <a:ext cx="114" cy="2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2600" b="1">
                    <a:solidFill>
                      <a:srgbClr val="FF0000"/>
                    </a:solidFill>
                    <a:latin typeface="Symbol" panose="05050102010706020507" pitchFamily="18" charset="2"/>
                  </a:rPr>
                  <a:t>+</a:t>
                </a:r>
                <a:endParaRPr kumimoji="1" lang="en-US" altLang="zh-CN" sz="2800" b="1">
                  <a:solidFill>
                    <a:srgbClr val="FF0000"/>
                  </a:solidFill>
                  <a:latin typeface="Times New Roman" panose="02020603050405020304" pitchFamily="18" charset="0"/>
                </a:endParaRPr>
              </a:p>
            </p:txBody>
          </p:sp>
          <p:sp>
            <p:nvSpPr>
              <p:cNvPr id="34" name="Rectangle 36">
                <a:extLst>
                  <a:ext uri="{FF2B5EF4-FFF2-40B4-BE49-F238E27FC236}">
                    <a16:creationId xmlns:a16="http://schemas.microsoft.com/office/drawing/2014/main" id="{3EA794FB-099C-4BBC-9DA0-DB1366C74230}"/>
                  </a:ext>
                </a:extLst>
              </p:cNvPr>
              <p:cNvSpPr>
                <a:spLocks noChangeArrowheads="1"/>
              </p:cNvSpPr>
              <p:nvPr/>
            </p:nvSpPr>
            <p:spPr bwMode="auto">
              <a:xfrm flipH="1">
                <a:off x="2104" y="2318"/>
                <a:ext cx="182" cy="2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2600" b="1">
                    <a:solidFill>
                      <a:srgbClr val="FF0000"/>
                    </a:solidFill>
                    <a:latin typeface="Symbol" panose="05050102010706020507" pitchFamily="18" charset="2"/>
                  </a:rPr>
                  <a:t>®</a:t>
                </a:r>
                <a:endParaRPr kumimoji="1" lang="en-US" altLang="zh-CN" sz="2800" b="1">
                  <a:solidFill>
                    <a:srgbClr val="FF0000"/>
                  </a:solidFill>
                  <a:latin typeface="Times New Roman" panose="02020603050405020304" pitchFamily="18" charset="0"/>
                </a:endParaRPr>
              </a:p>
            </p:txBody>
          </p:sp>
        </p:grpSp>
      </p:grpSp>
      <p:sp>
        <p:nvSpPr>
          <p:cNvPr id="36" name="Text Box 5">
            <a:extLst>
              <a:ext uri="{FF2B5EF4-FFF2-40B4-BE49-F238E27FC236}">
                <a16:creationId xmlns:a16="http://schemas.microsoft.com/office/drawing/2014/main" id="{8BD0486B-F86A-4F88-8DDE-770EA1A68136}"/>
              </a:ext>
            </a:extLst>
          </p:cNvPr>
          <p:cNvSpPr txBox="1">
            <a:spLocks noChangeArrowheads="1"/>
          </p:cNvSpPr>
          <p:nvPr/>
        </p:nvSpPr>
        <p:spPr bwMode="auto">
          <a:xfrm>
            <a:off x="963613" y="5535613"/>
            <a:ext cx="2952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a:solidFill>
                  <a:schemeClr val="bg1"/>
                </a:solidFill>
                <a:latin typeface="Times New Roman" panose="02020603050405020304" pitchFamily="18" charset="0"/>
                <a:cs typeface="Times New Roman" panose="02020603050405020304" pitchFamily="18" charset="0"/>
              </a:rPr>
              <a:t>轻核的聚变</a:t>
            </a:r>
          </a:p>
        </p:txBody>
      </p:sp>
      <p:graphicFrame>
        <p:nvGraphicFramePr>
          <p:cNvPr id="37" name="Object 5">
            <a:extLst>
              <a:ext uri="{FF2B5EF4-FFF2-40B4-BE49-F238E27FC236}">
                <a16:creationId xmlns:a16="http://schemas.microsoft.com/office/drawing/2014/main" id="{D18FCF4F-2C2B-4154-8622-83E59AB7E7E0}"/>
              </a:ext>
            </a:extLst>
          </p:cNvPr>
          <p:cNvGraphicFramePr>
            <a:graphicFrameLocks noChangeAspect="1"/>
          </p:cNvGraphicFramePr>
          <p:nvPr/>
        </p:nvGraphicFramePr>
        <p:xfrm>
          <a:off x="3019425" y="5514975"/>
          <a:ext cx="4424363" cy="576263"/>
        </p:xfrm>
        <a:graphic>
          <a:graphicData uri="http://schemas.openxmlformats.org/presentationml/2006/ole">
            <mc:AlternateContent xmlns:mc="http://schemas.openxmlformats.org/markup-compatibility/2006">
              <mc:Choice xmlns:v="urn:schemas-microsoft-com:vml" Requires="v">
                <p:oleObj spid="_x0000_s60449" name="Equation" r:id="rId11" imgW="2044700" imgH="241300" progId="Equation.DSMT4">
                  <p:embed/>
                </p:oleObj>
              </mc:Choice>
              <mc:Fallback>
                <p:oleObj name="Equation" r:id="rId11" imgW="2044700" imgH="241300" progId="Equation.DSMT4">
                  <p:embed/>
                  <p:pic>
                    <p:nvPicPr>
                      <p:cNvPr id="0" name="Object 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019425" y="5514975"/>
                        <a:ext cx="4424363" cy="5762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8" name="Text Box 28">
            <a:extLst>
              <a:ext uri="{FF2B5EF4-FFF2-40B4-BE49-F238E27FC236}">
                <a16:creationId xmlns:a16="http://schemas.microsoft.com/office/drawing/2014/main" id="{4C36DA03-3B99-47C1-B2CE-6E221FBB4431}"/>
              </a:ext>
            </a:extLst>
          </p:cNvPr>
          <p:cNvSpPr txBox="1">
            <a:spLocks noChangeArrowheads="1"/>
          </p:cNvSpPr>
          <p:nvPr/>
        </p:nvSpPr>
        <p:spPr bwMode="auto">
          <a:xfrm>
            <a:off x="4449763" y="6237288"/>
            <a:ext cx="4151312"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sz="2800" b="1" dirty="0">
                <a:solidFill>
                  <a:schemeClr val="bg1"/>
                </a:solidFill>
                <a:latin typeface="Times New Roman" panose="02020603050405020304" pitchFamily="18" charset="0"/>
                <a:ea typeface="+mn-ea"/>
                <a:cs typeface="Times New Roman" panose="02020603050405020304" pitchFamily="18" charset="0"/>
              </a:rPr>
              <a:t>利用放射性鉴定古物年龄</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left)">
                                      <p:cBhvr>
                                        <p:cTn id="12" dur="500"/>
                                        <p:tgtEl>
                                          <p:spTgt spid="1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wipe(left)">
                                      <p:cBhvr>
                                        <p:cTn id="17" dur="500"/>
                                        <p:tgtEl>
                                          <p:spTgt spid="1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4">
                                            <p:txEl>
                                              <p:pRg st="0" end="0"/>
                                            </p:txEl>
                                          </p:spTgt>
                                        </p:tgtEl>
                                        <p:attrNameLst>
                                          <p:attrName>style.visibility</p:attrName>
                                        </p:attrNameLst>
                                      </p:cBhvr>
                                      <p:to>
                                        <p:strVal val="visible"/>
                                      </p:to>
                                    </p:set>
                                    <p:animEffect transition="in" filter="wipe(left)">
                                      <p:cBhvr>
                                        <p:cTn id="22" dur="500"/>
                                        <p:tgtEl>
                                          <p:spTgt spid="14">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wipe(left)">
                                      <p:cBhvr>
                                        <p:cTn id="27" dur="500"/>
                                        <p:tgtEl>
                                          <p:spTgt spid="1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5">
                                            <p:txEl>
                                              <p:pRg st="0" end="0"/>
                                            </p:txEl>
                                          </p:spTgt>
                                        </p:tgtEl>
                                        <p:attrNameLst>
                                          <p:attrName>style.visibility</p:attrName>
                                        </p:attrNameLst>
                                      </p:cBhvr>
                                      <p:to>
                                        <p:strVal val="visible"/>
                                      </p:to>
                                    </p:set>
                                    <p:animEffect transition="in" filter="wipe(left)">
                                      <p:cBhvr>
                                        <p:cTn id="32" dur="500"/>
                                        <p:tgtEl>
                                          <p:spTgt spid="15">
                                            <p:txEl>
                                              <p:pRg st="0" end="0"/>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wipe(left)">
                                      <p:cBhvr>
                                        <p:cTn id="37" dur="500"/>
                                        <p:tgtEl>
                                          <p:spTgt spid="17"/>
                                        </p:tgtEl>
                                      </p:cBhvr>
                                    </p:animEffect>
                                  </p:childTnLst>
                                </p:cTn>
                              </p:par>
                            </p:childTnLst>
                          </p:cTn>
                        </p:par>
                        <p:par>
                          <p:cTn id="38" fill="hold" nodeType="afterGroup">
                            <p:stCondLst>
                              <p:cond delay="500"/>
                            </p:stCondLst>
                            <p:childTnLst>
                              <p:par>
                                <p:cTn id="39" presetID="22" presetClass="entr" presetSubtype="8" fill="hold" grpId="0" nodeType="after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wipe(left)">
                                      <p:cBhvr>
                                        <p:cTn id="41" dur="500"/>
                                        <p:tgtEl>
                                          <p:spTgt spid="18"/>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nodeType="click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wipe(left)">
                                      <p:cBhvr>
                                        <p:cTn id="46" dur="500"/>
                                        <p:tgtEl>
                                          <p:spTgt spid="19"/>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20"/>
                                        </p:tgtEl>
                                        <p:attrNameLst>
                                          <p:attrName>style.visibility</p:attrName>
                                        </p:attrNameLst>
                                      </p:cBhvr>
                                      <p:to>
                                        <p:strVal val="visible"/>
                                      </p:to>
                                    </p:set>
                                    <p:animEffect transition="in" filter="wipe(left)">
                                      <p:cBhvr>
                                        <p:cTn id="51" dur="500"/>
                                        <p:tgtEl>
                                          <p:spTgt spid="20"/>
                                        </p:tgtEl>
                                      </p:cBhvr>
                                    </p:animEffect>
                                  </p:childTnLst>
                                </p:cTn>
                              </p:par>
                            </p:childTnLst>
                          </p:cTn>
                        </p:par>
                        <p:par>
                          <p:cTn id="52" fill="hold" nodeType="afterGroup">
                            <p:stCondLst>
                              <p:cond delay="500"/>
                            </p:stCondLst>
                            <p:childTnLst>
                              <p:par>
                                <p:cTn id="53" presetID="22" presetClass="entr" presetSubtype="8" fill="hold" nodeType="afterEffect">
                                  <p:stCondLst>
                                    <p:cond delay="0"/>
                                  </p:stCondLst>
                                  <p:childTnLst>
                                    <p:set>
                                      <p:cBhvr>
                                        <p:cTn id="54" dur="1" fill="hold">
                                          <p:stCondLst>
                                            <p:cond delay="0"/>
                                          </p:stCondLst>
                                        </p:cTn>
                                        <p:tgtEl>
                                          <p:spTgt spid="3"/>
                                        </p:tgtEl>
                                        <p:attrNameLst>
                                          <p:attrName>style.visibility</p:attrName>
                                        </p:attrNameLst>
                                      </p:cBhvr>
                                      <p:to>
                                        <p:strVal val="visible"/>
                                      </p:to>
                                    </p:set>
                                    <p:animEffect transition="in" filter="wipe(left)">
                                      <p:cBhvr>
                                        <p:cTn id="55" dur="500"/>
                                        <p:tgtEl>
                                          <p:spTgt spid="3"/>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36"/>
                                        </p:tgtEl>
                                        <p:attrNameLst>
                                          <p:attrName>style.visibility</p:attrName>
                                        </p:attrNameLst>
                                      </p:cBhvr>
                                      <p:to>
                                        <p:strVal val="visible"/>
                                      </p:to>
                                    </p:set>
                                    <p:animEffect transition="in" filter="wipe(left)">
                                      <p:cBhvr>
                                        <p:cTn id="60" dur="500"/>
                                        <p:tgtEl>
                                          <p:spTgt spid="36"/>
                                        </p:tgtEl>
                                      </p:cBhvr>
                                    </p:animEffect>
                                  </p:childTnLst>
                                </p:cTn>
                              </p:par>
                            </p:childTnLst>
                          </p:cTn>
                        </p:par>
                        <p:par>
                          <p:cTn id="61" fill="hold" nodeType="afterGroup">
                            <p:stCondLst>
                              <p:cond delay="500"/>
                            </p:stCondLst>
                            <p:childTnLst>
                              <p:par>
                                <p:cTn id="62" presetID="22" presetClass="entr" presetSubtype="8" fill="hold" nodeType="afterEffect">
                                  <p:stCondLst>
                                    <p:cond delay="0"/>
                                  </p:stCondLst>
                                  <p:childTnLst>
                                    <p:set>
                                      <p:cBhvr>
                                        <p:cTn id="63" dur="1" fill="hold">
                                          <p:stCondLst>
                                            <p:cond delay="0"/>
                                          </p:stCondLst>
                                        </p:cTn>
                                        <p:tgtEl>
                                          <p:spTgt spid="37"/>
                                        </p:tgtEl>
                                        <p:attrNameLst>
                                          <p:attrName>style.visibility</p:attrName>
                                        </p:attrNameLst>
                                      </p:cBhvr>
                                      <p:to>
                                        <p:strVal val="visible"/>
                                      </p:to>
                                    </p:set>
                                    <p:animEffect transition="in" filter="wipe(left)">
                                      <p:cBhvr>
                                        <p:cTn id="64" dur="500"/>
                                        <p:tgtEl>
                                          <p:spTgt spid="37"/>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26" presetClass="entr" presetSubtype="0" fill="hold" grpId="0" nodeType="clickEffect">
                                  <p:stCondLst>
                                    <p:cond delay="0"/>
                                  </p:stCondLst>
                                  <p:childTnLst>
                                    <p:set>
                                      <p:cBhvr>
                                        <p:cTn id="68" dur="1" fill="hold">
                                          <p:stCondLst>
                                            <p:cond delay="0"/>
                                          </p:stCondLst>
                                        </p:cTn>
                                        <p:tgtEl>
                                          <p:spTgt spid="38"/>
                                        </p:tgtEl>
                                        <p:attrNameLst>
                                          <p:attrName>style.visibility</p:attrName>
                                        </p:attrNameLst>
                                      </p:cBhvr>
                                      <p:to>
                                        <p:strVal val="visible"/>
                                      </p:to>
                                    </p:set>
                                    <p:animEffect transition="in" filter="wipe(down)">
                                      <p:cBhvr>
                                        <p:cTn id="69" dur="580">
                                          <p:stCondLst>
                                            <p:cond delay="0"/>
                                          </p:stCondLst>
                                        </p:cTn>
                                        <p:tgtEl>
                                          <p:spTgt spid="38"/>
                                        </p:tgtEl>
                                      </p:cBhvr>
                                    </p:animEffect>
                                    <p:anim calcmode="lin" valueType="num">
                                      <p:cBhvr>
                                        <p:cTn id="70" dur="1822" tmFilter="0,0; 0.14,0.36; 0.43,0.73; 0.71,0.91; 1.0,1.0">
                                          <p:stCondLst>
                                            <p:cond delay="0"/>
                                          </p:stCondLst>
                                        </p:cTn>
                                        <p:tgtEl>
                                          <p:spTgt spid="38"/>
                                        </p:tgtEl>
                                        <p:attrNameLst>
                                          <p:attrName>ppt_x</p:attrName>
                                        </p:attrNameLst>
                                      </p:cBhvr>
                                      <p:tavLst>
                                        <p:tav tm="0">
                                          <p:val>
                                            <p:strVal val="#ppt_x-0.25"/>
                                          </p:val>
                                        </p:tav>
                                        <p:tav tm="100000">
                                          <p:val>
                                            <p:strVal val="#ppt_x"/>
                                          </p:val>
                                        </p:tav>
                                      </p:tavLst>
                                    </p:anim>
                                    <p:anim calcmode="lin" valueType="num">
                                      <p:cBhvr>
                                        <p:cTn id="71" dur="664" tmFilter="0.0,0.0; 0.25,0.07; 0.50,0.2; 0.75,0.467; 1.0,1.0">
                                          <p:stCondLst>
                                            <p:cond delay="0"/>
                                          </p:stCondLst>
                                        </p:cTn>
                                        <p:tgtEl>
                                          <p:spTgt spid="38"/>
                                        </p:tgtEl>
                                        <p:attrNameLst>
                                          <p:attrName>ppt_y</p:attrName>
                                        </p:attrNameLst>
                                      </p:cBhvr>
                                      <p:tavLst>
                                        <p:tav tm="0" fmla="#ppt_y-sin(pi*$)/3">
                                          <p:val>
                                            <p:fltVal val="0.5"/>
                                          </p:val>
                                        </p:tav>
                                        <p:tav tm="100000">
                                          <p:val>
                                            <p:fltVal val="1"/>
                                          </p:val>
                                        </p:tav>
                                      </p:tavLst>
                                    </p:anim>
                                    <p:anim calcmode="lin" valueType="num">
                                      <p:cBhvr>
                                        <p:cTn id="72" dur="664" tmFilter="0, 0; 0.125,0.2665; 0.25,0.4; 0.375,0.465; 0.5,0.5;  0.625,0.535; 0.75,0.6; 0.875,0.7335; 1,1">
                                          <p:stCondLst>
                                            <p:cond delay="664"/>
                                          </p:stCondLst>
                                        </p:cTn>
                                        <p:tgtEl>
                                          <p:spTgt spid="38"/>
                                        </p:tgtEl>
                                        <p:attrNameLst>
                                          <p:attrName>ppt_y</p:attrName>
                                        </p:attrNameLst>
                                      </p:cBhvr>
                                      <p:tavLst>
                                        <p:tav tm="0" fmla="#ppt_y-sin(pi*$)/9">
                                          <p:val>
                                            <p:fltVal val="0"/>
                                          </p:val>
                                        </p:tav>
                                        <p:tav tm="100000">
                                          <p:val>
                                            <p:fltVal val="1"/>
                                          </p:val>
                                        </p:tav>
                                      </p:tavLst>
                                    </p:anim>
                                    <p:anim calcmode="lin" valueType="num">
                                      <p:cBhvr>
                                        <p:cTn id="73" dur="332" tmFilter="0, 0; 0.125,0.2665; 0.25,0.4; 0.375,0.465; 0.5,0.5;  0.625,0.535; 0.75,0.6; 0.875,0.7335; 1,1">
                                          <p:stCondLst>
                                            <p:cond delay="1324"/>
                                          </p:stCondLst>
                                        </p:cTn>
                                        <p:tgtEl>
                                          <p:spTgt spid="38"/>
                                        </p:tgtEl>
                                        <p:attrNameLst>
                                          <p:attrName>ppt_y</p:attrName>
                                        </p:attrNameLst>
                                      </p:cBhvr>
                                      <p:tavLst>
                                        <p:tav tm="0" fmla="#ppt_y-sin(pi*$)/27">
                                          <p:val>
                                            <p:fltVal val="0"/>
                                          </p:val>
                                        </p:tav>
                                        <p:tav tm="100000">
                                          <p:val>
                                            <p:fltVal val="1"/>
                                          </p:val>
                                        </p:tav>
                                      </p:tavLst>
                                    </p:anim>
                                    <p:anim calcmode="lin" valueType="num">
                                      <p:cBhvr>
                                        <p:cTn id="74" dur="164" tmFilter="0, 0; 0.125,0.2665; 0.25,0.4; 0.375,0.465; 0.5,0.5;  0.625,0.535; 0.75,0.6; 0.875,0.7335; 1,1">
                                          <p:stCondLst>
                                            <p:cond delay="1656"/>
                                          </p:stCondLst>
                                        </p:cTn>
                                        <p:tgtEl>
                                          <p:spTgt spid="38"/>
                                        </p:tgtEl>
                                        <p:attrNameLst>
                                          <p:attrName>ppt_y</p:attrName>
                                        </p:attrNameLst>
                                      </p:cBhvr>
                                      <p:tavLst>
                                        <p:tav tm="0" fmla="#ppt_y-sin(pi*$)/81">
                                          <p:val>
                                            <p:fltVal val="0"/>
                                          </p:val>
                                        </p:tav>
                                        <p:tav tm="100000">
                                          <p:val>
                                            <p:fltVal val="1"/>
                                          </p:val>
                                        </p:tav>
                                      </p:tavLst>
                                    </p:anim>
                                    <p:animScale>
                                      <p:cBhvr>
                                        <p:cTn id="75" dur="26">
                                          <p:stCondLst>
                                            <p:cond delay="650"/>
                                          </p:stCondLst>
                                        </p:cTn>
                                        <p:tgtEl>
                                          <p:spTgt spid="38"/>
                                        </p:tgtEl>
                                      </p:cBhvr>
                                      <p:to x="100000" y="60000"/>
                                    </p:animScale>
                                    <p:animScale>
                                      <p:cBhvr>
                                        <p:cTn id="76" dur="166" decel="50000">
                                          <p:stCondLst>
                                            <p:cond delay="676"/>
                                          </p:stCondLst>
                                        </p:cTn>
                                        <p:tgtEl>
                                          <p:spTgt spid="38"/>
                                        </p:tgtEl>
                                      </p:cBhvr>
                                      <p:to x="100000" y="100000"/>
                                    </p:animScale>
                                    <p:animScale>
                                      <p:cBhvr>
                                        <p:cTn id="77" dur="26">
                                          <p:stCondLst>
                                            <p:cond delay="1312"/>
                                          </p:stCondLst>
                                        </p:cTn>
                                        <p:tgtEl>
                                          <p:spTgt spid="38"/>
                                        </p:tgtEl>
                                      </p:cBhvr>
                                      <p:to x="100000" y="80000"/>
                                    </p:animScale>
                                    <p:animScale>
                                      <p:cBhvr>
                                        <p:cTn id="78" dur="166" decel="50000">
                                          <p:stCondLst>
                                            <p:cond delay="1338"/>
                                          </p:stCondLst>
                                        </p:cTn>
                                        <p:tgtEl>
                                          <p:spTgt spid="38"/>
                                        </p:tgtEl>
                                      </p:cBhvr>
                                      <p:to x="100000" y="100000"/>
                                    </p:animScale>
                                    <p:animScale>
                                      <p:cBhvr>
                                        <p:cTn id="79" dur="26">
                                          <p:stCondLst>
                                            <p:cond delay="1642"/>
                                          </p:stCondLst>
                                        </p:cTn>
                                        <p:tgtEl>
                                          <p:spTgt spid="38"/>
                                        </p:tgtEl>
                                      </p:cBhvr>
                                      <p:to x="100000" y="90000"/>
                                    </p:animScale>
                                    <p:animScale>
                                      <p:cBhvr>
                                        <p:cTn id="80" dur="166" decel="50000">
                                          <p:stCondLst>
                                            <p:cond delay="1668"/>
                                          </p:stCondLst>
                                        </p:cTn>
                                        <p:tgtEl>
                                          <p:spTgt spid="38"/>
                                        </p:tgtEl>
                                      </p:cBhvr>
                                      <p:to x="100000" y="100000"/>
                                    </p:animScale>
                                    <p:animScale>
                                      <p:cBhvr>
                                        <p:cTn id="81" dur="26">
                                          <p:stCondLst>
                                            <p:cond delay="1808"/>
                                          </p:stCondLst>
                                        </p:cTn>
                                        <p:tgtEl>
                                          <p:spTgt spid="38"/>
                                        </p:tgtEl>
                                      </p:cBhvr>
                                      <p:to x="100000" y="95000"/>
                                    </p:animScale>
                                    <p:animScale>
                                      <p:cBhvr>
                                        <p:cTn id="82" dur="166" decel="50000">
                                          <p:stCondLst>
                                            <p:cond delay="1834"/>
                                          </p:stCondLst>
                                        </p:cTn>
                                        <p:tgtEl>
                                          <p:spTgt spid="38"/>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P spid="14" grpId="0" build="p" autoUpdateAnimBg="0"/>
      <p:bldP spid="15" grpId="0" build="p" autoUpdateAnimBg="0"/>
      <p:bldP spid="18" grpId="0"/>
      <p:bldP spid="20" grpId="0"/>
      <p:bldP spid="36" grpId="0"/>
      <p:bldP spid="38" grpId="0"/>
    </p:bldLst>
  </p:timing>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4874</TotalTime>
  <Words>3320</Words>
  <Application>Microsoft Office PowerPoint</Application>
  <PresentationFormat>全屏显示(4:3)</PresentationFormat>
  <Paragraphs>382</Paragraphs>
  <Slides>56</Slides>
  <Notes>1</Notes>
  <HiddenSlides>0</HiddenSlides>
  <MMClips>0</MMClips>
  <ScaleCrop>false</ScaleCrop>
  <HeadingPairs>
    <vt:vector size="8" baseType="variant">
      <vt:variant>
        <vt:lpstr>已用的字体</vt:lpstr>
      </vt:variant>
      <vt:variant>
        <vt:i4>15</vt:i4>
      </vt:variant>
      <vt:variant>
        <vt:lpstr>主题</vt:lpstr>
      </vt:variant>
      <vt:variant>
        <vt:i4>1</vt:i4>
      </vt:variant>
      <vt:variant>
        <vt:lpstr>嵌入 OLE 服务器</vt:lpstr>
      </vt:variant>
      <vt:variant>
        <vt:i4>5</vt:i4>
      </vt:variant>
      <vt:variant>
        <vt:lpstr>幻灯片标题</vt:lpstr>
      </vt:variant>
      <vt:variant>
        <vt:i4>56</vt:i4>
      </vt:variant>
    </vt:vector>
  </HeadingPairs>
  <TitlesOfParts>
    <vt:vector size="77" baseType="lpstr">
      <vt:lpstr>Arial</vt:lpstr>
      <vt:lpstr>宋体</vt:lpstr>
      <vt:lpstr>Times New Roman</vt:lpstr>
      <vt:lpstr>隶书</vt:lpstr>
      <vt:lpstr>楷体_GB2312</vt:lpstr>
      <vt:lpstr>Wingdings</vt:lpstr>
      <vt:lpstr>华文中宋</vt:lpstr>
      <vt:lpstr>黑体</vt:lpstr>
      <vt:lpstr>华文楷体</vt:lpstr>
      <vt:lpstr>Symbol</vt:lpstr>
      <vt:lpstr>Mathematica1</vt:lpstr>
      <vt:lpstr>仿宋</vt:lpstr>
      <vt:lpstr>Monotype Sorts</vt:lpstr>
      <vt:lpstr>华文仿宋</vt:lpstr>
      <vt:lpstr>楷体</vt:lpstr>
      <vt:lpstr>默认设计模板</vt:lpstr>
      <vt:lpstr>MathType 6.0 Equation</vt:lpstr>
      <vt:lpstr>MathType 7.0 Equation</vt:lpstr>
      <vt:lpstr>BMP 图象</vt:lpstr>
      <vt:lpstr>Microsoft Equation 3.0</vt:lpstr>
      <vt:lpstr>Microsoft 公式 3.0</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17-2．两种放射性核素的半衰期分别为8 d和6 h，设含这两种放射性药品的放射性活度相同，则它们中的放射性物质的摩尔数之比为 （）     A．16：1；            B． 1：32；             C．4：3；              D．32：1．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没有幻灯片标题</dc:title>
  <dc:creator>ZHANG Yanbin,Elian</dc:creator>
  <cp:lastModifiedBy>Liuwei</cp:lastModifiedBy>
  <cp:revision>312</cp:revision>
  <cp:lastPrinted>2001-12-25T10:03:38Z</cp:lastPrinted>
  <dcterms:created xsi:type="dcterms:W3CDTF">2001-12-10T07:39:02Z</dcterms:created>
  <dcterms:modified xsi:type="dcterms:W3CDTF">2024-12-17T10:19:40Z</dcterms:modified>
</cp:coreProperties>
</file>