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68" r:id="rId2"/>
    <p:sldId id="371" r:id="rId3"/>
    <p:sldId id="358" r:id="rId4"/>
    <p:sldId id="374" r:id="rId5"/>
    <p:sldId id="359" r:id="rId6"/>
    <p:sldId id="395" r:id="rId7"/>
    <p:sldId id="376" r:id="rId8"/>
    <p:sldId id="381" r:id="rId9"/>
    <p:sldId id="382" r:id="rId10"/>
    <p:sldId id="380" r:id="rId11"/>
    <p:sldId id="378" r:id="rId12"/>
    <p:sldId id="383" r:id="rId13"/>
    <p:sldId id="384" r:id="rId14"/>
    <p:sldId id="392" r:id="rId15"/>
    <p:sldId id="348" r:id="rId16"/>
    <p:sldId id="379" r:id="rId17"/>
    <p:sldId id="397" r:id="rId18"/>
    <p:sldId id="349" r:id="rId19"/>
    <p:sldId id="350" r:id="rId20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59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CB6D547-64A9-44D0-8B41-A27506C5B7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9D148D-37FE-4BBC-B5A9-05D737DD9A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91311DC-EB2E-4E96-816A-EA928E9609B4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D74DAE4-F602-4EBF-BA86-B2389A65A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1B3108E-BA24-4A0C-8066-BC14099CA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EE47AC-4D91-47FF-8215-36F2041A4C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422781-AD2F-4025-BB9A-D594FC29B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5420FD4-39F0-41E3-9EE1-16EAAABAD9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6865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03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4003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73669BEA-8155-435E-8B51-684F427D4F88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597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1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01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26D9D406-9427-4FD0-B093-316AC8B2E9EC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6308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FD4-39F0-41E3-9EE1-16EAAABAD95A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39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C122A27A-9044-422A-A6DD-75D8A778E1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6523038"/>
            <a:ext cx="6553200" cy="74612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760000">
                  <a:alpha val="0"/>
                </a:srgbClr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5" name="Picture 8" descr="xiaohui02">
            <a:extLst>
              <a:ext uri="{FF2B5EF4-FFF2-40B4-BE49-F238E27FC236}">
                <a16:creationId xmlns:a16="http://schemas.microsoft.com/office/drawing/2014/main" id="{771E4885-4025-45B2-A6F2-9B21AD5E6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6" t="4698" r="5455" b="18112"/>
          <a:stretch>
            <a:fillRect/>
          </a:stretch>
        </p:blipFill>
        <p:spPr bwMode="auto">
          <a:xfrm>
            <a:off x="4763" y="5576888"/>
            <a:ext cx="1447800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0">
            <a:extLst>
              <a:ext uri="{FF2B5EF4-FFF2-40B4-BE49-F238E27FC236}">
                <a16:creationId xmlns:a16="http://schemas.microsoft.com/office/drawing/2014/main" id="{3100F243-A668-4FDD-851A-10CF6F29CBEE}"/>
              </a:ext>
            </a:extLst>
          </p:cNvPr>
          <p:cNvGrpSpPr>
            <a:grpSpLocks/>
          </p:cNvGrpSpPr>
          <p:nvPr/>
        </p:nvGrpSpPr>
        <p:grpSpPr bwMode="auto">
          <a:xfrm>
            <a:off x="28575" y="0"/>
            <a:ext cx="914400" cy="2286000"/>
            <a:chOff x="18" y="0"/>
            <a:chExt cx="576" cy="1440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5615ED03-1768-44EA-891C-B1FDBF538F86}"/>
                </a:ext>
              </a:extLst>
            </p:cNvPr>
            <p:cNvSpPr>
              <a:spLocks/>
            </p:cNvSpPr>
            <p:nvPr userDrawn="1"/>
          </p:nvSpPr>
          <p:spPr bwMode="auto">
            <a:xfrm rot="-121251">
              <a:off x="18" y="0"/>
              <a:ext cx="576" cy="1440"/>
            </a:xfrm>
            <a:custGeom>
              <a:avLst/>
              <a:gdLst>
                <a:gd name="T0" fmla="*/ 0 w 1208"/>
                <a:gd name="T1" fmla="*/ 4 h 3046"/>
                <a:gd name="T2" fmla="*/ 0 w 1208"/>
                <a:gd name="T3" fmla="*/ 4 h 3046"/>
                <a:gd name="T4" fmla="*/ 0 w 1208"/>
                <a:gd name="T5" fmla="*/ 3 h 3046"/>
                <a:gd name="T6" fmla="*/ 1 w 1208"/>
                <a:gd name="T7" fmla="*/ 0 h 3046"/>
                <a:gd name="T8" fmla="*/ 2 w 1208"/>
                <a:gd name="T9" fmla="*/ 1 h 3046"/>
                <a:gd name="T10" fmla="*/ 3 w 1208"/>
                <a:gd name="T11" fmla="*/ 4 h 3046"/>
                <a:gd name="T12" fmla="*/ 3 w 1208"/>
                <a:gd name="T13" fmla="*/ 4 h 3046"/>
                <a:gd name="T14" fmla="*/ 3 w 1208"/>
                <a:gd name="T15" fmla="*/ 4 h 3046"/>
                <a:gd name="T16" fmla="*/ 2 w 1208"/>
                <a:gd name="T17" fmla="*/ 6 h 3046"/>
                <a:gd name="T18" fmla="*/ 1 w 1208"/>
                <a:gd name="T19" fmla="*/ 8 h 3046"/>
                <a:gd name="T20" fmla="*/ 0 w 1208"/>
                <a:gd name="T21" fmla="*/ 4 h 3046"/>
                <a:gd name="T22" fmla="*/ 0 w 1208"/>
                <a:gd name="T23" fmla="*/ 4 h 30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08" h="3046">
                  <a:moveTo>
                    <a:pt x="16" y="1484"/>
                  </a:moveTo>
                  <a:cubicBezTo>
                    <a:pt x="0" y="1460"/>
                    <a:pt x="53" y="1529"/>
                    <a:pt x="80" y="1500"/>
                  </a:cubicBezTo>
                  <a:cubicBezTo>
                    <a:pt x="107" y="1471"/>
                    <a:pt x="86" y="1536"/>
                    <a:pt x="176" y="1308"/>
                  </a:cubicBezTo>
                  <a:cubicBezTo>
                    <a:pt x="266" y="1080"/>
                    <a:pt x="510" y="262"/>
                    <a:pt x="619" y="131"/>
                  </a:cubicBezTo>
                  <a:cubicBezTo>
                    <a:pt x="728" y="0"/>
                    <a:pt x="757" y="305"/>
                    <a:pt x="830" y="524"/>
                  </a:cubicBezTo>
                  <a:cubicBezTo>
                    <a:pt x="903" y="743"/>
                    <a:pt x="996" y="1278"/>
                    <a:pt x="1058" y="1447"/>
                  </a:cubicBezTo>
                  <a:cubicBezTo>
                    <a:pt x="1120" y="1616"/>
                    <a:pt x="1208" y="1513"/>
                    <a:pt x="1205" y="1539"/>
                  </a:cubicBezTo>
                  <a:cubicBezTo>
                    <a:pt x="1202" y="1565"/>
                    <a:pt x="1113" y="1458"/>
                    <a:pt x="1040" y="1603"/>
                  </a:cubicBezTo>
                  <a:cubicBezTo>
                    <a:pt x="967" y="1748"/>
                    <a:pt x="853" y="2188"/>
                    <a:pt x="766" y="2407"/>
                  </a:cubicBezTo>
                  <a:cubicBezTo>
                    <a:pt x="679" y="2626"/>
                    <a:pt x="617" y="3046"/>
                    <a:pt x="519" y="2919"/>
                  </a:cubicBezTo>
                  <a:cubicBezTo>
                    <a:pt x="421" y="2792"/>
                    <a:pt x="260" y="1883"/>
                    <a:pt x="176" y="1644"/>
                  </a:cubicBezTo>
                  <a:cubicBezTo>
                    <a:pt x="92" y="1405"/>
                    <a:pt x="32" y="1508"/>
                    <a:pt x="16" y="1484"/>
                  </a:cubicBezTo>
                  <a:close/>
                </a:path>
              </a:pathLst>
            </a:custGeom>
            <a:solidFill>
              <a:srgbClr val="0066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3DAE3713-F571-4105-B460-84852AE303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" y="49"/>
              <a:ext cx="384" cy="1296"/>
            </a:xfrm>
            <a:custGeom>
              <a:avLst/>
              <a:gdLst>
                <a:gd name="T0" fmla="*/ 0 w 912"/>
                <a:gd name="T1" fmla="*/ 2 h 2888"/>
                <a:gd name="T2" fmla="*/ 0 w 912"/>
                <a:gd name="T3" fmla="*/ 2 h 2888"/>
                <a:gd name="T4" fmla="*/ 0 w 912"/>
                <a:gd name="T5" fmla="*/ 3 h 2888"/>
                <a:gd name="T6" fmla="*/ 0 w 912"/>
                <a:gd name="T7" fmla="*/ 1 h 2888"/>
                <a:gd name="T8" fmla="*/ 0 w 912"/>
                <a:gd name="T9" fmla="*/ 4 h 2888"/>
                <a:gd name="T10" fmla="*/ 0 w 912"/>
                <a:gd name="T11" fmla="*/ 0 h 2888"/>
                <a:gd name="T12" fmla="*/ 0 w 912"/>
                <a:gd name="T13" fmla="*/ 4 h 2888"/>
                <a:gd name="T14" fmla="*/ 1 w 912"/>
                <a:gd name="T15" fmla="*/ 1 h 2888"/>
                <a:gd name="T16" fmla="*/ 1 w 912"/>
                <a:gd name="T17" fmla="*/ 3 h 2888"/>
                <a:gd name="T18" fmla="*/ 1 w 912"/>
                <a:gd name="T19" fmla="*/ 2 h 28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2" h="2888">
                  <a:moveTo>
                    <a:pt x="0" y="1480"/>
                  </a:moveTo>
                  <a:cubicBezTo>
                    <a:pt x="12" y="1324"/>
                    <a:pt x="24" y="1168"/>
                    <a:pt x="48" y="1240"/>
                  </a:cubicBezTo>
                  <a:cubicBezTo>
                    <a:pt x="72" y="1312"/>
                    <a:pt x="104" y="2040"/>
                    <a:pt x="144" y="1912"/>
                  </a:cubicBezTo>
                  <a:cubicBezTo>
                    <a:pt x="184" y="1784"/>
                    <a:pt x="240" y="320"/>
                    <a:pt x="288" y="472"/>
                  </a:cubicBezTo>
                  <a:cubicBezTo>
                    <a:pt x="336" y="624"/>
                    <a:pt x="392" y="2888"/>
                    <a:pt x="432" y="2824"/>
                  </a:cubicBezTo>
                  <a:cubicBezTo>
                    <a:pt x="472" y="2760"/>
                    <a:pt x="496" y="176"/>
                    <a:pt x="528" y="88"/>
                  </a:cubicBezTo>
                  <a:cubicBezTo>
                    <a:pt x="560" y="0"/>
                    <a:pt x="592" y="2184"/>
                    <a:pt x="624" y="2296"/>
                  </a:cubicBezTo>
                  <a:cubicBezTo>
                    <a:pt x="656" y="2408"/>
                    <a:pt x="680" y="880"/>
                    <a:pt x="720" y="760"/>
                  </a:cubicBezTo>
                  <a:cubicBezTo>
                    <a:pt x="760" y="640"/>
                    <a:pt x="832" y="1464"/>
                    <a:pt x="864" y="1576"/>
                  </a:cubicBezTo>
                  <a:cubicBezTo>
                    <a:pt x="896" y="1688"/>
                    <a:pt x="904" y="1456"/>
                    <a:pt x="912" y="1432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Rectangle 13">
            <a:extLst>
              <a:ext uri="{FF2B5EF4-FFF2-40B4-BE49-F238E27FC236}">
                <a16:creationId xmlns:a16="http://schemas.microsoft.com/office/drawing/2014/main" id="{8FC2B1F4-C6A9-4F52-8EC4-18BF4A574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066800"/>
            <a:ext cx="8382000" cy="104775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760000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35150" y="3573463"/>
            <a:ext cx="5638800" cy="1905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03350" y="1628775"/>
            <a:ext cx="7086600" cy="1600200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65A5965-BB54-463E-B32A-EBFE1AE32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C60F1-EEDB-4FAC-BD6D-B31F1CCE8660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E4DA8A0-8287-4E97-965E-B3216C6984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22DEDF7-4A74-45FF-816C-2340E2F73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A1F8A-7697-4AFF-8D0E-08E995DAAF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331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BD7EA7D-C4EA-41F8-8E25-9983ED4ACF3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6523038"/>
            <a:ext cx="6553200" cy="74612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760000">
                  <a:alpha val="0"/>
                </a:srgbClr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BFBF691-EFFE-4FED-9592-9E8DD19206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DD403-07F6-44D6-AF4D-3ED959DB1A5E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8BEE58B-5A82-448C-9DAB-BE26CF172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46F2793-1D81-427F-8BD4-DC6777DB2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501D4-35E9-4BC8-82A4-B7009F123E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0715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F2914-1185-403E-8575-FA7087767B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478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1BE487A-60F6-4094-8B86-0F69D0D1D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115888"/>
            <a:ext cx="7158038" cy="719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1316D02-1BA7-408C-8637-EC44F4390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341438"/>
            <a:ext cx="7661275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2A7817C5-B47B-4E53-AC9F-4FAE254D42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 sz="1000"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7E00962-B3F3-4166-A761-1581AC3F54DD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BF02E49B-0D9B-49E4-8C23-C35321B92A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 sz="1000"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1F7C75E5-68A8-423A-AF87-977C4720420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8E172C0C-C21C-49D2-B5B7-218CED1EA3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12E1F0F-7B2A-46F3-B9DD-7D4E443B226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6523038"/>
            <a:ext cx="6553200" cy="74612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760000">
                  <a:alpha val="0"/>
                </a:srgbClr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2" name="Rectangle 7">
            <a:extLst>
              <a:ext uri="{FF2B5EF4-FFF2-40B4-BE49-F238E27FC236}">
                <a16:creationId xmlns:a16="http://schemas.microsoft.com/office/drawing/2014/main" id="{AECB3DAA-9592-4F78-96F4-CDDDF82B3D2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331913" y="6523038"/>
            <a:ext cx="6553200" cy="74612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760000">
                  <a:alpha val="0"/>
                </a:srgbClr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+mn-ea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+mn-ea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Ø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+mn-ea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+mn-ea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+mn-ea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omework.pp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Users/Administrator/Users/Administrator/Desktop/&#22791;&#35838;/homework.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omework.p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Users/Administrator/Users/Administrator/Desktop/&#22791;&#35838;/homework.pp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jpe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EBF027D-8554-4C50-BBEF-252FD3EC8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4800"/>
            <a:ext cx="8367712" cy="6324600"/>
          </a:xfrm>
          <a:prstGeom prst="rect">
            <a:avLst/>
          </a:prstGeom>
          <a:noFill/>
          <a:ln w="57150">
            <a:pattFill prst="solidDmnd">
              <a:fgClr>
                <a:srgbClr val="FF5050"/>
              </a:fgClr>
              <a:bgClr>
                <a:srgbClr val="66CCFF"/>
              </a:bgClr>
            </a:patt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A1DDE87F-FCDE-4622-9919-1217953D4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724275"/>
          <a:ext cx="315436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" name="剪辑" r:id="rId5" imgW="4006850" imgH="2857500" progId="MS_ClipArt_Gallery.2">
                  <p:embed/>
                </p:oleObj>
              </mc:Choice>
              <mc:Fallback>
                <p:oleObj name="剪辑" r:id="rId5" imgW="4006850" imgH="2857500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724275"/>
                        <a:ext cx="315436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33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8ACA1041-D3B7-46D5-85E6-91E5005414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692525"/>
          <a:ext cx="3163887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" name="剪辑" r:id="rId7" imgW="4540250" imgH="3497263" progId="MS_ClipArt_Gallery.2">
                  <p:embed/>
                </p:oleObj>
              </mc:Choice>
              <mc:Fallback>
                <p:oleObj name="剪辑" r:id="rId7" imgW="4540250" imgH="3497263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692525"/>
                        <a:ext cx="3163887" cy="243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33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>
            <a:extLst>
              <a:ext uri="{FF2B5EF4-FFF2-40B4-BE49-F238E27FC236}">
                <a16:creationId xmlns:a16="http://schemas.microsoft.com/office/drawing/2014/main" id="{66921CBF-FF98-4EF0-884F-8D627F36C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150" y="590550"/>
            <a:ext cx="45370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cap="sq">
                <a:pattFill prst="solidDmnd">
                  <a:fgClr>
                    <a:srgbClr val="66FF33"/>
                  </a:fgClr>
                  <a:bgClr>
                    <a:srgbClr val="FF5050"/>
                  </a:bgClr>
                </a:patt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7200" b="1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大学物理</a:t>
            </a:r>
          </a:p>
        </p:txBody>
      </p:sp>
      <p:sp>
        <p:nvSpPr>
          <p:cNvPr id="4102" name="Text Box 6">
            <a:extLst>
              <a:ext uri="{FF2B5EF4-FFF2-40B4-BE49-F238E27FC236}">
                <a16:creationId xmlns:a16="http://schemas.microsoft.com/office/drawing/2014/main" id="{56050ADE-8213-42D4-A1AE-9562E0C70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0" y="2108200"/>
            <a:ext cx="461168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主讲教师：刘为为</a:t>
            </a: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9A2FBC23-69BD-4104-A93F-0A80C8572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056" y="2874169"/>
            <a:ext cx="4681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accent2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lwhust@hust.edu.cn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C3F02D4-192F-43FB-8356-A6E29440D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638" y="693738"/>
            <a:ext cx="23955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b="1" dirty="0">
                <a:solidFill>
                  <a:srgbClr val="FF66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&lt;</a:t>
            </a:r>
            <a:r>
              <a:rPr lang="zh-CN" altLang="en-US" sz="5400" b="1" dirty="0">
                <a:solidFill>
                  <a:srgbClr val="FF66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下册</a:t>
            </a:r>
            <a:r>
              <a:rPr lang="en-US" altLang="zh-CN" sz="5400" b="1" dirty="0">
                <a:solidFill>
                  <a:srgbClr val="FF66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D188AC-CC3F-4356-9A2D-AA4035A7DC22}"/>
              </a:ext>
            </a:extLst>
          </p:cNvPr>
          <p:cNvSpPr txBox="1"/>
          <p:nvPr/>
        </p:nvSpPr>
        <p:spPr>
          <a:xfrm>
            <a:off x="1619673" y="6149548"/>
            <a:ext cx="705678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n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itchFamily="2" charset="-122"/>
                <a:ea typeface="华文楷体" pitchFamily="2" charset="-122"/>
              </a:rPr>
              <a:t>                           电信</a:t>
            </a:r>
            <a:r>
              <a:rPr lang="en-US" altLang="zh-CN" b="1" dirty="0">
                <a:ln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itchFamily="2" charset="-122"/>
                <a:ea typeface="华文楷体" pitchFamily="2" charset="-122"/>
              </a:rPr>
              <a:t>2301-2305          2024</a:t>
            </a:r>
            <a:r>
              <a:rPr lang="zh-CN" altLang="en-US" b="1" dirty="0">
                <a:ln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itchFamily="2" charset="-122"/>
                <a:ea typeface="华文楷体" pitchFamily="2" charset="-122"/>
              </a:rPr>
              <a:t>年秋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Rectangle 10">
            <a:extLst>
              <a:ext uri="{FF2B5EF4-FFF2-40B4-BE49-F238E27FC236}">
                <a16:creationId xmlns:a16="http://schemas.microsoft.com/office/drawing/2014/main" id="{C135D56D-4954-47B7-B8FE-501CCE506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393" y="3207078"/>
            <a:ext cx="6626943" cy="324625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800" b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2" name="Text Box 2">
            <a:extLst>
              <a:ext uri="{FF2B5EF4-FFF2-40B4-BE49-F238E27FC236}">
                <a16:creationId xmlns:a16="http://schemas.microsoft.com/office/drawing/2014/main" id="{7AD3FA6D-40E7-44DF-872F-794F6C6FB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88801"/>
            <a:ext cx="55038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大学物理课程内容：</a:t>
            </a:r>
            <a:endParaRPr kumimoji="1" lang="zh-CN" altLang="en-US" sz="2400" b="0">
              <a:solidFill>
                <a:srgbClr val="FF0000"/>
              </a:solidFill>
              <a:latin typeface="楷体_GB2312"/>
              <a:ea typeface="华文新魏" panose="02010800040101010101" pitchFamily="2" charset="-122"/>
            </a:endParaRPr>
          </a:p>
        </p:txBody>
      </p:sp>
      <p:pic>
        <p:nvPicPr>
          <p:cNvPr id="66563" name="Picture 3" descr="BD05680_">
            <a:extLst>
              <a:ext uri="{FF2B5EF4-FFF2-40B4-BE49-F238E27FC236}">
                <a16:creationId xmlns:a16="http://schemas.microsoft.com/office/drawing/2014/main" id="{14D80A22-5016-4A17-8B74-0F3513A3E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3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-173"/>
            <a:ext cx="2819400" cy="220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4" name="Text Box 4">
            <a:extLst>
              <a:ext uri="{FF2B5EF4-FFF2-40B4-BE49-F238E27FC236}">
                <a16:creationId xmlns:a16="http://schemas.microsoft.com/office/drawing/2014/main" id="{D9A6FCB0-5FEE-4FC6-9916-3F6FCDD8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4515767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第五篇  波动光学</a:t>
            </a:r>
          </a:p>
        </p:txBody>
      </p:sp>
      <p:sp>
        <p:nvSpPr>
          <p:cNvPr id="66565" name="Text Box 5">
            <a:extLst>
              <a:ext uri="{FF2B5EF4-FFF2-40B4-BE49-F238E27FC236}">
                <a16:creationId xmlns:a16="http://schemas.microsoft.com/office/drawing/2014/main" id="{AB5D5C65-547C-4C2F-9A2A-3953F8ADC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749029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第四篇  振动与波动</a:t>
            </a:r>
          </a:p>
        </p:txBody>
      </p:sp>
      <p:sp>
        <p:nvSpPr>
          <p:cNvPr id="66566" name="Text Box 6">
            <a:extLst>
              <a:ext uri="{FF2B5EF4-FFF2-40B4-BE49-F238E27FC236}">
                <a16:creationId xmlns:a16="http://schemas.microsoft.com/office/drawing/2014/main" id="{EC22339E-9B09-48F2-ADAD-F10430BE1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430167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第六篇  量子物理</a:t>
            </a:r>
          </a:p>
        </p:txBody>
      </p:sp>
      <p:sp>
        <p:nvSpPr>
          <p:cNvPr id="66567" name="Text Box 7">
            <a:extLst>
              <a:ext uri="{FF2B5EF4-FFF2-40B4-BE49-F238E27FC236}">
                <a16:creationId xmlns:a16="http://schemas.microsoft.com/office/drawing/2014/main" id="{09FC3F3D-420C-4CB0-923D-DAEDC6398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769" y="4123928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（第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11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 ）</a:t>
            </a:r>
          </a:p>
        </p:txBody>
      </p:sp>
      <p:sp>
        <p:nvSpPr>
          <p:cNvPr id="66568" name="Text Box 8">
            <a:extLst>
              <a:ext uri="{FF2B5EF4-FFF2-40B4-BE49-F238E27FC236}">
                <a16:creationId xmlns:a16="http://schemas.microsoft.com/office/drawing/2014/main" id="{896A085E-438D-4039-83F2-CAF875131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4981625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（第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13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章）</a:t>
            </a:r>
          </a:p>
        </p:txBody>
      </p:sp>
      <p:sp>
        <p:nvSpPr>
          <p:cNvPr id="66569" name="Text Box 9">
            <a:extLst>
              <a:ext uri="{FF2B5EF4-FFF2-40B4-BE49-F238E27FC236}">
                <a16:creationId xmlns:a16="http://schemas.microsoft.com/office/drawing/2014/main" id="{0C345392-A6C1-4E81-9711-8DBA5D676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5896025"/>
            <a:ext cx="507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（第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14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章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---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17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章）</a:t>
            </a:r>
          </a:p>
        </p:txBody>
      </p:sp>
      <p:sp>
        <p:nvSpPr>
          <p:cNvPr id="66571" name="Text Box 11">
            <a:extLst>
              <a:ext uri="{FF2B5EF4-FFF2-40B4-BE49-F238E27FC236}">
                <a16:creationId xmlns:a16="http://schemas.microsoft.com/office/drawing/2014/main" id="{1E05DE9E-8FA8-47C0-9528-4B8ACBFBE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863501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第一篇  力学</a:t>
            </a:r>
          </a:p>
        </p:txBody>
      </p:sp>
      <p:sp>
        <p:nvSpPr>
          <p:cNvPr id="66572" name="Text Box 12">
            <a:extLst>
              <a:ext uri="{FF2B5EF4-FFF2-40B4-BE49-F238E27FC236}">
                <a16:creationId xmlns:a16="http://schemas.microsoft.com/office/drawing/2014/main" id="{09DD180A-C6E3-4F48-8869-EA71F2C52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1711587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第二篇  热学</a:t>
            </a:r>
          </a:p>
        </p:txBody>
      </p:sp>
      <p:sp>
        <p:nvSpPr>
          <p:cNvPr id="66573" name="Text Box 13">
            <a:extLst>
              <a:ext uri="{FF2B5EF4-FFF2-40B4-BE49-F238E27FC236}">
                <a16:creationId xmlns:a16="http://schemas.microsoft.com/office/drawing/2014/main" id="{5ED0F396-BF0B-4B13-AF5F-9BA064326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435254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第三篇  电磁学</a:t>
            </a:r>
          </a:p>
        </p:txBody>
      </p:sp>
      <p:sp>
        <p:nvSpPr>
          <p:cNvPr id="66574" name="Text Box 14">
            <a:extLst>
              <a:ext uri="{FF2B5EF4-FFF2-40B4-BE49-F238E27FC236}">
                <a16:creationId xmlns:a16="http://schemas.microsoft.com/office/drawing/2014/main" id="{73A113D4-2C05-4EFF-ACCC-09F5FFBB4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1312912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（第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章  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---  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章）</a:t>
            </a:r>
          </a:p>
        </p:txBody>
      </p:sp>
      <p:sp>
        <p:nvSpPr>
          <p:cNvPr id="66575" name="Text Box 15">
            <a:extLst>
              <a:ext uri="{FF2B5EF4-FFF2-40B4-BE49-F238E27FC236}">
                <a16:creationId xmlns:a16="http://schemas.microsoft.com/office/drawing/2014/main" id="{AE487E91-DF9F-412F-B2A2-E57418BA0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2146711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（第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  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---  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章）</a:t>
            </a:r>
          </a:p>
        </p:txBody>
      </p:sp>
      <p:sp>
        <p:nvSpPr>
          <p:cNvPr id="66576" name="Text Box 16">
            <a:extLst>
              <a:ext uri="{FF2B5EF4-FFF2-40B4-BE49-F238E27FC236}">
                <a16:creationId xmlns:a16="http://schemas.microsoft.com/office/drawing/2014/main" id="{282BA133-8573-484C-998E-31A39066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651" y="2827784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（第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  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--- 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章）</a:t>
            </a:r>
          </a:p>
        </p:txBody>
      </p:sp>
      <p:sp>
        <p:nvSpPr>
          <p:cNvPr id="66578" name="AutoShape 18">
            <a:extLst>
              <a:ext uri="{FF2B5EF4-FFF2-40B4-BE49-F238E27FC236}">
                <a16:creationId xmlns:a16="http://schemas.microsoft.com/office/drawing/2014/main" id="{4773CE3C-6410-49B6-93F3-7B1769782BA3}"/>
              </a:ext>
            </a:extLst>
          </p:cNvPr>
          <p:cNvSpPr>
            <a:spLocks/>
          </p:cNvSpPr>
          <p:nvPr/>
        </p:nvSpPr>
        <p:spPr bwMode="auto">
          <a:xfrm>
            <a:off x="1944688" y="1052736"/>
            <a:ext cx="395287" cy="2083024"/>
          </a:xfrm>
          <a:prstGeom prst="leftBrace">
            <a:avLst>
              <a:gd name="adj1" fmla="val 28849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800" b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9" name="Text Box 19">
            <a:extLst>
              <a:ext uri="{FF2B5EF4-FFF2-40B4-BE49-F238E27FC236}">
                <a16:creationId xmlns:a16="http://schemas.microsoft.com/office/drawing/2014/main" id="{7A9B7DB2-615F-4E70-8187-EAE9C5D4B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1844824"/>
            <a:ext cx="1979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上册</a:t>
            </a:r>
          </a:p>
        </p:txBody>
      </p:sp>
      <p:sp>
        <p:nvSpPr>
          <p:cNvPr id="66580" name="AutoShape 20">
            <a:extLst>
              <a:ext uri="{FF2B5EF4-FFF2-40B4-BE49-F238E27FC236}">
                <a16:creationId xmlns:a16="http://schemas.microsoft.com/office/drawing/2014/main" id="{DA13845C-3FBB-4C16-92CF-27CA68CF0211}"/>
              </a:ext>
            </a:extLst>
          </p:cNvPr>
          <p:cNvSpPr>
            <a:spLocks/>
          </p:cNvSpPr>
          <p:nvPr/>
        </p:nvSpPr>
        <p:spPr bwMode="auto">
          <a:xfrm>
            <a:off x="1871663" y="3448173"/>
            <a:ext cx="360362" cy="2356644"/>
          </a:xfrm>
          <a:prstGeom prst="leftBrace">
            <a:avLst>
              <a:gd name="adj1" fmla="val 6743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zh-CN" altLang="en-US" sz="1800" b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81" name="Text Box 21">
            <a:extLst>
              <a:ext uri="{FF2B5EF4-FFF2-40B4-BE49-F238E27FC236}">
                <a16:creationId xmlns:a16="http://schemas.microsoft.com/office/drawing/2014/main" id="{E9FD564F-5241-421E-BED3-9CE4CF03D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4350048"/>
            <a:ext cx="1979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下册</a:t>
            </a:r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5ED0F396-BF0B-4B13-AF5F-9BA064326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338" y="3244974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第三篇  电磁学</a:t>
            </a: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282BA133-8573-484C-998E-31A39066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866" y="3259832"/>
            <a:ext cx="299307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---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10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章）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withGroup">
                            <p:stCondLst>
                              <p:cond delay="1175"/>
                            </p:stCondLst>
                            <p:childTnLst>
                              <p:par>
                                <p:cTn id="87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9" dur="5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675"/>
                            </p:stCondLst>
                            <p:childTnLst>
                              <p:par>
                                <p:cTn id="9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withGroup">
                            <p:stCondLst>
                              <p:cond delay="2175"/>
                            </p:stCondLst>
                            <p:childTnLst>
                              <p:par>
                                <p:cTn id="9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0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675"/>
                            </p:stCondLst>
                            <p:childTnLst>
                              <p:par>
                                <p:cTn id="10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0" grpId="0" animBg="1"/>
      <p:bldP spid="66562" grpId="0" autoUpdateAnimBg="0"/>
      <p:bldP spid="66564" grpId="0" autoUpdateAnimBg="0"/>
      <p:bldP spid="66565" grpId="0" autoUpdateAnimBg="0"/>
      <p:bldP spid="66566" grpId="0" autoUpdateAnimBg="0"/>
      <p:bldP spid="66567" grpId="0" autoUpdateAnimBg="0"/>
      <p:bldP spid="66568" grpId="0" autoUpdateAnimBg="0"/>
      <p:bldP spid="66569" grpId="0" autoUpdateAnimBg="0"/>
      <p:bldP spid="66571" grpId="0" autoUpdateAnimBg="0"/>
      <p:bldP spid="66572" grpId="0" autoUpdateAnimBg="0"/>
      <p:bldP spid="66573" grpId="0" autoUpdateAnimBg="0"/>
      <p:bldP spid="66574" grpId="0" autoUpdateAnimBg="0"/>
      <p:bldP spid="66575" grpId="0" autoUpdateAnimBg="0"/>
      <p:bldP spid="66576" grpId="0" autoUpdateAnimBg="0"/>
      <p:bldP spid="66578" grpId="0" animBg="1"/>
      <p:bldP spid="66579" grpId="0"/>
      <p:bldP spid="66580" grpId="0" animBg="1"/>
      <p:bldP spid="66581" grpId="0"/>
      <p:bldP spid="23" grpId="0" autoUpdateAnimBg="0"/>
      <p:bldP spid="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50537"/>
          <a:stretch/>
        </p:blipFill>
        <p:spPr>
          <a:xfrm>
            <a:off x="467544" y="332654"/>
            <a:ext cx="4201684" cy="58326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3" y="332654"/>
            <a:ext cx="4134845" cy="583264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449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200">
                <a:solidFill>
                  <a:srgbClr val="A50021"/>
                </a:solidFill>
                <a:ea typeface="黑体" panose="02010609060101010101" pitchFamily="49" charset="-122"/>
              </a:rPr>
              <a:t>主要参考书：</a:t>
            </a:r>
            <a:endParaRPr lang="zh-CN" altLang="en-US" sz="3200" b="0">
              <a:solidFill>
                <a:srgbClr val="A50021"/>
              </a:solidFill>
              <a:ea typeface="黑体" panose="02010609060101010101" pitchFamily="49" charset="-122"/>
            </a:endParaRPr>
          </a:p>
        </p:txBody>
      </p:sp>
      <p:sp>
        <p:nvSpPr>
          <p:cNvPr id="345091" name="Text Box 3"/>
          <p:cNvSpPr txBox="1">
            <a:spLocks noChangeArrowheads="1"/>
          </p:cNvSpPr>
          <p:nvPr/>
        </p:nvSpPr>
        <p:spPr bwMode="auto">
          <a:xfrm>
            <a:off x="446856" y="2097088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333399"/>
                </a:solidFill>
              </a:rPr>
              <a:t>《</a:t>
            </a:r>
            <a:r>
              <a:rPr lang="zh-CN" altLang="en-US" sz="2800" b="1" dirty="0">
                <a:solidFill>
                  <a:srgbClr val="333399"/>
                </a:solidFill>
              </a:rPr>
              <a:t>物理学</a:t>
            </a:r>
            <a:r>
              <a:rPr lang="en-US" altLang="zh-CN" sz="2800" b="1" dirty="0">
                <a:solidFill>
                  <a:srgbClr val="333399"/>
                </a:solidFill>
              </a:rPr>
              <a:t>》</a:t>
            </a:r>
            <a:r>
              <a:rPr lang="zh-CN" altLang="en-US" sz="2800" dirty="0"/>
              <a:t>（美）</a:t>
            </a:r>
            <a:r>
              <a:rPr lang="en-US" altLang="zh-CN" sz="2800" dirty="0"/>
              <a:t>D.</a:t>
            </a:r>
            <a:r>
              <a:rPr lang="zh-CN" altLang="en-US" sz="2800" dirty="0"/>
              <a:t>哈里德      </a:t>
            </a:r>
            <a:r>
              <a:rPr lang="en-US" altLang="zh-CN" sz="2800" dirty="0"/>
              <a:t>R.</a:t>
            </a:r>
            <a:r>
              <a:rPr lang="zh-CN" altLang="en-US" sz="2800" dirty="0"/>
              <a:t>瑞斯尼克</a:t>
            </a:r>
            <a:endParaRPr lang="zh-CN" altLang="en-US" sz="2800" b="0" dirty="0"/>
          </a:p>
        </p:txBody>
      </p:sp>
      <p:sp>
        <p:nvSpPr>
          <p:cNvPr id="345092" name="Text Box 4"/>
          <p:cNvSpPr txBox="1">
            <a:spLocks noChangeArrowheads="1"/>
          </p:cNvSpPr>
          <p:nvPr/>
        </p:nvSpPr>
        <p:spPr bwMode="auto">
          <a:xfrm>
            <a:off x="468313" y="1412875"/>
            <a:ext cx="8169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333399"/>
                </a:solidFill>
              </a:rPr>
              <a:t>《</a:t>
            </a:r>
            <a:r>
              <a:rPr lang="zh-CN" altLang="en-US" sz="2800" b="1" dirty="0">
                <a:solidFill>
                  <a:srgbClr val="333399"/>
                </a:solidFill>
              </a:rPr>
              <a:t>大学物理学</a:t>
            </a:r>
            <a:r>
              <a:rPr lang="en-US" altLang="zh-CN" sz="2800" b="1" dirty="0">
                <a:solidFill>
                  <a:srgbClr val="333399"/>
                </a:solidFill>
              </a:rPr>
              <a:t>》</a:t>
            </a:r>
            <a:r>
              <a:rPr lang="zh-CN" altLang="en-US" sz="2800" b="1" dirty="0">
                <a:solidFill>
                  <a:srgbClr val="333399"/>
                </a:solidFill>
              </a:rPr>
              <a:t>  </a:t>
            </a:r>
            <a:r>
              <a:rPr lang="zh-CN" altLang="en-US" sz="2800" b="1" dirty="0"/>
              <a:t>    </a:t>
            </a:r>
            <a:r>
              <a:rPr lang="zh-CN" altLang="en-US" sz="2800" dirty="0"/>
              <a:t>张三慧等    </a:t>
            </a:r>
            <a:r>
              <a:rPr lang="en-US" altLang="zh-CN" sz="2800" dirty="0"/>
              <a:t>(</a:t>
            </a:r>
            <a:r>
              <a:rPr lang="zh-CN" altLang="en-US" sz="2800" dirty="0"/>
              <a:t>清华大学</a:t>
            </a:r>
            <a:r>
              <a:rPr lang="en-US" altLang="zh-CN" sz="2800" dirty="0"/>
              <a:t>)</a:t>
            </a:r>
          </a:p>
        </p:txBody>
      </p:sp>
      <p:sp>
        <p:nvSpPr>
          <p:cNvPr id="345093" name="Rectangle 5"/>
          <p:cNvSpPr>
            <a:spLocks noChangeArrowheads="1"/>
          </p:cNvSpPr>
          <p:nvPr/>
        </p:nvSpPr>
        <p:spPr bwMode="auto">
          <a:xfrm>
            <a:off x="503238" y="2887197"/>
            <a:ext cx="72170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333399"/>
                </a:solidFill>
              </a:rPr>
              <a:t>《</a:t>
            </a:r>
            <a:r>
              <a:rPr lang="zh-CN" altLang="en-US" sz="2800" b="1" dirty="0">
                <a:solidFill>
                  <a:srgbClr val="333399"/>
                </a:solidFill>
              </a:rPr>
              <a:t>普通物理学</a:t>
            </a:r>
            <a:r>
              <a:rPr lang="en-US" altLang="zh-CN" sz="2800" b="1" dirty="0">
                <a:solidFill>
                  <a:srgbClr val="333399"/>
                </a:solidFill>
              </a:rPr>
              <a:t>》</a:t>
            </a:r>
            <a:r>
              <a:rPr lang="zh-CN" altLang="en-US" sz="2800" dirty="0"/>
              <a:t>（第五版），程守洙 江之永 </a:t>
            </a:r>
          </a:p>
        </p:txBody>
      </p:sp>
      <p:sp>
        <p:nvSpPr>
          <p:cNvPr id="345094" name="Rectangle 6"/>
          <p:cNvSpPr>
            <a:spLocks noChangeArrowheads="1"/>
          </p:cNvSpPr>
          <p:nvPr/>
        </p:nvSpPr>
        <p:spPr bwMode="auto">
          <a:xfrm>
            <a:off x="503238" y="4437063"/>
            <a:ext cx="7164387" cy="97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800" dirty="0">
                <a:solidFill>
                  <a:srgbClr val="333399"/>
                </a:solidFill>
              </a:rPr>
              <a:t>《</a:t>
            </a:r>
            <a:r>
              <a:rPr lang="zh-CN" altLang="en-US" sz="2800" dirty="0">
                <a:solidFill>
                  <a:srgbClr val="333399"/>
                </a:solidFill>
              </a:rPr>
              <a:t>大学物理</a:t>
            </a:r>
            <a:r>
              <a:rPr lang="en-US" altLang="zh-CN" sz="2800" dirty="0">
                <a:solidFill>
                  <a:srgbClr val="333399"/>
                </a:solidFill>
              </a:rPr>
              <a:t>》</a:t>
            </a:r>
            <a:r>
              <a:rPr lang="zh-CN" altLang="en-US" sz="2800" dirty="0"/>
              <a:t>资源共享课网址</a:t>
            </a:r>
            <a:r>
              <a:rPr lang="en-US" altLang="zh-CN" sz="2800" dirty="0"/>
              <a:t>(</a:t>
            </a:r>
            <a:r>
              <a:rPr lang="zh-CN" altLang="en-US" sz="2800" dirty="0"/>
              <a:t>爱课程网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rgbClr val="333399"/>
                </a:solidFill>
              </a:rPr>
              <a:t> </a:t>
            </a:r>
            <a:r>
              <a:rPr lang="en-US" altLang="zh-CN" sz="2400" dirty="0">
                <a:solidFill>
                  <a:srgbClr val="333399"/>
                </a:solidFill>
              </a:rPr>
              <a:t>https://www.icourses.cn/sCourse/course_6180.html</a:t>
            </a:r>
            <a:r>
              <a:rPr lang="en-US" altLang="zh-CN" sz="2400" dirty="0"/>
              <a:t>   </a:t>
            </a:r>
          </a:p>
        </p:txBody>
      </p:sp>
      <p:sp>
        <p:nvSpPr>
          <p:cNvPr id="345095" name="Text Box 7"/>
          <p:cNvSpPr txBox="1">
            <a:spLocks noChangeArrowheads="1"/>
          </p:cNvSpPr>
          <p:nvPr/>
        </p:nvSpPr>
        <p:spPr bwMode="auto">
          <a:xfrm>
            <a:off x="576263" y="3752850"/>
            <a:ext cx="3311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200">
                <a:solidFill>
                  <a:srgbClr val="A50021"/>
                </a:solidFill>
                <a:ea typeface="黑体" panose="02010609060101010101" pitchFamily="49" charset="-122"/>
              </a:rPr>
              <a:t>相关网址</a:t>
            </a:r>
            <a:r>
              <a:rPr lang="en-US" altLang="zh-CN" sz="3200">
                <a:solidFill>
                  <a:srgbClr val="A50021"/>
                </a:solidFill>
                <a:ea typeface="黑体" panose="02010609060101010101" pitchFamily="49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7416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3A1CF11B-A061-4344-A637-B57BE15C1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-7938"/>
            <a:ext cx="9077325" cy="682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887413" y="2005161"/>
            <a:ext cx="426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333399"/>
                </a:solidFill>
                <a:ea typeface="黑体" panose="02010609060101010101" pitchFamily="49" charset="-122"/>
              </a:rPr>
              <a:t>第四篇  振动与波动</a:t>
            </a:r>
          </a:p>
        </p:txBody>
      </p:sp>
      <p:sp>
        <p:nvSpPr>
          <p:cNvPr id="344067" name="AutoShape 3"/>
          <p:cNvSpPr>
            <a:spLocks/>
          </p:cNvSpPr>
          <p:nvPr/>
        </p:nvSpPr>
        <p:spPr bwMode="auto">
          <a:xfrm>
            <a:off x="4535488" y="1828949"/>
            <a:ext cx="215900" cy="1017587"/>
          </a:xfrm>
          <a:prstGeom prst="leftBrace">
            <a:avLst>
              <a:gd name="adj1" fmla="val 39277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80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4068" name="Text Box 4"/>
          <p:cNvSpPr txBox="1">
            <a:spLocks noChangeArrowheads="1"/>
          </p:cNvSpPr>
          <p:nvPr/>
        </p:nvSpPr>
        <p:spPr bwMode="auto">
          <a:xfrm>
            <a:off x="4767263" y="1586061"/>
            <a:ext cx="2792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机械</a:t>
            </a:r>
            <a:r>
              <a:rPr lang="zh-CN" altLang="zh-CN" sz="2800">
                <a:solidFill>
                  <a:srgbClr val="000099"/>
                </a:solidFill>
              </a:rPr>
              <a:t>振动(</a:t>
            </a:r>
            <a:r>
              <a:rPr lang="en-US" altLang="zh-CN" sz="2800">
                <a:solidFill>
                  <a:srgbClr val="000099"/>
                </a:solidFill>
              </a:rPr>
              <a:t>6)</a:t>
            </a:r>
          </a:p>
        </p:txBody>
      </p:sp>
      <p:sp>
        <p:nvSpPr>
          <p:cNvPr id="344069" name="Text Box 5"/>
          <p:cNvSpPr txBox="1">
            <a:spLocks noChangeArrowheads="1"/>
          </p:cNvSpPr>
          <p:nvPr/>
        </p:nvSpPr>
        <p:spPr bwMode="auto">
          <a:xfrm>
            <a:off x="4767263" y="2060848"/>
            <a:ext cx="2325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000099"/>
                </a:solidFill>
              </a:rPr>
              <a:t>机械波</a:t>
            </a:r>
            <a:r>
              <a:rPr lang="en-US" altLang="zh-CN" sz="2800" dirty="0">
                <a:solidFill>
                  <a:srgbClr val="000099"/>
                </a:solidFill>
              </a:rPr>
              <a:t>(8)</a:t>
            </a:r>
          </a:p>
        </p:txBody>
      </p:sp>
      <p:sp>
        <p:nvSpPr>
          <p:cNvPr id="344070" name="Text Box 6"/>
          <p:cNvSpPr txBox="1">
            <a:spLocks noChangeArrowheads="1"/>
          </p:cNvSpPr>
          <p:nvPr/>
        </p:nvSpPr>
        <p:spPr bwMode="auto">
          <a:xfrm>
            <a:off x="4751388" y="2564904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000099"/>
                </a:solidFill>
              </a:rPr>
              <a:t>电磁振荡与电磁波</a:t>
            </a:r>
            <a:r>
              <a:rPr lang="en-US" altLang="zh-CN" sz="2800" dirty="0">
                <a:solidFill>
                  <a:srgbClr val="000099"/>
                </a:solidFill>
              </a:rPr>
              <a:t>(2)</a:t>
            </a:r>
          </a:p>
        </p:txBody>
      </p:sp>
      <p:sp>
        <p:nvSpPr>
          <p:cNvPr id="344071" name="Text Box 7"/>
          <p:cNvSpPr txBox="1">
            <a:spLocks noChangeArrowheads="1"/>
          </p:cNvSpPr>
          <p:nvPr/>
        </p:nvSpPr>
        <p:spPr bwMode="auto">
          <a:xfrm>
            <a:off x="900113" y="3484711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000099"/>
                </a:solidFill>
                <a:ea typeface="黑体" panose="02010609060101010101" pitchFamily="49" charset="-122"/>
              </a:rPr>
              <a:t>第五篇  波动光学</a:t>
            </a:r>
          </a:p>
        </p:txBody>
      </p:sp>
      <p:sp>
        <p:nvSpPr>
          <p:cNvPr id="344072" name="AutoShape 8"/>
          <p:cNvSpPr>
            <a:spLocks/>
          </p:cNvSpPr>
          <p:nvPr/>
        </p:nvSpPr>
        <p:spPr bwMode="auto">
          <a:xfrm>
            <a:off x="4535488" y="3233886"/>
            <a:ext cx="261937" cy="1073150"/>
          </a:xfrm>
          <a:prstGeom prst="leftBrace">
            <a:avLst>
              <a:gd name="adj1" fmla="val 34141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endParaRPr lang="zh-CN" altLang="zh-CN" sz="280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4073" name="Text Box 9"/>
          <p:cNvSpPr txBox="1">
            <a:spLocks noChangeArrowheads="1"/>
          </p:cNvSpPr>
          <p:nvPr/>
        </p:nvSpPr>
        <p:spPr bwMode="auto">
          <a:xfrm>
            <a:off x="4716463" y="3052911"/>
            <a:ext cx="2992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光波的干涉</a:t>
            </a:r>
            <a:r>
              <a:rPr lang="en-US" altLang="zh-CN" sz="2800">
                <a:solidFill>
                  <a:srgbClr val="000099"/>
                </a:solidFill>
              </a:rPr>
              <a:t>(6)</a:t>
            </a:r>
          </a:p>
        </p:txBody>
      </p:sp>
      <p:sp>
        <p:nvSpPr>
          <p:cNvPr id="344074" name="Text Box 10"/>
          <p:cNvSpPr txBox="1">
            <a:spLocks noChangeArrowheads="1"/>
          </p:cNvSpPr>
          <p:nvPr/>
        </p:nvSpPr>
        <p:spPr bwMode="auto">
          <a:xfrm>
            <a:off x="4751388" y="3484711"/>
            <a:ext cx="2798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光波的衍射</a:t>
            </a:r>
            <a:r>
              <a:rPr lang="en-US" altLang="zh-CN" sz="2800">
                <a:solidFill>
                  <a:srgbClr val="000099"/>
                </a:solidFill>
              </a:rPr>
              <a:t>(6)</a:t>
            </a:r>
          </a:p>
        </p:txBody>
      </p:sp>
      <p:sp>
        <p:nvSpPr>
          <p:cNvPr id="344075" name="Text Box 11"/>
          <p:cNvSpPr txBox="1">
            <a:spLocks noChangeArrowheads="1"/>
          </p:cNvSpPr>
          <p:nvPr/>
        </p:nvSpPr>
        <p:spPr bwMode="auto">
          <a:xfrm>
            <a:off x="4751388" y="3953024"/>
            <a:ext cx="2874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光波的偏振</a:t>
            </a:r>
            <a:r>
              <a:rPr lang="en-US" altLang="zh-CN" sz="2800">
                <a:solidFill>
                  <a:srgbClr val="000099"/>
                </a:solidFill>
              </a:rPr>
              <a:t>(4)</a:t>
            </a:r>
          </a:p>
        </p:txBody>
      </p:sp>
      <p:sp>
        <p:nvSpPr>
          <p:cNvPr id="344076" name="Text Box 12"/>
          <p:cNvSpPr txBox="1">
            <a:spLocks noChangeArrowheads="1"/>
          </p:cNvSpPr>
          <p:nvPr/>
        </p:nvSpPr>
        <p:spPr bwMode="auto">
          <a:xfrm>
            <a:off x="863600" y="5105549"/>
            <a:ext cx="38877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200">
                <a:solidFill>
                  <a:srgbClr val="000099"/>
                </a:solidFill>
                <a:ea typeface="黑体" panose="02010609060101010101" pitchFamily="49" charset="-122"/>
              </a:rPr>
              <a:t>第六篇  量子物理</a:t>
            </a:r>
          </a:p>
        </p:txBody>
      </p:sp>
      <p:sp>
        <p:nvSpPr>
          <p:cNvPr id="344077" name="Text Box 13"/>
          <p:cNvSpPr txBox="1">
            <a:spLocks noChangeArrowheads="1"/>
          </p:cNvSpPr>
          <p:nvPr/>
        </p:nvSpPr>
        <p:spPr bwMode="auto">
          <a:xfrm>
            <a:off x="4751388" y="4457849"/>
            <a:ext cx="3389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早期量子论</a:t>
            </a:r>
            <a:r>
              <a:rPr lang="en-US" altLang="zh-CN" sz="2800">
                <a:solidFill>
                  <a:srgbClr val="000099"/>
                </a:solidFill>
              </a:rPr>
              <a:t>(4)</a:t>
            </a:r>
          </a:p>
        </p:txBody>
      </p:sp>
      <p:sp>
        <p:nvSpPr>
          <p:cNvPr id="344079" name="Text Box 15"/>
          <p:cNvSpPr txBox="1">
            <a:spLocks noChangeArrowheads="1"/>
          </p:cNvSpPr>
          <p:nvPr/>
        </p:nvSpPr>
        <p:spPr bwMode="auto">
          <a:xfrm>
            <a:off x="4787900" y="4926161"/>
            <a:ext cx="3600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量子力学基础</a:t>
            </a:r>
            <a:r>
              <a:rPr lang="en-US" altLang="zh-CN" sz="2800">
                <a:solidFill>
                  <a:srgbClr val="000099"/>
                </a:solidFill>
              </a:rPr>
              <a:t>(10)</a:t>
            </a:r>
          </a:p>
        </p:txBody>
      </p:sp>
      <p:sp>
        <p:nvSpPr>
          <p:cNvPr id="344080" name="AutoShape 16"/>
          <p:cNvSpPr>
            <a:spLocks/>
          </p:cNvSpPr>
          <p:nvPr/>
        </p:nvSpPr>
        <p:spPr bwMode="auto">
          <a:xfrm>
            <a:off x="4535488" y="4673749"/>
            <a:ext cx="252412" cy="1476375"/>
          </a:xfrm>
          <a:prstGeom prst="leftBrace">
            <a:avLst>
              <a:gd name="adj1" fmla="val 48742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endParaRPr lang="zh-CN" altLang="zh-CN" sz="280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/>
              <a:cs typeface="楷体_GB2312"/>
            </a:endParaRPr>
          </a:p>
        </p:txBody>
      </p:sp>
      <p:sp>
        <p:nvSpPr>
          <p:cNvPr id="344081" name="Text Box 17"/>
          <p:cNvSpPr txBox="1">
            <a:spLocks noChangeArrowheads="1"/>
          </p:cNvSpPr>
          <p:nvPr/>
        </p:nvSpPr>
        <p:spPr bwMode="auto">
          <a:xfrm>
            <a:off x="2895213" y="1221"/>
            <a:ext cx="38512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A50021"/>
                </a:solidFill>
                <a:ea typeface="黑体" panose="02010609060101010101" pitchFamily="49" charset="-122"/>
              </a:rPr>
              <a:t>本学期的内容</a:t>
            </a:r>
          </a:p>
        </p:txBody>
      </p:sp>
      <p:sp>
        <p:nvSpPr>
          <p:cNvPr id="344086" name="Text Box 22"/>
          <p:cNvSpPr txBox="1">
            <a:spLocks noChangeArrowheads="1"/>
          </p:cNvSpPr>
          <p:nvPr/>
        </p:nvSpPr>
        <p:spPr bwMode="auto">
          <a:xfrm>
            <a:off x="4787900" y="5429399"/>
            <a:ext cx="347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激光和半导体</a:t>
            </a:r>
            <a:r>
              <a:rPr lang="en-US" altLang="zh-CN" sz="2800">
                <a:solidFill>
                  <a:srgbClr val="000099"/>
                </a:solidFill>
              </a:rPr>
              <a:t>(2)</a:t>
            </a:r>
          </a:p>
        </p:txBody>
      </p:sp>
      <p:sp>
        <p:nvSpPr>
          <p:cNvPr id="344088" name="Text Box 24"/>
          <p:cNvSpPr txBox="1">
            <a:spLocks noChangeArrowheads="1"/>
          </p:cNvSpPr>
          <p:nvPr/>
        </p:nvSpPr>
        <p:spPr bwMode="auto">
          <a:xfrm>
            <a:off x="4751388" y="5934224"/>
            <a:ext cx="3600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>
                <a:solidFill>
                  <a:srgbClr val="000099"/>
                </a:solidFill>
              </a:rPr>
              <a:t>原子核物理简介</a:t>
            </a:r>
            <a:r>
              <a:rPr lang="en-US" altLang="zh-CN" sz="2800">
                <a:solidFill>
                  <a:srgbClr val="000099"/>
                </a:solidFill>
              </a:rPr>
              <a:t>(2)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897996" y="747514"/>
            <a:ext cx="4248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333399"/>
                </a:solidFill>
                <a:ea typeface="黑体" panose="02010609060101010101" pitchFamily="49" charset="-122"/>
              </a:rPr>
              <a:t>第三篇  电磁学</a:t>
            </a: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4633913" y="516681"/>
            <a:ext cx="2992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</a:rPr>
              <a:t>恒定磁场</a:t>
            </a:r>
            <a:r>
              <a:rPr lang="en-US" altLang="zh-CN" sz="2800" dirty="0">
                <a:solidFill>
                  <a:srgbClr val="000099"/>
                </a:solidFill>
              </a:rPr>
              <a:t>(5)</a:t>
            </a: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4647498" y="1108074"/>
            <a:ext cx="27987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000099"/>
                </a:solidFill>
              </a:rPr>
              <a:t>电磁感应</a:t>
            </a:r>
            <a:r>
              <a:rPr lang="en-US" altLang="zh-CN" sz="2800" dirty="0">
                <a:solidFill>
                  <a:srgbClr val="000099"/>
                </a:solidFill>
              </a:rPr>
              <a:t>(9)</a:t>
            </a:r>
          </a:p>
        </p:txBody>
      </p:sp>
      <p:sp>
        <p:nvSpPr>
          <p:cNvPr id="26" name="AutoShape 19"/>
          <p:cNvSpPr>
            <a:spLocks/>
          </p:cNvSpPr>
          <p:nvPr/>
        </p:nvSpPr>
        <p:spPr bwMode="auto">
          <a:xfrm>
            <a:off x="4354380" y="747514"/>
            <a:ext cx="215900" cy="697646"/>
          </a:xfrm>
          <a:prstGeom prst="leftBrace">
            <a:avLst>
              <a:gd name="adj1" fmla="val 29596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80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278416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3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9" dur="2000"/>
                                        <p:tgtEl>
                                          <p:spTgt spid="3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3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6" dur="10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0" dur="1000"/>
                                        <p:tgtEl>
                                          <p:spTgt spid="3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4" dur="1000"/>
                                        <p:tgtEl>
                                          <p:spTgt spid="3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4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4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3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3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3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3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/>
      <p:bldP spid="344067" grpId="0" animBg="1"/>
      <p:bldP spid="344068" grpId="0"/>
      <p:bldP spid="344069" grpId="0"/>
      <p:bldP spid="344070" grpId="0"/>
      <p:bldP spid="344071" grpId="0"/>
      <p:bldP spid="344072" grpId="0" animBg="1"/>
      <p:bldP spid="344073" grpId="0"/>
      <p:bldP spid="344074" grpId="0"/>
      <p:bldP spid="344075" grpId="0"/>
      <p:bldP spid="344076" grpId="0"/>
      <p:bldP spid="344077" grpId="0"/>
      <p:bldP spid="344079" grpId="0"/>
      <p:bldP spid="344080" grpId="0" animBg="1"/>
      <p:bldP spid="344081" grpId="0"/>
      <p:bldP spid="344086" grpId="0"/>
      <p:bldP spid="344088" grpId="0"/>
      <p:bldP spid="23" grpId="0"/>
      <p:bldP spid="24" grpId="0"/>
      <p:bldP spid="25" grpId="0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5" name="Rectangle 5"/>
          <p:cNvSpPr>
            <a:spLocks noChangeArrowheads="1"/>
          </p:cNvSpPr>
          <p:nvPr/>
        </p:nvSpPr>
        <p:spPr bwMode="auto">
          <a:xfrm>
            <a:off x="215361" y="440432"/>
            <a:ext cx="892810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ea typeface="黑体" panose="02010609060101010101" pitchFamily="49" charset="-122"/>
              </a:rPr>
              <a:t>成绩构成</a:t>
            </a:r>
          </a:p>
          <a:p>
            <a:pPr algn="just" eaLnBrk="1" hangingPunct="1">
              <a:spcBef>
                <a:spcPct val="5000"/>
              </a:spcBef>
              <a:buFontTx/>
              <a:buNone/>
            </a:pPr>
            <a:r>
              <a:rPr kumimoji="0" lang="zh-CN" altLang="en-US" sz="2800" b="1" dirty="0"/>
              <a:t>平时成绩 </a:t>
            </a:r>
            <a:r>
              <a:rPr kumimoji="0" lang="en-US" altLang="zh-CN" sz="2800" b="1" dirty="0"/>
              <a:t>(</a:t>
            </a:r>
            <a:r>
              <a:rPr kumimoji="0" lang="en-US" altLang="zh-CN" sz="2800" b="1" dirty="0">
                <a:solidFill>
                  <a:srgbClr val="333399"/>
                </a:solidFill>
              </a:rPr>
              <a:t>20%</a:t>
            </a:r>
            <a:r>
              <a:rPr kumimoji="0" lang="en-US" altLang="zh-CN" sz="2800" b="1" dirty="0"/>
              <a:t>) + </a:t>
            </a:r>
            <a:r>
              <a:rPr kumimoji="0" lang="zh-CN" altLang="en-US" sz="2800" b="1" dirty="0"/>
              <a:t>网测</a:t>
            </a:r>
            <a:r>
              <a:rPr kumimoji="0" lang="en-US" altLang="zh-CN" sz="2800" b="1" dirty="0"/>
              <a:t>(</a:t>
            </a:r>
            <a:r>
              <a:rPr kumimoji="0" lang="en-US" altLang="zh-CN" sz="2800" b="1" dirty="0">
                <a:solidFill>
                  <a:srgbClr val="333399"/>
                </a:solidFill>
              </a:rPr>
              <a:t>10%</a:t>
            </a:r>
            <a:r>
              <a:rPr kumimoji="0" lang="en-US" altLang="zh-CN" sz="2800" b="1" dirty="0"/>
              <a:t>) + </a:t>
            </a:r>
            <a:r>
              <a:rPr kumimoji="0" lang="zh-CN" altLang="en-US" sz="2800" b="1" dirty="0"/>
              <a:t>考试卷面成绩</a:t>
            </a:r>
            <a:r>
              <a:rPr kumimoji="0" lang="en-US" altLang="zh-CN" sz="2800" b="1" dirty="0"/>
              <a:t>(</a:t>
            </a:r>
            <a:r>
              <a:rPr kumimoji="0" lang="en-US" altLang="zh-CN" sz="2800" b="1" dirty="0">
                <a:solidFill>
                  <a:srgbClr val="333399"/>
                </a:solidFill>
              </a:rPr>
              <a:t>70%</a:t>
            </a:r>
            <a:r>
              <a:rPr kumimoji="0" lang="en-US" altLang="zh-CN" sz="2800" b="1" dirty="0"/>
              <a:t>) </a:t>
            </a:r>
          </a:p>
        </p:txBody>
      </p:sp>
      <p:sp>
        <p:nvSpPr>
          <p:cNvPr id="399366" name="Rectangle 6"/>
          <p:cNvSpPr>
            <a:spLocks noChangeArrowheads="1"/>
          </p:cNvSpPr>
          <p:nvPr/>
        </p:nvSpPr>
        <p:spPr bwMode="auto">
          <a:xfrm>
            <a:off x="215900" y="1448495"/>
            <a:ext cx="6156300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FontTx/>
              <a:buNone/>
            </a:pPr>
            <a:r>
              <a:rPr kumimoji="0" lang="zh-CN" altLang="en-US" sz="2800" b="1" dirty="0"/>
              <a:t>平时成绩：平时作业</a:t>
            </a:r>
            <a:r>
              <a:rPr kumimoji="0" lang="en-US" altLang="zh-CN" sz="2800" b="1" dirty="0"/>
              <a:t>+</a:t>
            </a:r>
            <a:r>
              <a:rPr kumimoji="0" lang="zh-CN" altLang="en-US" sz="2800" b="1" dirty="0"/>
              <a:t>课前</a:t>
            </a:r>
            <a:r>
              <a:rPr kumimoji="0" lang="en-US" altLang="zh-CN" sz="2800" b="1" dirty="0"/>
              <a:t>/</a:t>
            </a:r>
            <a:r>
              <a:rPr kumimoji="0" lang="zh-CN" altLang="en-US" sz="2800" b="1" dirty="0"/>
              <a:t>课堂测试</a:t>
            </a:r>
            <a:endParaRPr kumimoji="0" lang="en-US" altLang="zh-CN" sz="2800" b="1" dirty="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15360" y="2116315"/>
            <a:ext cx="910916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"/>
              </a:spcBef>
              <a:buFontTx/>
              <a:buNone/>
            </a:pPr>
            <a:r>
              <a:rPr kumimoji="0" lang="zh-CN" altLang="en-US" sz="2800" b="1" dirty="0">
                <a:solidFill>
                  <a:srgbClr val="A50021"/>
                </a:solidFill>
                <a:ea typeface="黑体" panose="02010609060101010101" pitchFamily="49" charset="-122"/>
              </a:rPr>
              <a:t>平时作业</a:t>
            </a:r>
            <a:endParaRPr kumimoji="0" lang="en-US" altLang="zh-CN" sz="2800" b="1" dirty="0">
              <a:solidFill>
                <a:srgbClr val="A50021"/>
              </a:solidFill>
              <a:ea typeface="黑体" panose="02010609060101010101" pitchFamily="49" charset="-122"/>
            </a:endParaRPr>
          </a:p>
          <a:p>
            <a:pPr marL="0" indent="0" eaLnBrk="1" hangingPunct="1">
              <a:buNone/>
            </a:pPr>
            <a:r>
              <a:rPr kumimoji="0" lang="zh-CN" altLang="en-US" sz="2800" b="1" dirty="0"/>
              <a:t>每周五布置作业，每周三交</a:t>
            </a:r>
            <a:r>
              <a:rPr kumimoji="0" lang="en-US" altLang="zh-CN" sz="2800" b="1" dirty="0"/>
              <a:t>(</a:t>
            </a:r>
            <a:r>
              <a:rPr kumimoji="0" lang="zh-CN" altLang="en-US" sz="2800" b="1" dirty="0"/>
              <a:t>发</a:t>
            </a:r>
            <a:r>
              <a:rPr kumimoji="0" lang="en-US" altLang="zh-CN" sz="2800" b="1" dirty="0"/>
              <a:t>)</a:t>
            </a:r>
            <a:r>
              <a:rPr kumimoji="0" lang="zh-CN" altLang="en-US" sz="2800" b="1" dirty="0"/>
              <a:t>作业</a:t>
            </a:r>
            <a:r>
              <a:rPr kumimoji="0" lang="en-US" altLang="zh-CN" sz="2800" b="1" dirty="0"/>
              <a:t>(</a:t>
            </a:r>
            <a:r>
              <a:rPr kumimoji="0" lang="zh-CN" altLang="en-US" sz="2800" b="1" dirty="0"/>
              <a:t>特殊情况再通知</a:t>
            </a:r>
            <a:r>
              <a:rPr kumimoji="0" lang="en-US" altLang="zh-CN" sz="2800" b="1" dirty="0"/>
              <a:t>)</a:t>
            </a:r>
            <a:r>
              <a:rPr kumimoji="0" lang="zh-CN" altLang="en-US" sz="2800" b="1" dirty="0"/>
              <a:t>。</a:t>
            </a:r>
            <a:endParaRPr kumimoji="0" lang="en-US" altLang="zh-CN" sz="2800" b="1" dirty="0">
              <a:solidFill>
                <a:srgbClr val="333399"/>
              </a:solidFill>
            </a:endParaRPr>
          </a:p>
          <a:p>
            <a:pPr marL="0" indent="0" eaLnBrk="1" hangingPunct="1">
              <a:buNone/>
            </a:pPr>
            <a:endParaRPr kumimoji="0" lang="en-US" altLang="zh-CN" sz="28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13" y="3340451"/>
            <a:ext cx="7849623" cy="286560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76117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5" grpId="0" build="p"/>
      <p:bldP spid="399366" grpId="0" build="p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33393" y="111125"/>
            <a:ext cx="7994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/>
              <a:t>什么是</a:t>
            </a:r>
            <a:r>
              <a:rPr lang="zh-CN" altLang="en-US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物理学</a:t>
            </a:r>
            <a:r>
              <a:rPr lang="zh-CN" altLang="en-US"/>
              <a:t>？</a:t>
            </a:r>
            <a:r>
              <a:rPr lang="zh-CN" altLang="en-US">
                <a:solidFill>
                  <a:srgbClr val="FF0000"/>
                </a:solidFill>
              </a:rPr>
              <a:t>      </a:t>
            </a:r>
            <a:endParaRPr lang="zh-CN" altLang="en-US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77831" y="5954775"/>
            <a:ext cx="8861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FF"/>
                </a:solidFill>
              </a:rPr>
              <a:t>物理学</a:t>
            </a:r>
            <a:r>
              <a:rPr lang="en-US" altLang="zh-CN" sz="2800" b="1" dirty="0">
                <a:solidFill>
                  <a:srgbClr val="0000FF"/>
                </a:solidFill>
              </a:rPr>
              <a:t>: </a:t>
            </a:r>
            <a:r>
              <a:rPr lang="zh-CN" altLang="en-US" sz="2800" b="1" dirty="0">
                <a:solidFill>
                  <a:srgbClr val="0000FF"/>
                </a:solidFill>
              </a:rPr>
              <a:t>研究物质的结构、相互作用和基本运动规律。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1800" y="3887794"/>
            <a:ext cx="8712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可以说，物理学发轫于人类天生的好奇心和对真理的非功利性的追求。它的研究成果不断加深着我们对自然界的认识，并不断带给我们新的思想、新的概念、新的技术、新的财富 、新的生活 </a:t>
            </a:r>
            <a:r>
              <a:rPr lang="en-US" altLang="zh-CN" sz="2800" b="1" dirty="0"/>
              <a:t>… …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705206" y="1509285"/>
            <a:ext cx="7710487" cy="228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800" b="1" dirty="0">
                <a:solidFill>
                  <a:srgbClr val="990000"/>
                </a:solidFill>
                <a:latin typeface="华文新魏" pitchFamily="2" charset="-122"/>
                <a:ea typeface="华文新魏" pitchFamily="2" charset="-122"/>
              </a:rPr>
              <a:t>         </a:t>
            </a:r>
            <a:r>
              <a:rPr lang="en-US" altLang="zh-CN" sz="2800" b="1" dirty="0">
                <a:solidFill>
                  <a:srgbClr val="990000"/>
                </a:solidFill>
                <a:ea typeface="华文新魏" pitchFamily="2" charset="-122"/>
              </a:rPr>
              <a:t>“</a:t>
            </a:r>
            <a:r>
              <a:rPr lang="zh-CN" altLang="en-US" sz="2800" b="1" dirty="0">
                <a:solidFill>
                  <a:srgbClr val="990000"/>
                </a:solidFill>
                <a:latin typeface="华文新魏" pitchFamily="2" charset="-122"/>
                <a:ea typeface="华文新魏" pitchFamily="2" charset="-122"/>
              </a:rPr>
              <a:t>北京颐和园昆明湖畔、万寿山麓有一座铜亭。从长廊前往铜亭的山路穿过一个石牌坊。那牌坊上一幅对联的下联总要使大自然的爱好者浮想联翩 </a:t>
            </a:r>
            <a:r>
              <a:rPr lang="en-US" altLang="zh-CN" sz="2800" b="1" dirty="0">
                <a:solidFill>
                  <a:srgbClr val="990000"/>
                </a:solidFill>
                <a:ea typeface="华文新魏" pitchFamily="2" charset="-122"/>
              </a:rPr>
              <a:t>…</a:t>
            </a:r>
            <a:r>
              <a:rPr lang="en-US" altLang="zh-CN" sz="2800" b="1" dirty="0">
                <a:solidFill>
                  <a:srgbClr val="99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b="1" dirty="0">
                <a:solidFill>
                  <a:srgbClr val="990000"/>
                </a:solidFill>
                <a:ea typeface="华文新魏" pitchFamily="2" charset="-122"/>
              </a:rPr>
              <a:t>…”</a:t>
            </a:r>
            <a:endParaRPr lang="en-US" altLang="zh-CN" sz="2800" b="1" dirty="0">
              <a:solidFill>
                <a:srgbClr val="990000"/>
              </a:solidFill>
              <a:latin typeface="华文新魏" pitchFamily="2" charset="-122"/>
              <a:ea typeface="华文新魏" pitchFamily="2" charset="-122"/>
            </a:endParaRP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990000"/>
                </a:solidFill>
                <a:latin typeface="华文新魏" pitchFamily="2" charset="-122"/>
                <a:ea typeface="华文新魏" pitchFamily="2" charset="-122"/>
              </a:rPr>
              <a:t>　　　</a:t>
            </a:r>
            <a:r>
              <a:rPr lang="en-US" altLang="zh-CN" sz="2800" b="1" dirty="0">
                <a:solidFill>
                  <a:srgbClr val="990000"/>
                </a:solidFill>
                <a:ea typeface="华文新魏" pitchFamily="2" charset="-122"/>
                <a:cs typeface="Times New Roman" pitchFamily="18" charset="0"/>
              </a:rPr>
              <a:t>—</a:t>
            </a:r>
            <a:r>
              <a:rPr lang="en-US" altLang="zh-CN" sz="2800" b="1" dirty="0">
                <a:solidFill>
                  <a:srgbClr val="99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b="1" dirty="0">
                <a:solidFill>
                  <a:srgbClr val="990000"/>
                </a:solidFill>
                <a:ea typeface="华文新魏" pitchFamily="2" charset="-122"/>
              </a:rPr>
              <a:t>«</a:t>
            </a:r>
            <a:r>
              <a:rPr lang="zh-CN" altLang="en-US" sz="2800" b="1" dirty="0">
                <a:ea typeface="楷体_GB2312"/>
                <a:cs typeface="楷体_GB2312"/>
              </a:rPr>
              <a:t>相变和临界现象</a:t>
            </a:r>
            <a:r>
              <a:rPr lang="en-US" altLang="zh-CN" sz="2800" b="1" dirty="0">
                <a:solidFill>
                  <a:srgbClr val="990000"/>
                </a:solidFill>
                <a:ea typeface="华文新魏" pitchFamily="2" charset="-122"/>
              </a:rPr>
              <a:t>» </a:t>
            </a:r>
            <a:r>
              <a:rPr lang="en-US" altLang="zh-CN" sz="2800" b="1" dirty="0"/>
              <a:t> </a:t>
            </a:r>
            <a:r>
              <a:rPr lang="zh-CN" altLang="en-US" sz="2800" b="1" dirty="0">
                <a:latin typeface="楷体_GB2312"/>
                <a:ea typeface="楷体_GB2312"/>
                <a:cs typeface="楷体_GB2312"/>
              </a:rPr>
              <a:t>于渌 郝伯林</a:t>
            </a:r>
            <a:endParaRPr lang="zh-CN" altLang="en-US" sz="2800" b="1" dirty="0">
              <a:solidFill>
                <a:srgbClr val="99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38663" y="111125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</a:rPr>
              <a:t>“物理”一词在英文里是“</a:t>
            </a:r>
            <a:r>
              <a:rPr lang="en-US" altLang="zh-CN" sz="1800">
                <a:solidFill>
                  <a:srgbClr val="0000FF"/>
                </a:solidFill>
              </a:rPr>
              <a:t>physics”</a:t>
            </a:r>
            <a:r>
              <a:rPr lang="zh-CN" altLang="en-US" sz="1800">
                <a:solidFill>
                  <a:srgbClr val="0000FF"/>
                </a:solidFill>
              </a:rPr>
              <a:t>，最先出自于古希腊文“</a:t>
            </a:r>
            <a:r>
              <a:rPr lang="el-GR" altLang="zh-CN" sz="1800">
                <a:solidFill>
                  <a:srgbClr val="0000FF"/>
                </a:solidFill>
              </a:rPr>
              <a:t>φύσις”</a:t>
            </a:r>
            <a:r>
              <a:rPr lang="zh-CN" altLang="el-GR" sz="1800">
                <a:solidFill>
                  <a:srgbClr val="0000FF"/>
                </a:solidFill>
              </a:rPr>
              <a:t>，</a:t>
            </a:r>
            <a:r>
              <a:rPr lang="zh-CN" altLang="en-US" sz="1800">
                <a:solidFill>
                  <a:srgbClr val="0000FF"/>
                </a:solidFill>
              </a:rPr>
              <a:t>原意是自然。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450431" y="862954"/>
            <a:ext cx="4176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accent2"/>
                </a:solidFill>
              </a:rPr>
              <a:t>“</a:t>
            </a:r>
            <a:r>
              <a:rPr lang="zh-CN" altLang="en-US" sz="3600" dirty="0">
                <a:solidFill>
                  <a:srgbClr val="990000"/>
                </a:solidFill>
              </a:rPr>
              <a:t>物</a:t>
            </a:r>
            <a:r>
              <a:rPr lang="zh-CN" altLang="en-US" sz="3600" dirty="0">
                <a:solidFill>
                  <a:schemeClr val="accent2"/>
                </a:solidFill>
              </a:rPr>
              <a:t>含妙</a:t>
            </a:r>
            <a:r>
              <a:rPr lang="zh-CN" altLang="en-US" sz="3600" dirty="0">
                <a:solidFill>
                  <a:srgbClr val="990000"/>
                </a:solidFill>
              </a:rPr>
              <a:t>理</a:t>
            </a:r>
            <a:r>
              <a:rPr lang="zh-CN" altLang="en-US" sz="3600" dirty="0">
                <a:solidFill>
                  <a:schemeClr val="accent2"/>
                </a:solidFill>
              </a:rPr>
              <a:t>总堪寻”</a:t>
            </a:r>
          </a:p>
        </p:txBody>
      </p:sp>
    </p:spTree>
    <p:extLst>
      <p:ext uri="{BB962C8B-B14F-4D97-AF65-F5344CB8AC3E}">
        <p14:creationId xmlns:p14="http://schemas.microsoft.com/office/powerpoint/2010/main" val="2777116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/>
      <p:bldP spid="6" grpId="0"/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001713" y="1380341"/>
            <a:ext cx="9078912" cy="485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计算机</a:t>
            </a:r>
            <a:r>
              <a:rPr lang="zh-CN" altLang="en-US" sz="2000" dirty="0">
                <a:solidFill>
                  <a:srgbClr val="660033"/>
                </a:solidFill>
              </a:rPr>
              <a:t>（电子管，晶体管，半导体物理，量子力学，隧道效应，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660033"/>
                </a:solidFill>
              </a:rPr>
              <a:t>　　　　</a:t>
            </a:r>
            <a:r>
              <a:rPr lang="en-US" altLang="zh-CN" sz="2000" dirty="0">
                <a:solidFill>
                  <a:srgbClr val="660033"/>
                </a:solidFill>
              </a:rPr>
              <a:t>STM</a:t>
            </a:r>
            <a:r>
              <a:rPr lang="zh-CN" altLang="en-US" sz="2000" dirty="0">
                <a:solidFill>
                  <a:srgbClr val="660033"/>
                </a:solidFill>
              </a:rPr>
              <a:t>，</a:t>
            </a:r>
            <a:r>
              <a:rPr lang="en-US" altLang="zh-CN" sz="2000" dirty="0">
                <a:solidFill>
                  <a:srgbClr val="660033"/>
                </a:solidFill>
              </a:rPr>
              <a:t>AFM</a:t>
            </a:r>
            <a:r>
              <a:rPr lang="zh-CN" altLang="en-US" sz="2000" dirty="0">
                <a:solidFill>
                  <a:srgbClr val="660033"/>
                </a:solidFill>
              </a:rPr>
              <a:t>）</a:t>
            </a:r>
            <a:r>
              <a:rPr lang="zh-CN" altLang="en-US" sz="2000" dirty="0">
                <a:solidFill>
                  <a:schemeClr val="accent2"/>
                </a:solidFill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660033"/>
                </a:solidFill>
              </a:rPr>
              <a:t>测谎仪与核磁共振</a:t>
            </a:r>
            <a:r>
              <a:rPr lang="en-US" altLang="zh-CN" sz="2000" dirty="0">
                <a:solidFill>
                  <a:srgbClr val="660033"/>
                </a:solidFill>
              </a:rPr>
              <a:t>NMR(</a:t>
            </a:r>
            <a:r>
              <a:rPr lang="zh-CN" altLang="en-US" sz="2000" dirty="0">
                <a:solidFill>
                  <a:srgbClr val="660033"/>
                </a:solidFill>
              </a:rPr>
              <a:t>成像</a:t>
            </a:r>
            <a:r>
              <a:rPr lang="en-US" altLang="zh-CN" sz="2000" dirty="0">
                <a:solidFill>
                  <a:srgbClr val="660033"/>
                </a:solidFill>
              </a:rPr>
              <a:t>)</a:t>
            </a:r>
            <a:r>
              <a:rPr lang="zh-CN" altLang="en-US" sz="2000" dirty="0">
                <a:solidFill>
                  <a:schemeClr val="accent2"/>
                </a:solidFill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660033"/>
                </a:solidFill>
              </a:rPr>
              <a:t>受控核聚变；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660033"/>
                </a:solidFill>
              </a:rPr>
              <a:t>反物质（</a:t>
            </a:r>
            <a:r>
              <a:rPr lang="en-US" altLang="zh-CN" sz="2000" dirty="0">
                <a:solidFill>
                  <a:srgbClr val="660033"/>
                </a:solidFill>
              </a:rPr>
              <a:t>Dirac</a:t>
            </a:r>
            <a:r>
              <a:rPr lang="zh-CN" altLang="en-US" sz="2000" dirty="0">
                <a:solidFill>
                  <a:srgbClr val="660033"/>
                </a:solidFill>
              </a:rPr>
              <a:t>）；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660033"/>
                </a:solidFill>
              </a:rPr>
              <a:t>相控阵雷达 ；</a:t>
            </a:r>
            <a:endParaRPr lang="zh-CN" altLang="en-US" sz="20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660033"/>
                </a:solidFill>
              </a:rPr>
              <a:t>量子通讯；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中微子通讯 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等离子体隐身；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探雷器（金属探测器，涡流）；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手机辐射</a:t>
            </a:r>
            <a:r>
              <a:rPr lang="en-US" altLang="zh-CN" sz="2000" dirty="0"/>
              <a:t>, </a:t>
            </a:r>
            <a:r>
              <a:rPr lang="zh-CN" altLang="en-US" sz="2000" dirty="0"/>
              <a:t>天线；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太阳温度的估算；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挽救失控卫星　</a:t>
            </a:r>
            <a:r>
              <a:rPr lang="en-US" altLang="zh-CN" sz="2000" dirty="0"/>
              <a:t>……</a:t>
            </a:r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468313" y="711101"/>
            <a:ext cx="784810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4000" dirty="0">
                <a:solidFill>
                  <a:srgbClr val="990033"/>
                </a:solidFill>
              </a:rPr>
              <a:t>       </a:t>
            </a:r>
            <a:r>
              <a:rPr lang="zh-CN" altLang="en-US" sz="4000" dirty="0">
                <a:solidFill>
                  <a:srgbClr val="990033"/>
                </a:solidFill>
              </a:rPr>
              <a:t>物理学是人类现代文明的基石</a:t>
            </a:r>
          </a:p>
        </p:txBody>
      </p:sp>
      <p:pic>
        <p:nvPicPr>
          <p:cNvPr id="6" name="Picture 20" descr="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96088"/>
            <a:ext cx="77788" cy="6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0642C14F-38FB-417C-B267-46DF1145B219}"/>
              </a:ext>
            </a:extLst>
          </p:cNvPr>
          <p:cNvSpPr txBox="1"/>
          <p:nvPr/>
        </p:nvSpPr>
        <p:spPr>
          <a:xfrm>
            <a:off x="539750" y="188913"/>
            <a:ext cx="38924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为什么要学习物理？</a:t>
            </a:r>
          </a:p>
        </p:txBody>
      </p:sp>
    </p:spTree>
    <p:extLst>
      <p:ext uri="{BB962C8B-B14F-4D97-AF65-F5344CB8AC3E}">
        <p14:creationId xmlns:p14="http://schemas.microsoft.com/office/powerpoint/2010/main" val="40333439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077308" y="706502"/>
            <a:ext cx="5410200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15" b="1" dirty="0">
                <a:solidFill>
                  <a:srgbClr val="660066"/>
                </a:solidFill>
                <a:ea typeface="楷体_GB2312" pitchFamily="49" charset="-122"/>
              </a:rPr>
              <a:t>物理学与工程技术的关系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940777" y="1240524"/>
            <a:ext cx="7391400" cy="1285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* 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第一次工业革命（</a:t>
            </a: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17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18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世纪）：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15" b="1" dirty="0">
                <a:latin typeface="宋体" panose="02010600030101010101" pitchFamily="2" charset="-122"/>
              </a:rPr>
              <a:t>建立在</a:t>
            </a:r>
            <a:r>
              <a:rPr lang="zh-CN" altLang="en-US" sz="2215" b="1" dirty="0">
                <a:solidFill>
                  <a:srgbClr val="CC0000"/>
                </a:solidFill>
                <a:latin typeface="宋体" panose="02010600030101010101" pitchFamily="2" charset="-122"/>
              </a:rPr>
              <a:t>牛顿力学</a:t>
            </a:r>
            <a:r>
              <a:rPr lang="zh-CN" altLang="en-US" sz="2215" b="1" dirty="0">
                <a:latin typeface="宋体" panose="02010600030101010101" pitchFamily="2" charset="-122"/>
              </a:rPr>
              <a:t>和</a:t>
            </a:r>
            <a:r>
              <a:rPr lang="zh-CN" altLang="en-US" sz="2215" b="1" dirty="0">
                <a:solidFill>
                  <a:srgbClr val="CC0000"/>
                </a:solidFill>
                <a:latin typeface="宋体" panose="02010600030101010101" pitchFamily="2" charset="-122"/>
              </a:rPr>
              <a:t>热力学</a:t>
            </a:r>
            <a:r>
              <a:rPr lang="zh-CN" altLang="en-US" sz="2215" b="1" dirty="0">
                <a:latin typeface="宋体" panose="02010600030101010101" pitchFamily="2" charset="-122"/>
              </a:rPr>
              <a:t>发展的基础上，其标志是以蒸汽机为代表的一系列机械的产生和应用。</a:t>
            </a:r>
            <a:endParaRPr lang="zh-CN" altLang="en-US" sz="2215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937847" y="2576955"/>
            <a:ext cx="7323992" cy="1285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15" b="1" dirty="0">
                <a:solidFill>
                  <a:srgbClr val="FF0000"/>
                </a:solidFill>
              </a:rPr>
              <a:t> </a:t>
            </a: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* 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第二次工业革命（</a:t>
            </a: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19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世纪）：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15" b="1" dirty="0"/>
              <a:t>建立在</a:t>
            </a:r>
            <a:r>
              <a:rPr lang="zh-CN" altLang="en-US" sz="2215" b="1" dirty="0">
                <a:solidFill>
                  <a:srgbClr val="CC0000"/>
                </a:solidFill>
              </a:rPr>
              <a:t>电磁理论</a:t>
            </a:r>
            <a:r>
              <a:rPr lang="zh-CN" altLang="en-US" sz="2215" b="1" dirty="0"/>
              <a:t>发展的基础上，其标志是发电机、电      动机、电讯设备的出现和应用。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030166" y="3861048"/>
            <a:ext cx="7467600" cy="1626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* 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第三次工业革命（</a:t>
            </a: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20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世纪）：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15" b="1" dirty="0"/>
              <a:t>建立在</a:t>
            </a:r>
            <a:r>
              <a:rPr lang="zh-CN" altLang="en-US" sz="2215" b="1" dirty="0">
                <a:solidFill>
                  <a:srgbClr val="CC0000"/>
                </a:solidFill>
              </a:rPr>
              <a:t>相对论</a:t>
            </a:r>
            <a:r>
              <a:rPr lang="zh-CN" altLang="en-US" sz="2215" b="1" dirty="0"/>
              <a:t>和</a:t>
            </a:r>
            <a:r>
              <a:rPr lang="zh-CN" altLang="en-US" sz="2215" b="1" dirty="0">
                <a:solidFill>
                  <a:srgbClr val="CC0000"/>
                </a:solidFill>
              </a:rPr>
              <a:t>量子力学</a:t>
            </a:r>
            <a:r>
              <a:rPr lang="zh-CN" altLang="en-US" sz="2215" b="1" dirty="0"/>
              <a:t>发展的基础上，其标志是以信息技术为代表的一系列新学科、新材料、新能源、新技术的兴起和发展。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890954" y="1196752"/>
            <a:ext cx="7441223" cy="5229958"/>
          </a:xfrm>
          <a:prstGeom prst="rect">
            <a:avLst/>
          </a:prstGeom>
          <a:noFill/>
          <a:ln w="57150">
            <a:solidFill>
              <a:srgbClr val="8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215"/>
          </a:p>
        </p:txBody>
      </p:sp>
      <p:sp>
        <p:nvSpPr>
          <p:cNvPr id="3080" name="Text Box 6"/>
          <p:cNvSpPr txBox="1">
            <a:spLocks noChangeArrowheads="1"/>
          </p:cNvSpPr>
          <p:nvPr/>
        </p:nvSpPr>
        <p:spPr bwMode="auto">
          <a:xfrm>
            <a:off x="1019908" y="5445224"/>
            <a:ext cx="7467600" cy="77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* </a:t>
            </a:r>
            <a:r>
              <a:rPr lang="zh-CN" altLang="en-US" sz="2215" b="1" dirty="0">
                <a:solidFill>
                  <a:srgbClr val="FF0000"/>
                </a:solidFill>
                <a:latin typeface="宋体" panose="02010600030101010101" pitchFamily="2" charset="-122"/>
              </a:rPr>
              <a:t>第四次工业革命（当前）：量子通讯、量子计算；人工智能等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0642C14F-38FB-417C-B267-46DF1145B219}"/>
              </a:ext>
            </a:extLst>
          </p:cNvPr>
          <p:cNvSpPr txBox="1"/>
          <p:nvPr/>
        </p:nvSpPr>
        <p:spPr>
          <a:xfrm>
            <a:off x="539750" y="188913"/>
            <a:ext cx="38924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为什么要学习物理？</a:t>
            </a:r>
          </a:p>
        </p:txBody>
      </p:sp>
    </p:spTree>
    <p:extLst>
      <p:ext uri="{BB962C8B-B14F-4D97-AF65-F5344CB8AC3E}">
        <p14:creationId xmlns:p14="http://schemas.microsoft.com/office/powerpoint/2010/main" val="274667400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2C14F-38FB-417C-B267-46DF1145B219}"/>
              </a:ext>
            </a:extLst>
          </p:cNvPr>
          <p:cNvSpPr txBox="1"/>
          <p:nvPr/>
        </p:nvSpPr>
        <p:spPr>
          <a:xfrm>
            <a:off x="539750" y="188913"/>
            <a:ext cx="47163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为什么要学习大学物理？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CCB132-57E6-46F2-AEA7-0EBB202381BF}"/>
              </a:ext>
            </a:extLst>
          </p:cNvPr>
          <p:cNvSpPr/>
          <p:nvPr/>
        </p:nvSpPr>
        <p:spPr>
          <a:xfrm>
            <a:off x="539750" y="1975480"/>
            <a:ext cx="6615113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更好地生活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宋体" pitchFamily="2" charset="-122"/>
              </a:rPr>
              <a:t>电磁波是如何产生和传播的？</a:t>
            </a:r>
            <a:endParaRPr lang="en-US" altLang="zh-CN" sz="2800" b="1" dirty="0"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宋体" pitchFamily="2" charset="-122"/>
              </a:rPr>
              <a:t>3D</a:t>
            </a:r>
            <a:r>
              <a:rPr lang="zh-CN" altLang="en-US" sz="2800" b="1" dirty="0">
                <a:latin typeface="宋体" pitchFamily="2" charset="-122"/>
              </a:rPr>
              <a:t>电影是如何实现的？</a:t>
            </a:r>
            <a:endParaRPr lang="en-US" altLang="zh-CN" sz="2800" b="1" dirty="0"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宋体" pitchFamily="2" charset="-122"/>
              </a:rPr>
              <a:t>天空为什么是蓝色？</a:t>
            </a:r>
            <a:endParaRPr lang="en-US" altLang="zh-CN" sz="2800" b="1" dirty="0"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宋体" pitchFamily="2" charset="-122"/>
              </a:rPr>
              <a:t>光速旅行可能成为现实吗？</a:t>
            </a:r>
            <a:endParaRPr lang="en-US" altLang="zh-CN" sz="2800" b="1" dirty="0"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宋体" pitchFamily="2" charset="-122"/>
              </a:rPr>
              <a:t>。。。。。。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7986" y="908720"/>
            <a:ext cx="85760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更好地学习和工作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宋体" pitchFamily="2" charset="-122"/>
              </a:rPr>
              <a:t>半导体芯片，电路，电磁波，通信系统。。。。。。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7" y="4797152"/>
            <a:ext cx="66151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“聪明的孩子学物理”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宋体" pitchFamily="2" charset="-122"/>
              </a:rPr>
              <a:t>What? Why? How?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76997" y="5733256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培养物理思维！</a:t>
            </a:r>
            <a:endParaRPr lang="en-US" sz="28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353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1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45886" y="726784"/>
            <a:ext cx="8964612" cy="6355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76225" algn="ctr">
              <a:tabLst>
                <a:tab pos="228600" algn="l"/>
              </a:tabLst>
            </a:pPr>
            <a:r>
              <a:rPr lang="zh-CN" altLang="en-US" sz="2000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目标的威力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(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李静林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indent="276225" algn="ctr">
              <a:tabLst>
                <a:tab pos="228600" algn="l"/>
              </a:tabLst>
            </a:pPr>
            <a:endParaRPr lang="en-US" altLang="zh-CN" sz="900" b="0" dirty="0">
              <a:solidFill>
                <a:srgbClr val="CC0000"/>
              </a:solidFill>
              <a:latin typeface="Arial" pitchFamily="34" charset="0"/>
              <a:ea typeface="Arial Unicode MS" pitchFamily="34" charset="-122"/>
              <a:cs typeface="Arial Unicode MS" pitchFamily="34" charset="-122"/>
            </a:endParaRPr>
          </a:p>
          <a:p>
            <a:pPr indent="276225" eaLnBrk="0" hangingPunct="0">
              <a:tabLst>
                <a:tab pos="228600" algn="l"/>
              </a:tabLst>
            </a:pP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哈佛大学有一个非常著名的关于目标对人生影响的跟踪调查。对象是一群智力、学历、环境等条件差不多的年轻人，调查结果发现：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27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％的人没有目标；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60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％的人目标模糊；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10%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的人有清晰但比较短期的目标；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3%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的人有清晰且长期的目标。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25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年的跟踪研究结果，他们的生活状况及分布现象十分有意思。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那些占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3%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者，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25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年来几乎都不曾更改过自己的人生目标。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25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年来他们都朝着同一方向不懈地努力，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25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年后，他们几乎都成了社会各界的顶尖成功人士，他们中不乏白手创业者、行业领袖、社会精英。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那些占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10%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有清晰短期目标者，大都生活在社会的中上层。他们的共同特点是，那些短期目标不断被达成，生活状态稳步上升，成为各行各业的不可缺的专业人士。如医生、律师、工程师、高级主管，等等。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其中占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60%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的目标模糊者，几乎都生活在社会的中下层面，他们能安稳地生活与工作，但都没有什么特别的成绩。</a:t>
            </a:r>
          </a:p>
          <a:p>
            <a:pPr indent="276225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剩下的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27%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是那些</a:t>
            </a:r>
            <a:r>
              <a:rPr lang="en-US" altLang="zh-CN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25</a:t>
            </a: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年来都没有目标的人群，他们几乎都生活在社会的最底层。他们的生活都过得不如意，常常失业，靠社会救济，并且常常都在抱怨他人，抱怨社会，抱怨世界</a:t>
            </a:r>
            <a:r>
              <a:rPr lang="zh-CN" altLang="en-US" dirty="0">
                <a:solidFill>
                  <a:srgbClr val="CC0000"/>
                </a:solidFill>
                <a:ea typeface="Arial Unicode MS" pitchFamily="34" charset="-122"/>
                <a:cs typeface="Arial Unicode MS" pitchFamily="34" charset="-122"/>
              </a:rPr>
              <a:t>。                                                                       </a:t>
            </a:r>
            <a:r>
              <a:rPr lang="en-US" altLang="zh-CN" dirty="0">
                <a:solidFill>
                  <a:srgbClr val="CC0000"/>
                </a:solidFill>
                <a:ea typeface="Arial Unicode MS" pitchFamily="34" charset="-122"/>
                <a:cs typeface="Arial Unicode MS" pitchFamily="34" charset="-122"/>
              </a:rPr>
              <a:t>——</a:t>
            </a:r>
            <a:r>
              <a:rPr lang="zh-CN" altLang="en-US" dirty="0">
                <a:solidFill>
                  <a:srgbClr val="CC0000"/>
                </a:solidFill>
                <a:ea typeface="Arial Unicode MS" pitchFamily="34" charset="-122"/>
                <a:cs typeface="Arial Unicode MS" pitchFamily="34" charset="-122"/>
              </a:rPr>
              <a:t>摘自</a:t>
            </a:r>
            <a:r>
              <a:rPr lang="en-US" altLang="zh-CN" dirty="0">
                <a:solidFill>
                  <a:srgbClr val="CC0000"/>
                </a:solidFill>
                <a:ea typeface="Arial Unicode MS" pitchFamily="34" charset="-122"/>
                <a:cs typeface="Arial Unicode MS" pitchFamily="34" charset="-122"/>
              </a:rPr>
              <a:t>《</a:t>
            </a:r>
            <a:r>
              <a:rPr lang="zh-CN" altLang="en-US" dirty="0">
                <a:solidFill>
                  <a:srgbClr val="CC0000"/>
                </a:solidFill>
                <a:ea typeface="Arial Unicode MS" pitchFamily="34" charset="-122"/>
                <a:cs typeface="Arial Unicode MS" pitchFamily="34" charset="-122"/>
              </a:rPr>
              <a:t>教师博览</a:t>
            </a:r>
            <a:r>
              <a:rPr lang="en-US" altLang="zh-CN" dirty="0">
                <a:solidFill>
                  <a:srgbClr val="CC0000"/>
                </a:solidFill>
                <a:ea typeface="Arial Unicode MS" pitchFamily="34" charset="-122"/>
                <a:cs typeface="Arial Unicode MS" pitchFamily="34" charset="-122"/>
              </a:rPr>
              <a:t>》 </a:t>
            </a:r>
          </a:p>
          <a:p>
            <a:pPr indent="276225" eaLnBrk="0" hangingPunct="0">
              <a:tabLst>
                <a:tab pos="228600" algn="l"/>
              </a:tabLst>
            </a:pPr>
            <a:endParaRPr lang="zh-CN" altLang="en-US" b="0" dirty="0">
              <a:solidFill>
                <a:srgbClr val="CC0000"/>
              </a:solidFill>
              <a:latin typeface="Arial" pitchFamily="34" charset="0"/>
              <a:ea typeface="Arial Unicode MS" pitchFamily="34" charset="-122"/>
              <a:cs typeface="Arial Unicode MS" pitchFamily="34" charset="-122"/>
            </a:endParaRP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                                                                              </a:t>
            </a:r>
          </a:p>
          <a:p>
            <a:pPr indent="276225" eaLnBrk="0" hangingPunct="0">
              <a:tabLst>
                <a:tab pos="228600" algn="l"/>
              </a:tabLst>
            </a:pPr>
            <a:r>
              <a:rPr lang="zh-CN" altLang="en-US" b="0" dirty="0">
                <a:solidFill>
                  <a:srgbClr val="CC0000"/>
                </a:solidFill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                                                                               </a:t>
            </a:r>
            <a:endParaRPr lang="en-US" altLang="zh-CN" b="0" dirty="0">
              <a:solidFill>
                <a:srgbClr val="CC0000"/>
              </a:solidFill>
              <a:latin typeface="Arial" pitchFamily="34" charset="0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367619" name="Picture 3" descr="0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96088"/>
            <a:ext cx="77788" cy="6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619820" y="15007"/>
            <a:ext cx="1415772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zh-CN" altLang="en-US" sz="2400" b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要有目标</a:t>
            </a:r>
            <a:endParaRPr lang="en-US" altLang="zh-CN" sz="2400" b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0642C14F-38FB-417C-B267-46DF1145B219}"/>
              </a:ext>
            </a:extLst>
          </p:cNvPr>
          <p:cNvSpPr txBox="1"/>
          <p:nvPr/>
        </p:nvSpPr>
        <p:spPr>
          <a:xfrm>
            <a:off x="256381" y="131011"/>
            <a:ext cx="430371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如何学好大学物理？！</a:t>
            </a:r>
          </a:p>
        </p:txBody>
      </p:sp>
    </p:spTree>
    <p:extLst>
      <p:ext uri="{BB962C8B-B14F-4D97-AF65-F5344CB8AC3E}">
        <p14:creationId xmlns:p14="http://schemas.microsoft.com/office/powerpoint/2010/main" val="19506143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11" name="Picture 3" descr="0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96088"/>
            <a:ext cx="77788" cy="6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8">
            <a:hlinkClick r:id="" action="ppaction://macro?name=suiji"/>
          </p:cNvPr>
          <p:cNvSpPr>
            <a:spLocks noChangeArrowheads="1"/>
          </p:cNvSpPr>
          <p:nvPr/>
        </p:nvSpPr>
        <p:spPr bwMode="auto">
          <a:xfrm>
            <a:off x="-557213" y="0"/>
            <a:ext cx="1349376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auto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kumimoji="0" lang="zh-CN" altLang="en-US" sz="2800" b="0" kern="0">
              <a:solidFill>
                <a:srgbClr val="000000"/>
              </a:solidFill>
              <a:sym typeface="Math5" pitchFamily="2" charset="2"/>
            </a:endParaRPr>
          </a:p>
        </p:txBody>
      </p:sp>
      <p:sp>
        <p:nvSpPr>
          <p:cNvPr id="8" name="Rectangle 8">
            <a:hlinkClick r:id="" action="ppaction://macro?name=suiji"/>
          </p:cNvPr>
          <p:cNvSpPr>
            <a:spLocks noChangeArrowheads="1"/>
          </p:cNvSpPr>
          <p:nvPr/>
        </p:nvSpPr>
        <p:spPr bwMode="auto">
          <a:xfrm>
            <a:off x="-514350" y="0"/>
            <a:ext cx="1246188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kumimoji="0" lang="zh-CN" altLang="en-US" sz="2800" b="0" kern="0">
              <a:solidFill>
                <a:srgbClr val="000000"/>
              </a:solidFill>
              <a:sym typeface="Math5"/>
            </a:endParaRPr>
          </a:p>
        </p:txBody>
      </p:sp>
      <p:pic>
        <p:nvPicPr>
          <p:cNvPr id="283656" name="Picture 2" descr="C:\Users\Administrator\Desktop\张小龙（腾讯副总裁、FoxMail创始人、微信创始人）_百度百科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175" y="-6259512"/>
            <a:ext cx="18288000" cy="48425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3657" name="TextBox 3"/>
          <p:cNvSpPr txBox="1">
            <a:spLocks noChangeArrowheads="1"/>
          </p:cNvSpPr>
          <p:nvPr/>
        </p:nvSpPr>
        <p:spPr bwMode="auto">
          <a:xfrm>
            <a:off x="3054350" y="6935791"/>
            <a:ext cx="32083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/>
              <a:t>（</a:t>
            </a:r>
            <a:r>
              <a:rPr lang="en-US" altLang="zh-CN" sz="2800"/>
              <a:t>2017.02.18.</a:t>
            </a:r>
            <a:r>
              <a:rPr lang="zh-CN" altLang="en-US" sz="2800"/>
              <a:t>）</a:t>
            </a:r>
          </a:p>
        </p:txBody>
      </p:sp>
      <p:pic>
        <p:nvPicPr>
          <p:cNvPr id="283659" name="Picture 2" descr="D:\大学物理\instruD\0-授课\大物素材\【绪论】20170904_微信登录界面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04" b="8124"/>
          <a:stretch/>
        </p:blipFill>
        <p:spPr bwMode="auto">
          <a:xfrm>
            <a:off x="1607390" y="44624"/>
            <a:ext cx="5287869" cy="634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7524328" y="169366"/>
            <a:ext cx="1415772" cy="461665"/>
          </a:xfrm>
          <a:prstGeom prst="rect">
            <a:avLst/>
          </a:prstGeom>
          <a:solidFill>
            <a:srgbClr val="FFFF00"/>
          </a:solidFill>
          <a:ln>
            <a:solidFill>
              <a:srgbClr val="00CC99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要有</a:t>
            </a:r>
            <a:r>
              <a:rPr lang="zh-CN" altLang="en-US" sz="2400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目标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66B070-2AE5-43BB-96D9-AB92CD6F0B6F}"/>
              </a:ext>
            </a:extLst>
          </p:cNvPr>
          <p:cNvSpPr/>
          <p:nvPr/>
        </p:nvSpPr>
        <p:spPr>
          <a:xfrm>
            <a:off x="6168458" y="5589240"/>
            <a:ext cx="2736304" cy="553998"/>
          </a:xfrm>
          <a:prstGeom prst="rect">
            <a:avLst/>
          </a:prstGeom>
          <a:solidFill>
            <a:srgbClr val="FFFF00"/>
          </a:solidFill>
          <a:ln w="158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7313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志存高远方能登高望远</a:t>
            </a:r>
            <a:endParaRPr lang="en-US" altLang="zh-CN" sz="2000" dirty="0">
              <a:solidFill>
                <a:srgbClr val="F7313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3655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96088"/>
            <a:ext cx="77788" cy="6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hlinkClick r:id="" action="ppaction://macro?name=suiji"/>
          </p:cNvPr>
          <p:cNvSpPr>
            <a:spLocks noChangeArrowheads="1"/>
          </p:cNvSpPr>
          <p:nvPr/>
        </p:nvSpPr>
        <p:spPr bwMode="auto">
          <a:xfrm>
            <a:off x="-557213" y="0"/>
            <a:ext cx="1349376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auto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kumimoji="0" lang="zh-CN" altLang="en-US" sz="2800" b="0" kern="0">
              <a:solidFill>
                <a:srgbClr val="000000"/>
              </a:solidFill>
              <a:sym typeface="Math5" pitchFamily="2" charset="2"/>
            </a:endParaRPr>
          </a:p>
        </p:txBody>
      </p:sp>
      <p:sp>
        <p:nvSpPr>
          <p:cNvPr id="10" name="Rectangle 8">
            <a:hlinkClick r:id="" action="ppaction://macro?name=suiji"/>
          </p:cNvPr>
          <p:cNvSpPr>
            <a:spLocks noChangeArrowheads="1"/>
          </p:cNvSpPr>
          <p:nvPr/>
        </p:nvSpPr>
        <p:spPr bwMode="auto">
          <a:xfrm>
            <a:off x="-514350" y="0"/>
            <a:ext cx="1246188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kumimoji="0" lang="zh-CN" altLang="en-US" sz="2800" b="0" kern="0">
              <a:solidFill>
                <a:srgbClr val="000000"/>
              </a:solidFill>
              <a:sym typeface="Math5"/>
            </a:endParaRPr>
          </a:p>
        </p:txBody>
      </p:sp>
      <p:pic>
        <p:nvPicPr>
          <p:cNvPr id="287758" name="Picture 10" descr="https://timgsa.baidu.com/timg?image&amp;quality=80&amp;size=b9999_10000&amp;sec=1519418197416&amp;di=d575bb4761f4375a5c9403670d3f729b&amp;imgtype=0&amp;src=http%3A%2F%2Fk.zol-img.com.cn%2Fdcbbs%2F20954%2Fa20953129_010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409" y="7080252"/>
            <a:ext cx="9525001" cy="715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28811" y="5065548"/>
            <a:ext cx="881518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2021</a:t>
            </a:r>
            <a:r>
              <a:rPr lang="zh-CN" altLang="en-US" sz="2000" dirty="0"/>
              <a:t>年</a:t>
            </a:r>
            <a:r>
              <a:rPr lang="en-US" altLang="zh-CN" sz="2000" dirty="0"/>
              <a:t>1</a:t>
            </a:r>
            <a:r>
              <a:rPr lang="zh-CN" altLang="en-US" sz="2000" dirty="0"/>
              <a:t>月</a:t>
            </a:r>
            <a:r>
              <a:rPr lang="en-US" altLang="zh-CN" sz="2000" dirty="0"/>
              <a:t>25</a:t>
            </a:r>
            <a:r>
              <a:rPr lang="zh-CN" altLang="en-US" sz="2000" dirty="0"/>
              <a:t>日，时任中共中央政治局常委、国务院总理李克强主持召开座谈会，听取教育、科技、文化、卫生、体育界人士和基层群众代表对</a:t>
            </a:r>
            <a:r>
              <a:rPr lang="en-US" altLang="zh-CN" sz="2000" dirty="0"/>
              <a:t>《</a:t>
            </a:r>
            <a:r>
              <a:rPr lang="zh-CN" altLang="en-US" sz="2000" dirty="0"/>
              <a:t>政府工作报告</a:t>
            </a:r>
            <a:r>
              <a:rPr lang="en-US" altLang="zh-CN" sz="2000" dirty="0"/>
              <a:t>》</a:t>
            </a:r>
            <a:r>
              <a:rPr lang="zh-CN" altLang="en-US" sz="2000" dirty="0"/>
              <a:t>、</a:t>
            </a:r>
            <a:r>
              <a:rPr lang="en-US" altLang="zh-CN" sz="2000" dirty="0"/>
              <a:t>《“</a:t>
            </a:r>
            <a:r>
              <a:rPr lang="zh-CN" altLang="en-US" sz="2000" dirty="0"/>
              <a:t>十四五”规划和二〇三五年远景目标纲要（草案）</a:t>
            </a:r>
            <a:r>
              <a:rPr lang="en-US" altLang="zh-CN" sz="2000" dirty="0"/>
              <a:t>》</a:t>
            </a:r>
            <a:r>
              <a:rPr lang="zh-CN" altLang="en-US" sz="2000" dirty="0"/>
              <a:t>两个征求意见稿的意见建议。          </a:t>
            </a:r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代表</a:t>
            </a:r>
          </a:p>
        </p:txBody>
      </p:sp>
      <p:pic>
        <p:nvPicPr>
          <p:cNvPr id="357378" name="Picture 2" descr="E:\【0】0\2021-01-25_新闻联播(罗俊-方忠发言)\1.web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673" y="646374"/>
            <a:ext cx="6484874" cy="421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/>
        </p:nvSpPr>
        <p:spPr>
          <a:xfrm>
            <a:off x="997370" y="4522988"/>
            <a:ext cx="3617645" cy="338554"/>
          </a:xfrm>
          <a:prstGeom prst="rect">
            <a:avLst/>
          </a:prstGeom>
          <a:solidFill>
            <a:srgbClr val="FFFF00"/>
          </a:solidFill>
          <a:ln>
            <a:solidFill>
              <a:srgbClr val="00CC99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校友 罗俊院士：中山大学校长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时任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)</a:t>
            </a:r>
          </a:p>
        </p:txBody>
      </p:sp>
      <p:sp>
        <p:nvSpPr>
          <p:cNvPr id="19" name="矩形 18"/>
          <p:cNvSpPr/>
          <p:nvPr/>
        </p:nvSpPr>
        <p:spPr>
          <a:xfrm>
            <a:off x="4653271" y="4522988"/>
            <a:ext cx="3365024" cy="338554"/>
          </a:xfrm>
          <a:prstGeom prst="rect">
            <a:avLst/>
          </a:prstGeom>
          <a:solidFill>
            <a:srgbClr val="FFFF00"/>
          </a:solidFill>
          <a:ln>
            <a:solidFill>
              <a:srgbClr val="00CC99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校友 </a:t>
            </a:r>
            <a:r>
              <a:rPr kumimoji="0" lang="zh-CN" altLang="en-US" sz="1600" b="0" kern="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方忠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院士：中科院物理所所长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524328" y="82706"/>
            <a:ext cx="1415772" cy="461665"/>
          </a:xfrm>
          <a:prstGeom prst="rect">
            <a:avLst/>
          </a:prstGeom>
          <a:solidFill>
            <a:srgbClr val="FFFF00"/>
          </a:solidFill>
          <a:ln>
            <a:solidFill>
              <a:srgbClr val="00CC99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要有信心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8144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2C14F-38FB-417C-B267-46DF1145B219}"/>
              </a:ext>
            </a:extLst>
          </p:cNvPr>
          <p:cNvSpPr txBox="1"/>
          <p:nvPr/>
        </p:nvSpPr>
        <p:spPr>
          <a:xfrm>
            <a:off x="340296" y="188913"/>
            <a:ext cx="430371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如何学好大学物理？！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CCB132-57E6-46F2-AEA7-0EBB202381BF}"/>
              </a:ext>
            </a:extLst>
          </p:cNvPr>
          <p:cNvSpPr/>
          <p:nvPr/>
        </p:nvSpPr>
        <p:spPr>
          <a:xfrm>
            <a:off x="467544" y="1259306"/>
            <a:ext cx="6615113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宋体" pitchFamily="2" charset="-122"/>
              </a:rPr>
              <a:t>学好这门课程希望大家做到以下几点：</a:t>
            </a:r>
            <a:endParaRPr lang="en-US" altLang="zh-CN" sz="2800" b="1" dirty="0">
              <a:latin typeface="宋体" pitchFamily="2" charset="-122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课前预习，课后复习；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上课认真听讲，适当做笔记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提纲式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；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勤思考，多提问，多讨论，重答疑；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4.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重视学习方法。</a:t>
            </a:r>
            <a:endParaRPr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5149220" y="807079"/>
            <a:ext cx="175602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高效学习！</a:t>
            </a:r>
          </a:p>
        </p:txBody>
      </p:sp>
      <p:graphicFrame>
        <p:nvGraphicFramePr>
          <p:cNvPr id="1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364416"/>
              </p:ext>
            </p:extLst>
          </p:nvPr>
        </p:nvGraphicFramePr>
        <p:xfrm>
          <a:off x="3167689" y="3645644"/>
          <a:ext cx="15494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公式" r:id="rId4" imgW="1218600" imgH="304920" progId="Equation.3">
                  <p:embed/>
                </p:oleObj>
              </mc:Choice>
              <mc:Fallback>
                <p:oleObj name="公式" r:id="rId4" imgW="1218600" imgH="304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689" y="3645644"/>
                        <a:ext cx="15494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24"/>
          <p:cNvSpPr>
            <a:spLocks noChangeArrowheads="1"/>
          </p:cNvSpPr>
          <p:nvPr/>
        </p:nvSpPr>
        <p:spPr bwMode="auto">
          <a:xfrm>
            <a:off x="3131170" y="3572681"/>
            <a:ext cx="431800" cy="612775"/>
          </a:xfrm>
          <a:prstGeom prst="wedgeEllipseCallout">
            <a:avLst>
              <a:gd name="adj1" fmla="val -234315"/>
              <a:gd name="adj2" fmla="val 86611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 sz="4400" b="0">
              <a:solidFill>
                <a:srgbClr val="9966FF"/>
              </a:solidFill>
              <a:latin typeface="宋体" pitchFamily="2" charset="-122"/>
            </a:endParaRP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>
            <a:off x="1043608" y="4256831"/>
            <a:ext cx="2087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花的气力</a:t>
            </a:r>
          </a:p>
        </p:txBody>
      </p:sp>
      <p:sp>
        <p:nvSpPr>
          <p:cNvPr id="15" name="AutoShape 26"/>
          <p:cNvSpPr>
            <a:spLocks noChangeArrowheads="1"/>
          </p:cNvSpPr>
          <p:nvPr/>
        </p:nvSpPr>
        <p:spPr bwMode="auto">
          <a:xfrm>
            <a:off x="3923337" y="3609193"/>
            <a:ext cx="431800" cy="720725"/>
          </a:xfrm>
          <a:prstGeom prst="wedgeEllipseCallout">
            <a:avLst>
              <a:gd name="adj1" fmla="val -103310"/>
              <a:gd name="adj2" fmla="val 56606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 sz="4400" b="0">
              <a:solidFill>
                <a:srgbClr val="9966FF"/>
              </a:solidFill>
              <a:latin typeface="宋体" pitchFamily="2" charset="-122"/>
            </a:endParaRP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3023251" y="4256831"/>
            <a:ext cx="2087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学习惯性</a:t>
            </a:r>
          </a:p>
        </p:txBody>
      </p:sp>
      <p:sp>
        <p:nvSpPr>
          <p:cNvPr id="17" name="AutoShape 28"/>
          <p:cNvSpPr>
            <a:spLocks noChangeArrowheads="1"/>
          </p:cNvSpPr>
          <p:nvPr/>
        </p:nvSpPr>
        <p:spPr bwMode="auto">
          <a:xfrm>
            <a:off x="4391676" y="3572681"/>
            <a:ext cx="360363" cy="720725"/>
          </a:xfrm>
          <a:prstGeom prst="wedgeEllipseCallout">
            <a:avLst>
              <a:gd name="adj1" fmla="val 274227"/>
              <a:gd name="adj2" fmla="val 57046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zh-CN" sz="4400" b="0">
              <a:solidFill>
                <a:srgbClr val="9966FF"/>
              </a:solidFill>
              <a:latin typeface="宋体" pitchFamily="2" charset="-122"/>
            </a:endParaRP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5112401" y="4267944"/>
            <a:ext cx="2087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长进快慢</a:t>
            </a:r>
          </a:p>
        </p:txBody>
      </p:sp>
      <p:pic>
        <p:nvPicPr>
          <p:cNvPr id="23" name="Picture 24" descr="D:\大学物理\instruD\0-授课\每天努力一点点和每天颓废一点点的区别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-118603"/>
            <a:ext cx="2571750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991350" y="1218072"/>
            <a:ext cx="2468562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400" b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每天进步一点点和每</a:t>
            </a:r>
            <a:endParaRPr lang="en-US" altLang="zh-CN" sz="1400" b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400" b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天颓废一点点的区别</a:t>
            </a:r>
          </a:p>
        </p:txBody>
      </p:sp>
      <p:sp>
        <p:nvSpPr>
          <p:cNvPr id="25" name="圆角矩形 24"/>
          <p:cNvSpPr>
            <a:spLocks noChangeArrowheads="1"/>
          </p:cNvSpPr>
          <p:nvPr/>
        </p:nvSpPr>
        <p:spPr bwMode="auto">
          <a:xfrm>
            <a:off x="6648450" y="67135"/>
            <a:ext cx="2357437" cy="1781175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7DCFD2A-6ED0-4236-9139-B792B058F6F1}"/>
              </a:ext>
            </a:extLst>
          </p:cNvPr>
          <p:cNvGrpSpPr>
            <a:grpSpLocks/>
          </p:cNvGrpSpPr>
          <p:nvPr/>
        </p:nvGrpSpPr>
        <p:grpSpPr bwMode="auto">
          <a:xfrm>
            <a:off x="1022350" y="5043649"/>
            <a:ext cx="7489825" cy="954087"/>
            <a:chOff x="1042988" y="3429000"/>
            <a:chExt cx="7489825" cy="954107"/>
          </a:xfrm>
        </p:grpSpPr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B7A3BED2-535B-4934-8A74-01CAAD9AB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3429000"/>
              <a:ext cx="7489825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宋体" panose="02010600030101010101" pitchFamily="2" charset="-122"/>
                </a:rPr>
                <a:t>学习物理要建立在</a:t>
              </a: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理解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的基础上，重视对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eaLnBrk="1" hangingPunct="1"/>
              <a:r>
                <a:rPr lang="en-US" altLang="zh-CN" sz="2800" b="1" dirty="0">
                  <a:latin typeface="宋体" panose="02010600030101010101" pitchFamily="2" charset="-122"/>
                </a:rPr>
                <a:t>           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和              的理解。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B5C93859-A0D9-46CD-8683-74A0CD83AC7C}"/>
                </a:ext>
              </a:extLst>
            </p:cNvPr>
            <p:cNvSpPr txBox="1"/>
            <p:nvPr/>
          </p:nvSpPr>
          <p:spPr>
            <a:xfrm>
              <a:off x="1259632" y="3933836"/>
              <a:ext cx="2001838" cy="43022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>
                  <a:latin typeface="宋体" pitchFamily="2" charset="-122"/>
                  <a:ea typeface="宋体" pitchFamily="2" charset="-122"/>
                </a:rPr>
                <a:t>物理概念</a:t>
              </a:r>
            </a:p>
          </p:txBody>
        </p:sp>
        <p:sp>
          <p:nvSpPr>
            <p:cNvPr id="29" name="TextBox 8">
              <a:extLst>
                <a:ext uri="{FF2B5EF4-FFF2-40B4-BE49-F238E27FC236}">
                  <a16:creationId xmlns:a16="http://schemas.microsoft.com/office/drawing/2014/main" id="{DEA77042-A197-4FEF-B96C-D7AB7E6C208B}"/>
                </a:ext>
              </a:extLst>
            </p:cNvPr>
            <p:cNvSpPr txBox="1"/>
            <p:nvPr/>
          </p:nvSpPr>
          <p:spPr>
            <a:xfrm>
              <a:off x="4046388" y="3908097"/>
              <a:ext cx="2109788" cy="43022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dirty="0">
                  <a:latin typeface="宋体" pitchFamily="2" charset="-122"/>
                  <a:ea typeface="宋体" pitchFamily="2" charset="-122"/>
                </a:rPr>
                <a:t>物理过程</a:t>
              </a:r>
            </a:p>
          </p:txBody>
        </p:sp>
      </p:grpSp>
      <p:sp>
        <p:nvSpPr>
          <p:cNvPr id="19" name="Text Box 11">
            <a:extLst>
              <a:ext uri="{FF2B5EF4-FFF2-40B4-BE49-F238E27FC236}">
                <a16:creationId xmlns:a16="http://schemas.microsoft.com/office/drawing/2014/main" id="{81CA7B24-5D21-48DD-937B-8D6EB39E2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836712"/>
            <a:ext cx="48245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特点</a:t>
            </a:r>
            <a:r>
              <a:rPr lang="en-US" altLang="zh-CN" sz="2400" b="1" dirty="0">
                <a:solidFill>
                  <a:srgbClr val="660033"/>
                </a:solidFill>
              </a:rPr>
              <a:t>:  </a:t>
            </a:r>
            <a:r>
              <a:rPr lang="zh-CN" altLang="en-US" sz="2400" b="1" dirty="0">
                <a:solidFill>
                  <a:srgbClr val="660033"/>
                </a:solidFill>
              </a:rPr>
              <a:t>内容多，信息量大，进度快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3" grpId="0" animBg="1"/>
      <p:bldP spid="14" grpId="0"/>
      <p:bldP spid="15" grpId="0" animBg="1"/>
      <p:bldP spid="16" grpId="0"/>
      <p:bldP spid="17" grpId="0" animBg="1"/>
      <p:bldP spid="18" grpId="0"/>
      <p:bldP spid="24" grpId="0"/>
      <p:bldP spid="25" grpId="0" animBg="1"/>
      <p:bldP spid="1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2743200" y="1459523"/>
            <a:ext cx="3581400" cy="3377712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3B3B"/>
                </a:solidFill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要勤奋地去做练习，只有这样，你才会发现，哪些你理解了，哪些你还没有</a:t>
            </a:r>
            <a:r>
              <a:rPr lang="zh-CN" altLang="en-US" b="1" dirty="0">
                <a:solidFill>
                  <a:srgbClr val="FF3B3B"/>
                </a:solidFill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B3B"/>
                </a:solidFill>
              </a:rPr>
              <a:t>          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/>
              <a:t>索末菲写信告诫他的学生海森堡</a:t>
            </a:r>
          </a:p>
        </p:txBody>
      </p:sp>
      <p:pic>
        <p:nvPicPr>
          <p:cNvPr id="7171" name="Picture 5" descr="heisenb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18846"/>
            <a:ext cx="2480897" cy="3094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6260123" y="4695093"/>
            <a:ext cx="2743200" cy="122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>
                <a:latin typeface="Arial" panose="020B0604020202020204" pitchFamily="34" charset="0"/>
              </a:rPr>
              <a:t>海森堡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>
                <a:latin typeface="Arial" panose="020B0604020202020204" pitchFamily="34" charset="0"/>
              </a:rPr>
              <a:t>（</a:t>
            </a:r>
            <a:r>
              <a:rPr kumimoji="0" lang="en-US" altLang="zh-CN" sz="1846" b="1">
                <a:latin typeface="Arial" panose="020B0604020202020204" pitchFamily="34" charset="0"/>
              </a:rPr>
              <a:t>1901</a:t>
            </a:r>
            <a:r>
              <a:rPr kumimoji="0" lang="zh-CN" altLang="en-US" sz="1846" b="1">
                <a:latin typeface="Arial" panose="020B0604020202020204" pitchFamily="34" charset="0"/>
              </a:rPr>
              <a:t>－</a:t>
            </a:r>
            <a:r>
              <a:rPr kumimoji="0" lang="en-US" altLang="zh-CN" sz="1846" b="1">
                <a:latin typeface="Arial" panose="020B0604020202020204" pitchFamily="34" charset="0"/>
              </a:rPr>
              <a:t>1976</a:t>
            </a:r>
            <a:r>
              <a:rPr kumimoji="0" lang="zh-CN" altLang="en-US" sz="1846" b="1">
                <a:latin typeface="Arial" panose="020B0604020202020204" pitchFamily="34" charset="0"/>
              </a:rPr>
              <a:t>）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>
                <a:latin typeface="Arial" panose="020B0604020202020204" pitchFamily="34" charset="0"/>
              </a:rPr>
              <a:t>德国著名物理学家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>
                <a:latin typeface="Arial" panose="020B0604020202020204" pitchFamily="34" charset="0"/>
              </a:rPr>
              <a:t>量子力学创立人之一</a:t>
            </a:r>
          </a:p>
        </p:txBody>
      </p:sp>
      <p:pic>
        <p:nvPicPr>
          <p:cNvPr id="7173" name="Picture 7" descr="s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18846"/>
            <a:ext cx="2363666" cy="302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381000" y="4554415"/>
            <a:ext cx="2286000" cy="1512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 dirty="0">
                <a:latin typeface="Arial" panose="020B0604020202020204" pitchFamily="34" charset="0"/>
              </a:rPr>
              <a:t>索末菲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1846" b="1" dirty="0">
                <a:latin typeface="Arial" panose="020B0604020202020204" pitchFamily="34" charset="0"/>
              </a:rPr>
              <a:t>(1868</a:t>
            </a:r>
            <a:r>
              <a:rPr kumimoji="0" lang="zh-CN" altLang="en-US" sz="1846" b="1" dirty="0">
                <a:latin typeface="Arial" panose="020B0604020202020204" pitchFamily="34" charset="0"/>
              </a:rPr>
              <a:t>～</a:t>
            </a:r>
            <a:r>
              <a:rPr kumimoji="0" lang="en-US" altLang="zh-CN" sz="1846" b="1" dirty="0">
                <a:latin typeface="Arial" panose="020B0604020202020204" pitchFamily="34" charset="0"/>
              </a:rPr>
              <a:t>1951)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 dirty="0">
                <a:latin typeface="Arial" panose="020B0604020202020204" pitchFamily="34" charset="0"/>
              </a:rPr>
              <a:t>德国理论物理学家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46" b="1" dirty="0">
                <a:latin typeface="Arial" panose="020B0604020202020204" pitchFamily="34" charset="0"/>
              </a:rPr>
              <a:t>其学生中共有</a:t>
            </a:r>
            <a:r>
              <a:rPr kumimoji="0" lang="en-US" altLang="zh-CN" sz="1846" b="1" dirty="0">
                <a:latin typeface="Arial" panose="020B0604020202020204" pitchFamily="34" charset="0"/>
              </a:rPr>
              <a:t>6</a:t>
            </a:r>
            <a:r>
              <a:rPr kumimoji="0" lang="zh-CN" altLang="en-US" sz="1846" b="1" dirty="0">
                <a:latin typeface="Arial" panose="020B0604020202020204" pitchFamily="34" charset="0"/>
              </a:rPr>
              <a:t>人获得诺贝尔奖</a:t>
            </a:r>
          </a:p>
        </p:txBody>
      </p:sp>
      <p:sp>
        <p:nvSpPr>
          <p:cNvPr id="7175" name="Text Box 2"/>
          <p:cNvSpPr txBox="1">
            <a:spLocks noChangeArrowheads="1"/>
          </p:cNvSpPr>
          <p:nvPr/>
        </p:nvSpPr>
        <p:spPr bwMode="auto">
          <a:xfrm>
            <a:off x="539552" y="272632"/>
            <a:ext cx="7776797" cy="60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为什么要做作业</a:t>
            </a:r>
          </a:p>
        </p:txBody>
      </p:sp>
    </p:spTree>
    <p:extLst>
      <p:ext uri="{BB962C8B-B14F-4D97-AF65-F5344CB8AC3E}">
        <p14:creationId xmlns:p14="http://schemas.microsoft.com/office/powerpoint/2010/main" val="124038905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6859885-5C6F-41EA-B263-4E946AFD4494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491880" y="692696"/>
            <a:ext cx="2736304" cy="64807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7675" indent="-4476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+mn-ea"/>
                <a:cs typeface="+mn-cs"/>
              </a:defRPr>
            </a:lvl1pPr>
            <a:lvl2pPr marL="889000" indent="-4397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+mn-ea"/>
              </a:defRPr>
            </a:lvl2pPr>
            <a:lvl3pPr marL="1293813" indent="-4032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+mn-ea"/>
              </a:defRPr>
            </a:lvl3pPr>
            <a:lvl4pPr marL="1681163" indent="-3857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+mn-ea"/>
              </a:defRPr>
            </a:lvl4pPr>
            <a:lvl5pPr marL="207010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+mn-ea"/>
              </a:defRPr>
            </a:lvl5pPr>
            <a:lvl6pPr marL="25273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itchFamily="2" charset="2"/>
              <a:buChar char="Ø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845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itchFamily="2" charset="2"/>
              <a:buChar char="Ø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417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itchFamily="2" charset="2"/>
              <a:buChar char="Ø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989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Font typeface="Wingdings" pitchFamily="2" charset="2"/>
              <a:buChar char="Ø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kern="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本课堂</a:t>
            </a:r>
            <a:r>
              <a:rPr lang="en-US" altLang="zh-CN" sz="2800" kern="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QQ</a:t>
            </a:r>
            <a:r>
              <a:rPr lang="zh-CN" altLang="en-US" sz="2800" kern="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群</a:t>
            </a:r>
            <a:endParaRPr lang="en-US" altLang="zh-CN" sz="2800" kern="0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800" kern="0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EA0ABA-B342-4584-86F1-552D8ED2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2047875"/>
            <a:ext cx="227647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606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F8194-019B-4258-88A9-90B4BA4D1D75}"/>
              </a:ext>
            </a:extLst>
          </p:cNvPr>
          <p:cNvSpPr txBox="1"/>
          <p:nvPr/>
        </p:nvSpPr>
        <p:spPr>
          <a:xfrm>
            <a:off x="474199" y="816760"/>
            <a:ext cx="2795958" cy="35394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b="1" dirty="0">
              <a:solidFill>
                <a:srgbClr val="0070C0"/>
              </a:solidFill>
              <a:latin typeface="+mn-lt"/>
            </a:endParaRP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</a:rPr>
              <a:t>强烈欢迎：</a:t>
            </a:r>
            <a:endParaRPr lang="en-US" altLang="zh-CN" sz="2800" b="1" dirty="0">
              <a:solidFill>
                <a:srgbClr val="FF0000"/>
              </a:solidFill>
              <a:latin typeface="+mn-lt"/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latin typeface="+mn-lt"/>
              </a:rPr>
              <a:t>提问题；</a:t>
            </a:r>
            <a:endParaRPr lang="en-US" altLang="zh-CN" sz="2800" b="1" dirty="0">
              <a:latin typeface="+mn-lt"/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latin typeface="+mn-lt"/>
              </a:rPr>
              <a:t>提建议 ；</a:t>
            </a:r>
            <a:endParaRPr lang="en-US" altLang="zh-CN" sz="2800" b="1" dirty="0">
              <a:latin typeface="+mn-lt"/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latin typeface="+mn-lt"/>
              </a:rPr>
              <a:t>推荐内容；</a:t>
            </a:r>
            <a:endParaRPr lang="en-US" altLang="zh-CN" sz="2800" b="1" dirty="0">
              <a:latin typeface="+mn-lt"/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zh-CN" altLang="en-US" sz="2800" b="1" dirty="0">
                <a:latin typeface="+mn-lt"/>
              </a:rPr>
              <a:t>其他。</a:t>
            </a:r>
            <a:endParaRPr lang="en-US" altLang="zh-CN" sz="2800" b="1" dirty="0">
              <a:latin typeface="+mn-lt"/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en-US" altLang="zh-CN" sz="2800" b="1" dirty="0">
              <a:solidFill>
                <a:srgbClr val="0070C0"/>
              </a:solidFill>
              <a:latin typeface="+mn-lt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Times New Roman" pitchFamily="18" charset="0"/>
              <a:buChar char="×"/>
              <a:defRPr/>
            </a:pPr>
            <a:endParaRPr lang="zh-CN" altLang="en-US" sz="28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9A9E23-15A2-4E77-9958-AA9BE36215F9}"/>
              </a:ext>
            </a:extLst>
          </p:cNvPr>
          <p:cNvSpPr/>
          <p:nvPr/>
        </p:nvSpPr>
        <p:spPr>
          <a:xfrm>
            <a:off x="3419872" y="3212976"/>
            <a:ext cx="5248733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预习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复习；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认真听讲；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独立完成作业。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宋体" pitchFamily="2" charset="-122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宋体" pitchFamily="2" charset="-122"/>
              </a:rPr>
              <a:t>勤思考，多提问，多讨论</a:t>
            </a:r>
            <a:endParaRPr lang="en-US" altLang="zh-CN" sz="2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So easy!!</a:t>
            </a:r>
          </a:p>
        </p:txBody>
      </p:sp>
      <p:sp>
        <p:nvSpPr>
          <p:cNvPr id="4" name="矩形 3"/>
          <p:cNvSpPr/>
          <p:nvPr/>
        </p:nvSpPr>
        <p:spPr>
          <a:xfrm>
            <a:off x="3678989" y="1632367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一律无视：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Times New Roman" pitchFamily="18" charset="0"/>
              <a:buChar char="×"/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考前套题；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marL="800100" lvl="1" indent="-342900" eaLnBrk="1" fontAlgn="auto" hangingPunct="1">
              <a:spcBef>
                <a:spcPts val="0"/>
              </a:spcBef>
              <a:spcAft>
                <a:spcPts val="0"/>
              </a:spcAft>
              <a:buFont typeface="Times New Roman" pitchFamily="18" charset="0"/>
              <a:buChar char="×"/>
              <a:defRPr/>
            </a:pPr>
            <a:r>
              <a:rPr lang="zh-CN" altLang="en-US" sz="2800" b="1" dirty="0">
                <a:solidFill>
                  <a:srgbClr val="000000"/>
                </a:solidFill>
              </a:rPr>
              <a:t>考后求情。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Users\Administrator\AppData\Local\Microsoft\Windows\Temporary Internet Files\Content.IE5\G2JT5O2Y\MC900280503[1].wmf">
            <a:extLst>
              <a:ext uri="{FF2B5EF4-FFF2-40B4-BE49-F238E27FC236}">
                <a16:creationId xmlns:a16="http://schemas.microsoft.com/office/drawing/2014/main" id="{E11A3C19-4EED-48DC-A788-3A668C801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0" y="2852738"/>
            <a:ext cx="2449513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15B0913-5F38-4C08-851E-D1582A52A0A8}"/>
              </a:ext>
            </a:extLst>
          </p:cNvPr>
          <p:cNvSpPr/>
          <p:nvPr/>
        </p:nvSpPr>
        <p:spPr>
          <a:xfrm>
            <a:off x="324644" y="4653136"/>
            <a:ext cx="6047556" cy="83099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互相学习，共同进步！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2A9B0-CBF0-478F-87E2-E86D5AAB62B7}"/>
              </a:ext>
            </a:extLst>
          </p:cNvPr>
          <p:cNvSpPr txBox="1"/>
          <p:nvPr/>
        </p:nvSpPr>
        <p:spPr>
          <a:xfrm>
            <a:off x="250825" y="549275"/>
            <a:ext cx="6681788" cy="15684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Philosophia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热爱智慧、追求真理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希望大家都成为一个热爱智慧、追求真理的人！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_Yang01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2_Yang0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47675" marR="0" indent="-447675" algn="ctr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rgbClr val="0066FF"/>
          </a:buClr>
          <a:buSzTx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47675" marR="0" indent="-447675" algn="ctr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rgbClr val="0066FF"/>
          </a:buClr>
          <a:buSzTx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宋体" pitchFamily="2" charset="-122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1" dirty="0" smtClean="0">
            <a:solidFill>
              <a:srgbClr val="FF0000"/>
            </a:solidFill>
            <a:latin typeface="宋体" pitchFamily="2" charset="-122"/>
            <a:ea typeface="宋体" pitchFamily="2" charset="-122"/>
          </a:defRPr>
        </a:defPPr>
      </a:lstStyle>
    </a:txDef>
  </a:objectDefaults>
  <a:extraClrSchemeLst>
    <a:extraClrScheme>
      <a:clrScheme name="Yang01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ng01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ng01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ng01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ng01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ang01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ng01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ang01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气流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3039</TotalTime>
  <Words>1464</Words>
  <Application>Microsoft Office PowerPoint</Application>
  <PresentationFormat>全屏显示(4:3)</PresentationFormat>
  <Paragraphs>168</Paragraphs>
  <Slides>19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黑体</vt:lpstr>
      <vt:lpstr>华文楷体</vt:lpstr>
      <vt:lpstr>华文新魏</vt:lpstr>
      <vt:lpstr>楷体</vt:lpstr>
      <vt:lpstr>楷体_GB2312</vt:lpstr>
      <vt:lpstr>隶书</vt:lpstr>
      <vt:lpstr>宋体</vt:lpstr>
      <vt:lpstr>Arial</vt:lpstr>
      <vt:lpstr>Calibri</vt:lpstr>
      <vt:lpstr>Times New Roman</vt:lpstr>
      <vt:lpstr>Wingdings</vt:lpstr>
      <vt:lpstr>2_Yang01</vt:lpstr>
      <vt:lpstr>剪辑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Liuwei</cp:lastModifiedBy>
  <cp:revision>302</cp:revision>
  <dcterms:created xsi:type="dcterms:W3CDTF">2014-08-05T09:17:56Z</dcterms:created>
  <dcterms:modified xsi:type="dcterms:W3CDTF">2024-09-03T10:01:08Z</dcterms:modified>
</cp:coreProperties>
</file>