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8" r:id="rId2"/>
    <p:sldId id="258" r:id="rId3"/>
    <p:sldId id="259" r:id="rId4"/>
    <p:sldId id="260" r:id="rId5"/>
    <p:sldId id="261" r:id="rId6"/>
    <p:sldId id="262" r:id="rId7"/>
    <p:sldId id="283" r:id="rId8"/>
    <p:sldId id="263" r:id="rId9"/>
    <p:sldId id="281" r:id="rId10"/>
    <p:sldId id="282" r:id="rId11"/>
    <p:sldId id="266" r:id="rId12"/>
    <p:sldId id="267" r:id="rId13"/>
    <p:sldId id="268" r:id="rId14"/>
    <p:sldId id="285" r:id="rId15"/>
    <p:sldId id="269" r:id="rId16"/>
    <p:sldId id="270" r:id="rId17"/>
    <p:sldId id="271" r:id="rId18"/>
    <p:sldId id="286" r:id="rId19"/>
    <p:sldId id="272" r:id="rId20"/>
    <p:sldId id="275" r:id="rId21"/>
    <p:sldId id="273" r:id="rId22"/>
    <p:sldId id="274" r:id="rId23"/>
    <p:sldId id="299" r:id="rId24"/>
    <p:sldId id="287" r:id="rId25"/>
    <p:sldId id="293" r:id="rId26"/>
    <p:sldId id="300" r:id="rId27"/>
    <p:sldId id="294" r:id="rId28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BCB6"/>
    <a:srgbClr val="3ABAB3"/>
    <a:srgbClr val="CDEFE4"/>
    <a:srgbClr val="0000CC"/>
    <a:srgbClr val="800080"/>
    <a:srgbClr val="CC0099"/>
    <a:srgbClr val="000099"/>
    <a:srgbClr val="183D67"/>
    <a:srgbClr val="B2B2B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73" autoAdjust="0"/>
    <p:restoredTop sz="94643" autoAdjust="0"/>
  </p:normalViewPr>
  <p:slideViewPr>
    <p:cSldViewPr>
      <p:cViewPr varScale="1">
        <p:scale>
          <a:sx n="108" d="100"/>
          <a:sy n="108" d="100"/>
        </p:scale>
        <p:origin x="159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png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3.wmf"/><Relationship Id="rId7" Type="http://schemas.openxmlformats.org/officeDocument/2006/relationships/image" Target="../media/image13.wmf"/><Relationship Id="rId2" Type="http://schemas.openxmlformats.org/officeDocument/2006/relationships/image" Target="../media/image7.wmf"/><Relationship Id="rId1" Type="http://schemas.openxmlformats.org/officeDocument/2006/relationships/image" Target="../media/image11.wmf"/><Relationship Id="rId6" Type="http://schemas.openxmlformats.org/officeDocument/2006/relationships/image" Target="../media/image12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png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wmf"/><Relationship Id="rId2" Type="http://schemas.openxmlformats.org/officeDocument/2006/relationships/image" Target="../media/image46.png"/><Relationship Id="rId1" Type="http://schemas.openxmlformats.org/officeDocument/2006/relationships/image" Target="../media/image45.png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wmf"/><Relationship Id="rId10" Type="http://schemas.openxmlformats.org/officeDocument/2006/relationships/image" Target="../media/image68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png"/><Relationship Id="rId1" Type="http://schemas.openxmlformats.org/officeDocument/2006/relationships/image" Target="../media/image71.png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wmf"/><Relationship Id="rId7" Type="http://schemas.openxmlformats.org/officeDocument/2006/relationships/image" Target="../media/image87.e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9" Type="http://schemas.openxmlformats.org/officeDocument/2006/relationships/image" Target="../media/image8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7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12" Type="http://schemas.openxmlformats.org/officeDocument/2006/relationships/image" Target="../media/image32.png"/><Relationship Id="rId17" Type="http://schemas.openxmlformats.org/officeDocument/2006/relationships/image" Target="../media/image111.wmf"/><Relationship Id="rId2" Type="http://schemas.openxmlformats.org/officeDocument/2006/relationships/image" Target="../media/image97.emf"/><Relationship Id="rId16" Type="http://schemas.openxmlformats.org/officeDocument/2006/relationships/image" Target="../media/image110.wmf"/><Relationship Id="rId1" Type="http://schemas.openxmlformats.org/officeDocument/2006/relationships/image" Target="../media/image96.wmf"/><Relationship Id="rId6" Type="http://schemas.openxmlformats.org/officeDocument/2006/relationships/image" Target="../media/image101.e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5" Type="http://schemas.openxmlformats.org/officeDocument/2006/relationships/image" Target="../media/image109.e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Relationship Id="rId14" Type="http://schemas.openxmlformats.org/officeDocument/2006/relationships/image" Target="../media/image108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e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image" Target="../media/image130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12" Type="http://schemas.openxmlformats.org/officeDocument/2006/relationships/image" Target="../media/image129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11" Type="http://schemas.openxmlformats.org/officeDocument/2006/relationships/image" Target="../media/image128.emf"/><Relationship Id="rId5" Type="http://schemas.openxmlformats.org/officeDocument/2006/relationships/image" Target="../media/image122.wmf"/><Relationship Id="rId15" Type="http://schemas.openxmlformats.org/officeDocument/2006/relationships/image" Target="../media/image132.wmf"/><Relationship Id="rId10" Type="http://schemas.openxmlformats.org/officeDocument/2006/relationships/image" Target="../media/image127.e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Relationship Id="rId14" Type="http://schemas.openxmlformats.org/officeDocument/2006/relationships/image" Target="../media/image13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image" Target="../media/image145.wmf"/><Relationship Id="rId18" Type="http://schemas.openxmlformats.org/officeDocument/2006/relationships/image" Target="../media/image150.wmf"/><Relationship Id="rId3" Type="http://schemas.openxmlformats.org/officeDocument/2006/relationships/image" Target="../media/image135.emf"/><Relationship Id="rId7" Type="http://schemas.openxmlformats.org/officeDocument/2006/relationships/image" Target="../media/image139.wmf"/><Relationship Id="rId12" Type="http://schemas.openxmlformats.org/officeDocument/2006/relationships/image" Target="../media/image144.wmf"/><Relationship Id="rId17" Type="http://schemas.openxmlformats.org/officeDocument/2006/relationships/image" Target="../media/image149.wmf"/><Relationship Id="rId2" Type="http://schemas.openxmlformats.org/officeDocument/2006/relationships/image" Target="../media/image134.emf"/><Relationship Id="rId16" Type="http://schemas.openxmlformats.org/officeDocument/2006/relationships/image" Target="../media/image148.emf"/><Relationship Id="rId20" Type="http://schemas.openxmlformats.org/officeDocument/2006/relationships/image" Target="../media/image151.wmf"/><Relationship Id="rId1" Type="http://schemas.openxmlformats.org/officeDocument/2006/relationships/image" Target="../media/image133.emf"/><Relationship Id="rId6" Type="http://schemas.openxmlformats.org/officeDocument/2006/relationships/image" Target="../media/image138.wmf"/><Relationship Id="rId11" Type="http://schemas.openxmlformats.org/officeDocument/2006/relationships/image" Target="../media/image143.wmf"/><Relationship Id="rId5" Type="http://schemas.openxmlformats.org/officeDocument/2006/relationships/image" Target="../media/image137.wmf"/><Relationship Id="rId15" Type="http://schemas.openxmlformats.org/officeDocument/2006/relationships/image" Target="../media/image147.emf"/><Relationship Id="rId10" Type="http://schemas.openxmlformats.org/officeDocument/2006/relationships/image" Target="../media/image142.wmf"/><Relationship Id="rId19" Type="http://schemas.openxmlformats.org/officeDocument/2006/relationships/image" Target="../media/image32.png"/><Relationship Id="rId4" Type="http://schemas.openxmlformats.org/officeDocument/2006/relationships/image" Target="../media/image136.wmf"/><Relationship Id="rId9" Type="http://schemas.openxmlformats.org/officeDocument/2006/relationships/image" Target="../media/image141.wmf"/><Relationship Id="rId14" Type="http://schemas.openxmlformats.org/officeDocument/2006/relationships/image" Target="../media/image146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image" Target="../media/image32.png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12" Type="http://schemas.openxmlformats.org/officeDocument/2006/relationships/image" Target="../media/image163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11" Type="http://schemas.openxmlformats.org/officeDocument/2006/relationships/image" Target="../media/image162.emf"/><Relationship Id="rId5" Type="http://schemas.openxmlformats.org/officeDocument/2006/relationships/image" Target="../media/image156.emf"/><Relationship Id="rId10" Type="http://schemas.openxmlformats.org/officeDocument/2006/relationships/image" Target="../media/image161.wmf"/><Relationship Id="rId4" Type="http://schemas.openxmlformats.org/officeDocument/2006/relationships/image" Target="../media/image155.emf"/><Relationship Id="rId9" Type="http://schemas.openxmlformats.org/officeDocument/2006/relationships/image" Target="../media/image160.wmf"/><Relationship Id="rId14" Type="http://schemas.openxmlformats.org/officeDocument/2006/relationships/image" Target="../media/image15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261E9-D708-41E3-B394-7935FCF7298E}" type="datetimeFigureOut">
              <a:rPr lang="zh-CN" altLang="en-US"/>
              <a:pPr>
                <a:defRPr/>
              </a:pPr>
              <a:t>2024/10/28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13F9740-55F0-4988-A5CB-5648309535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99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993E34-4E80-440D-AD3B-752999CC87F3}" type="datetimeFigureOut">
              <a:rPr lang="zh-CN" altLang="en-US"/>
              <a:pPr>
                <a:defRPr/>
              </a:pPr>
              <a:t>2024/10/28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06775" y="849313"/>
            <a:ext cx="3060700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425" y="3271838"/>
            <a:ext cx="7899400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EF9563-B2A6-487B-B5AC-ACF97AC57D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217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51A8F1-1C7D-4B37-8657-A082552C856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796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DBD02D-BBF6-45C4-ACB1-87D55E0C3091}" type="slidenum">
              <a:rPr lang="zh-CN" altLang="zh-CN" sz="1300" b="1" smtClean="0"/>
              <a:pPr/>
              <a:t>25</a:t>
            </a:fld>
            <a:endParaRPr lang="zh-CN" altLang="zh-CN" sz="1300" b="1"/>
          </a:p>
        </p:txBody>
      </p:sp>
    </p:spTree>
    <p:extLst>
      <p:ext uri="{BB962C8B-B14F-4D97-AF65-F5344CB8AC3E}">
        <p14:creationId xmlns:p14="http://schemas.microsoft.com/office/powerpoint/2010/main" val="1556608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3900" indent="-2778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12838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58925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05013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22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94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766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338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EA82C9-A755-4448-AD0C-03E936F33044}" type="slidenum">
              <a:rPr lang="zh-CN" altLang="zh-CN" sz="1300" b="1" smtClean="0"/>
              <a:pPr/>
              <a:t>27</a:t>
            </a:fld>
            <a:endParaRPr lang="zh-CN" altLang="zh-CN" sz="1300" b="1"/>
          </a:p>
        </p:txBody>
      </p:sp>
    </p:spTree>
    <p:extLst>
      <p:ext uri="{BB962C8B-B14F-4D97-AF65-F5344CB8AC3E}">
        <p14:creationId xmlns:p14="http://schemas.microsoft.com/office/powerpoint/2010/main" val="293140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EC398-4A4D-4A1B-9D43-EAC523E2ED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831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AA7A6-5CF0-4B4B-935D-D2293F788F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79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F58C9-3C35-490A-AEB6-93D8E35881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38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A6CCED-26F6-4F42-A702-DC5F644C22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967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56CF5-0684-44E3-8FEC-A80D84B885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5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DD6F9-B174-4659-B3CA-7A484D2996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287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3215C-1531-4C00-98F6-C2F8019C1E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61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C2012-8F88-43DB-A6CD-6A17EFD628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00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28264-54F2-48D3-A303-47A92D0525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587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5E37C-DE72-4769-8B13-8DACB5C2BD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59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23080-70E8-47A8-8C93-CC0915D56D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8888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6E1EF-8709-4E81-829F-B4296E441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719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AA06276-3B43-4889-B7B8-FBCB31C668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9.bin"/><Relationship Id="rId18" Type="http://schemas.openxmlformats.org/officeDocument/2006/relationships/oleObject" Target="../embeddings/oleObject12.bin"/><Relationship Id="rId26" Type="http://schemas.openxmlformats.org/officeDocument/2006/relationships/image" Target="../media/image8.wmf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6.wmf"/><Relationship Id="rId25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29" Type="http://schemas.openxmlformats.org/officeDocument/2006/relationships/oleObject" Target="../embeddings/oleObject2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2.png"/><Relationship Id="rId15" Type="http://schemas.openxmlformats.org/officeDocument/2006/relationships/image" Target="../media/image5.wmf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9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5.bin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oleObject" Target="../embeddings/oleObject26.bin"/><Relationship Id="rId18" Type="http://schemas.openxmlformats.org/officeDocument/2006/relationships/oleObject" Target="../embeddings/oleObject29.bin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14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.wmf"/><Relationship Id="rId5" Type="http://schemas.openxmlformats.org/officeDocument/2006/relationships/image" Target="../media/image15.png"/><Relationship Id="rId15" Type="http://schemas.openxmlformats.org/officeDocument/2006/relationships/image" Target="../media/image5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13.wmf"/><Relationship Id="rId4" Type="http://schemas.openxmlformats.org/officeDocument/2006/relationships/image" Target="../media/image11.wmf"/><Relationship Id="rId9" Type="http://schemas.openxmlformats.org/officeDocument/2006/relationships/image" Target="../media/image3.wmf"/><Relationship Id="rId14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56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3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4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6.png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5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54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3.png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66.wmf"/><Relationship Id="rId26" Type="http://schemas.openxmlformats.org/officeDocument/2006/relationships/oleObject" Target="../embeddings/oleObject81.bin"/><Relationship Id="rId3" Type="http://schemas.openxmlformats.org/officeDocument/2006/relationships/oleObject" Target="../embeddings/oleObject69.bin"/><Relationship Id="rId21" Type="http://schemas.openxmlformats.org/officeDocument/2006/relationships/image" Target="../media/image67.wmf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76.bin"/><Relationship Id="rId25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20" Type="http://schemas.openxmlformats.org/officeDocument/2006/relationships/oleObject" Target="../embeddings/oleObject78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73.bin"/><Relationship Id="rId24" Type="http://schemas.openxmlformats.org/officeDocument/2006/relationships/oleObject" Target="../embeddings/oleObject80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image" Target="../media/image68.wmf"/><Relationship Id="rId28" Type="http://schemas.openxmlformats.org/officeDocument/2006/relationships/hyperlink" Target="https://www.bilibili.com/video/BV1cV411C77D?from=search&amp;seid=10629324502111233059" TargetMode="External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59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64.wmf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7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2.png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71.png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88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oleObject" Target="../embeddings/oleObject106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9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93.e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95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03.wmf"/><Relationship Id="rId26" Type="http://schemas.openxmlformats.org/officeDocument/2006/relationships/image" Target="../media/image32.png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34" Type="http://schemas.openxmlformats.org/officeDocument/2006/relationships/image" Target="../media/image110.wmf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18.bin"/><Relationship Id="rId33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2.wmf"/><Relationship Id="rId20" Type="http://schemas.openxmlformats.org/officeDocument/2006/relationships/image" Target="../media/image104.wmf"/><Relationship Id="rId29" Type="http://schemas.openxmlformats.org/officeDocument/2006/relationships/oleObject" Target="../embeddings/oleObject12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7.e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06.wmf"/><Relationship Id="rId32" Type="http://schemas.openxmlformats.org/officeDocument/2006/relationships/image" Target="../media/image109.e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28" Type="http://schemas.openxmlformats.org/officeDocument/2006/relationships/image" Target="../media/image107.wmf"/><Relationship Id="rId36" Type="http://schemas.openxmlformats.org/officeDocument/2006/relationships/image" Target="../media/image111.wmf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115.bin"/><Relationship Id="rId31" Type="http://schemas.openxmlformats.org/officeDocument/2006/relationships/oleObject" Target="../embeddings/oleObject121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01.emf"/><Relationship Id="rId22" Type="http://schemas.openxmlformats.org/officeDocument/2006/relationships/image" Target="../media/image105.wmf"/><Relationship Id="rId27" Type="http://schemas.openxmlformats.org/officeDocument/2006/relationships/oleObject" Target="../embeddings/oleObject119.bin"/><Relationship Id="rId30" Type="http://schemas.openxmlformats.org/officeDocument/2006/relationships/image" Target="../media/image108.emf"/><Relationship Id="rId35" Type="http://schemas.openxmlformats.org/officeDocument/2006/relationships/oleObject" Target="../embeddings/oleObject123.bin"/><Relationship Id="rId8" Type="http://schemas.openxmlformats.org/officeDocument/2006/relationships/image" Target="../media/image9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17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25.wmf"/><Relationship Id="rId26" Type="http://schemas.openxmlformats.org/officeDocument/2006/relationships/image" Target="../media/image129.wmf"/><Relationship Id="rId3" Type="http://schemas.openxmlformats.org/officeDocument/2006/relationships/oleObject" Target="../embeddings/oleObject130.bin"/><Relationship Id="rId21" Type="http://schemas.openxmlformats.org/officeDocument/2006/relationships/oleObject" Target="../embeddings/oleObject139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37.bin"/><Relationship Id="rId25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29" Type="http://schemas.openxmlformats.org/officeDocument/2006/relationships/oleObject" Target="../embeddings/oleObject14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34.bin"/><Relationship Id="rId24" Type="http://schemas.openxmlformats.org/officeDocument/2006/relationships/image" Target="../media/image128.emf"/><Relationship Id="rId32" Type="http://schemas.openxmlformats.org/officeDocument/2006/relationships/image" Target="../media/image132.wmf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0.bin"/><Relationship Id="rId28" Type="http://schemas.openxmlformats.org/officeDocument/2006/relationships/image" Target="../media/image130.wmf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38.bin"/><Relationship Id="rId31" Type="http://schemas.openxmlformats.org/officeDocument/2006/relationships/oleObject" Target="../embeddings/oleObject144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23.wmf"/><Relationship Id="rId22" Type="http://schemas.openxmlformats.org/officeDocument/2006/relationships/image" Target="../media/image127.emf"/><Relationship Id="rId27" Type="http://schemas.openxmlformats.org/officeDocument/2006/relationships/oleObject" Target="../embeddings/oleObject142.bin"/><Relationship Id="rId30" Type="http://schemas.openxmlformats.org/officeDocument/2006/relationships/image" Target="../media/image131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40.wmf"/><Relationship Id="rId26" Type="http://schemas.openxmlformats.org/officeDocument/2006/relationships/image" Target="../media/image144.wmf"/><Relationship Id="rId39" Type="http://schemas.openxmlformats.org/officeDocument/2006/relationships/oleObject" Target="../embeddings/oleObject163.bin"/><Relationship Id="rId21" Type="http://schemas.openxmlformats.org/officeDocument/2006/relationships/oleObject" Target="../embeddings/oleObject154.bin"/><Relationship Id="rId34" Type="http://schemas.openxmlformats.org/officeDocument/2006/relationships/image" Target="../media/image148.emf"/><Relationship Id="rId42" Type="http://schemas.openxmlformats.org/officeDocument/2006/relationships/image" Target="../media/image151.wmf"/><Relationship Id="rId7" Type="http://schemas.openxmlformats.org/officeDocument/2006/relationships/oleObject" Target="../embeddings/oleObject1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0" Type="http://schemas.openxmlformats.org/officeDocument/2006/relationships/image" Target="../media/image141.wmf"/><Relationship Id="rId29" Type="http://schemas.openxmlformats.org/officeDocument/2006/relationships/oleObject" Target="../embeddings/oleObject158.bin"/><Relationship Id="rId41" Type="http://schemas.openxmlformats.org/officeDocument/2006/relationships/oleObject" Target="../embeddings/oleObject164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4.emf"/><Relationship Id="rId11" Type="http://schemas.openxmlformats.org/officeDocument/2006/relationships/oleObject" Target="../embeddings/oleObject149.bin"/><Relationship Id="rId24" Type="http://schemas.openxmlformats.org/officeDocument/2006/relationships/image" Target="../media/image143.wmf"/><Relationship Id="rId32" Type="http://schemas.openxmlformats.org/officeDocument/2006/relationships/image" Target="../media/image147.emf"/><Relationship Id="rId37" Type="http://schemas.openxmlformats.org/officeDocument/2006/relationships/oleObject" Target="../embeddings/oleObject162.bin"/><Relationship Id="rId40" Type="http://schemas.openxmlformats.org/officeDocument/2006/relationships/image" Target="../media/image32.png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23" Type="http://schemas.openxmlformats.org/officeDocument/2006/relationships/oleObject" Target="../embeddings/oleObject155.bin"/><Relationship Id="rId28" Type="http://schemas.openxmlformats.org/officeDocument/2006/relationships/image" Target="../media/image145.wmf"/><Relationship Id="rId36" Type="http://schemas.openxmlformats.org/officeDocument/2006/relationships/image" Target="../media/image149.wmf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53.bin"/><Relationship Id="rId31" Type="http://schemas.openxmlformats.org/officeDocument/2006/relationships/oleObject" Target="../embeddings/oleObject159.bin"/><Relationship Id="rId4" Type="http://schemas.openxmlformats.org/officeDocument/2006/relationships/image" Target="../media/image133.e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38.wmf"/><Relationship Id="rId22" Type="http://schemas.openxmlformats.org/officeDocument/2006/relationships/image" Target="../media/image142.wmf"/><Relationship Id="rId27" Type="http://schemas.openxmlformats.org/officeDocument/2006/relationships/oleObject" Target="../embeddings/oleObject157.bin"/><Relationship Id="rId30" Type="http://schemas.openxmlformats.org/officeDocument/2006/relationships/image" Target="../media/image146.wmf"/><Relationship Id="rId35" Type="http://schemas.openxmlformats.org/officeDocument/2006/relationships/oleObject" Target="../embeddings/oleObject161.bin"/><Relationship Id="rId8" Type="http://schemas.openxmlformats.org/officeDocument/2006/relationships/image" Target="../media/image135.emf"/><Relationship Id="rId3" Type="http://schemas.openxmlformats.org/officeDocument/2006/relationships/oleObject" Target="../embeddings/oleObject145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52.bin"/><Relationship Id="rId25" Type="http://schemas.openxmlformats.org/officeDocument/2006/relationships/oleObject" Target="../embeddings/oleObject156.bin"/><Relationship Id="rId33" Type="http://schemas.openxmlformats.org/officeDocument/2006/relationships/oleObject" Target="../embeddings/oleObject160.bin"/><Relationship Id="rId38" Type="http://schemas.openxmlformats.org/officeDocument/2006/relationships/image" Target="../media/image15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59.wmf"/><Relationship Id="rId26" Type="http://schemas.openxmlformats.org/officeDocument/2006/relationships/image" Target="../media/image163.wmf"/><Relationship Id="rId3" Type="http://schemas.openxmlformats.org/officeDocument/2006/relationships/oleObject" Target="../embeddings/oleObject165.bin"/><Relationship Id="rId21" Type="http://schemas.openxmlformats.org/officeDocument/2006/relationships/oleObject" Target="../embeddings/oleObject174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56.e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29" Type="http://schemas.openxmlformats.org/officeDocument/2006/relationships/oleObject" Target="../embeddings/oleObject178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62.emf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5.bin"/><Relationship Id="rId28" Type="http://schemas.openxmlformats.org/officeDocument/2006/relationships/image" Target="../media/image32.png"/><Relationship Id="rId10" Type="http://schemas.openxmlformats.org/officeDocument/2006/relationships/image" Target="../media/image155.emf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57.wmf"/><Relationship Id="rId22" Type="http://schemas.openxmlformats.org/officeDocument/2006/relationships/image" Target="../media/image161.wmf"/><Relationship Id="rId27" Type="http://schemas.openxmlformats.org/officeDocument/2006/relationships/oleObject" Target="../embeddings/oleObject177.bin"/><Relationship Id="rId30" Type="http://schemas.openxmlformats.org/officeDocument/2006/relationships/image" Target="../media/image15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72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4.png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71.wmf"/><Relationship Id="rId5" Type="http://schemas.openxmlformats.org/officeDocument/2006/relationships/image" Target="../media/image168.wmf"/><Relationship Id="rId15" Type="http://schemas.openxmlformats.org/officeDocument/2006/relationships/image" Target="../media/image173.w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70.wmf"/><Relationship Id="rId14" Type="http://schemas.openxmlformats.org/officeDocument/2006/relationships/oleObject" Target="../embeddings/oleObject18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oleObject" Target="../embeddings/oleObject189.bin"/><Relationship Id="rId3" Type="http://schemas.openxmlformats.org/officeDocument/2006/relationships/image" Target="../media/image178.png"/><Relationship Id="rId7" Type="http://schemas.openxmlformats.org/officeDocument/2006/relationships/image" Target="../media/image70.wmf"/><Relationship Id="rId12" Type="http://schemas.openxmlformats.org/officeDocument/2006/relationships/image" Target="../media/image1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86.bin"/><Relationship Id="rId11" Type="http://schemas.openxmlformats.org/officeDocument/2006/relationships/oleObject" Target="../embeddings/oleObject188.bin"/><Relationship Id="rId5" Type="http://schemas.openxmlformats.org/officeDocument/2006/relationships/image" Target="../media/image69.wmf"/><Relationship Id="rId10" Type="http://schemas.openxmlformats.org/officeDocument/2006/relationships/image" Target="../media/image175.wmf"/><Relationship Id="rId4" Type="http://schemas.openxmlformats.org/officeDocument/2006/relationships/oleObject" Target="../embeddings/oleObject185.bin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7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Grp="1" noChangeAspect="1"/>
          </p:cNvGraphicFramePr>
          <p:nvPr>
            <p:ph/>
          </p:nvPr>
        </p:nvGraphicFramePr>
        <p:xfrm>
          <a:off x="4498975" y="0"/>
          <a:ext cx="464502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位图图像" r:id="rId3" imgW="10266667" imgH="7714286" progId="Paint.Picture">
                  <p:embed/>
                </p:oleObj>
              </mc:Choice>
              <mc:Fallback>
                <p:oleObj name="位图图像" r:id="rId3" imgW="10266667" imgH="771428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0"/>
                        <a:ext cx="464502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ap="flat" cmpd="sng" algn="ctr">
                            <a:solidFill>
                              <a:srgbClr val="FF3300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01675" y="581025"/>
            <a:ext cx="33766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8000" b="1">
                <a:latin typeface="Times New Roman" panose="02020603050405020304" pitchFamily="18" charset="0"/>
                <a:ea typeface="隶书" panose="02010509060101010101" pitchFamily="49" charset="-122"/>
              </a:rPr>
              <a:t>第四篇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47725" y="1822450"/>
            <a:ext cx="3119438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7200">
                <a:latin typeface="Times New Roman" panose="02020603050405020304" pitchFamily="18" charset="0"/>
                <a:ea typeface="隶书" panose="02010509060101010101" pitchFamily="49" charset="-122"/>
              </a:rPr>
              <a:t>振动与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7200">
                <a:latin typeface="Times New Roman" panose="02020603050405020304" pitchFamily="18" charset="0"/>
                <a:ea typeface="隶书" panose="02010509060101010101" pitchFamily="49" charset="-122"/>
              </a:rPr>
              <a:t>  波动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592138" y="4122738"/>
            <a:ext cx="3468687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电磁振荡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与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电磁波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2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82600" y="873125"/>
            <a:ext cx="781367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电磁振荡与电磁波 </a:t>
            </a:r>
            <a:br>
              <a:rPr kumimoji="1" lang="zh-CN" altLang="en-US" b="1">
                <a:latin typeface="Times New Roman" panose="02020603050405020304" pitchFamily="18" charset="0"/>
              </a:rPr>
            </a:br>
            <a:r>
              <a:rPr kumimoji="1" lang="zh-CN" altLang="en-US" sz="240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Electromagnetic Oscillations and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Electromagnetic Waves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308225" y="2954338"/>
            <a:ext cx="5002213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节  电磁振荡</a:t>
            </a:r>
          </a:p>
          <a:p>
            <a:pPr eaLnBrk="1" hangingPunct="1">
              <a:lnSpc>
                <a:spcPct val="105000"/>
              </a:lnSpc>
              <a:spcBef>
                <a:spcPct val="6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节  电磁波的发射和传播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09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212850" y="476250"/>
            <a:ext cx="70675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latin typeface="Times New Roman" panose="02020603050405020304" pitchFamily="18" charset="0"/>
              </a:rPr>
              <a:t>节   电磁振荡</a:t>
            </a:r>
            <a:br>
              <a:rPr kumimoji="1" lang="zh-CN" altLang="en-US" b="1">
                <a:latin typeface="Times New Roman" panose="02020603050405020304" pitchFamily="18" charset="0"/>
              </a:rPr>
            </a:b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Oscillations 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53988" y="3538538"/>
            <a:ext cx="4432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1.1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无阻尼自由振荡过程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755650" y="1722438"/>
            <a:ext cx="774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电磁振荡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电路中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电量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和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电流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的周期性变化。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755650" y="2405063"/>
            <a:ext cx="5508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振荡电路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产生电磁振荡的回路。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665163" y="4560888"/>
            <a:ext cx="7524750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无阻尼振荡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电路：</a:t>
            </a:r>
          </a:p>
          <a:p>
            <a:pPr eaLnBrk="1" hangingPunct="1"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无电阻、无辐射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产生的电磁振荡是无阻尼自由振荡。</a:t>
            </a: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5338763" y="3319463"/>
          <a:ext cx="29384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BMP 图象" r:id="rId3" imgW="1743318" imgH="885949" progId="Paint.Picture">
                  <p:embed/>
                </p:oleObj>
              </mc:Choice>
              <mc:Fallback>
                <p:oleObj name="BMP 图象" r:id="rId3" imgW="1743318" imgH="885949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763" y="3319463"/>
                        <a:ext cx="2938462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6178550" y="37576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7821613" y="3282950"/>
            <a:ext cx="420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178" name="Text Box 12"/>
          <p:cNvSpPr txBox="1">
            <a:spLocks noChangeArrowheads="1"/>
          </p:cNvSpPr>
          <p:nvPr/>
        </p:nvSpPr>
        <p:spPr bwMode="auto">
          <a:xfrm>
            <a:off x="87852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endParaRPr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utoUpdateAnimBg="0"/>
      <p:bldP spid="5128" grpId="0" autoUpdateAnimBg="0"/>
      <p:bldP spid="512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258888" y="833438"/>
          <a:ext cx="1739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8" name="BMP 图象" r:id="rId4" imgW="1743318" imgH="885949" progId="Paint.Picture">
                  <p:embed/>
                </p:oleObj>
              </mc:Choice>
              <mc:Fallback>
                <p:oleObj name="BMP 图象" r:id="rId4" imgW="1743318" imgH="88594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833438"/>
                        <a:ext cx="1739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258888" y="2595563"/>
          <a:ext cx="1905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" name="BMP 图象" r:id="rId6" imgW="1743318" imgH="885949" progId="Paint.Picture">
                  <p:embed/>
                </p:oleObj>
              </mc:Choice>
              <mc:Fallback>
                <p:oleObj name="BMP 图象" r:id="rId6" imgW="1743318" imgH="885949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595563"/>
                        <a:ext cx="19050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219200" y="4662488"/>
          <a:ext cx="1752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" name="BMP 图象" r:id="rId7" imgW="1743318" imgH="885949" progId="Paint.Picture">
                  <p:embed/>
                </p:oleObj>
              </mc:Choice>
              <mc:Fallback>
                <p:oleObj name="BMP 图象" r:id="rId7" imgW="1743318" imgH="885949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62488"/>
                        <a:ext cx="17526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82625" y="333375"/>
            <a:ext cx="1009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684213" y="2090738"/>
            <a:ext cx="1223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755650" y="4184650"/>
            <a:ext cx="126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868488" y="909638"/>
            <a:ext cx="1343025" cy="533400"/>
            <a:chOff x="1248" y="192"/>
            <a:chExt cx="964" cy="391"/>
          </a:xfrm>
        </p:grpSpPr>
        <p:grpSp>
          <p:nvGrpSpPr>
            <p:cNvPr id="8236" name="Group 9"/>
            <p:cNvGrpSpPr>
              <a:grpSpLocks/>
            </p:cNvGrpSpPr>
            <p:nvPr/>
          </p:nvGrpSpPr>
          <p:grpSpPr bwMode="auto">
            <a:xfrm>
              <a:off x="1248" y="192"/>
              <a:ext cx="807" cy="391"/>
              <a:chOff x="1248" y="192"/>
              <a:chExt cx="807" cy="391"/>
            </a:xfrm>
          </p:grpSpPr>
          <p:grpSp>
            <p:nvGrpSpPr>
              <p:cNvPr id="8238" name="Group 10"/>
              <p:cNvGrpSpPr>
                <a:grpSpLocks/>
              </p:cNvGrpSpPr>
              <p:nvPr/>
            </p:nvGrpSpPr>
            <p:grpSpPr bwMode="auto">
              <a:xfrm>
                <a:off x="1728" y="192"/>
                <a:ext cx="327" cy="391"/>
                <a:chOff x="1728" y="192"/>
                <a:chExt cx="327" cy="391"/>
              </a:xfrm>
            </p:grpSpPr>
            <p:graphicFrame>
              <p:nvGraphicFramePr>
                <p:cNvPr id="8240" name="Object 11"/>
                <p:cNvGraphicFramePr>
                  <a:graphicFrameLocks noChangeAspect="1"/>
                </p:cNvGraphicFramePr>
                <p:nvPr/>
              </p:nvGraphicFramePr>
              <p:xfrm>
                <a:off x="1920" y="192"/>
                <a:ext cx="120" cy="1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01" name="公式" r:id="rId8" imgW="228501" imgH="215806" progId="Equation.3">
                        <p:embed/>
                      </p:oleObj>
                    </mc:Choice>
                    <mc:Fallback>
                      <p:oleObj name="公式" r:id="rId8" imgW="228501" imgH="215806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20" y="192"/>
                              <a:ext cx="120" cy="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1" name="Object 12"/>
                <p:cNvGraphicFramePr>
                  <a:graphicFrameLocks noChangeAspect="1"/>
                </p:cNvGraphicFramePr>
                <p:nvPr/>
              </p:nvGraphicFramePr>
              <p:xfrm>
                <a:off x="1920" y="528"/>
                <a:ext cx="135" cy="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02" name="公式" r:id="rId10" imgW="215432" imgH="88707" progId="Equation.3">
                        <p:embed/>
                      </p:oleObj>
                    </mc:Choice>
                    <mc:Fallback>
                      <p:oleObj name="公式" r:id="rId10" imgW="215432" imgH="88707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20" y="528"/>
                              <a:ext cx="135" cy="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242" name="Line 13"/>
                <p:cNvSpPr>
                  <a:spLocks noChangeShapeType="1"/>
                </p:cNvSpPr>
                <p:nvPr/>
              </p:nvSpPr>
              <p:spPr bwMode="auto">
                <a:xfrm>
                  <a:off x="1824" y="336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" name="Line 14"/>
                <p:cNvSpPr>
                  <a:spLocks noChangeShapeType="1"/>
                </p:cNvSpPr>
                <p:nvPr/>
              </p:nvSpPr>
              <p:spPr bwMode="auto">
                <a:xfrm>
                  <a:off x="1968" y="336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8244" name="Object 15"/>
                <p:cNvGraphicFramePr>
                  <a:graphicFrameLocks noChangeAspect="1"/>
                </p:cNvGraphicFramePr>
                <p:nvPr/>
              </p:nvGraphicFramePr>
              <p:xfrm>
                <a:off x="1728" y="192"/>
                <a:ext cx="120" cy="1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03" name="公式" r:id="rId12" imgW="228501" imgH="215806" progId="Equation.3">
                        <p:embed/>
                      </p:oleObj>
                    </mc:Choice>
                    <mc:Fallback>
                      <p:oleObj name="公式" r:id="rId12" imgW="228501" imgH="215806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28" y="192"/>
                              <a:ext cx="120" cy="1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245" name="Object 16"/>
                <p:cNvGraphicFramePr>
                  <a:graphicFrameLocks noChangeAspect="1"/>
                </p:cNvGraphicFramePr>
                <p:nvPr/>
              </p:nvGraphicFramePr>
              <p:xfrm>
                <a:off x="1728" y="528"/>
                <a:ext cx="135" cy="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04" name="公式" r:id="rId13" imgW="215432" imgH="88707" progId="Equation.3">
                        <p:embed/>
                      </p:oleObj>
                    </mc:Choice>
                    <mc:Fallback>
                      <p:oleObj name="公式" r:id="rId13" imgW="215432" imgH="88707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28" y="528"/>
                              <a:ext cx="135" cy="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8239" name="Object 17"/>
              <p:cNvGraphicFramePr>
                <a:graphicFrameLocks noChangeAspect="1"/>
              </p:cNvGraphicFramePr>
              <p:nvPr/>
            </p:nvGraphicFramePr>
            <p:xfrm>
              <a:off x="1248" y="240"/>
              <a:ext cx="352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05" name="公式" r:id="rId14" imgW="660400" imgH="279400" progId="Equation.3">
                      <p:embed/>
                    </p:oleObj>
                  </mc:Choice>
                  <mc:Fallback>
                    <p:oleObj name="公式" r:id="rId14" imgW="660400" imgH="2794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240"/>
                            <a:ext cx="352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37" name="Object 18"/>
            <p:cNvGraphicFramePr>
              <a:graphicFrameLocks noChangeAspect="1"/>
            </p:cNvGraphicFramePr>
            <p:nvPr/>
          </p:nvGraphicFramePr>
          <p:xfrm>
            <a:off x="2132" y="228"/>
            <a:ext cx="80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6" name="公式" r:id="rId16" imgW="126780" imgH="164814" progId="Equation.3">
                    <p:embed/>
                  </p:oleObj>
                </mc:Choice>
                <mc:Fallback>
                  <p:oleObj name="公式" r:id="rId16" imgW="126780" imgH="164814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" y="228"/>
                          <a:ext cx="80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487488" y="2519363"/>
            <a:ext cx="990600" cy="914400"/>
            <a:chOff x="1008" y="960"/>
            <a:chExt cx="624" cy="576"/>
          </a:xfrm>
        </p:grpSpPr>
        <p:sp>
          <p:nvSpPr>
            <p:cNvPr id="8232" name="Line 20"/>
            <p:cNvSpPr>
              <a:spLocks noChangeShapeType="1"/>
            </p:cNvSpPr>
            <p:nvPr/>
          </p:nvSpPr>
          <p:spPr bwMode="auto">
            <a:xfrm flipH="1" flipV="1">
              <a:off x="1008" y="960"/>
              <a:ext cx="0" cy="57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3" name="Line 21"/>
            <p:cNvSpPr>
              <a:spLocks noChangeShapeType="1"/>
            </p:cNvSpPr>
            <p:nvPr/>
          </p:nvSpPr>
          <p:spPr bwMode="auto">
            <a:xfrm flipH="1" flipV="1">
              <a:off x="1056" y="960"/>
              <a:ext cx="0" cy="57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Line 22"/>
            <p:cNvSpPr>
              <a:spLocks noChangeShapeType="1"/>
            </p:cNvSpPr>
            <p:nvPr/>
          </p:nvSpPr>
          <p:spPr bwMode="auto">
            <a:xfrm flipH="1">
              <a:off x="1248" y="105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35" name="Object 23"/>
            <p:cNvGraphicFramePr>
              <a:graphicFrameLocks noChangeAspect="1"/>
            </p:cNvGraphicFramePr>
            <p:nvPr/>
          </p:nvGraphicFramePr>
          <p:xfrm>
            <a:off x="1296" y="1104"/>
            <a:ext cx="31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7" name="公式" r:id="rId18" imgW="545863" imgH="380835" progId="Equation.3">
                    <p:embed/>
                  </p:oleObj>
                </mc:Choice>
                <mc:Fallback>
                  <p:oleObj name="公式" r:id="rId18" imgW="545863" imgH="38083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104"/>
                          <a:ext cx="316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828800" y="4738688"/>
            <a:ext cx="1052513" cy="636587"/>
            <a:chOff x="1296" y="2064"/>
            <a:chExt cx="663" cy="401"/>
          </a:xfrm>
        </p:grpSpPr>
        <p:graphicFrame>
          <p:nvGraphicFramePr>
            <p:cNvPr id="8225" name="Object 25"/>
            <p:cNvGraphicFramePr>
              <a:graphicFrameLocks noChangeAspect="1"/>
            </p:cNvGraphicFramePr>
            <p:nvPr/>
          </p:nvGraphicFramePr>
          <p:xfrm>
            <a:off x="1680" y="2352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8" name="公式" r:id="rId20" imgW="228501" imgH="215806" progId="Equation.3">
                    <p:embed/>
                  </p:oleObj>
                </mc:Choice>
                <mc:Fallback>
                  <p:oleObj name="公式" r:id="rId20" imgW="228501" imgH="215806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352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6" name="Object 26"/>
            <p:cNvGraphicFramePr>
              <a:graphicFrameLocks noChangeAspect="1"/>
            </p:cNvGraphicFramePr>
            <p:nvPr/>
          </p:nvGraphicFramePr>
          <p:xfrm>
            <a:off x="1680" y="2112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9" name="公式" r:id="rId21" imgW="215432" imgH="88707" progId="Equation.3">
                    <p:embed/>
                  </p:oleObj>
                </mc:Choice>
                <mc:Fallback>
                  <p:oleObj name="公式" r:id="rId21" imgW="215432" imgH="8870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12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7" name="Line 27"/>
            <p:cNvSpPr>
              <a:spLocks noChangeShapeType="1"/>
            </p:cNvSpPr>
            <p:nvPr/>
          </p:nvSpPr>
          <p:spPr bwMode="auto">
            <a:xfrm flipV="1">
              <a:off x="1872" y="2208"/>
              <a:ext cx="0" cy="9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28" name="Object 28"/>
            <p:cNvGraphicFramePr>
              <a:graphicFrameLocks noChangeAspect="1"/>
            </p:cNvGraphicFramePr>
            <p:nvPr/>
          </p:nvGraphicFramePr>
          <p:xfrm>
            <a:off x="1824" y="2352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0" name="公式" r:id="rId22" imgW="228501" imgH="215806" progId="Equation.3">
                    <p:embed/>
                  </p:oleObj>
                </mc:Choice>
                <mc:Fallback>
                  <p:oleObj name="公式" r:id="rId22" imgW="228501" imgH="215806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352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9" name="Line 29"/>
            <p:cNvSpPr>
              <a:spLocks noChangeShapeType="1"/>
            </p:cNvSpPr>
            <p:nvPr/>
          </p:nvSpPr>
          <p:spPr bwMode="auto">
            <a:xfrm flipV="1">
              <a:off x="1776" y="2208"/>
              <a:ext cx="0" cy="96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30" name="Object 30"/>
            <p:cNvGraphicFramePr>
              <a:graphicFrameLocks noChangeAspect="1"/>
            </p:cNvGraphicFramePr>
            <p:nvPr/>
          </p:nvGraphicFramePr>
          <p:xfrm>
            <a:off x="1824" y="2112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1" name="公式" r:id="rId23" imgW="215432" imgH="88707" progId="Equation.3">
                    <p:embed/>
                  </p:oleObj>
                </mc:Choice>
                <mc:Fallback>
                  <p:oleObj name="公式" r:id="rId23" imgW="215432" imgH="88707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112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1" name="Object 31"/>
            <p:cNvGraphicFramePr>
              <a:graphicFrameLocks noChangeAspect="1"/>
            </p:cNvGraphicFramePr>
            <p:nvPr/>
          </p:nvGraphicFramePr>
          <p:xfrm>
            <a:off x="1296" y="2064"/>
            <a:ext cx="352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2" name="公式" r:id="rId24" imgW="660400" imgH="279400" progId="Equation.3">
                    <p:embed/>
                  </p:oleObj>
                </mc:Choice>
                <mc:Fallback>
                  <p:oleObj name="公式" r:id="rId24" imgW="660400" imgH="2794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064"/>
                          <a:ext cx="352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76" name="Object 32"/>
          <p:cNvGraphicFramePr>
            <a:graphicFrameLocks noChangeAspect="1"/>
          </p:cNvGraphicFramePr>
          <p:nvPr/>
        </p:nvGraphicFramePr>
        <p:xfrm>
          <a:off x="3600450" y="476250"/>
          <a:ext cx="38877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3" name="Equation" r:id="rId25" imgW="4279900" imgH="431800" progId="Equation.DSMT4">
                  <p:embed/>
                </p:oleObj>
              </mc:Choice>
              <mc:Fallback>
                <p:oleObj name="Equation" r:id="rId25" imgW="4279900" imgH="4318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476250"/>
                        <a:ext cx="38877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7" name="Object 33"/>
          <p:cNvGraphicFramePr>
            <a:graphicFrameLocks noChangeAspect="1"/>
          </p:cNvGraphicFramePr>
          <p:nvPr/>
        </p:nvGraphicFramePr>
        <p:xfrm>
          <a:off x="3384550" y="2420938"/>
          <a:ext cx="43195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4" name="Equation" r:id="rId27" imgW="4749800" imgH="431800" progId="Equation.DSMT4">
                  <p:embed/>
                </p:oleObj>
              </mc:Choice>
              <mc:Fallback>
                <p:oleObj name="Equation" r:id="rId27" imgW="4749800" imgH="431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2420938"/>
                        <a:ext cx="431958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8" name="Object 34"/>
          <p:cNvGraphicFramePr>
            <a:graphicFrameLocks noChangeAspect="1"/>
          </p:cNvGraphicFramePr>
          <p:nvPr/>
        </p:nvGraphicFramePr>
        <p:xfrm>
          <a:off x="3438525" y="5045075"/>
          <a:ext cx="35623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5" name="Equation" r:id="rId29" imgW="4279900" imgH="431800" progId="Equation.DSMT4">
                  <p:embed/>
                </p:oleObj>
              </mc:Choice>
              <mc:Fallback>
                <p:oleObj name="Equation" r:id="rId29" imgW="4279900" imgH="431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5045075"/>
                        <a:ext cx="35623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3527425" y="931863"/>
            <a:ext cx="457358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放电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r>
              <a:rPr kumimoji="1" lang="en-US" altLang="zh-CN" sz="24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逐渐</a:t>
            </a:r>
            <a:r>
              <a:rPr kumimoji="1" lang="en-US" altLang="en-US" sz="36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q</a:t>
            </a:r>
            <a:r>
              <a:rPr kumimoji="1" lang="en-US" altLang="zh-CN" sz="36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3600" b="1">
                <a:latin typeface="Times New Roman" panose="02020603050405020304" pitchFamily="18" charset="0"/>
              </a:rPr>
              <a:t>           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b="1" i="1" baseline="-25000">
                <a:latin typeface="Times New Roman" panose="02020603050405020304" pitchFamily="18" charset="0"/>
              </a:rPr>
              <a:t>e</a:t>
            </a:r>
            <a:r>
              <a:rPr kumimoji="1" lang="en-US" altLang="zh-CN" b="1">
                <a:latin typeface="Times New Roman" panose="02020603050405020304" pitchFamily="18" charset="0"/>
              </a:rPr>
              <a:t>   ,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6180" name="Line 36"/>
          <p:cNvSpPr>
            <a:spLocks noChangeShapeType="1"/>
          </p:cNvSpPr>
          <p:nvPr/>
        </p:nvSpPr>
        <p:spPr bwMode="auto">
          <a:xfrm flipV="1">
            <a:off x="7092950" y="10572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1" name="Line 37"/>
          <p:cNvSpPr>
            <a:spLocks noChangeShapeType="1"/>
          </p:cNvSpPr>
          <p:nvPr/>
        </p:nvSpPr>
        <p:spPr bwMode="auto">
          <a:xfrm rot="10800000" flipV="1">
            <a:off x="7740650" y="1133475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2" name="Line 38"/>
          <p:cNvSpPr>
            <a:spLocks noChangeShapeType="1"/>
          </p:cNvSpPr>
          <p:nvPr/>
        </p:nvSpPr>
        <p:spPr bwMode="auto">
          <a:xfrm flipV="1">
            <a:off x="5292725" y="15652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3" name="Line 39"/>
          <p:cNvSpPr>
            <a:spLocks noChangeShapeType="1"/>
          </p:cNvSpPr>
          <p:nvPr/>
        </p:nvSpPr>
        <p:spPr bwMode="auto">
          <a:xfrm rot="10800000" flipV="1">
            <a:off x="4211638" y="16033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4" name="Line 40"/>
          <p:cNvSpPr>
            <a:spLocks noChangeShapeType="1"/>
          </p:cNvSpPr>
          <p:nvPr/>
        </p:nvSpPr>
        <p:spPr bwMode="auto">
          <a:xfrm rot="10800000" flipV="1">
            <a:off x="2249488" y="1628775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Line 41"/>
          <p:cNvSpPr>
            <a:spLocks noChangeShapeType="1"/>
          </p:cNvSpPr>
          <p:nvPr/>
        </p:nvSpPr>
        <p:spPr bwMode="auto">
          <a:xfrm rot="10800000" flipV="1">
            <a:off x="2249488" y="3357563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6" name="Line 42"/>
          <p:cNvSpPr>
            <a:spLocks noChangeShapeType="1"/>
          </p:cNvSpPr>
          <p:nvPr/>
        </p:nvSpPr>
        <p:spPr bwMode="auto">
          <a:xfrm rot="10800000" flipV="1">
            <a:off x="2159000" y="5408613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Text Box 43"/>
          <p:cNvSpPr txBox="1">
            <a:spLocks noChangeArrowheads="1"/>
          </p:cNvSpPr>
          <p:nvPr/>
        </p:nvSpPr>
        <p:spPr bwMode="auto">
          <a:xfrm>
            <a:off x="3340100" y="2878138"/>
            <a:ext cx="52641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放电完毕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电流本应终止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产生与原来方向相同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反向充电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q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</a:p>
        </p:txBody>
      </p:sp>
      <p:sp>
        <p:nvSpPr>
          <p:cNvPr id="6188" name="Line 44"/>
          <p:cNvSpPr>
            <a:spLocks noChangeShapeType="1"/>
          </p:cNvSpPr>
          <p:nvPr/>
        </p:nvSpPr>
        <p:spPr bwMode="auto">
          <a:xfrm flipV="1">
            <a:off x="6156325" y="3824288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9" name="Line 45"/>
          <p:cNvSpPr>
            <a:spLocks noChangeShapeType="1"/>
          </p:cNvSpPr>
          <p:nvPr/>
        </p:nvSpPr>
        <p:spPr bwMode="auto">
          <a:xfrm flipV="1">
            <a:off x="7056438" y="3824288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0" name="Rectangle 46"/>
          <p:cNvSpPr>
            <a:spLocks noChangeArrowheads="1"/>
          </p:cNvSpPr>
          <p:nvPr/>
        </p:nvSpPr>
        <p:spPr bwMode="auto">
          <a:xfrm>
            <a:off x="3224213" y="4422775"/>
            <a:ext cx="2392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充电完毕</a:t>
            </a:r>
          </a:p>
        </p:txBody>
      </p:sp>
      <p:sp>
        <p:nvSpPr>
          <p:cNvPr id="6191" name="Text Box 47"/>
          <p:cNvSpPr txBox="1">
            <a:spLocks noChangeArrowheads="1"/>
          </p:cNvSpPr>
          <p:nvPr/>
        </p:nvSpPr>
        <p:spPr bwMode="auto">
          <a:xfrm>
            <a:off x="3316288" y="5507038"/>
            <a:ext cx="52165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反向放电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电流与原方向相反因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92" name="Rectangle 48"/>
          <p:cNvSpPr>
            <a:spLocks noChangeArrowheads="1"/>
          </p:cNvSpPr>
          <p:nvPr/>
        </p:nvSpPr>
        <p:spPr bwMode="auto">
          <a:xfrm>
            <a:off x="4822825" y="5924550"/>
            <a:ext cx="3817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逐渐</a:t>
            </a:r>
            <a:r>
              <a:rPr kumimoji="1" lang="en-US" altLang="en-US" sz="2800" b="1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, 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6193" name="Line 49"/>
          <p:cNvSpPr>
            <a:spLocks noChangeShapeType="1"/>
          </p:cNvSpPr>
          <p:nvPr/>
        </p:nvSpPr>
        <p:spPr bwMode="auto">
          <a:xfrm flipV="1">
            <a:off x="5940425" y="5913438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4" name="Line 50"/>
          <p:cNvSpPr>
            <a:spLocks noChangeShapeType="1"/>
          </p:cNvSpPr>
          <p:nvPr/>
        </p:nvSpPr>
        <p:spPr bwMode="auto">
          <a:xfrm rot="10800000" flipV="1">
            <a:off x="6516688" y="5924550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5" name="Line 51"/>
          <p:cNvSpPr>
            <a:spLocks noChangeShapeType="1"/>
          </p:cNvSpPr>
          <p:nvPr/>
        </p:nvSpPr>
        <p:spPr bwMode="auto">
          <a:xfrm rot="10800000" flipV="1">
            <a:off x="7272338" y="5959475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6" name="Line 52"/>
          <p:cNvSpPr>
            <a:spLocks noChangeShapeType="1"/>
          </p:cNvSpPr>
          <p:nvPr/>
        </p:nvSpPr>
        <p:spPr bwMode="auto">
          <a:xfrm flipV="1">
            <a:off x="8243888" y="5924550"/>
            <a:ext cx="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4" name="Text Box 55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6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75"/>
                                        <p:tgtEl>
                                          <p:spTgt spid="6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6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75"/>
                                        <p:tgtEl>
                                          <p:spTgt spid="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75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utoUpdateAnimBg="0"/>
      <p:bldP spid="6150" grpId="0" autoUpdateAnimBg="0"/>
      <p:bldP spid="6151" grpId="0" autoUpdateAnimBg="0"/>
      <p:bldP spid="6179" grpId="0" build="p" autoUpdateAnimBg="0"/>
      <p:bldP spid="6180" grpId="0" animBg="1"/>
      <p:bldP spid="6181" grpId="0" animBg="1"/>
      <p:bldP spid="6182" grpId="0" animBg="1"/>
      <p:bldP spid="6183" grpId="0" animBg="1"/>
      <p:bldP spid="6184" grpId="0" animBg="1"/>
      <p:bldP spid="6185" grpId="0" animBg="1"/>
      <p:bldP spid="6186" grpId="0" animBg="1"/>
      <p:bldP spid="6187" grpId="0" build="p" autoUpdateAnimBg="0"/>
      <p:bldP spid="6188" grpId="0" animBg="1"/>
      <p:bldP spid="6189" grpId="0" animBg="1"/>
      <p:bldP spid="6190" grpId="0" autoUpdateAnimBg="0"/>
      <p:bldP spid="6191" grpId="0" autoUpdateAnimBg="0"/>
      <p:bldP spid="6192" grpId="0" autoUpdateAnimBg="0"/>
      <p:bldP spid="6193" grpId="0" animBg="1"/>
      <p:bldP spid="6194" grpId="0" animBg="1"/>
      <p:bldP spid="6195" grpId="0" animBg="1"/>
      <p:bldP spid="619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684213" y="388938"/>
            <a:ext cx="215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684213" y="2351088"/>
            <a:ext cx="2519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454400" y="549275"/>
          <a:ext cx="45386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Equation" r:id="rId3" imgW="4749800" imgH="431800" progId="Equation.DSMT4">
                  <p:embed/>
                </p:oleObj>
              </mc:Choice>
              <mc:Fallback>
                <p:oleObj name="Equation" r:id="rId3" imgW="4749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549275"/>
                        <a:ext cx="453866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Line 5"/>
          <p:cNvSpPr>
            <a:spLocks noChangeShapeType="1"/>
          </p:cNvSpPr>
          <p:nvPr/>
        </p:nvSpPr>
        <p:spPr bwMode="auto">
          <a:xfrm rot="10800000" flipV="1">
            <a:off x="2349500" y="1743075"/>
            <a:ext cx="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203575" y="1119188"/>
            <a:ext cx="56896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放电完毕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电流本应终止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kumimoji="1" lang="en-US" altLang="zh-CN" sz="2800" b="1" i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自感作用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，产生与原来方向相同的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电流，电容器重新充电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3348038" y="3014663"/>
            <a:ext cx="507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en-US" sz="28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 = T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时，回到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t =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时的状态</a:t>
            </a:r>
          </a:p>
        </p:txBody>
      </p:sp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919163"/>
            <a:ext cx="17526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870200"/>
            <a:ext cx="17526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619250" y="919163"/>
            <a:ext cx="1066800" cy="990600"/>
            <a:chOff x="1056" y="2832"/>
            <a:chExt cx="672" cy="624"/>
          </a:xfrm>
        </p:grpSpPr>
        <p:sp>
          <p:nvSpPr>
            <p:cNvPr id="10278" name="Line 11"/>
            <p:cNvSpPr>
              <a:spLocks noChangeShapeType="1"/>
            </p:cNvSpPr>
            <p:nvPr/>
          </p:nvSpPr>
          <p:spPr bwMode="auto">
            <a:xfrm>
              <a:off x="1056" y="2832"/>
              <a:ext cx="0" cy="6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Line 12"/>
            <p:cNvSpPr>
              <a:spLocks noChangeShapeType="1"/>
            </p:cNvSpPr>
            <p:nvPr/>
          </p:nvSpPr>
          <p:spPr bwMode="auto">
            <a:xfrm>
              <a:off x="1104" y="2832"/>
              <a:ext cx="0" cy="6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0" name="Line 13"/>
            <p:cNvSpPr>
              <a:spLocks noChangeShapeType="1"/>
            </p:cNvSpPr>
            <p:nvPr/>
          </p:nvSpPr>
          <p:spPr bwMode="auto">
            <a:xfrm rot="10800000" flipH="1">
              <a:off x="1344" y="292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281" name="Object 14"/>
            <p:cNvGraphicFramePr>
              <a:graphicFrameLocks noChangeAspect="1"/>
            </p:cNvGraphicFramePr>
            <p:nvPr/>
          </p:nvGraphicFramePr>
          <p:xfrm>
            <a:off x="1248" y="2928"/>
            <a:ext cx="316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3" name="公式" r:id="rId6" imgW="545863" imgH="380835" progId="Equation.3">
                    <p:embed/>
                  </p:oleObj>
                </mc:Choice>
                <mc:Fallback>
                  <p:oleObj name="公式" r:id="rId6" imgW="545863" imgH="38083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928"/>
                          <a:ext cx="316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706563" y="2916238"/>
            <a:ext cx="1281112" cy="620712"/>
            <a:chOff x="1200" y="3744"/>
            <a:chExt cx="807" cy="391"/>
          </a:xfrm>
        </p:grpSpPr>
        <p:graphicFrame>
          <p:nvGraphicFramePr>
            <p:cNvPr id="10271" name="Object 16"/>
            <p:cNvGraphicFramePr>
              <a:graphicFrameLocks noChangeAspect="1"/>
            </p:cNvGraphicFramePr>
            <p:nvPr/>
          </p:nvGraphicFramePr>
          <p:xfrm>
            <a:off x="1680" y="3744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4" name="公式" r:id="rId8" imgW="228501" imgH="215806" progId="Equation.3">
                    <p:embed/>
                  </p:oleObj>
                </mc:Choice>
                <mc:Fallback>
                  <p:oleObj name="公式" r:id="rId8" imgW="228501" imgH="21580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744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" name="Object 17"/>
            <p:cNvGraphicFramePr>
              <a:graphicFrameLocks noChangeAspect="1"/>
            </p:cNvGraphicFramePr>
            <p:nvPr/>
          </p:nvGraphicFramePr>
          <p:xfrm>
            <a:off x="1680" y="4080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5" name="公式" r:id="rId10" imgW="215432" imgH="88707" progId="Equation.3">
                    <p:embed/>
                  </p:oleObj>
                </mc:Choice>
                <mc:Fallback>
                  <p:oleObj name="公式" r:id="rId10" imgW="215432" imgH="88707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4080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3" name="Line 18"/>
            <p:cNvSpPr>
              <a:spLocks noChangeShapeType="1"/>
            </p:cNvSpPr>
            <p:nvPr/>
          </p:nvSpPr>
          <p:spPr bwMode="auto">
            <a:xfrm>
              <a:off x="1872" y="3888"/>
              <a:ext cx="0" cy="1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Line 19"/>
            <p:cNvSpPr>
              <a:spLocks noChangeShapeType="1"/>
            </p:cNvSpPr>
            <p:nvPr/>
          </p:nvSpPr>
          <p:spPr bwMode="auto">
            <a:xfrm>
              <a:off x="1776" y="3888"/>
              <a:ext cx="0" cy="144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275" name="Object 20"/>
            <p:cNvGraphicFramePr>
              <a:graphicFrameLocks noChangeAspect="1"/>
            </p:cNvGraphicFramePr>
            <p:nvPr/>
          </p:nvGraphicFramePr>
          <p:xfrm>
            <a:off x="1872" y="3744"/>
            <a:ext cx="12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6" name="公式" r:id="rId12" imgW="228501" imgH="215806" progId="Equation.3">
                    <p:embed/>
                  </p:oleObj>
                </mc:Choice>
                <mc:Fallback>
                  <p:oleObj name="公式" r:id="rId12" imgW="228501" imgH="215806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744"/>
                          <a:ext cx="12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6" name="Object 21"/>
            <p:cNvGraphicFramePr>
              <a:graphicFrameLocks noChangeAspect="1"/>
            </p:cNvGraphicFramePr>
            <p:nvPr/>
          </p:nvGraphicFramePr>
          <p:xfrm>
            <a:off x="1872" y="4080"/>
            <a:ext cx="135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7" name="公式" r:id="rId13" imgW="215432" imgH="88707" progId="Equation.3">
                    <p:embed/>
                  </p:oleObj>
                </mc:Choice>
                <mc:Fallback>
                  <p:oleObj name="公式" r:id="rId13" imgW="215432" imgH="8870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4080"/>
                          <a:ext cx="135" cy="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22"/>
            <p:cNvGraphicFramePr>
              <a:graphicFrameLocks noChangeAspect="1"/>
            </p:cNvGraphicFramePr>
            <p:nvPr/>
          </p:nvGraphicFramePr>
          <p:xfrm>
            <a:off x="1200" y="3792"/>
            <a:ext cx="352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8" name="公式" r:id="rId14" imgW="660400" imgH="279400" progId="Equation.3">
                    <p:embed/>
                  </p:oleObj>
                </mc:Choice>
                <mc:Fallback>
                  <p:oleObj name="公式" r:id="rId14" imgW="660400" imgH="2794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792"/>
                          <a:ext cx="352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684213" y="4076700"/>
            <a:ext cx="74168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电荷在极板间来回流动，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q</a:t>
            </a:r>
            <a:r>
              <a:rPr kumimoji="1" lang="zh-CN" altLang="en-US" sz="2800" b="1" i="1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i="1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We</a:t>
            </a:r>
            <a:r>
              <a:rPr kumimoji="1" lang="zh-CN" altLang="en-US" sz="2800" b="1" i="1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都在</a:t>
            </a:r>
            <a:br>
              <a:rPr kumimoji="1" lang="zh-CN" altLang="en-US" sz="2800" b="1">
                <a:latin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</a:rPr>
              <a:t>周期性变化，产生电磁振荡。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（可与弹簧振子类比）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908800" y="5218113"/>
            <a:ext cx="1338263" cy="1016000"/>
            <a:chOff x="2971" y="645"/>
            <a:chExt cx="843" cy="640"/>
          </a:xfrm>
        </p:grpSpPr>
        <p:sp>
          <p:nvSpPr>
            <p:cNvPr id="10261" name="Rectangle 25"/>
            <p:cNvSpPr>
              <a:spLocks noChangeArrowheads="1"/>
            </p:cNvSpPr>
            <p:nvPr/>
          </p:nvSpPr>
          <p:spPr bwMode="auto">
            <a:xfrm>
              <a:off x="3750" y="1131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latin typeface="Times New Roman" panose="02020603050405020304" pitchFamily="18" charset="0"/>
                </a:rPr>
                <a:t>k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2" name="Rectangle 26"/>
            <p:cNvSpPr>
              <a:spLocks noChangeArrowheads="1"/>
            </p:cNvSpPr>
            <p:nvPr/>
          </p:nvSpPr>
          <p:spPr bwMode="auto">
            <a:xfrm>
              <a:off x="3158" y="1131"/>
              <a:ext cx="1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3" name="Rectangle 27"/>
            <p:cNvSpPr>
              <a:spLocks noChangeArrowheads="1"/>
            </p:cNvSpPr>
            <p:nvPr/>
          </p:nvSpPr>
          <p:spPr bwMode="auto">
            <a:xfrm>
              <a:off x="3722" y="78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latin typeface="Times New Roman" panose="02020603050405020304" pitchFamily="18" charset="0"/>
                </a:rPr>
                <a:t>p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4" name="Rectangle 28"/>
            <p:cNvSpPr>
              <a:spLocks noChangeArrowheads="1"/>
            </p:cNvSpPr>
            <p:nvPr/>
          </p:nvSpPr>
          <p:spPr bwMode="auto">
            <a:xfrm>
              <a:off x="3156" y="788"/>
              <a:ext cx="5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5" name="Rectangle 29"/>
            <p:cNvSpPr>
              <a:spLocks noChangeArrowheads="1"/>
            </p:cNvSpPr>
            <p:nvPr/>
          </p:nvSpPr>
          <p:spPr bwMode="auto">
            <a:xfrm>
              <a:off x="3563" y="1010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6" name="Rectangle 30"/>
            <p:cNvSpPr>
              <a:spLocks noChangeArrowheads="1"/>
            </p:cNvSpPr>
            <p:nvPr/>
          </p:nvSpPr>
          <p:spPr bwMode="auto">
            <a:xfrm>
              <a:off x="2971" y="1010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7" name="Rectangle 31"/>
            <p:cNvSpPr>
              <a:spLocks noChangeArrowheads="1"/>
            </p:cNvSpPr>
            <p:nvPr/>
          </p:nvSpPr>
          <p:spPr bwMode="auto">
            <a:xfrm>
              <a:off x="3517" y="668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68" name="Rectangle 32"/>
            <p:cNvSpPr>
              <a:spLocks noChangeArrowheads="1"/>
            </p:cNvSpPr>
            <p:nvPr/>
          </p:nvSpPr>
          <p:spPr bwMode="auto">
            <a:xfrm>
              <a:off x="2971" y="668"/>
              <a:ext cx="1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W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9" name="Rectangle 33"/>
            <p:cNvSpPr>
              <a:spLocks noChangeArrowheads="1"/>
            </p:cNvSpPr>
            <p:nvPr/>
          </p:nvSpPr>
          <p:spPr bwMode="auto">
            <a:xfrm>
              <a:off x="3326" y="987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>
                  <a:latin typeface="Symbol" panose="05050102010706020507" pitchFamily="18" charset="2"/>
                </a:rPr>
                <a:t>Þ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0270" name="Rectangle 34"/>
            <p:cNvSpPr>
              <a:spLocks noChangeArrowheads="1"/>
            </p:cNvSpPr>
            <p:nvPr/>
          </p:nvSpPr>
          <p:spPr bwMode="auto">
            <a:xfrm>
              <a:off x="3279" y="645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>
                  <a:latin typeface="Symbol" panose="05050102010706020507" pitchFamily="18" charset="2"/>
                </a:rPr>
                <a:t>Þ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7203" name="AutoShape 35"/>
          <p:cNvSpPr>
            <a:spLocks/>
          </p:cNvSpPr>
          <p:nvPr/>
        </p:nvSpPr>
        <p:spPr bwMode="auto">
          <a:xfrm>
            <a:off x="6654800" y="532288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04" name="AutoShape 36"/>
          <p:cNvSpPr>
            <a:spLocks/>
          </p:cNvSpPr>
          <p:nvPr/>
        </p:nvSpPr>
        <p:spPr bwMode="auto">
          <a:xfrm>
            <a:off x="4518025" y="5291138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4786313" y="5160963"/>
            <a:ext cx="1282700" cy="1285875"/>
            <a:chOff x="4704" y="548"/>
            <a:chExt cx="808" cy="810"/>
          </a:xfrm>
        </p:grpSpPr>
        <p:graphicFrame>
          <p:nvGraphicFramePr>
            <p:cNvPr id="10258" name="Object 38"/>
            <p:cNvGraphicFramePr>
              <a:graphicFrameLocks noChangeAspect="1"/>
            </p:cNvGraphicFramePr>
            <p:nvPr/>
          </p:nvGraphicFramePr>
          <p:xfrm>
            <a:off x="4704" y="548"/>
            <a:ext cx="73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9" name="Equation" r:id="rId16" imgW="1168400" imgH="419100" progId="Equation.DSMT4">
                    <p:embed/>
                  </p:oleObj>
                </mc:Choice>
                <mc:Fallback>
                  <p:oleObj name="Equation" r:id="rId16" imgW="1168400" imgH="4191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548"/>
                          <a:ext cx="73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Object 39"/>
            <p:cNvGraphicFramePr>
              <a:graphicFrameLocks noChangeAspect="1"/>
            </p:cNvGraphicFramePr>
            <p:nvPr/>
          </p:nvGraphicFramePr>
          <p:xfrm>
            <a:off x="4712" y="848"/>
            <a:ext cx="6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0" name="Equation" r:id="rId18" imgW="1091726" imgH="380835" progId="Equation.DSMT4">
                    <p:embed/>
                  </p:oleObj>
                </mc:Choice>
                <mc:Fallback>
                  <p:oleObj name="Equation" r:id="rId18" imgW="1091726" imgH="380835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848"/>
                          <a:ext cx="68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0" name="Object 40"/>
            <p:cNvGraphicFramePr>
              <a:graphicFrameLocks noChangeAspect="1"/>
            </p:cNvGraphicFramePr>
            <p:nvPr/>
          </p:nvGraphicFramePr>
          <p:xfrm>
            <a:off x="4712" y="1137"/>
            <a:ext cx="800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1" name="Equation" r:id="rId20" imgW="1269449" imgH="380835" progId="Equation.DSMT4">
                    <p:embed/>
                  </p:oleObj>
                </mc:Choice>
                <mc:Fallback>
                  <p:oleObj name="Equation" r:id="rId20" imgW="1269449" imgH="380835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2" y="1137"/>
                          <a:ext cx="800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7" name="Text Box 4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autoUpdateAnimBg="0"/>
      <p:bldP spid="7173" grpId="0" animBg="1"/>
      <p:bldP spid="7174" grpId="0" build="p" autoUpdateAnimBg="0"/>
      <p:bldP spid="7175" grpId="0" autoUpdateAnimBg="0"/>
      <p:bldP spid="7191" grpId="0" autoUpdateAnimBg="0"/>
      <p:bldP spid="7203" grpId="0" animBg="1"/>
      <p:bldP spid="720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42875" y="296863"/>
            <a:ext cx="4681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1.2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振荡方程</a:t>
            </a:r>
          </a:p>
        </p:txBody>
      </p:sp>
      <p:sp>
        <p:nvSpPr>
          <p:cNvPr id="8226" name="Rectangle 34"/>
          <p:cNvSpPr>
            <a:spLocks noChangeArrowheads="1"/>
          </p:cNvSpPr>
          <p:nvPr/>
        </p:nvSpPr>
        <p:spPr bwMode="auto">
          <a:xfrm>
            <a:off x="5040313" y="3068638"/>
            <a:ext cx="1008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600" b="1">
                <a:latin typeface="宋体" panose="02010600030101010101" pitchFamily="2" charset="-122"/>
              </a:rPr>
              <a:t>令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227" name="Text Box 35"/>
          <p:cNvSpPr txBox="1">
            <a:spLocks noChangeArrowheads="1"/>
          </p:cNvSpPr>
          <p:nvPr/>
        </p:nvSpPr>
        <p:spPr bwMode="auto">
          <a:xfrm>
            <a:off x="2124075" y="3760788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振荡方程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269" name="Text Box 77"/>
          <p:cNvSpPr txBox="1">
            <a:spLocks noChangeArrowheads="1"/>
          </p:cNvSpPr>
          <p:nvPr/>
        </p:nvSpPr>
        <p:spPr bwMode="auto">
          <a:xfrm>
            <a:off x="1322388" y="4589463"/>
            <a:ext cx="119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其解：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8315" name="Text Box 123"/>
          <p:cNvSpPr txBox="1">
            <a:spLocks noChangeArrowheads="1"/>
          </p:cNvSpPr>
          <p:nvPr/>
        </p:nvSpPr>
        <p:spPr bwMode="auto">
          <a:xfrm>
            <a:off x="719138" y="908050"/>
            <a:ext cx="7813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L-C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电路中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任一时刻的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自感电动势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应与电容器任一时刻两极板间的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电势差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相等。</a:t>
            </a:r>
          </a:p>
        </p:txBody>
      </p:sp>
      <p:graphicFrame>
        <p:nvGraphicFramePr>
          <p:cNvPr id="8317" name="Object 125"/>
          <p:cNvGraphicFramePr>
            <a:graphicFrameLocks noChangeAspect="1"/>
          </p:cNvGraphicFramePr>
          <p:nvPr/>
        </p:nvGraphicFramePr>
        <p:xfrm>
          <a:off x="1943100" y="1925638"/>
          <a:ext cx="17287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3" imgW="1562100" imgH="749300" progId="Equation.DSMT4">
                  <p:embed/>
                </p:oleObj>
              </mc:Choice>
              <mc:Fallback>
                <p:oleObj name="Equation" r:id="rId3" imgW="1562100" imgH="7493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925638"/>
                        <a:ext cx="1728788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0" name="Object 128"/>
          <p:cNvGraphicFramePr>
            <a:graphicFrameLocks noChangeAspect="1"/>
          </p:cNvGraphicFramePr>
          <p:nvPr/>
        </p:nvGraphicFramePr>
        <p:xfrm>
          <a:off x="4067175" y="1916113"/>
          <a:ext cx="22336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5" imgW="2108200" imgH="762000" progId="Equation.DSMT4">
                  <p:embed/>
                </p:oleObj>
              </mc:Choice>
              <mc:Fallback>
                <p:oleObj name="Equation" r:id="rId5" imgW="2108200" imgH="762000" progId="Equation.DSMT4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916113"/>
                        <a:ext cx="22336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1" name="Object 129"/>
          <p:cNvGraphicFramePr>
            <a:graphicFrameLocks noChangeAspect="1"/>
          </p:cNvGraphicFramePr>
          <p:nvPr/>
        </p:nvGraphicFramePr>
        <p:xfrm>
          <a:off x="2016125" y="2816225"/>
          <a:ext cx="25701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7" imgW="2425700" imgH="762000" progId="Equation.DSMT4">
                  <p:embed/>
                </p:oleObj>
              </mc:Choice>
              <mc:Fallback>
                <p:oleObj name="Equation" r:id="rId7" imgW="2425700" imgH="762000" progId="Equation.DSMT4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2816225"/>
                        <a:ext cx="25701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2" name="Object 130"/>
          <p:cNvGraphicFramePr>
            <a:graphicFrameLocks noChangeAspect="1"/>
          </p:cNvGraphicFramePr>
          <p:nvPr/>
        </p:nvGraphicFramePr>
        <p:xfrm>
          <a:off x="3924300" y="3594100"/>
          <a:ext cx="20716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9" imgW="1955800" imgH="762000" progId="Equation.DSMT4">
                  <p:embed/>
                </p:oleObj>
              </mc:Choice>
              <mc:Fallback>
                <p:oleObj name="Equation" r:id="rId9" imgW="1955800" imgH="7620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594100"/>
                        <a:ext cx="20716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6" name="Object 134"/>
          <p:cNvGraphicFramePr>
            <a:graphicFrameLocks noChangeAspect="1"/>
          </p:cNvGraphicFramePr>
          <p:nvPr/>
        </p:nvGraphicFramePr>
        <p:xfrm>
          <a:off x="2633663" y="5876925"/>
          <a:ext cx="348615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Equation" r:id="rId11" imgW="3200400" imgH="673100" progId="Equation.DSMT4">
                  <p:embed/>
                </p:oleObj>
              </mc:Choice>
              <mc:Fallback>
                <p:oleObj name="Equation" r:id="rId11" imgW="3200400" imgH="673100" progId="Equation.DSMT4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5876925"/>
                        <a:ext cx="348615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8" name="Object 136"/>
          <p:cNvGraphicFramePr>
            <a:graphicFrameLocks noChangeAspect="1"/>
          </p:cNvGraphicFramePr>
          <p:nvPr/>
        </p:nvGraphicFramePr>
        <p:xfrm>
          <a:off x="2644775" y="5335588"/>
          <a:ext cx="35004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" name="Equation" r:id="rId13" imgW="3022600" imgH="431800" progId="Equation.DSMT4">
                  <p:embed/>
                </p:oleObj>
              </mc:Choice>
              <mc:Fallback>
                <p:oleObj name="Equation" r:id="rId13" imgW="3022600" imgH="431800" progId="Equation.DSMT4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5335588"/>
                        <a:ext cx="350043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9" name="Object 137"/>
          <p:cNvGraphicFramePr>
            <a:graphicFrameLocks noChangeAspect="1"/>
          </p:cNvGraphicFramePr>
          <p:nvPr/>
        </p:nvGraphicFramePr>
        <p:xfrm>
          <a:off x="2665413" y="4554538"/>
          <a:ext cx="29527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8" name="Equation" r:id="rId15" imgW="2603500" imgH="431800" progId="Equation.DSMT4">
                  <p:embed/>
                </p:oleObj>
              </mc:Choice>
              <mc:Fallback>
                <p:oleObj name="Equation" r:id="rId15" imgW="2603500" imgH="43180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4554538"/>
                        <a:ext cx="29527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0" name="Object 138"/>
          <p:cNvGraphicFramePr>
            <a:graphicFrameLocks noChangeAspect="1"/>
          </p:cNvGraphicFramePr>
          <p:nvPr/>
        </p:nvGraphicFramePr>
        <p:xfrm>
          <a:off x="5499100" y="2932113"/>
          <a:ext cx="126841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Equation" r:id="rId17" imgW="1333500" imgH="673100" progId="Equation.DSMT4">
                  <p:embed/>
                </p:oleObj>
              </mc:Choice>
              <mc:Fallback>
                <p:oleObj name="Equation" r:id="rId17" imgW="1333500" imgH="673100" progId="Equation.DSMT4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2932113"/>
                        <a:ext cx="1268413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Text Box 140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 autoUpdateAnimBg="0"/>
      <p:bldP spid="8226" grpId="0"/>
      <p:bldP spid="8227" grpId="0" autoUpdateAnimBg="0"/>
      <p:bldP spid="8269" grpId="0" autoUpdateAnimBg="0"/>
      <p:bldP spid="831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"/>
          <p:cNvSpPr txBox="1">
            <a:spLocks noChangeArrowheads="1"/>
          </p:cNvSpPr>
          <p:nvPr/>
        </p:nvSpPr>
        <p:spPr bwMode="auto">
          <a:xfrm>
            <a:off x="3095625" y="476250"/>
            <a:ext cx="3455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物理规律的相似性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157663" y="3155950"/>
            <a:ext cx="2411412" cy="722313"/>
            <a:chOff x="3815916" y="3104964"/>
            <a:chExt cx="2412268" cy="723274"/>
          </a:xfrm>
        </p:grpSpPr>
        <p:sp>
          <p:nvSpPr>
            <p:cNvPr id="6" name="圆角矩形 5"/>
            <p:cNvSpPr/>
            <p:nvPr/>
          </p:nvSpPr>
          <p:spPr>
            <a:xfrm>
              <a:off x="3815916" y="3104964"/>
              <a:ext cx="1664291" cy="72327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299" name="文本框 2"/>
            <p:cNvSpPr txBox="1">
              <a:spLocks noChangeArrowheads="1"/>
            </p:cNvSpPr>
            <p:nvPr/>
          </p:nvSpPr>
          <p:spPr bwMode="auto">
            <a:xfrm>
              <a:off x="3887924" y="3212976"/>
              <a:ext cx="23402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简谐振子</a:t>
              </a:r>
            </a:p>
          </p:txBody>
        </p:sp>
      </p:grpSp>
      <p:graphicFrame>
        <p:nvGraphicFramePr>
          <p:cNvPr id="4" name="Object 130"/>
          <p:cNvGraphicFramePr>
            <a:graphicFrameLocks noChangeAspect="1"/>
          </p:cNvGraphicFramePr>
          <p:nvPr/>
        </p:nvGraphicFramePr>
        <p:xfrm>
          <a:off x="1457325" y="2132013"/>
          <a:ext cx="23304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Equation" r:id="rId3" imgW="2032000" imgH="698500" progId="Equation.DSMT4">
                  <p:embed/>
                </p:oleObj>
              </mc:Choice>
              <mc:Fallback>
                <p:oleObj name="Equation" r:id="rId3" imgW="2032000" imgH="6985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2132013"/>
                        <a:ext cx="23304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881063" y="1573213"/>
            <a:ext cx="255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弹簧振子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3763" y="3230563"/>
            <a:ext cx="2555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单摆</a:t>
            </a:r>
          </a:p>
        </p:txBody>
      </p:sp>
      <p:graphicFrame>
        <p:nvGraphicFramePr>
          <p:cNvPr id="9" name="Object 130"/>
          <p:cNvGraphicFramePr>
            <a:graphicFrameLocks noChangeAspect="1"/>
          </p:cNvGraphicFramePr>
          <p:nvPr/>
        </p:nvGraphicFramePr>
        <p:xfrm>
          <a:off x="1431925" y="3794125"/>
          <a:ext cx="23320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name="Equation" r:id="rId5" imgW="2006600" imgH="698500" progId="Equation.DSMT4">
                  <p:embed/>
                </p:oleObj>
              </mc:Choice>
              <mc:Fallback>
                <p:oleObj name="Equation" r:id="rId5" imgW="2006600" imgH="6985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3794125"/>
                        <a:ext cx="23320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881063" y="4886325"/>
            <a:ext cx="25558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LC</a:t>
            </a:r>
            <a:r>
              <a:rPr lang="zh-CN" altLang="en-US" sz="2800" b="1"/>
              <a:t>振荡电路</a:t>
            </a:r>
          </a:p>
        </p:txBody>
      </p:sp>
      <p:graphicFrame>
        <p:nvGraphicFramePr>
          <p:cNvPr id="11" name="Object 130"/>
          <p:cNvGraphicFramePr>
            <a:graphicFrameLocks noChangeAspect="1"/>
          </p:cNvGraphicFramePr>
          <p:nvPr/>
        </p:nvGraphicFramePr>
        <p:xfrm>
          <a:off x="1457325" y="5408613"/>
          <a:ext cx="23114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Equation" r:id="rId7" imgW="1955800" imgH="762000" progId="Equation.DSMT4">
                  <p:embed/>
                </p:oleObj>
              </mc:Choice>
              <mc:Fallback>
                <p:oleObj name="Equation" r:id="rId7" imgW="1955800" imgH="7620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5408613"/>
                        <a:ext cx="23114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287338" y="1757363"/>
            <a:ext cx="7850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无阻尼自由振荡是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简谐振荡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       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是常数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  </a:t>
            </a: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13315" name="Group 29"/>
          <p:cNvGrpSpPr>
            <a:grpSpLocks/>
          </p:cNvGrpSpPr>
          <p:nvPr/>
        </p:nvGrpSpPr>
        <p:grpSpPr bwMode="auto">
          <a:xfrm>
            <a:off x="5219700" y="1717675"/>
            <a:ext cx="1347788" cy="523875"/>
            <a:chOff x="3288" y="1082"/>
            <a:chExt cx="849" cy="330"/>
          </a:xfrm>
        </p:grpSpPr>
        <p:grpSp>
          <p:nvGrpSpPr>
            <p:cNvPr id="13330" name="Group 28"/>
            <p:cNvGrpSpPr>
              <a:grpSpLocks/>
            </p:cNvGrpSpPr>
            <p:nvPr/>
          </p:nvGrpSpPr>
          <p:grpSpPr bwMode="auto">
            <a:xfrm>
              <a:off x="3288" y="1082"/>
              <a:ext cx="231" cy="307"/>
              <a:chOff x="3288" y="1082"/>
              <a:chExt cx="231" cy="307"/>
            </a:xfrm>
          </p:grpSpPr>
          <p:sp>
            <p:nvSpPr>
              <p:cNvPr id="13337" name="Rectangle 6"/>
              <p:cNvSpPr>
                <a:spLocks noChangeArrowheads="1"/>
              </p:cNvSpPr>
              <p:nvPr/>
            </p:nvSpPr>
            <p:spPr bwMode="auto">
              <a:xfrm>
                <a:off x="3407" y="1216"/>
                <a:ext cx="11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1800" b="1" i="1">
                    <a:latin typeface="Times New Roman" panose="02020603050405020304" pitchFamily="18" charset="0"/>
                  </a:rPr>
                  <a:t>m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8" name="Rectangle 8"/>
              <p:cNvSpPr>
                <a:spLocks noChangeArrowheads="1"/>
              </p:cNvSpPr>
              <p:nvPr/>
            </p:nvSpPr>
            <p:spPr bwMode="auto">
              <a:xfrm>
                <a:off x="3288" y="1082"/>
                <a:ext cx="117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9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331" name="Group 27"/>
            <p:cNvGrpSpPr>
              <a:grpSpLocks/>
            </p:cNvGrpSpPr>
            <p:nvPr/>
          </p:nvGrpSpPr>
          <p:grpSpPr bwMode="auto">
            <a:xfrm>
              <a:off x="3696" y="1094"/>
              <a:ext cx="441" cy="307"/>
              <a:chOff x="3991" y="1071"/>
              <a:chExt cx="441" cy="307"/>
            </a:xfrm>
          </p:grpSpPr>
          <p:grpSp>
            <p:nvGrpSpPr>
              <p:cNvPr id="13333" name="Group 26"/>
              <p:cNvGrpSpPr>
                <a:grpSpLocks/>
              </p:cNvGrpSpPr>
              <p:nvPr/>
            </p:nvGrpSpPr>
            <p:grpSpPr bwMode="auto">
              <a:xfrm>
                <a:off x="4195" y="1071"/>
                <a:ext cx="237" cy="307"/>
                <a:chOff x="3787" y="1082"/>
                <a:chExt cx="237" cy="307"/>
              </a:xfrm>
            </p:grpSpPr>
            <p:sp>
              <p:nvSpPr>
                <p:cNvPr id="13335" name="Rectangle 5"/>
                <p:cNvSpPr>
                  <a:spLocks noChangeArrowheads="1"/>
                </p:cNvSpPr>
                <p:nvPr/>
              </p:nvSpPr>
              <p:spPr bwMode="auto">
                <a:xfrm>
                  <a:off x="3912" y="1216"/>
                  <a:ext cx="11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1800" b="1" i="1">
                      <a:latin typeface="Times New Roman" panose="02020603050405020304" pitchFamily="18" charset="0"/>
                    </a:rPr>
                    <a:t>m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36" name="Rectangle 7"/>
                <p:cNvSpPr>
                  <a:spLocks noChangeArrowheads="1"/>
                </p:cNvSpPr>
                <p:nvPr/>
              </p:nvSpPr>
              <p:spPr bwMode="auto">
                <a:xfrm>
                  <a:off x="3787" y="1082"/>
                  <a:ext cx="117" cy="2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900" b="1" i="1">
                      <a:latin typeface="Times New Roman" panose="02020603050405020304" pitchFamily="18" charset="0"/>
                    </a:rPr>
                    <a:t>q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3334" name="Rectangle 9"/>
              <p:cNvSpPr>
                <a:spLocks noChangeArrowheads="1"/>
              </p:cNvSpPr>
              <p:nvPr/>
            </p:nvSpPr>
            <p:spPr bwMode="auto">
              <a:xfrm>
                <a:off x="3991" y="1071"/>
                <a:ext cx="219" cy="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900" b="1" i="1">
                    <a:latin typeface="Symbol" panose="05050102010706020507" pitchFamily="18" charset="2"/>
                  </a:rPr>
                  <a:t>w</a:t>
                </a:r>
                <a:r>
                  <a:rPr kumimoji="1" lang="en-US" altLang="zh-CN" sz="2900" b="1">
                    <a:latin typeface="Symbol" panose="05050102010706020507" pitchFamily="18" charset="2"/>
                  </a:rPr>
                  <a:t> 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332" name="Rectangle 10"/>
            <p:cNvSpPr>
              <a:spLocks noChangeArrowheads="1"/>
            </p:cNvSpPr>
            <p:nvPr/>
          </p:nvSpPr>
          <p:spPr bwMode="auto">
            <a:xfrm>
              <a:off x="3560" y="1143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，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300038" y="2435225"/>
            <a:ext cx="599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特征量求法与弹簧振子相同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9275" name="Text Box 59"/>
          <p:cNvSpPr txBox="1">
            <a:spLocks noChangeArrowheads="1"/>
          </p:cNvSpPr>
          <p:nvPr/>
        </p:nvSpPr>
        <p:spPr bwMode="auto">
          <a:xfrm>
            <a:off x="323850" y="5934075"/>
            <a:ext cx="3779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电流的变化超前电量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303" name="AutoShape 87"/>
          <p:cNvSpPr>
            <a:spLocks noChangeArrowheads="1"/>
          </p:cNvSpPr>
          <p:nvPr/>
        </p:nvSpPr>
        <p:spPr bwMode="auto">
          <a:xfrm>
            <a:off x="649288" y="219075"/>
            <a:ext cx="1906587" cy="1468438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9304" name="Text Box 88"/>
          <p:cNvSpPr txBox="1">
            <a:spLocks noChangeArrowheads="1"/>
          </p:cNvSpPr>
          <p:nvPr/>
        </p:nvSpPr>
        <p:spPr bwMode="auto">
          <a:xfrm>
            <a:off x="1079500" y="549275"/>
            <a:ext cx="1260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ea typeface="隶书" panose="02010509060101010101" pitchFamily="49" charset="-122"/>
              </a:rPr>
              <a:t>注意</a:t>
            </a:r>
          </a:p>
        </p:txBody>
      </p:sp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2271713" y="3128963"/>
            <a:ext cx="2695575" cy="2676525"/>
            <a:chOff x="1248" y="1979"/>
            <a:chExt cx="1698" cy="1686"/>
          </a:xfrm>
        </p:grpSpPr>
        <p:sp>
          <p:nvSpPr>
            <p:cNvPr id="13326" name="AutoShape 13"/>
            <p:cNvSpPr>
              <a:spLocks/>
            </p:cNvSpPr>
            <p:nvPr/>
          </p:nvSpPr>
          <p:spPr bwMode="auto">
            <a:xfrm>
              <a:off x="1248" y="2207"/>
              <a:ext cx="181" cy="1268"/>
            </a:xfrm>
            <a:prstGeom prst="leftBrace">
              <a:avLst>
                <a:gd name="adj1" fmla="val 5837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27" name="Object 89"/>
            <p:cNvGraphicFramePr>
              <a:graphicFrameLocks noChangeAspect="1"/>
            </p:cNvGraphicFramePr>
            <p:nvPr/>
          </p:nvGraphicFramePr>
          <p:xfrm>
            <a:off x="1576" y="1979"/>
            <a:ext cx="896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3" name="Equation" r:id="rId3" imgW="1422400" imgH="736600" progId="Equation.DSMT4">
                    <p:embed/>
                  </p:oleObj>
                </mc:Choice>
                <mc:Fallback>
                  <p:oleObj name="Equation" r:id="rId3" imgW="1422400" imgH="736600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" y="1979"/>
                          <a:ext cx="896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90"/>
            <p:cNvGraphicFramePr>
              <a:graphicFrameLocks noChangeAspect="1"/>
            </p:cNvGraphicFramePr>
            <p:nvPr/>
          </p:nvGraphicFramePr>
          <p:xfrm>
            <a:off x="1474" y="2568"/>
            <a:ext cx="147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4" name="Equation" r:id="rId5" imgW="2336800" imgH="825500" progId="Equation.DSMT4">
                    <p:embed/>
                  </p:oleObj>
                </mc:Choice>
                <mc:Fallback>
                  <p:oleObj name="Equation" r:id="rId5" imgW="2336800" imgH="825500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568"/>
                          <a:ext cx="1472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Object 91"/>
            <p:cNvGraphicFramePr>
              <a:graphicFrameLocks noChangeAspect="1"/>
            </p:cNvGraphicFramePr>
            <p:nvPr/>
          </p:nvGraphicFramePr>
          <p:xfrm>
            <a:off x="1654" y="3113"/>
            <a:ext cx="1216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5" name="MathType 6.0 Equation" r:id="rId7" imgW="1930400" imgH="876300" progId="Equation.DSMT4">
                    <p:embed/>
                  </p:oleObj>
                </mc:Choice>
                <mc:Fallback>
                  <p:oleObj name="MathType 6.0 Equation" r:id="rId7" imgW="1930400" imgH="876300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3113"/>
                          <a:ext cx="1216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09" name="Object 93"/>
          <p:cNvGraphicFramePr>
            <a:graphicFrameLocks noChangeAspect="1"/>
          </p:cNvGraphicFramePr>
          <p:nvPr/>
        </p:nvGraphicFramePr>
        <p:xfrm>
          <a:off x="4140200" y="5851525"/>
          <a:ext cx="279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" name="Equation" r:id="rId9" imgW="279279" imgH="672808" progId="Equation.DSMT4">
                  <p:embed/>
                </p:oleObj>
              </mc:Choice>
              <mc:Fallback>
                <p:oleObj name="Equation" r:id="rId9" imgW="279279" imgH="672808" progId="Equation.DSMT4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851525"/>
                        <a:ext cx="279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97"/>
          <p:cNvGrpSpPr>
            <a:grpSpLocks/>
          </p:cNvGrpSpPr>
          <p:nvPr/>
        </p:nvGrpSpPr>
        <p:grpSpPr bwMode="auto">
          <a:xfrm>
            <a:off x="4914900" y="584200"/>
            <a:ext cx="3943350" cy="731838"/>
            <a:chOff x="3096" y="368"/>
            <a:chExt cx="2484" cy="461"/>
          </a:xfrm>
        </p:grpSpPr>
        <p:graphicFrame>
          <p:nvGraphicFramePr>
            <p:cNvPr id="13324" name="Object 95"/>
            <p:cNvGraphicFramePr>
              <a:graphicFrameLocks noChangeAspect="1"/>
            </p:cNvGraphicFramePr>
            <p:nvPr/>
          </p:nvGraphicFramePr>
          <p:xfrm>
            <a:off x="3096" y="368"/>
            <a:ext cx="2039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7" name="Equation" r:id="rId11" imgW="3200400" imgH="673100" progId="Equation.DSMT4">
                    <p:embed/>
                  </p:oleObj>
                </mc:Choice>
                <mc:Fallback>
                  <p:oleObj name="Equation" r:id="rId11" imgW="3200400" imgH="6731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368"/>
                          <a:ext cx="2039" cy="46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66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Object 96"/>
            <p:cNvGraphicFramePr>
              <a:graphicFrameLocks noChangeAspect="1"/>
            </p:cNvGraphicFramePr>
            <p:nvPr/>
          </p:nvGraphicFramePr>
          <p:xfrm>
            <a:off x="5171" y="391"/>
            <a:ext cx="40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8" name="位图图像" r:id="rId13" imgW="743054" imgH="657317" progId="Paint.Picture">
                    <p:embed/>
                  </p:oleObj>
                </mc:Choice>
                <mc:Fallback>
                  <p:oleObj name="位图图像" r:id="rId13" imgW="743054" imgH="657317" progId="Paint.Picture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1" y="391"/>
                          <a:ext cx="40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3" name="Text Box 99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9227" grpId="0" autoUpdateAnimBg="0"/>
      <p:bldP spid="927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79388" y="33337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1.3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LC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振荡电路的能量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1116013" y="944563"/>
          <a:ext cx="29384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2" name="Equation" r:id="rId3" imgW="3352800" imgH="1117600" progId="Equation.DSMT4">
                  <p:embed/>
                </p:oleObj>
              </mc:Choice>
              <mc:Fallback>
                <p:oleObj name="Equation" r:id="rId3" imgW="3352800" imgH="1117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944563"/>
                        <a:ext cx="293846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1728788" y="2097088"/>
          <a:ext cx="13303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" name="Equation" r:id="rId5" imgW="1104900" imgH="673100" progId="Equation.DSMT4">
                  <p:embed/>
                </p:oleObj>
              </mc:Choice>
              <mc:Fallback>
                <p:oleObj name="Equation" r:id="rId5" imgW="11049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2097088"/>
                        <a:ext cx="13303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395538" y="2887663"/>
          <a:ext cx="31480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4" name="Equation" r:id="rId7" imgW="2984500" imgH="673100" progId="Equation.DSMT4">
                  <p:embed/>
                </p:oleObj>
              </mc:Choice>
              <mc:Fallback>
                <p:oleObj name="Equation" r:id="rId7" imgW="29845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2887663"/>
                        <a:ext cx="31480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1871663" y="3105150"/>
          <a:ext cx="3460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5" name="Equation" r:id="rId9" imgW="291847" imgH="266469" progId="Equation.DSMT4">
                  <p:embed/>
                </p:oleObj>
              </mc:Choice>
              <mc:Fallback>
                <p:oleObj name="Equation" r:id="rId9" imgW="291847" imgH="26646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3105150"/>
                        <a:ext cx="3460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1908175" y="3630613"/>
          <a:ext cx="52197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6" name="Equation" r:id="rId11" imgW="3962400" imgH="673100" progId="Equation.DSMT4">
                  <p:embed/>
                </p:oleObj>
              </mc:Choice>
              <mc:Fallback>
                <p:oleObj name="Equation" r:id="rId11" imgW="3962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630613"/>
                        <a:ext cx="52197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2195513" y="5059363"/>
          <a:ext cx="299243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7" name="Equation" r:id="rId13" imgW="2730500" imgH="673100" progId="Equation.DSMT4">
                  <p:embed/>
                </p:oleObj>
              </mc:Choice>
              <mc:Fallback>
                <p:oleObj name="Equation" r:id="rId13" imgW="27305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059363"/>
                        <a:ext cx="2992437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5616575" y="5157788"/>
            <a:ext cx="3198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磁能极大值（常数）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2179638" y="5876925"/>
          <a:ext cx="322103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8" name="Equation" r:id="rId15" imgW="2832100" imgH="673100" progId="Equation.DSMT4">
                  <p:embed/>
                </p:oleObj>
              </mc:Choice>
              <mc:Fallback>
                <p:oleObj name="Equation" r:id="rId15" imgW="2832100" imgH="673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5876925"/>
                        <a:ext cx="3221037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581650" y="593407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电能极大值（常数）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042988" y="2205038"/>
            <a:ext cx="1570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m</a:t>
            </a:r>
            <a:endParaRPr kumimoji="1"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971550" y="3703638"/>
            <a:ext cx="2087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e</a:t>
            </a:r>
            <a:endParaRPr kumimoji="1" lang="en-US" altLang="zh-CN" sz="2800" b="1" i="1">
              <a:latin typeface="Times New Roman" panose="02020603050405020304" pitchFamily="18" charset="0"/>
            </a:endParaRP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1587500" y="5141913"/>
            <a:ext cx="1328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zh-CN" altLang="zh-CN" sz="2800" b="1" baseline="-25000">
                <a:latin typeface="Times New Roman" panose="02020603050405020304" pitchFamily="18" charset="0"/>
              </a:rPr>
              <a:t>总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1516063" y="5927725"/>
            <a:ext cx="1471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zh-CN" altLang="zh-CN" sz="2800" b="1" baseline="-25000">
                <a:latin typeface="Times New Roman" panose="02020603050405020304" pitchFamily="18" charset="0"/>
              </a:rPr>
              <a:t>总</a:t>
            </a:r>
            <a:endParaRPr kumimoji="1" lang="zh-CN" altLang="en-US" sz="2800" b="1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4087813" y="1052513"/>
          <a:ext cx="4084637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9" name="Equation" r:id="rId17" imgW="3581400" imgH="673100" progId="Equation.DSMT4">
                  <p:embed/>
                </p:oleObj>
              </mc:Choice>
              <mc:Fallback>
                <p:oleObj name="Equation" r:id="rId17" imgW="35814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3" y="1052513"/>
                        <a:ext cx="4084637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/>
          <p:cNvGraphicFramePr>
            <a:graphicFrameLocks noChangeAspect="1"/>
          </p:cNvGraphicFramePr>
          <p:nvPr/>
        </p:nvGraphicFramePr>
        <p:xfrm>
          <a:off x="3059113" y="2105025"/>
          <a:ext cx="46323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0" name="Equation" r:id="rId19" imgW="3949700" imgH="673100" progId="Equation.DSMT4">
                  <p:embed/>
                </p:oleObj>
              </mc:Choice>
              <mc:Fallback>
                <p:oleObj name="Equation" r:id="rId19" imgW="3949700" imgH="673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05025"/>
                        <a:ext cx="46323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Text Box 22"/>
          <p:cNvSpPr txBox="1">
            <a:spLocks noChangeArrowheads="1"/>
          </p:cNvSpPr>
          <p:nvPr/>
        </p:nvSpPr>
        <p:spPr bwMode="auto">
          <a:xfrm>
            <a:off x="87852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6</a:t>
            </a:r>
            <a:endParaRPr lang="en-US" altLang="zh-CN" sz="180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900113" y="4400550"/>
            <a:ext cx="2735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(2)+(3)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75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51" grpId="0" autoUpdateAnimBg="0"/>
      <p:bldP spid="10253" grpId="0" autoUpdateAnimBg="0"/>
      <p:bldP spid="10254" grpId="0" autoUpdateAnimBg="0"/>
      <p:bldP spid="10255" grpId="0" autoUpdateAnimBg="0"/>
      <p:bldP spid="10256" grpId="0" autoUpdateAnimBg="0"/>
      <p:bldP spid="10257" grpId="0" autoUpdateAnimBg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828675" y="1844675"/>
            <a:ext cx="7704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e </a:t>
            </a:r>
            <a:r>
              <a:rPr kumimoji="1" lang="zh-CN" altLang="en-US" sz="2800" b="1" i="1" baseline="-25000"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 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zh-CN" sz="2800" b="1">
                <a:latin typeface="Times New Roman" panose="02020603050405020304" pitchFamily="18" charset="0"/>
              </a:rPr>
              <a:t>随时间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周期性变化，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总能量守恒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827088" y="2765425"/>
            <a:ext cx="7019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W</a:t>
            </a:r>
            <a:r>
              <a:rPr kumimoji="1" lang="zh-CN" altLang="zh-CN" sz="2800" b="1" baseline="-25000">
                <a:latin typeface="Times New Roman" panose="02020603050405020304" pitchFamily="18" charset="0"/>
              </a:rPr>
              <a:t>总</a:t>
            </a:r>
            <a:r>
              <a:rPr kumimoji="1" lang="zh-CN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 </a:t>
            </a:r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m  </a:t>
            </a:r>
            <a:r>
              <a:rPr kumimoji="1"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电荷振幅）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700338" y="4545013"/>
          <a:ext cx="26162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3" imgW="2222500" imgH="673100" progId="Equation.DSMT4">
                  <p:embed/>
                </p:oleObj>
              </mc:Choice>
              <mc:Fallback>
                <p:oleObj name="Equation" r:id="rId3" imgW="2222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45013"/>
                        <a:ext cx="26162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827088" y="3594100"/>
            <a:ext cx="7058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3º 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能量变化频率是振荡频率的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倍，且</a:t>
            </a:r>
          </a:p>
        </p:txBody>
      </p:sp>
      <p:sp>
        <p:nvSpPr>
          <p:cNvPr id="11272" name="AutoShape 8"/>
          <p:cNvSpPr>
            <a:spLocks noChangeArrowheads="1"/>
          </p:cNvSpPr>
          <p:nvPr/>
        </p:nvSpPr>
        <p:spPr bwMode="auto">
          <a:xfrm>
            <a:off x="647700" y="290513"/>
            <a:ext cx="1906588" cy="1468437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079500" y="620713"/>
            <a:ext cx="1439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7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71" grpId="0" autoUpdateAnimBg="0"/>
      <p:bldP spid="11272" grpId="0" animBg="1" autoUpdateAnimBg="0"/>
      <p:bldP spid="112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01675" y="325438"/>
            <a:ext cx="7959725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60000"/>
              </a:spcBef>
              <a:buFontTx/>
              <a:buNone/>
            </a:pPr>
            <a:r>
              <a:rPr kumimoji="1" lang="zh-CN" altLang="en-US" b="1"/>
              <a:t>第</a:t>
            </a:r>
            <a:r>
              <a:rPr kumimoji="1" lang="en-US" altLang="zh-CN" b="1">
                <a:latin typeface="Times New Roman" panose="02020603050405020304" pitchFamily="18" charset="0"/>
              </a:rPr>
              <a:t>2</a:t>
            </a:r>
            <a:r>
              <a:rPr kumimoji="1" lang="zh-CN" altLang="en-US" b="1"/>
              <a:t>节  电磁波的发射和传播</a:t>
            </a:r>
            <a:endParaRPr kumimoji="1" lang="zh-CN" altLang="en-US" b="1">
              <a:latin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Shooting and Spreading of </a:t>
            </a:r>
            <a:b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Electromagnetic Waves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42875" y="1736725"/>
            <a:ext cx="4967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电磁辐射</a:t>
            </a:r>
          </a:p>
        </p:txBody>
      </p:sp>
      <p:sp>
        <p:nvSpPr>
          <p:cNvPr id="12292" name="Arc 4"/>
          <p:cNvSpPr>
            <a:spLocks/>
          </p:cNvSpPr>
          <p:nvPr/>
        </p:nvSpPr>
        <p:spPr bwMode="auto">
          <a:xfrm>
            <a:off x="13160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Arc 5"/>
          <p:cNvSpPr>
            <a:spLocks/>
          </p:cNvSpPr>
          <p:nvPr/>
        </p:nvSpPr>
        <p:spPr bwMode="auto">
          <a:xfrm>
            <a:off x="1543050" y="3995738"/>
            <a:ext cx="1674813" cy="222250"/>
          </a:xfrm>
          <a:custGeom>
            <a:avLst/>
            <a:gdLst>
              <a:gd name="T0" fmla="*/ 2147483646 w 43170"/>
              <a:gd name="T1" fmla="*/ 2147483646 h 21600"/>
              <a:gd name="T2" fmla="*/ 0 w 43170"/>
              <a:gd name="T3" fmla="*/ 0 h 21600"/>
              <a:gd name="T4" fmla="*/ 2147483646 w 43170"/>
              <a:gd name="T5" fmla="*/ 0 h 21600"/>
              <a:gd name="T6" fmla="*/ 0 60000 65536"/>
              <a:gd name="T7" fmla="*/ 0 60000 65536"/>
              <a:gd name="T8" fmla="*/ 0 60000 65536"/>
              <a:gd name="T9" fmla="*/ 0 w 43170"/>
              <a:gd name="T10" fmla="*/ 0 h 21600"/>
              <a:gd name="T11" fmla="*/ 43170 w 431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1600" fill="none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70" h="21600" stroke="0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69" y="1144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2225675" y="445135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777875" y="35369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E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7415213" y="3805238"/>
          <a:ext cx="15128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tion" r:id="rId3" imgW="317225" imgH="101512" progId="Equation.DSMT4">
                  <p:embed/>
                </p:oleObj>
              </mc:Choice>
              <mc:Fallback>
                <p:oleObj name="Equation" r:id="rId3" imgW="317225" imgH="1015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13" y="3805238"/>
                        <a:ext cx="15128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755650" y="4889500"/>
            <a:ext cx="5614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LC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振荡电路不能发出电磁波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755650" y="5768975"/>
            <a:ext cx="2090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原因是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299" name="AutoShape 11"/>
          <p:cNvSpPr>
            <a:spLocks/>
          </p:cNvSpPr>
          <p:nvPr/>
        </p:nvSpPr>
        <p:spPr bwMode="auto">
          <a:xfrm>
            <a:off x="2125663" y="5553075"/>
            <a:ext cx="142875" cy="938213"/>
          </a:xfrm>
          <a:prstGeom prst="leftBrace">
            <a:avLst>
              <a:gd name="adj1" fmla="val 5040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216150" y="6092825"/>
            <a:ext cx="660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电磁场分别集中在电容器、自感线圈中。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 flipH="1" flipV="1">
            <a:off x="1235075" y="3546475"/>
            <a:ext cx="1588" cy="4413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 flipH="1">
            <a:off x="2149475" y="4368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Rectangle 23"/>
          <p:cNvSpPr>
            <a:spLocks noChangeArrowheads="1"/>
          </p:cNvSpPr>
          <p:nvPr/>
        </p:nvSpPr>
        <p:spPr bwMode="auto">
          <a:xfrm>
            <a:off x="8966200" y="6430963"/>
            <a:ext cx="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12312" name="Arc 24"/>
          <p:cNvSpPr>
            <a:spLocks/>
          </p:cNvSpPr>
          <p:nvPr/>
        </p:nvSpPr>
        <p:spPr bwMode="auto">
          <a:xfrm rot="10800000">
            <a:off x="15398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Arc 25"/>
          <p:cNvSpPr>
            <a:spLocks/>
          </p:cNvSpPr>
          <p:nvPr/>
        </p:nvSpPr>
        <p:spPr bwMode="auto">
          <a:xfrm>
            <a:off x="30686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Arc 26"/>
          <p:cNvSpPr>
            <a:spLocks/>
          </p:cNvSpPr>
          <p:nvPr/>
        </p:nvSpPr>
        <p:spPr bwMode="auto">
          <a:xfrm rot="10800000">
            <a:off x="32924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Arc 27"/>
          <p:cNvSpPr>
            <a:spLocks/>
          </p:cNvSpPr>
          <p:nvPr/>
        </p:nvSpPr>
        <p:spPr bwMode="auto">
          <a:xfrm>
            <a:off x="49736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Arc 28"/>
          <p:cNvSpPr>
            <a:spLocks/>
          </p:cNvSpPr>
          <p:nvPr/>
        </p:nvSpPr>
        <p:spPr bwMode="auto">
          <a:xfrm rot="10800000">
            <a:off x="51974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12317" name="Arc 29"/>
          <p:cNvSpPr>
            <a:spLocks/>
          </p:cNvSpPr>
          <p:nvPr/>
        </p:nvSpPr>
        <p:spPr bwMode="auto">
          <a:xfrm>
            <a:off x="6726238" y="3287713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8" name="Arc 30"/>
          <p:cNvSpPr>
            <a:spLocks/>
          </p:cNvSpPr>
          <p:nvPr/>
        </p:nvSpPr>
        <p:spPr bwMode="auto">
          <a:xfrm rot="10800000">
            <a:off x="6950075" y="3284538"/>
            <a:ext cx="323850" cy="1387475"/>
          </a:xfrm>
          <a:custGeom>
            <a:avLst/>
            <a:gdLst>
              <a:gd name="T0" fmla="*/ 2147483646 w 22991"/>
              <a:gd name="T1" fmla="*/ 2147483646 h 43182"/>
              <a:gd name="T2" fmla="*/ 2147483646 w 22991"/>
              <a:gd name="T3" fmla="*/ 0 h 43182"/>
              <a:gd name="T4" fmla="*/ 2147483646 w 22991"/>
              <a:gd name="T5" fmla="*/ 2147483646 h 43182"/>
              <a:gd name="T6" fmla="*/ 0 60000 65536"/>
              <a:gd name="T7" fmla="*/ 0 60000 65536"/>
              <a:gd name="T8" fmla="*/ 0 60000 65536"/>
              <a:gd name="T9" fmla="*/ 0 w 22991"/>
              <a:gd name="T10" fmla="*/ 0 h 43182"/>
              <a:gd name="T11" fmla="*/ 22991 w 22991"/>
              <a:gd name="T12" fmla="*/ 43182 h 43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182" fill="none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</a:path>
              <a:path w="22991" h="43182" stroke="0" extrusionOk="0">
                <a:moveTo>
                  <a:pt x="22991" y="43137"/>
                </a:moveTo>
                <a:cubicBezTo>
                  <a:pt x="22527" y="43167"/>
                  <a:pt x="22064" y="43181"/>
                  <a:pt x="21600" y="43182"/>
                </a:cubicBezTo>
                <a:cubicBezTo>
                  <a:pt x="9670" y="43182"/>
                  <a:pt x="0" y="33511"/>
                  <a:pt x="0" y="21582"/>
                </a:cubicBezTo>
                <a:cubicBezTo>
                  <a:pt x="-1" y="9999"/>
                  <a:pt x="9135" y="478"/>
                  <a:pt x="20708" y="0"/>
                </a:cubicBezTo>
                <a:lnTo>
                  <a:pt x="21600" y="21582"/>
                </a:lnTo>
                <a:lnTo>
                  <a:pt x="22991" y="43137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Arc 31"/>
          <p:cNvSpPr>
            <a:spLocks/>
          </p:cNvSpPr>
          <p:nvPr/>
        </p:nvSpPr>
        <p:spPr bwMode="auto">
          <a:xfrm rot="10800000">
            <a:off x="1539875" y="3733800"/>
            <a:ext cx="1674813" cy="250825"/>
          </a:xfrm>
          <a:custGeom>
            <a:avLst/>
            <a:gdLst>
              <a:gd name="T0" fmla="*/ 2147483646 w 43170"/>
              <a:gd name="T1" fmla="*/ 2147483646 h 24464"/>
              <a:gd name="T2" fmla="*/ 2147483646 w 43170"/>
              <a:gd name="T3" fmla="*/ 0 h 24464"/>
              <a:gd name="T4" fmla="*/ 2147483646 w 43170"/>
              <a:gd name="T5" fmla="*/ 2147483646 h 24464"/>
              <a:gd name="T6" fmla="*/ 0 60000 65536"/>
              <a:gd name="T7" fmla="*/ 0 60000 65536"/>
              <a:gd name="T8" fmla="*/ 0 60000 65536"/>
              <a:gd name="T9" fmla="*/ 0 w 43170"/>
              <a:gd name="T10" fmla="*/ 0 h 24464"/>
              <a:gd name="T11" fmla="*/ 43170 w 43170"/>
              <a:gd name="T12" fmla="*/ 24464 h 24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4464" fill="none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</a:path>
              <a:path w="43170" h="24464" stroke="0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  <a:lnTo>
                  <a:pt x="21600" y="2864"/>
                </a:lnTo>
                <a:lnTo>
                  <a:pt x="43169" y="4008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Arc 32"/>
          <p:cNvSpPr>
            <a:spLocks/>
          </p:cNvSpPr>
          <p:nvPr/>
        </p:nvSpPr>
        <p:spPr bwMode="auto">
          <a:xfrm>
            <a:off x="3444875" y="4032250"/>
            <a:ext cx="1674813" cy="222250"/>
          </a:xfrm>
          <a:custGeom>
            <a:avLst/>
            <a:gdLst>
              <a:gd name="T0" fmla="*/ 2147483646 w 43170"/>
              <a:gd name="T1" fmla="*/ 2147483646 h 21600"/>
              <a:gd name="T2" fmla="*/ 0 w 43170"/>
              <a:gd name="T3" fmla="*/ 0 h 21600"/>
              <a:gd name="T4" fmla="*/ 2147483646 w 43170"/>
              <a:gd name="T5" fmla="*/ 0 h 21600"/>
              <a:gd name="T6" fmla="*/ 0 60000 65536"/>
              <a:gd name="T7" fmla="*/ 0 60000 65536"/>
              <a:gd name="T8" fmla="*/ 0 60000 65536"/>
              <a:gd name="T9" fmla="*/ 0 w 43170"/>
              <a:gd name="T10" fmla="*/ 0 h 21600"/>
              <a:gd name="T11" fmla="*/ 43170 w 431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1600" fill="none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70" h="21600" stroke="0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69" y="1144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1" name="Arc 33"/>
          <p:cNvSpPr>
            <a:spLocks/>
          </p:cNvSpPr>
          <p:nvPr/>
        </p:nvSpPr>
        <p:spPr bwMode="auto">
          <a:xfrm rot="10800000">
            <a:off x="3441700" y="3770313"/>
            <a:ext cx="1674813" cy="250825"/>
          </a:xfrm>
          <a:custGeom>
            <a:avLst/>
            <a:gdLst>
              <a:gd name="T0" fmla="*/ 2147483646 w 43170"/>
              <a:gd name="T1" fmla="*/ 2147483646 h 24464"/>
              <a:gd name="T2" fmla="*/ 2147483646 w 43170"/>
              <a:gd name="T3" fmla="*/ 0 h 24464"/>
              <a:gd name="T4" fmla="*/ 2147483646 w 43170"/>
              <a:gd name="T5" fmla="*/ 2147483646 h 24464"/>
              <a:gd name="T6" fmla="*/ 0 60000 65536"/>
              <a:gd name="T7" fmla="*/ 0 60000 65536"/>
              <a:gd name="T8" fmla="*/ 0 60000 65536"/>
              <a:gd name="T9" fmla="*/ 0 w 43170"/>
              <a:gd name="T10" fmla="*/ 0 h 24464"/>
              <a:gd name="T11" fmla="*/ 43170 w 43170"/>
              <a:gd name="T12" fmla="*/ 24464 h 24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4464" fill="none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</a:path>
              <a:path w="43170" h="24464" stroke="0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  <a:lnTo>
                  <a:pt x="21600" y="2864"/>
                </a:lnTo>
                <a:lnTo>
                  <a:pt x="43169" y="4008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2" name="Arc 34"/>
          <p:cNvSpPr>
            <a:spLocks/>
          </p:cNvSpPr>
          <p:nvPr/>
        </p:nvSpPr>
        <p:spPr bwMode="auto">
          <a:xfrm>
            <a:off x="5349875" y="4032250"/>
            <a:ext cx="1674813" cy="222250"/>
          </a:xfrm>
          <a:custGeom>
            <a:avLst/>
            <a:gdLst>
              <a:gd name="T0" fmla="*/ 2147483646 w 43170"/>
              <a:gd name="T1" fmla="*/ 2147483646 h 21600"/>
              <a:gd name="T2" fmla="*/ 0 w 43170"/>
              <a:gd name="T3" fmla="*/ 0 h 21600"/>
              <a:gd name="T4" fmla="*/ 2147483646 w 43170"/>
              <a:gd name="T5" fmla="*/ 0 h 21600"/>
              <a:gd name="T6" fmla="*/ 0 60000 65536"/>
              <a:gd name="T7" fmla="*/ 0 60000 65536"/>
              <a:gd name="T8" fmla="*/ 0 60000 65536"/>
              <a:gd name="T9" fmla="*/ 0 w 43170"/>
              <a:gd name="T10" fmla="*/ 0 h 21600"/>
              <a:gd name="T11" fmla="*/ 43170 w 431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1600" fill="none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</a:path>
              <a:path w="43170" h="21600" stroke="0" extrusionOk="0">
                <a:moveTo>
                  <a:pt x="43169" y="1144"/>
                </a:moveTo>
                <a:cubicBezTo>
                  <a:pt x="42560" y="12613"/>
                  <a:pt x="33084" y="21599"/>
                  <a:pt x="21600" y="21600"/>
                </a:cubicBez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43169" y="1144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3" name="Arc 35"/>
          <p:cNvSpPr>
            <a:spLocks/>
          </p:cNvSpPr>
          <p:nvPr/>
        </p:nvSpPr>
        <p:spPr bwMode="auto">
          <a:xfrm rot="10800000">
            <a:off x="5346700" y="3770313"/>
            <a:ext cx="1674813" cy="250825"/>
          </a:xfrm>
          <a:custGeom>
            <a:avLst/>
            <a:gdLst>
              <a:gd name="T0" fmla="*/ 2147483646 w 43170"/>
              <a:gd name="T1" fmla="*/ 2147483646 h 24464"/>
              <a:gd name="T2" fmla="*/ 2147483646 w 43170"/>
              <a:gd name="T3" fmla="*/ 0 h 24464"/>
              <a:gd name="T4" fmla="*/ 2147483646 w 43170"/>
              <a:gd name="T5" fmla="*/ 2147483646 h 24464"/>
              <a:gd name="T6" fmla="*/ 0 60000 65536"/>
              <a:gd name="T7" fmla="*/ 0 60000 65536"/>
              <a:gd name="T8" fmla="*/ 0 60000 65536"/>
              <a:gd name="T9" fmla="*/ 0 w 43170"/>
              <a:gd name="T10" fmla="*/ 0 h 24464"/>
              <a:gd name="T11" fmla="*/ 43170 w 43170"/>
              <a:gd name="T12" fmla="*/ 24464 h 244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70" h="24464" fill="none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</a:path>
              <a:path w="43170" h="24464" stroke="0" extrusionOk="0">
                <a:moveTo>
                  <a:pt x="43169" y="4008"/>
                </a:moveTo>
                <a:cubicBezTo>
                  <a:pt x="42560" y="15477"/>
                  <a:pt x="33084" y="24463"/>
                  <a:pt x="21600" y="24464"/>
                </a:cubicBezTo>
                <a:cubicBezTo>
                  <a:pt x="9670" y="24464"/>
                  <a:pt x="0" y="14793"/>
                  <a:pt x="0" y="2864"/>
                </a:cubicBezTo>
                <a:cubicBezTo>
                  <a:pt x="-1" y="1906"/>
                  <a:pt x="63" y="949"/>
                  <a:pt x="190" y="-1"/>
                </a:cubicBezTo>
                <a:lnTo>
                  <a:pt x="21600" y="2864"/>
                </a:lnTo>
                <a:lnTo>
                  <a:pt x="43169" y="4008"/>
                </a:lnTo>
                <a:close/>
              </a:path>
            </a:pathLst>
          </a:custGeom>
          <a:noFill/>
          <a:ln w="571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2257425" y="5408613"/>
            <a:ext cx="3719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太低，辐射功率很小</a:t>
            </a: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665163" y="2312988"/>
            <a:ext cx="81010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根据麦克斯韦理论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变化的磁场与变化的电场互相激发形成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电磁波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6414" name="Text Box 3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8</a:t>
            </a:r>
            <a:endParaRPr lang="en-US" altLang="zh-CN" sz="1800"/>
          </a:p>
        </p:txBody>
      </p:sp>
      <p:graphicFrame>
        <p:nvGraphicFramePr>
          <p:cNvPr id="38" name="Object 38"/>
          <p:cNvGraphicFramePr>
            <a:graphicFrameLocks noChangeAspect="1"/>
          </p:cNvGraphicFramePr>
          <p:nvPr/>
        </p:nvGraphicFramePr>
        <p:xfrm>
          <a:off x="6119813" y="5300663"/>
          <a:ext cx="14398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Equation" r:id="rId5" imgW="482391" imgH="203112" progId="Equation.DSMT4">
                  <p:embed/>
                </p:oleObj>
              </mc:Choice>
              <mc:Fallback>
                <p:oleObj name="Equation" r:id="rId5" imgW="482391" imgH="203112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5300663"/>
                        <a:ext cx="143986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75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75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1" grpId="0" autoUpdateAnimBg="0"/>
      <p:bldP spid="12292" grpId="0" animBg="1"/>
      <p:bldP spid="12293" grpId="0" animBg="1"/>
      <p:bldP spid="12294" grpId="0" autoUpdateAnimBg="0"/>
      <p:bldP spid="12295" grpId="0" autoUpdateAnimBg="0"/>
      <p:bldP spid="12297" grpId="0" autoUpdateAnimBg="0"/>
      <p:bldP spid="12298" grpId="0" autoUpdateAnimBg="0"/>
      <p:bldP spid="12299" grpId="0" animBg="1"/>
      <p:bldP spid="12300" grpId="0" build="p" autoUpdateAnimBg="0"/>
      <p:bldP spid="12309" grpId="0" animBg="1"/>
      <p:bldP spid="12310" grpId="0" animBg="1"/>
      <p:bldP spid="12312" grpId="0" animBg="1"/>
      <p:bldP spid="12313" grpId="0" animBg="1"/>
      <p:bldP spid="12314" grpId="0" animBg="1"/>
      <p:bldP spid="12315" grpId="0" animBg="1"/>
      <p:bldP spid="12316" grpId="0" animBg="1"/>
      <p:bldP spid="12317" grpId="0" animBg="1"/>
      <p:bldP spid="12318" grpId="0" animBg="1"/>
      <p:bldP spid="12319" grpId="0" animBg="1"/>
      <p:bldP spid="12320" grpId="0" animBg="1"/>
      <p:bldP spid="12321" grpId="0" animBg="1"/>
      <p:bldP spid="12322" grpId="0" animBg="1"/>
      <p:bldP spid="12323" grpId="0" animBg="1"/>
      <p:bldP spid="12324" grpId="0" autoUpdateAnimBg="0"/>
      <p:bldP spid="1232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350838" y="2725738"/>
            <a:ext cx="8712200" cy="23764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68313" y="5116513"/>
            <a:ext cx="80645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结论：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利用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电偶极子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产生电磁振荡，发射天线可以</a:t>
            </a:r>
            <a:b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有效地发射电磁波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735263" y="3014663"/>
          <a:ext cx="183832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8" name="BMP 图象" r:id="rId3" imgW="1838095" imgH="1495634" progId="Paint.Picture">
                  <p:embed/>
                </p:oleObj>
              </mc:Choice>
              <mc:Fallback>
                <p:oleObj name="BMP 图象" r:id="rId3" imgW="1838095" imgH="149563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014663"/>
                        <a:ext cx="1838325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5003800" y="2852738"/>
          <a:ext cx="762000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9" name="BMP 图象" r:id="rId5" imgW="762106" imgH="1895238" progId="Paint.Picture">
                  <p:embed/>
                </p:oleObj>
              </mc:Choice>
              <mc:Fallback>
                <p:oleObj name="BMP 图象" r:id="rId5" imgW="762106" imgH="189523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852738"/>
                        <a:ext cx="762000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539750" y="3086100"/>
          <a:ext cx="1914525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0" name="位图图像" r:id="rId7" imgW="1914286" imgH="1276190" progId="Paint.Picture">
                  <p:embed/>
                </p:oleObj>
              </mc:Choice>
              <mc:Fallback>
                <p:oleObj name="位图图像" r:id="rId7" imgW="1914286" imgH="127619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086100"/>
                        <a:ext cx="1914525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6516688" y="2759075"/>
          <a:ext cx="2355850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1" name="BMP 图像" r:id="rId9" imgW="2409524" imgH="2048161" progId="Paint.Picture">
                  <p:embed/>
                </p:oleObj>
              </mc:Choice>
              <mc:Fallback>
                <p:oleObj name="BMP 图像" r:id="rId9" imgW="2409524" imgH="2048161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759075"/>
                        <a:ext cx="2355850" cy="200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58775" y="333375"/>
            <a:ext cx="345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赫兹实验：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116013" y="119697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提高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3635375" y="1196975"/>
            <a:ext cx="5207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100" b="1" i="1">
                <a:latin typeface="Symbol" panose="05050102010706020507" pitchFamily="18" charset="2"/>
              </a:rPr>
              <a:t>w</a:t>
            </a:r>
            <a:endParaRPr kumimoji="1"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3332" name="AutoShape 20"/>
          <p:cNvSpPr>
            <a:spLocks/>
          </p:cNvSpPr>
          <p:nvPr/>
        </p:nvSpPr>
        <p:spPr bwMode="auto">
          <a:xfrm>
            <a:off x="5003800" y="914400"/>
            <a:ext cx="327025" cy="1146175"/>
          </a:xfrm>
          <a:prstGeom prst="leftBrace">
            <a:avLst>
              <a:gd name="adj1" fmla="val 2920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1117600" y="2133600"/>
            <a:ext cx="3959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开放电路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>
            <a:off x="5435600" y="75723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Line 36"/>
          <p:cNvSpPr>
            <a:spLocks noChangeShapeType="1"/>
          </p:cNvSpPr>
          <p:nvPr/>
        </p:nvSpPr>
        <p:spPr bwMode="auto">
          <a:xfrm>
            <a:off x="6696075" y="7477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9" name="Line 37"/>
          <p:cNvSpPr>
            <a:spLocks noChangeShapeType="1"/>
          </p:cNvSpPr>
          <p:nvPr/>
        </p:nvSpPr>
        <p:spPr bwMode="auto">
          <a:xfrm>
            <a:off x="5435600" y="16287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0" name="Line 38"/>
          <p:cNvSpPr>
            <a:spLocks noChangeShapeType="1"/>
          </p:cNvSpPr>
          <p:nvPr/>
        </p:nvSpPr>
        <p:spPr bwMode="auto">
          <a:xfrm>
            <a:off x="6659563" y="1628775"/>
            <a:ext cx="0" cy="312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51" name="Line 39"/>
          <p:cNvSpPr>
            <a:spLocks noChangeShapeType="1"/>
          </p:cNvSpPr>
          <p:nvPr/>
        </p:nvSpPr>
        <p:spPr bwMode="auto">
          <a:xfrm rot="10800000">
            <a:off x="6659563" y="1989138"/>
            <a:ext cx="0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55" name="Object 43"/>
          <p:cNvGraphicFramePr>
            <a:graphicFrameLocks noChangeAspect="1"/>
          </p:cNvGraphicFramePr>
          <p:nvPr/>
        </p:nvGraphicFramePr>
        <p:xfrm>
          <a:off x="3960813" y="1108075"/>
          <a:ext cx="9874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2" name="Equation" r:id="rId11" imgW="1092200" imgH="736600" progId="Equation.DSMT4">
                  <p:embed/>
                </p:oleObj>
              </mc:Choice>
              <mc:Fallback>
                <p:oleObj name="Equation" r:id="rId11" imgW="1092200" imgH="7366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1108075"/>
                        <a:ext cx="9874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8" name="Object 46"/>
          <p:cNvGraphicFramePr>
            <a:graphicFrameLocks noChangeAspect="1"/>
          </p:cNvGraphicFramePr>
          <p:nvPr/>
        </p:nvGraphicFramePr>
        <p:xfrm>
          <a:off x="5580063" y="836613"/>
          <a:ext cx="10001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3" name="Equation" r:id="rId13" imgW="1104900" imgH="342900" progId="Equation.DSMT4">
                  <p:embed/>
                </p:oleObj>
              </mc:Choice>
              <mc:Fallback>
                <p:oleObj name="Equation" r:id="rId13" imgW="1104900" imgH="3429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836613"/>
                        <a:ext cx="10001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9" name="Object 47"/>
          <p:cNvGraphicFramePr>
            <a:graphicFrameLocks noChangeAspect="1"/>
          </p:cNvGraphicFramePr>
          <p:nvPr/>
        </p:nvGraphicFramePr>
        <p:xfrm>
          <a:off x="5616575" y="1628775"/>
          <a:ext cx="10334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4" name="Equation" r:id="rId15" imgW="1143000" imgH="673100" progId="Equation.DSMT4">
                  <p:embed/>
                </p:oleObj>
              </mc:Choice>
              <mc:Fallback>
                <p:oleObj name="Equation" r:id="rId15" imgW="1143000" imgH="6731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1628775"/>
                        <a:ext cx="103346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Text Box 4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2" grpId="0" animBg="1"/>
      <p:bldP spid="13314" grpId="0" autoUpdateAnimBg="0"/>
      <p:bldP spid="13319" grpId="0" autoUpdateAnimBg="0"/>
      <p:bldP spid="13321" grpId="0" autoUpdateAnimBg="0"/>
      <p:bldP spid="13322" grpId="0" autoUpdateAnimBg="0"/>
      <p:bldP spid="13332" grpId="0" animBg="1"/>
      <p:bldP spid="13346" grpId="0" autoUpdateAnimBg="0"/>
      <p:bldP spid="13347" grpId="0" animBg="1"/>
      <p:bldP spid="13348" grpId="0" animBg="1"/>
      <p:bldP spid="13349" grpId="0" animBg="1"/>
      <p:bldP spid="13350" grpId="0" animBg="1"/>
      <p:bldP spid="133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395288" y="1196975"/>
          <a:ext cx="5976937" cy="514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位图图像" r:id="rId3" imgW="3666667" imgH="3333333" progId="Paint.Picture">
                  <p:embed/>
                </p:oleObj>
              </mc:Choice>
              <mc:Fallback>
                <p:oleObj name="位图图像" r:id="rId3" imgW="3666667" imgH="3333333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96975"/>
                        <a:ext cx="5976937" cy="514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5435600" y="373063"/>
          <a:ext cx="3421063" cy="269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BMP 图象" r:id="rId5" imgW="4629796" imgH="4247619" progId="Paint.Picture">
                  <p:embed/>
                </p:oleObj>
              </mc:Choice>
              <mc:Fallback>
                <p:oleObj name="BMP 图象" r:id="rId5" imgW="4629796" imgH="4247619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73063"/>
                        <a:ext cx="3421063" cy="269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49300" y="461963"/>
            <a:ext cx="5875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振荡偶极子周围的电磁场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214688" y="3213100"/>
            <a:ext cx="152400" cy="1066800"/>
            <a:chOff x="4272" y="2160"/>
            <a:chExt cx="96" cy="672"/>
          </a:xfrm>
        </p:grpSpPr>
        <p:sp>
          <p:nvSpPr>
            <p:cNvPr id="18442" name="Oval 10"/>
            <p:cNvSpPr>
              <a:spLocks noChangeArrowheads="1"/>
            </p:cNvSpPr>
            <p:nvPr/>
          </p:nvSpPr>
          <p:spPr bwMode="auto">
            <a:xfrm>
              <a:off x="4272" y="2160"/>
              <a:ext cx="96" cy="9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4320" y="2256"/>
              <a:ext cx="0" cy="48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Oval 12"/>
            <p:cNvSpPr>
              <a:spLocks noChangeArrowheads="1"/>
            </p:cNvSpPr>
            <p:nvPr/>
          </p:nvSpPr>
          <p:spPr bwMode="auto">
            <a:xfrm>
              <a:off x="4272" y="27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438" name="Text Box 1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10</a:t>
            </a:r>
            <a:endParaRPr lang="en-US" altLang="zh-CN" sz="18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951163" y="2600325"/>
            <a:ext cx="90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+q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059113" y="4273550"/>
            <a:ext cx="90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-q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2" descr="C:\Documents and Settings\Administrator\桌面\250px-Dipole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1165225"/>
            <a:ext cx="5330825" cy="533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utoUpdateAnimBg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https://gss0.bdstatic.com/-4o3dSag_xI4khGkpoWK1HF6hhy/baike/c0%3Dbaike116%2C5%2C5%2C116%2C38/sign=6b9a2990ab345982d187edc06d9d5ac8/8435e5dde71190ef8a812f3bc81b9d16fcfa60d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99" b="13541"/>
          <a:stretch>
            <a:fillRect/>
          </a:stretch>
        </p:blipFill>
        <p:spPr bwMode="auto">
          <a:xfrm>
            <a:off x="1530350" y="227013"/>
            <a:ext cx="2576513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88" y="344488"/>
            <a:ext cx="2786062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789363"/>
            <a:ext cx="3205163" cy="232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矩形 4"/>
          <p:cNvSpPr>
            <a:spLocks noChangeArrowheads="1"/>
          </p:cNvSpPr>
          <p:nvPr/>
        </p:nvSpPr>
        <p:spPr bwMode="auto">
          <a:xfrm>
            <a:off x="3167063" y="6262688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各种各样的天线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3789363"/>
            <a:ext cx="3009900" cy="232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1" name="AutoShape 31"/>
          <p:cNvSpPr>
            <a:spLocks/>
          </p:cNvSpPr>
          <p:nvPr/>
        </p:nvSpPr>
        <p:spPr bwMode="auto">
          <a:xfrm>
            <a:off x="2016125" y="1665288"/>
            <a:ext cx="142875" cy="876300"/>
          </a:xfrm>
          <a:prstGeom prst="leftBrace">
            <a:avLst>
              <a:gd name="adj1" fmla="val 511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088063" y="225425"/>
            <a:ext cx="2517775" cy="1852613"/>
            <a:chOff x="3600" y="1248"/>
            <a:chExt cx="1976" cy="1536"/>
          </a:xfrm>
        </p:grpSpPr>
        <p:sp>
          <p:nvSpPr>
            <p:cNvPr id="20532" name="Oval 33"/>
            <p:cNvSpPr>
              <a:spLocks noChangeArrowheads="1"/>
            </p:cNvSpPr>
            <p:nvPr/>
          </p:nvSpPr>
          <p:spPr bwMode="auto">
            <a:xfrm>
              <a:off x="3936" y="14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3" name="Oval 34"/>
            <p:cNvSpPr>
              <a:spLocks noChangeArrowheads="1"/>
            </p:cNvSpPr>
            <p:nvPr/>
          </p:nvSpPr>
          <p:spPr bwMode="auto">
            <a:xfrm>
              <a:off x="3936" y="25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4" name="Line 35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99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35" name="Group 36"/>
            <p:cNvGrpSpPr>
              <a:grpSpLocks/>
            </p:cNvGrpSpPr>
            <p:nvPr/>
          </p:nvGrpSpPr>
          <p:grpSpPr bwMode="auto">
            <a:xfrm>
              <a:off x="3744" y="1806"/>
              <a:ext cx="123" cy="641"/>
              <a:chOff x="3744" y="1806"/>
              <a:chExt cx="123" cy="641"/>
            </a:xfrm>
          </p:grpSpPr>
          <p:sp>
            <p:nvSpPr>
              <p:cNvPr id="20549" name="Rectangle 37"/>
              <p:cNvSpPr>
                <a:spLocks noChangeArrowheads="1"/>
              </p:cNvSpPr>
              <p:nvPr/>
            </p:nvSpPr>
            <p:spPr bwMode="auto">
              <a:xfrm>
                <a:off x="3757" y="2064"/>
                <a:ext cx="84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l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50" name="Rectangle 38"/>
              <p:cNvSpPr>
                <a:spLocks noChangeArrowheads="1"/>
              </p:cNvSpPr>
              <p:nvPr/>
            </p:nvSpPr>
            <p:spPr bwMode="auto">
              <a:xfrm>
                <a:off x="3744" y="1806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6" name="Group 39"/>
            <p:cNvGrpSpPr>
              <a:grpSpLocks/>
            </p:cNvGrpSpPr>
            <p:nvPr/>
          </p:nvGrpSpPr>
          <p:grpSpPr bwMode="auto">
            <a:xfrm>
              <a:off x="3600" y="1248"/>
              <a:ext cx="333" cy="411"/>
              <a:chOff x="3660" y="1199"/>
              <a:chExt cx="333" cy="411"/>
            </a:xfrm>
          </p:grpSpPr>
          <p:sp>
            <p:nvSpPr>
              <p:cNvPr id="20547" name="Rectangle 40"/>
              <p:cNvSpPr>
                <a:spLocks noChangeArrowheads="1"/>
              </p:cNvSpPr>
              <p:nvPr/>
            </p:nvSpPr>
            <p:spPr bwMode="auto">
              <a:xfrm>
                <a:off x="3842" y="1227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8" name="Rectangle 41"/>
              <p:cNvSpPr>
                <a:spLocks noChangeArrowheads="1"/>
              </p:cNvSpPr>
              <p:nvPr/>
            </p:nvSpPr>
            <p:spPr bwMode="auto">
              <a:xfrm>
                <a:off x="3660" y="1199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+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7" name="Group 42"/>
            <p:cNvGrpSpPr>
              <a:grpSpLocks/>
            </p:cNvGrpSpPr>
            <p:nvPr/>
          </p:nvGrpSpPr>
          <p:grpSpPr bwMode="auto">
            <a:xfrm>
              <a:off x="3612" y="2373"/>
              <a:ext cx="329" cy="411"/>
              <a:chOff x="3612" y="2247"/>
              <a:chExt cx="329" cy="411"/>
            </a:xfrm>
          </p:grpSpPr>
          <p:sp>
            <p:nvSpPr>
              <p:cNvPr id="20545" name="Rectangle 43"/>
              <p:cNvSpPr>
                <a:spLocks noChangeArrowheads="1"/>
              </p:cNvSpPr>
              <p:nvPr/>
            </p:nvSpPr>
            <p:spPr bwMode="auto">
              <a:xfrm>
                <a:off x="3790" y="2275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6" name="Rectangle 44"/>
              <p:cNvSpPr>
                <a:spLocks noChangeArrowheads="1"/>
              </p:cNvSpPr>
              <p:nvPr/>
            </p:nvSpPr>
            <p:spPr bwMode="auto">
              <a:xfrm>
                <a:off x="3612" y="2247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-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38" name="Line 45"/>
            <p:cNvSpPr>
              <a:spLocks noChangeShapeType="1"/>
            </p:cNvSpPr>
            <p:nvPr/>
          </p:nvSpPr>
          <p:spPr bwMode="auto">
            <a:xfrm flipV="1">
              <a:off x="3984" y="1680"/>
              <a:ext cx="134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9" name="Arc 46"/>
            <p:cNvSpPr>
              <a:spLocks/>
            </p:cNvSpPr>
            <p:nvPr/>
          </p:nvSpPr>
          <p:spPr bwMode="auto">
            <a:xfrm>
              <a:off x="3840" y="1920"/>
              <a:ext cx="373" cy="560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Rectangle 47"/>
            <p:cNvSpPr>
              <a:spLocks noChangeArrowheads="1"/>
            </p:cNvSpPr>
            <p:nvPr/>
          </p:nvSpPr>
          <p:spPr bwMode="auto">
            <a:xfrm>
              <a:off x="4088" y="1701"/>
              <a:ext cx="13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0541" name="Oval 48"/>
            <p:cNvSpPr>
              <a:spLocks noChangeArrowheads="1"/>
            </p:cNvSpPr>
            <p:nvPr/>
          </p:nvSpPr>
          <p:spPr bwMode="auto">
            <a:xfrm>
              <a:off x="5328" y="163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0542" name="Group 49"/>
            <p:cNvGrpSpPr>
              <a:grpSpLocks/>
            </p:cNvGrpSpPr>
            <p:nvPr/>
          </p:nvGrpSpPr>
          <p:grpSpPr bwMode="auto">
            <a:xfrm>
              <a:off x="5424" y="1392"/>
              <a:ext cx="152" cy="586"/>
              <a:chOff x="4752" y="1669"/>
              <a:chExt cx="152" cy="586"/>
            </a:xfrm>
          </p:grpSpPr>
          <p:sp>
            <p:nvSpPr>
              <p:cNvPr id="20543" name="Rectangle 50"/>
              <p:cNvSpPr>
                <a:spLocks noChangeArrowheads="1"/>
              </p:cNvSpPr>
              <p:nvPr/>
            </p:nvSpPr>
            <p:spPr bwMode="auto">
              <a:xfrm>
                <a:off x="4752" y="1872"/>
                <a:ext cx="117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4" name="Rectangle 51"/>
              <p:cNvSpPr>
                <a:spLocks noChangeArrowheads="1"/>
              </p:cNvSpPr>
              <p:nvPr/>
            </p:nvSpPr>
            <p:spPr bwMode="auto">
              <a:xfrm>
                <a:off x="4781" y="1669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5412" name="Object 52"/>
          <p:cNvGraphicFramePr>
            <a:graphicFrameLocks noChangeAspect="1"/>
          </p:cNvGraphicFramePr>
          <p:nvPr/>
        </p:nvGraphicFramePr>
        <p:xfrm>
          <a:off x="1168400" y="3560763"/>
          <a:ext cx="22907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3" name="Equation" r:id="rId3" imgW="2152689" imgH="781110" progId="Equation.DSMT4">
                  <p:embed/>
                </p:oleObj>
              </mc:Choice>
              <mc:Fallback>
                <p:oleObj name="Equation" r:id="rId3" imgW="2152689" imgH="78111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560763"/>
                        <a:ext cx="22907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179388" y="296863"/>
            <a:ext cx="489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2.2 </a:t>
            </a:r>
            <a:r>
              <a:rPr kumimoji="1" lang="zh-CN" altLang="en-US" sz="2800" b="1">
                <a:solidFill>
                  <a:srgbClr val="0000CC"/>
                </a:solidFill>
              </a:rPr>
              <a:t>电磁波的波动方程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539750" y="94456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）球面波</a:t>
            </a:r>
          </a:p>
        </p:txBody>
      </p: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3822700" y="2919413"/>
            <a:ext cx="3341688" cy="3213100"/>
            <a:chOff x="3360" y="576"/>
            <a:chExt cx="2016" cy="2016"/>
          </a:xfrm>
        </p:grpSpPr>
        <p:sp>
          <p:nvSpPr>
            <p:cNvPr id="20508" name="Rectangle 56"/>
            <p:cNvSpPr>
              <a:spLocks noChangeArrowheads="1"/>
            </p:cNvSpPr>
            <p:nvPr/>
          </p:nvSpPr>
          <p:spPr bwMode="auto">
            <a:xfrm>
              <a:off x="3360" y="576"/>
              <a:ext cx="2016" cy="20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9" name="Line 57"/>
            <p:cNvSpPr>
              <a:spLocks noChangeShapeType="1"/>
            </p:cNvSpPr>
            <p:nvPr/>
          </p:nvSpPr>
          <p:spPr bwMode="auto">
            <a:xfrm>
              <a:off x="4560" y="1008"/>
              <a:ext cx="192" cy="5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Line 58"/>
            <p:cNvSpPr>
              <a:spLocks noChangeShapeType="1"/>
            </p:cNvSpPr>
            <p:nvPr/>
          </p:nvSpPr>
          <p:spPr bwMode="auto">
            <a:xfrm flipV="1">
              <a:off x="4320" y="1248"/>
              <a:ext cx="624" cy="96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1" name="Object 59"/>
            <p:cNvGraphicFramePr>
              <a:graphicFrameLocks noChangeAspect="1"/>
            </p:cNvGraphicFramePr>
            <p:nvPr/>
          </p:nvGraphicFramePr>
          <p:xfrm>
            <a:off x="4752" y="1392"/>
            <a:ext cx="20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4" name="公式" r:id="rId5" imgW="164957" imgH="203024" progId="Equation.3">
                    <p:embed/>
                  </p:oleObj>
                </mc:Choice>
                <mc:Fallback>
                  <p:oleObj name="公式" r:id="rId5" imgW="164957" imgH="203024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392"/>
                          <a:ext cx="20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2" name="Object 60"/>
            <p:cNvGraphicFramePr>
              <a:graphicFrameLocks noChangeAspect="1"/>
            </p:cNvGraphicFramePr>
            <p:nvPr/>
          </p:nvGraphicFramePr>
          <p:xfrm>
            <a:off x="4944" y="1152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5" name="公式" r:id="rId7" imgW="190417" imgH="203112" progId="Equation.3">
                    <p:embed/>
                  </p:oleObj>
                </mc:Choice>
                <mc:Fallback>
                  <p:oleObj name="公式" r:id="rId7" imgW="190417" imgH="203112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152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3" name="Object 61"/>
            <p:cNvGraphicFramePr>
              <a:graphicFrameLocks noChangeAspect="1"/>
            </p:cNvGraphicFramePr>
            <p:nvPr/>
          </p:nvGraphicFramePr>
          <p:xfrm>
            <a:off x="5088" y="672"/>
            <a:ext cx="23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6" name="公式" r:id="rId9" imgW="139579" imgH="177646" progId="Equation.3">
                    <p:embed/>
                  </p:oleObj>
                </mc:Choice>
                <mc:Fallback>
                  <p:oleObj name="公式" r:id="rId9" imgW="139579" imgH="177646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672"/>
                          <a:ext cx="23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4" name="Line 62"/>
            <p:cNvSpPr>
              <a:spLocks noChangeShapeType="1"/>
            </p:cNvSpPr>
            <p:nvPr/>
          </p:nvSpPr>
          <p:spPr bwMode="auto">
            <a:xfrm flipV="1">
              <a:off x="4560" y="720"/>
              <a:ext cx="528" cy="6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15" name="Group 63"/>
            <p:cNvGrpSpPr>
              <a:grpSpLocks/>
            </p:cNvGrpSpPr>
            <p:nvPr/>
          </p:nvGrpSpPr>
          <p:grpSpPr bwMode="auto">
            <a:xfrm>
              <a:off x="3552" y="672"/>
              <a:ext cx="1584" cy="1776"/>
              <a:chOff x="3552" y="192"/>
              <a:chExt cx="1584" cy="1776"/>
            </a:xfrm>
          </p:grpSpPr>
          <p:sp>
            <p:nvSpPr>
              <p:cNvPr id="20516" name="Oval 64"/>
              <p:cNvSpPr>
                <a:spLocks noChangeArrowheads="1"/>
              </p:cNvSpPr>
              <p:nvPr/>
            </p:nvSpPr>
            <p:spPr bwMode="auto">
              <a:xfrm>
                <a:off x="3552" y="432"/>
                <a:ext cx="1584" cy="1536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17" name="Oval 65"/>
              <p:cNvSpPr>
                <a:spLocks noChangeArrowheads="1"/>
              </p:cNvSpPr>
              <p:nvPr/>
            </p:nvSpPr>
            <p:spPr bwMode="auto">
              <a:xfrm>
                <a:off x="3552" y="912"/>
                <a:ext cx="1584" cy="576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18" name="Oval 66"/>
              <p:cNvSpPr>
                <a:spLocks noChangeArrowheads="1"/>
              </p:cNvSpPr>
              <p:nvPr/>
            </p:nvSpPr>
            <p:spPr bwMode="auto">
              <a:xfrm>
                <a:off x="3744" y="576"/>
                <a:ext cx="1200" cy="240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19" name="Oval 67"/>
              <p:cNvSpPr>
                <a:spLocks noChangeArrowheads="1"/>
              </p:cNvSpPr>
              <p:nvPr/>
            </p:nvSpPr>
            <p:spPr bwMode="auto">
              <a:xfrm>
                <a:off x="3936" y="432"/>
                <a:ext cx="768" cy="1536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20" name="Line 68"/>
              <p:cNvSpPr>
                <a:spLocks noChangeShapeType="1"/>
              </p:cNvSpPr>
              <p:nvPr/>
            </p:nvSpPr>
            <p:spPr bwMode="auto">
              <a:xfrm flipV="1">
                <a:off x="4320" y="192"/>
                <a:ext cx="0" cy="10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" name="Line 69"/>
              <p:cNvSpPr>
                <a:spLocks noChangeShapeType="1"/>
              </p:cNvSpPr>
              <p:nvPr/>
            </p:nvSpPr>
            <p:spPr bwMode="auto">
              <a:xfrm flipV="1">
                <a:off x="4320" y="768"/>
                <a:ext cx="336" cy="43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2" name="Line 70"/>
              <p:cNvSpPr>
                <a:spLocks noChangeShapeType="1"/>
              </p:cNvSpPr>
              <p:nvPr/>
            </p:nvSpPr>
            <p:spPr bwMode="auto">
              <a:xfrm>
                <a:off x="4320" y="120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3" name="Line 71"/>
              <p:cNvSpPr>
                <a:spLocks noChangeShapeType="1"/>
              </p:cNvSpPr>
              <p:nvPr/>
            </p:nvSpPr>
            <p:spPr bwMode="auto">
              <a:xfrm flipH="1">
                <a:off x="3936" y="1200"/>
                <a:ext cx="384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0524" name="Object 72"/>
              <p:cNvGraphicFramePr>
                <a:graphicFrameLocks noChangeAspect="1"/>
              </p:cNvGraphicFramePr>
              <p:nvPr/>
            </p:nvGraphicFramePr>
            <p:xfrm>
              <a:off x="4313" y="912"/>
              <a:ext cx="15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7" name="Equation" r:id="rId11" imgW="139579" imgH="177646" progId="Equation.DSMT4">
                      <p:embed/>
                    </p:oleObj>
                  </mc:Choice>
                  <mc:Fallback>
                    <p:oleObj name="Equation" r:id="rId11" imgW="139579" imgH="177646" progId="Equation.DSMT4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3" y="912"/>
                            <a:ext cx="15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5" name="Object 73"/>
              <p:cNvGraphicFramePr>
                <a:graphicFrameLocks noChangeAspect="1"/>
              </p:cNvGraphicFramePr>
              <p:nvPr/>
            </p:nvGraphicFramePr>
            <p:xfrm>
              <a:off x="4272" y="1344"/>
              <a:ext cx="167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8" name="Equation" r:id="rId13" imgW="139579" imgH="164957" progId="Equation.DSMT4">
                      <p:embed/>
                    </p:oleObj>
                  </mc:Choice>
                  <mc:Fallback>
                    <p:oleObj name="Equation" r:id="rId13" imgW="139579" imgH="164957" progId="Equation.DSMT4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1344"/>
                            <a:ext cx="167" cy="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6" name="Object 74"/>
              <p:cNvGraphicFramePr>
                <a:graphicFrameLocks noChangeAspect="1"/>
              </p:cNvGraphicFramePr>
              <p:nvPr/>
            </p:nvGraphicFramePr>
            <p:xfrm>
              <a:off x="4416" y="912"/>
              <a:ext cx="261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9" name="公式" r:id="rId15" imgW="126780" imgH="164814" progId="Equation.3">
                      <p:embed/>
                    </p:oleObj>
                  </mc:Choice>
                  <mc:Fallback>
                    <p:oleObj name="公式" r:id="rId15" imgW="126780" imgH="164814" progId="Equation.3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912"/>
                            <a:ext cx="261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7" name="Oval 75"/>
              <p:cNvSpPr>
                <a:spLocks noChangeArrowheads="1"/>
              </p:cNvSpPr>
              <p:nvPr/>
            </p:nvSpPr>
            <p:spPr bwMode="auto">
              <a:xfrm>
                <a:off x="4608" y="76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0528" name="Line 76"/>
              <p:cNvSpPr>
                <a:spLocks noChangeShapeType="1"/>
              </p:cNvSpPr>
              <p:nvPr/>
            </p:nvSpPr>
            <p:spPr bwMode="auto">
              <a:xfrm flipV="1">
                <a:off x="4320" y="1104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0529" name="Object 77"/>
              <p:cNvGraphicFramePr>
                <a:graphicFrameLocks noChangeAspect="1"/>
              </p:cNvGraphicFramePr>
              <p:nvPr/>
            </p:nvGraphicFramePr>
            <p:xfrm>
              <a:off x="4080" y="1056"/>
              <a:ext cx="203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40" name="公式" r:id="rId17" imgW="152268" imgH="203024" progId="Equation.3">
                      <p:embed/>
                    </p:oleObj>
                  </mc:Choice>
                  <mc:Fallback>
                    <p:oleObj name="公式" r:id="rId17" imgW="152268" imgH="203024" progId="Equation.3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1056"/>
                            <a:ext cx="203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30" name="Arc 78"/>
              <p:cNvSpPr>
                <a:spLocks/>
              </p:cNvSpPr>
              <p:nvPr/>
            </p:nvSpPr>
            <p:spPr bwMode="auto">
              <a:xfrm>
                <a:off x="4235" y="1152"/>
                <a:ext cx="237" cy="193"/>
              </a:xfrm>
              <a:custGeom>
                <a:avLst/>
                <a:gdLst>
                  <a:gd name="T0" fmla="*/ 0 w 31256"/>
                  <a:gd name="T1" fmla="*/ 0 h 21600"/>
                  <a:gd name="T2" fmla="*/ 0 w 31256"/>
                  <a:gd name="T3" fmla="*/ 0 h 21600"/>
                  <a:gd name="T4" fmla="*/ 0 w 3125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256"/>
                  <a:gd name="T10" fmla="*/ 0 h 21600"/>
                  <a:gd name="T11" fmla="*/ 31256 w 3125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56" h="21600" fill="none" extrusionOk="0">
                    <a:moveTo>
                      <a:pt x="31256" y="15035"/>
                    </a:moveTo>
                    <a:cubicBezTo>
                      <a:pt x="27187" y="19231"/>
                      <a:pt x="21592" y="21599"/>
                      <a:pt x="15748" y="21600"/>
                    </a:cubicBezTo>
                    <a:cubicBezTo>
                      <a:pt x="9782" y="21600"/>
                      <a:pt x="4082" y="19132"/>
                      <a:pt x="-1" y="14783"/>
                    </a:cubicBezTo>
                  </a:path>
                  <a:path w="31256" h="21600" stroke="0" extrusionOk="0">
                    <a:moveTo>
                      <a:pt x="31256" y="15035"/>
                    </a:moveTo>
                    <a:cubicBezTo>
                      <a:pt x="27187" y="19231"/>
                      <a:pt x="21592" y="21599"/>
                      <a:pt x="15748" y="21600"/>
                    </a:cubicBezTo>
                    <a:cubicBezTo>
                      <a:pt x="9782" y="21600"/>
                      <a:pt x="4082" y="19132"/>
                      <a:pt x="-1" y="14783"/>
                    </a:cubicBezTo>
                    <a:lnTo>
                      <a:pt x="15748" y="0"/>
                    </a:lnTo>
                    <a:lnTo>
                      <a:pt x="31256" y="15035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31" name="Arc 79"/>
              <p:cNvSpPr>
                <a:spLocks/>
              </p:cNvSpPr>
              <p:nvPr/>
            </p:nvSpPr>
            <p:spPr bwMode="auto">
              <a:xfrm>
                <a:off x="4320" y="1056"/>
                <a:ext cx="81" cy="192"/>
              </a:xfrm>
              <a:custGeom>
                <a:avLst/>
                <a:gdLst>
                  <a:gd name="T0" fmla="*/ 0 w 9109"/>
                  <a:gd name="T1" fmla="*/ 0 h 21600"/>
                  <a:gd name="T2" fmla="*/ 0 w 9109"/>
                  <a:gd name="T3" fmla="*/ 0 h 21600"/>
                  <a:gd name="T4" fmla="*/ 0 w 910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109"/>
                  <a:gd name="T10" fmla="*/ 0 h 21600"/>
                  <a:gd name="T11" fmla="*/ 9109 w 910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09" h="21600" fill="none" extrusionOk="0">
                    <a:moveTo>
                      <a:pt x="-1" y="0"/>
                    </a:moveTo>
                    <a:cubicBezTo>
                      <a:pt x="3146" y="0"/>
                      <a:pt x="6255" y="687"/>
                      <a:pt x="9109" y="2014"/>
                    </a:cubicBezTo>
                  </a:path>
                  <a:path w="9109" h="21600" stroke="0" extrusionOk="0">
                    <a:moveTo>
                      <a:pt x="-1" y="0"/>
                    </a:moveTo>
                    <a:cubicBezTo>
                      <a:pt x="3146" y="0"/>
                      <a:pt x="6255" y="687"/>
                      <a:pt x="9109" y="2014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" name="Group 106"/>
          <p:cNvGrpSpPr>
            <a:grpSpLocks/>
          </p:cNvGrpSpPr>
          <p:nvPr/>
        </p:nvGrpSpPr>
        <p:grpSpPr bwMode="auto">
          <a:xfrm>
            <a:off x="6659563" y="2312988"/>
            <a:ext cx="2747962" cy="577850"/>
            <a:chOff x="4377" y="1887"/>
            <a:chExt cx="1731" cy="364"/>
          </a:xfrm>
        </p:grpSpPr>
        <p:sp>
          <p:nvSpPr>
            <p:cNvPr id="20503" name="AutoShape 105"/>
            <p:cNvSpPr>
              <a:spLocks noChangeArrowheads="1"/>
            </p:cNvSpPr>
            <p:nvPr/>
          </p:nvSpPr>
          <p:spPr bwMode="auto">
            <a:xfrm>
              <a:off x="4558" y="1888"/>
              <a:ext cx="1044" cy="363"/>
            </a:xfrm>
            <a:prstGeom prst="wedgeEllipseCallout">
              <a:avLst>
                <a:gd name="adj1" fmla="val -70787"/>
                <a:gd name="adj2" fmla="val 7947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20504" name="Oval 83"/>
            <p:cNvSpPr>
              <a:spLocks noChangeArrowheads="1"/>
            </p:cNvSpPr>
            <p:nvPr/>
          </p:nvSpPr>
          <p:spPr bwMode="auto">
            <a:xfrm>
              <a:off x="4377" y="1997"/>
              <a:ext cx="109" cy="103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05" name="Text Box 84"/>
            <p:cNvSpPr txBox="1">
              <a:spLocks noChangeArrowheads="1"/>
            </p:cNvSpPr>
            <p:nvPr/>
          </p:nvSpPr>
          <p:spPr bwMode="auto">
            <a:xfrm>
              <a:off x="4583" y="1887"/>
              <a:ext cx="2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20506" name="Object 87"/>
            <p:cNvGraphicFramePr>
              <a:graphicFrameLocks noChangeAspect="1"/>
            </p:cNvGraphicFramePr>
            <p:nvPr/>
          </p:nvGraphicFramePr>
          <p:xfrm>
            <a:off x="4876" y="1932"/>
            <a:ext cx="22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1" name="公式" r:id="rId19" imgW="126780" imgH="164814" progId="Equation.3">
                    <p:embed/>
                  </p:oleObj>
                </mc:Choice>
                <mc:Fallback>
                  <p:oleObj name="公式" r:id="rId19" imgW="126780" imgH="164814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932"/>
                          <a:ext cx="22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7" name="Text Box 88"/>
            <p:cNvSpPr txBox="1">
              <a:spLocks noChangeArrowheads="1"/>
            </p:cNvSpPr>
            <p:nvPr/>
          </p:nvSpPr>
          <p:spPr bwMode="auto">
            <a:xfrm>
              <a:off x="4604" y="1924"/>
              <a:ext cx="15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沿  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方向</a:t>
              </a:r>
            </a:p>
          </p:txBody>
        </p:sp>
      </p:grpSp>
      <p:sp>
        <p:nvSpPr>
          <p:cNvPr id="20489" name="Oval 94"/>
          <p:cNvSpPr>
            <a:spLocks noChangeArrowheads="1"/>
          </p:cNvSpPr>
          <p:nvPr/>
        </p:nvSpPr>
        <p:spPr bwMode="auto">
          <a:xfrm>
            <a:off x="6588125" y="4648200"/>
            <a:ext cx="173038" cy="163513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5457" name="Object 97"/>
          <p:cNvGraphicFramePr>
            <a:graphicFrameLocks noChangeAspect="1"/>
          </p:cNvGraphicFramePr>
          <p:nvPr/>
        </p:nvGraphicFramePr>
        <p:xfrm>
          <a:off x="1236663" y="4581525"/>
          <a:ext cx="20383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2" name="Equation" r:id="rId20" imgW="2349500" imgH="889000" progId="Equation.DSMT4">
                  <p:embed/>
                </p:oleObj>
              </mc:Choice>
              <mc:Fallback>
                <p:oleObj name="Equation" r:id="rId20" imgW="2349500" imgH="889000" progId="Equation.DSMT4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4581525"/>
                        <a:ext cx="203835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0" name="Object 100"/>
          <p:cNvGraphicFramePr>
            <a:graphicFrameLocks noChangeAspect="1"/>
          </p:cNvGraphicFramePr>
          <p:nvPr/>
        </p:nvGraphicFramePr>
        <p:xfrm>
          <a:off x="1187450" y="5697538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3" name="Equation" r:id="rId22" imgW="1320227" imgH="431613" progId="Equation.DSMT4">
                  <p:embed/>
                </p:oleObj>
              </mc:Choice>
              <mc:Fallback>
                <p:oleObj name="Equation" r:id="rId22" imgW="1320227" imgH="431613" progId="Equation.DSMT4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697538"/>
                        <a:ext cx="1320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1" name="Text Box 101"/>
          <p:cNvSpPr txBox="1">
            <a:spLocks noChangeArrowheads="1"/>
          </p:cNvSpPr>
          <p:nvPr/>
        </p:nvSpPr>
        <p:spPr bwMode="auto">
          <a:xfrm>
            <a:off x="935038" y="2852738"/>
            <a:ext cx="2592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可以证明：</a:t>
            </a:r>
          </a:p>
        </p:txBody>
      </p:sp>
      <p:graphicFrame>
        <p:nvGraphicFramePr>
          <p:cNvPr id="15462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675039"/>
              </p:ext>
            </p:extLst>
          </p:nvPr>
        </p:nvGraphicFramePr>
        <p:xfrm>
          <a:off x="2244725" y="1520825"/>
          <a:ext cx="29987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4" name="Equation" r:id="rId24" imgW="2984400" imgH="672840" progId="Equation.DSMT4">
                  <p:embed/>
                </p:oleObj>
              </mc:Choice>
              <mc:Fallback>
                <p:oleObj name="Equation" r:id="rId24" imgW="2984400" imgH="672840" progId="Equation.DSMT4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25" y="1520825"/>
                        <a:ext cx="29987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588122"/>
              </p:ext>
            </p:extLst>
          </p:nvPr>
        </p:nvGraphicFramePr>
        <p:xfrm>
          <a:off x="2173288" y="2097088"/>
          <a:ext cx="31146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5" name="Equation" r:id="rId26" imgW="3098520" imgH="672840" progId="Equation.DSMT4">
                  <p:embed/>
                </p:oleObj>
              </mc:Choice>
              <mc:Fallback>
                <p:oleObj name="Equation" r:id="rId26" imgW="3098520" imgH="672840" progId="Equation.DSMT4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097088"/>
                        <a:ext cx="31146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8"/>
          <p:cNvGrpSpPr>
            <a:grpSpLocks/>
          </p:cNvGrpSpPr>
          <p:nvPr/>
        </p:nvGrpSpPr>
        <p:grpSpPr bwMode="auto">
          <a:xfrm>
            <a:off x="6904038" y="3395663"/>
            <a:ext cx="2592387" cy="647700"/>
            <a:chOff x="4349" y="2523"/>
            <a:chExt cx="1633" cy="408"/>
          </a:xfrm>
        </p:grpSpPr>
        <p:sp>
          <p:nvSpPr>
            <p:cNvPr id="20501" name="AutoShape 107"/>
            <p:cNvSpPr>
              <a:spLocks noChangeArrowheads="1"/>
            </p:cNvSpPr>
            <p:nvPr/>
          </p:nvSpPr>
          <p:spPr bwMode="auto">
            <a:xfrm>
              <a:off x="4349" y="2523"/>
              <a:ext cx="1315" cy="408"/>
            </a:xfrm>
            <a:prstGeom prst="wedgeEllipseCallout">
              <a:avLst>
                <a:gd name="adj1" fmla="val -59963"/>
                <a:gd name="adj2" fmla="val 55148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20502" name="Rectangle 96"/>
            <p:cNvSpPr>
              <a:spLocks noChangeArrowheads="1"/>
            </p:cNvSpPr>
            <p:nvPr/>
          </p:nvSpPr>
          <p:spPr bwMode="auto">
            <a:xfrm>
              <a:off x="4377" y="2568"/>
              <a:ext cx="16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沿纬线振荡</a:t>
              </a:r>
            </a:p>
          </p:txBody>
        </p:sp>
      </p:grpSp>
      <p:grpSp>
        <p:nvGrpSpPr>
          <p:cNvPr id="11" name="Group 110"/>
          <p:cNvGrpSpPr>
            <a:grpSpLocks/>
          </p:cNvGrpSpPr>
          <p:nvPr/>
        </p:nvGrpSpPr>
        <p:grpSpPr bwMode="auto">
          <a:xfrm>
            <a:off x="6732588" y="4821238"/>
            <a:ext cx="2790825" cy="519112"/>
            <a:chOff x="4241" y="3421"/>
            <a:chExt cx="1758" cy="327"/>
          </a:xfrm>
        </p:grpSpPr>
        <p:sp>
          <p:nvSpPr>
            <p:cNvPr id="20499" name="AutoShape 109"/>
            <p:cNvSpPr>
              <a:spLocks noChangeArrowheads="1"/>
            </p:cNvSpPr>
            <p:nvPr/>
          </p:nvSpPr>
          <p:spPr bwMode="auto">
            <a:xfrm>
              <a:off x="4241" y="3431"/>
              <a:ext cx="1474" cy="317"/>
            </a:xfrm>
            <a:prstGeom prst="wedgeEllipseCallout">
              <a:avLst>
                <a:gd name="adj1" fmla="val -65060"/>
                <a:gd name="adj2" fmla="val -111199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1800"/>
            </a:p>
          </p:txBody>
        </p:sp>
        <p:sp>
          <p:nvSpPr>
            <p:cNvPr id="20500" name="Rectangle 92"/>
            <p:cNvSpPr>
              <a:spLocks noChangeArrowheads="1"/>
            </p:cNvSpPr>
            <p:nvPr/>
          </p:nvSpPr>
          <p:spPr bwMode="auto">
            <a:xfrm>
              <a:off x="4332" y="3421"/>
              <a:ext cx="16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沿经线振荡</a:t>
              </a:r>
            </a:p>
          </p:txBody>
        </p:sp>
      </p:grpSp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endParaRPr lang="en-US" altLang="zh-CN" sz="1800"/>
          </a:p>
        </p:txBody>
      </p:sp>
      <p:sp>
        <p:nvSpPr>
          <p:cNvPr id="70" name="文本框 69"/>
          <p:cNvSpPr txBox="1">
            <a:spLocks noChangeArrowheads="1"/>
          </p:cNvSpPr>
          <p:nvPr/>
        </p:nvSpPr>
        <p:spPr bwMode="auto">
          <a:xfrm>
            <a:off x="5378450" y="6294438"/>
            <a:ext cx="1568450" cy="36830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hlinkClick r:id="rId28"/>
              </a:rPr>
              <a:t>电磁波与天线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1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413" grpId="0" autoUpdateAnimBg="0"/>
      <p:bldP spid="15414" grpId="0" autoUpdateAnimBg="0"/>
      <p:bldP spid="15461" grpId="0" autoUpdateAnimBg="0"/>
      <p:bldP spid="7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971675" y="4991100"/>
          <a:ext cx="5021263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7" name="BMP 图象" r:id="rId3" imgW="3161905" imgH="914286" progId="Paint.Picture">
                  <p:embed/>
                </p:oleObj>
              </mc:Choice>
              <mc:Fallback>
                <p:oleObj name="BMP 图象" r:id="rId3" imgW="3161905" imgH="91428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4991100"/>
                        <a:ext cx="5021263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2052638" y="5235575"/>
          <a:ext cx="457358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8" name="BMP 图象" r:id="rId5" imgW="3495238" imgH="819048" progId="Paint.Picture">
                  <p:embed/>
                </p:oleObj>
              </mc:Choice>
              <mc:Fallback>
                <p:oleObj name="BMP 图象" r:id="rId5" imgW="3495238" imgH="819048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5235575"/>
                        <a:ext cx="457358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668588" y="4805363"/>
            <a:ext cx="41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E</a:t>
            </a:r>
            <a:endParaRPr kumimoji="1"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197100" y="6140450"/>
            <a:ext cx="414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H</a:t>
            </a:r>
            <a:endParaRPr kumimoji="1"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42875" y="368300"/>
            <a:ext cx="68500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）平面波 （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球面波在远处，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重点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68313" y="981075"/>
            <a:ext cx="795655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变化的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电场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与变化的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磁场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H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振动方向是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互相垂直的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，理论和实践都证明：若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方向振动，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H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方向振动，则电磁波在 </a:t>
            </a:r>
            <a:r>
              <a:rPr kumimoji="1" lang="en-US" altLang="zh-CN" b="1" i="1" dirty="0"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方向传播。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1692275" y="2924175"/>
          <a:ext cx="2020888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9" name="Equation" r:id="rId7" imgW="2095500" imgH="749300" progId="Equation.DSMT4">
                  <p:embed/>
                </p:oleObj>
              </mc:Choice>
              <mc:Fallback>
                <p:oleObj name="Equation" r:id="rId7" imgW="20955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24175"/>
                        <a:ext cx="2020888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413617"/>
              </p:ext>
            </p:extLst>
          </p:nvPr>
        </p:nvGraphicFramePr>
        <p:xfrm>
          <a:off x="3895725" y="2954338"/>
          <a:ext cx="37290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0" name="Equation" r:id="rId9" imgW="3555720" imgH="672840" progId="Equation.DSMT4">
                  <p:embed/>
                </p:oleObj>
              </mc:Choice>
              <mc:Fallback>
                <p:oleObj name="Equation" r:id="rId9" imgW="3555720" imgH="6728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2954338"/>
                        <a:ext cx="37290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1649413" y="3805238"/>
          <a:ext cx="21304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1" name="Equation" r:id="rId11" imgW="2209800" imgH="749300" progId="Equation.DSMT4">
                  <p:embed/>
                </p:oleObj>
              </mc:Choice>
              <mc:Fallback>
                <p:oleObj name="Equation" r:id="rId11" imgW="2209800" imgH="749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3805238"/>
                        <a:ext cx="213042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711087"/>
              </p:ext>
            </p:extLst>
          </p:nvPr>
        </p:nvGraphicFramePr>
        <p:xfrm>
          <a:off x="3895725" y="3860800"/>
          <a:ext cx="38020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2" name="Equation" r:id="rId13" imgW="3593880" imgH="672840" progId="Equation.DSMT4">
                  <p:embed/>
                </p:oleObj>
              </mc:Choice>
              <mc:Fallback>
                <p:oleObj name="Equation" r:id="rId13" imgW="3593880" imgH="6728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725" y="3860800"/>
                        <a:ext cx="38020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1008063" y="2492375"/>
            <a:ext cx="325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波动方程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331913" y="4556125"/>
            <a:ext cx="5903912" cy="2257425"/>
            <a:chOff x="144" y="2688"/>
            <a:chExt cx="4247" cy="1463"/>
          </a:xfrm>
        </p:grpSpPr>
        <p:sp>
          <p:nvSpPr>
            <p:cNvPr id="21530" name="Line 15"/>
            <p:cNvSpPr>
              <a:spLocks noChangeShapeType="1"/>
            </p:cNvSpPr>
            <p:nvPr/>
          </p:nvSpPr>
          <p:spPr bwMode="auto">
            <a:xfrm flipV="1">
              <a:off x="528" y="3504"/>
              <a:ext cx="3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Line 16"/>
            <p:cNvSpPr>
              <a:spLocks noChangeShapeType="1"/>
            </p:cNvSpPr>
            <p:nvPr/>
          </p:nvSpPr>
          <p:spPr bwMode="auto">
            <a:xfrm flipH="1">
              <a:off x="288" y="3504"/>
              <a:ext cx="576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2" name="Line 17"/>
            <p:cNvSpPr>
              <a:spLocks noChangeShapeType="1"/>
            </p:cNvSpPr>
            <p:nvPr/>
          </p:nvSpPr>
          <p:spPr bwMode="auto">
            <a:xfrm flipV="1">
              <a:off x="864" y="2832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33" name="Object 18"/>
            <p:cNvGraphicFramePr>
              <a:graphicFrameLocks noChangeAspect="1"/>
            </p:cNvGraphicFramePr>
            <p:nvPr/>
          </p:nvGraphicFramePr>
          <p:xfrm>
            <a:off x="4224" y="3408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3" name="Equation" r:id="rId15" imgW="266469" imgH="253780" progId="Equation.3">
                    <p:embed/>
                  </p:oleObj>
                </mc:Choice>
                <mc:Fallback>
                  <p:oleObj name="Equation" r:id="rId15" imgW="266469" imgH="2537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408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4" name="Object 19"/>
            <p:cNvGraphicFramePr>
              <a:graphicFrameLocks noChangeAspect="1"/>
            </p:cNvGraphicFramePr>
            <p:nvPr/>
          </p:nvGraphicFramePr>
          <p:xfrm>
            <a:off x="904" y="2688"/>
            <a:ext cx="151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4" name="Equation" r:id="rId17" imgW="266584" imgH="330057" progId="Equation.DSMT4">
                    <p:embed/>
                  </p:oleObj>
                </mc:Choice>
                <mc:Fallback>
                  <p:oleObj name="Equation" r:id="rId17" imgW="266584" imgH="33005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" y="2688"/>
                          <a:ext cx="151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5" name="Object 20"/>
            <p:cNvGraphicFramePr>
              <a:graphicFrameLocks noChangeAspect="1"/>
            </p:cNvGraphicFramePr>
            <p:nvPr/>
          </p:nvGraphicFramePr>
          <p:xfrm>
            <a:off x="144" y="3984"/>
            <a:ext cx="135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5" name="Equation" r:id="rId19" imgW="215619" imgH="266353" progId="Equation.3">
                    <p:embed/>
                  </p:oleObj>
                </mc:Choice>
                <mc:Fallback>
                  <p:oleObj name="Equation" r:id="rId19" imgW="215619" imgH="266353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3984"/>
                          <a:ext cx="135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21"/>
            <p:cNvGraphicFramePr>
              <a:graphicFrameLocks noChangeAspect="1"/>
            </p:cNvGraphicFramePr>
            <p:nvPr/>
          </p:nvGraphicFramePr>
          <p:xfrm>
            <a:off x="687" y="3340"/>
            <a:ext cx="10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6" name="公式" r:id="rId21" imgW="164957" imgH="241091" progId="Equation.3">
                    <p:embed/>
                  </p:oleObj>
                </mc:Choice>
                <mc:Fallback>
                  <p:oleObj name="公式" r:id="rId21" imgW="164957" imgH="24109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3340"/>
                          <a:ext cx="10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854325" y="5341938"/>
            <a:ext cx="2905125" cy="811212"/>
            <a:chOff x="1248" y="3216"/>
            <a:chExt cx="1920" cy="528"/>
          </a:xfrm>
        </p:grpSpPr>
        <p:sp>
          <p:nvSpPr>
            <p:cNvPr id="21526" name="Line 23"/>
            <p:cNvSpPr>
              <a:spLocks noChangeShapeType="1"/>
            </p:cNvSpPr>
            <p:nvPr/>
          </p:nvSpPr>
          <p:spPr bwMode="auto">
            <a:xfrm flipH="1" flipV="1">
              <a:off x="1248" y="3216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7" name="Line 24"/>
            <p:cNvSpPr>
              <a:spLocks noChangeShapeType="1"/>
            </p:cNvSpPr>
            <p:nvPr/>
          </p:nvSpPr>
          <p:spPr bwMode="auto">
            <a:xfrm flipH="1" flipV="1">
              <a:off x="2496" y="3216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25"/>
            <p:cNvSpPr>
              <a:spLocks noChangeShapeType="1"/>
            </p:cNvSpPr>
            <p:nvPr/>
          </p:nvSpPr>
          <p:spPr bwMode="auto">
            <a:xfrm flipH="1">
              <a:off x="1872" y="3504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Line 26"/>
            <p:cNvSpPr>
              <a:spLocks noChangeShapeType="1"/>
            </p:cNvSpPr>
            <p:nvPr/>
          </p:nvSpPr>
          <p:spPr bwMode="auto">
            <a:xfrm flipH="1">
              <a:off x="3168" y="3504"/>
              <a:ext cx="0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489200" y="5472113"/>
            <a:ext cx="3559175" cy="693737"/>
            <a:chOff x="1008" y="3293"/>
            <a:chExt cx="2352" cy="451"/>
          </a:xfrm>
        </p:grpSpPr>
        <p:sp>
          <p:nvSpPr>
            <p:cNvPr id="21522" name="Line 28"/>
            <p:cNvSpPr>
              <a:spLocks noChangeShapeType="1"/>
            </p:cNvSpPr>
            <p:nvPr/>
          </p:nvSpPr>
          <p:spPr bwMode="auto">
            <a:xfrm flipH="1">
              <a:off x="1008" y="3504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Line 29"/>
            <p:cNvSpPr>
              <a:spLocks noChangeShapeType="1"/>
            </p:cNvSpPr>
            <p:nvPr/>
          </p:nvSpPr>
          <p:spPr bwMode="auto">
            <a:xfrm flipV="1">
              <a:off x="1883" y="3293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4" name="Line 30"/>
            <p:cNvSpPr>
              <a:spLocks noChangeShapeType="1"/>
            </p:cNvSpPr>
            <p:nvPr/>
          </p:nvSpPr>
          <p:spPr bwMode="auto">
            <a:xfrm flipV="1">
              <a:off x="3167" y="3315"/>
              <a:ext cx="193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5" name="Line 31"/>
            <p:cNvSpPr>
              <a:spLocks noChangeShapeType="1"/>
            </p:cNvSpPr>
            <p:nvPr/>
          </p:nvSpPr>
          <p:spPr bwMode="auto">
            <a:xfrm flipH="1">
              <a:off x="2304" y="3504"/>
              <a:ext cx="19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3611563" y="25288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注意到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的位相相同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1521" name="Text Box 3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utoUpdateAnimBg="0"/>
      <p:bldP spid="16389" grpId="0" autoUpdateAnimBg="0"/>
      <p:bldP spid="16390" grpId="0" autoUpdateAnimBg="0"/>
      <p:bldP spid="16391" grpId="0" autoUpdateAnimBg="0"/>
      <p:bldP spid="1639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平面电磁波的性质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68313" y="908050"/>
            <a:ext cx="9144000" cy="519113"/>
            <a:chOff x="0" y="432"/>
            <a:chExt cx="5760" cy="327"/>
          </a:xfrm>
        </p:grpSpPr>
        <p:sp>
          <p:nvSpPr>
            <p:cNvPr id="22547" name="Text Box 4"/>
            <p:cNvSpPr txBox="1">
              <a:spLocks noChangeArrowheads="1"/>
            </p:cNvSpPr>
            <p:nvPr/>
          </p:nvSpPr>
          <p:spPr bwMode="auto">
            <a:xfrm>
              <a:off x="0" y="432"/>
              <a:ext cx="57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）            的变化是同步的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,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位相相同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,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数量关系：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48" name="Rectangle 5"/>
            <p:cNvSpPr>
              <a:spLocks noChangeArrowheads="1"/>
            </p:cNvSpPr>
            <p:nvPr/>
          </p:nvSpPr>
          <p:spPr bwMode="auto">
            <a:xfrm>
              <a:off x="1056" y="480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H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6"/>
            <p:cNvSpPr>
              <a:spLocks noChangeArrowheads="1"/>
            </p:cNvSpPr>
            <p:nvPr/>
          </p:nvSpPr>
          <p:spPr bwMode="auto">
            <a:xfrm>
              <a:off x="528" y="480"/>
              <a:ext cx="26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E  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2550" name="Rectangle 7"/>
            <p:cNvSpPr>
              <a:spLocks noChangeArrowheads="1"/>
            </p:cNvSpPr>
            <p:nvPr/>
          </p:nvSpPr>
          <p:spPr bwMode="auto">
            <a:xfrm>
              <a:off x="768" y="480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宋体" panose="02010600030101010101" pitchFamily="2" charset="-122"/>
                </a:rPr>
                <a:t>和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468313" y="2582863"/>
            <a:ext cx="856773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              ，       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的方向就是    的方向                                                                       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      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构成右手螺旋关系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7441" name="Object 33"/>
          <p:cNvGraphicFramePr>
            <a:graphicFrameLocks noChangeAspect="1"/>
          </p:cNvGraphicFramePr>
          <p:nvPr/>
        </p:nvGraphicFramePr>
        <p:xfrm>
          <a:off x="1150938" y="1682750"/>
          <a:ext cx="18335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7" name="Equation" r:id="rId3" imgW="1663700" imgH="469900" progId="Equation.DSMT4">
                  <p:embed/>
                </p:oleObj>
              </mc:Choice>
              <mc:Fallback>
                <p:oleObj name="Equation" r:id="rId3" imgW="1663700" imgH="4699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1682750"/>
                        <a:ext cx="18335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2" name="Object 34"/>
          <p:cNvGraphicFramePr>
            <a:graphicFrameLocks noChangeAspect="1"/>
          </p:cNvGraphicFramePr>
          <p:nvPr/>
        </p:nvGraphicFramePr>
        <p:xfrm>
          <a:off x="3328988" y="1682750"/>
          <a:ext cx="20351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8" name="Equation" r:id="rId5" imgW="2032000" imgH="469900" progId="Equation.DSMT4">
                  <p:embed/>
                </p:oleObj>
              </mc:Choice>
              <mc:Fallback>
                <p:oleObj name="Equation" r:id="rId5" imgW="2032000" imgH="4699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988" y="1682750"/>
                        <a:ext cx="20351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7" name="Object 59"/>
          <p:cNvGraphicFramePr>
            <a:graphicFrameLocks noChangeAspect="1"/>
          </p:cNvGraphicFramePr>
          <p:nvPr/>
        </p:nvGraphicFramePr>
        <p:xfrm>
          <a:off x="5756275" y="1682750"/>
          <a:ext cx="1911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9" name="Equation" r:id="rId7" imgW="2070100" imgH="508000" progId="Equation.DSMT4">
                  <p:embed/>
                </p:oleObj>
              </mc:Choice>
              <mc:Fallback>
                <p:oleObj name="Equation" r:id="rId7" imgW="2070100" imgH="508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1682750"/>
                        <a:ext cx="1911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9" name="Object 61"/>
          <p:cNvGraphicFramePr>
            <a:graphicFrameLocks noChangeAspect="1"/>
          </p:cNvGraphicFramePr>
          <p:nvPr/>
        </p:nvGraphicFramePr>
        <p:xfrm>
          <a:off x="1325563" y="2447925"/>
          <a:ext cx="15906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0" name="Equation" r:id="rId9" imgW="1675673" imgH="406224" progId="Equation.DSMT4">
                  <p:embed/>
                </p:oleObj>
              </mc:Choice>
              <mc:Fallback>
                <p:oleObj name="Equation" r:id="rId9" imgW="1675673" imgH="406224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447925"/>
                        <a:ext cx="159067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70" name="Object 62"/>
          <p:cNvGraphicFramePr>
            <a:graphicFrameLocks noChangeAspect="1"/>
          </p:cNvGraphicFramePr>
          <p:nvPr/>
        </p:nvGraphicFramePr>
        <p:xfrm>
          <a:off x="3236913" y="2424113"/>
          <a:ext cx="9032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1" name="Equation" r:id="rId11" imgW="952087" imgH="393529" progId="Equation.DSMT4">
                  <p:embed/>
                </p:oleObj>
              </mc:Choice>
              <mc:Fallback>
                <p:oleObj name="Equation" r:id="rId11" imgW="952087" imgH="393529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2424113"/>
                        <a:ext cx="90328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71" name="Object 63"/>
          <p:cNvGraphicFramePr>
            <a:graphicFrameLocks noChangeAspect="1"/>
          </p:cNvGraphicFramePr>
          <p:nvPr/>
        </p:nvGraphicFramePr>
        <p:xfrm>
          <a:off x="6084888" y="2490788"/>
          <a:ext cx="2286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2" name="Equation" r:id="rId13" imgW="241195" imgH="330057" progId="Equation.DSMT4">
                  <p:embed/>
                </p:oleObj>
              </mc:Choice>
              <mc:Fallback>
                <p:oleObj name="Equation" r:id="rId13" imgW="241195" imgH="330057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490788"/>
                        <a:ext cx="2286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65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13</a:t>
            </a:r>
            <a:endParaRPr lang="en-US" altLang="zh-CN" sz="1800"/>
          </a:p>
        </p:txBody>
      </p:sp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1223963" y="3544888"/>
            <a:ext cx="28082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电磁波是横波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452438" y="4165600"/>
            <a:ext cx="3384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</a:rPr>
              <a:t>）介质中的</a:t>
            </a:r>
            <a:r>
              <a:rPr lang="zh-CN" altLang="en-US" sz="2800" b="1" dirty="0"/>
              <a:t>波速</a:t>
            </a:r>
          </a:p>
        </p:txBody>
      </p: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1408113" y="513873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真空中的</a:t>
            </a:r>
            <a:r>
              <a:rPr lang="zh-CN" altLang="en-US" sz="2800" b="1"/>
              <a:t>波速</a:t>
            </a:r>
          </a:p>
        </p:txBody>
      </p:sp>
      <p:graphicFrame>
        <p:nvGraphicFramePr>
          <p:cNvPr id="44" name="Object 16"/>
          <p:cNvGraphicFramePr>
            <a:graphicFrameLocks noChangeAspect="1"/>
          </p:cNvGraphicFramePr>
          <p:nvPr/>
        </p:nvGraphicFramePr>
        <p:xfrm>
          <a:off x="3687763" y="4005263"/>
          <a:ext cx="357028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3" name="Equation" r:id="rId15" imgW="1495456" imgH="352350" progId="Equation.DSMT4">
                  <p:embed/>
                </p:oleObj>
              </mc:Choice>
              <mc:Fallback>
                <p:oleObj name="Equation" r:id="rId15" imgW="1495456" imgH="35235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4005263"/>
                        <a:ext cx="3570287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7"/>
          <p:cNvGraphicFramePr>
            <a:graphicFrameLocks noChangeAspect="1"/>
          </p:cNvGraphicFramePr>
          <p:nvPr/>
        </p:nvGraphicFramePr>
        <p:xfrm>
          <a:off x="3671888" y="4948238"/>
          <a:ext cx="3897312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4" name="Equation" r:id="rId17" imgW="1495456" imgH="352350" progId="Equation.DSMT4">
                  <p:embed/>
                </p:oleObj>
              </mc:Choice>
              <mc:Fallback>
                <p:oleObj name="Equation" r:id="rId17" imgW="1495456" imgH="35235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948238"/>
                        <a:ext cx="3897312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1439863" y="6076950"/>
            <a:ext cx="2952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电磁波的</a:t>
            </a:r>
            <a:r>
              <a:rPr lang="zh-CN" altLang="en-US" sz="2800" b="1"/>
              <a:t>波长</a:t>
            </a:r>
          </a:p>
        </p:txBody>
      </p:sp>
      <p:graphicFrame>
        <p:nvGraphicFramePr>
          <p:cNvPr id="47" name="Object 19"/>
          <p:cNvGraphicFramePr>
            <a:graphicFrameLocks noChangeAspect="1"/>
          </p:cNvGraphicFramePr>
          <p:nvPr/>
        </p:nvGraphicFramePr>
        <p:xfrm>
          <a:off x="3995738" y="5876925"/>
          <a:ext cx="19780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5" name="Equation" r:id="rId19" imgW="704777" imgH="285660" progId="Equation.DSMT4">
                  <p:embed/>
                </p:oleObj>
              </mc:Choice>
              <mc:Fallback>
                <p:oleObj name="Equation" r:id="rId19" imgW="704777" imgH="2856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876925"/>
                        <a:ext cx="19780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22" grpId="0"/>
      <p:bldP spid="41" grpId="0"/>
      <p:bldP spid="42" grpId="0"/>
      <p:bldP spid="43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50825" y="1022350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）电磁波的频率，等于偶极子的振动频率。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15900" y="1808163"/>
            <a:ext cx="8928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）具有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反射、折射、干涉、衍射、偏振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等特性。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255588" y="2728913"/>
            <a:ext cx="2305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6300788" y="2711450"/>
            <a:ext cx="1912937" cy="1539875"/>
            <a:chOff x="4176" y="3024"/>
            <a:chExt cx="1619" cy="1234"/>
          </a:xfrm>
        </p:grpSpPr>
        <p:sp>
          <p:nvSpPr>
            <p:cNvPr id="23569" name="Oval 41"/>
            <p:cNvSpPr>
              <a:spLocks noChangeArrowheads="1"/>
            </p:cNvSpPr>
            <p:nvPr/>
          </p:nvSpPr>
          <p:spPr bwMode="auto">
            <a:xfrm>
              <a:off x="4505" y="3201"/>
              <a:ext cx="74" cy="70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70" name="Oval 42"/>
            <p:cNvSpPr>
              <a:spLocks noChangeArrowheads="1"/>
            </p:cNvSpPr>
            <p:nvPr/>
          </p:nvSpPr>
          <p:spPr bwMode="auto">
            <a:xfrm>
              <a:off x="4505" y="3977"/>
              <a:ext cx="74" cy="7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71" name="Line 43"/>
            <p:cNvSpPr>
              <a:spLocks noChangeShapeType="1"/>
            </p:cNvSpPr>
            <p:nvPr/>
          </p:nvSpPr>
          <p:spPr bwMode="auto">
            <a:xfrm flipH="1" flipV="1">
              <a:off x="4542" y="3271"/>
              <a:ext cx="0" cy="7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Rectangle 44"/>
            <p:cNvSpPr>
              <a:spLocks noChangeArrowheads="1"/>
            </p:cNvSpPr>
            <p:nvPr/>
          </p:nvSpPr>
          <p:spPr bwMode="auto">
            <a:xfrm>
              <a:off x="4368" y="3624"/>
              <a:ext cx="91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3" name="Rectangle 45"/>
            <p:cNvSpPr>
              <a:spLocks noChangeArrowheads="1"/>
            </p:cNvSpPr>
            <p:nvPr/>
          </p:nvSpPr>
          <p:spPr bwMode="auto">
            <a:xfrm>
              <a:off x="4359" y="3434"/>
              <a:ext cx="13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MT Extra" panose="05050102010205020202" pitchFamily="18" charset="2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4" name="Rectangle 46"/>
            <p:cNvSpPr>
              <a:spLocks noChangeArrowheads="1"/>
            </p:cNvSpPr>
            <p:nvPr/>
          </p:nvSpPr>
          <p:spPr bwMode="auto">
            <a:xfrm>
              <a:off x="4320" y="3024"/>
              <a:ext cx="16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5" name="Rectangle 47"/>
            <p:cNvSpPr>
              <a:spLocks noChangeArrowheads="1"/>
            </p:cNvSpPr>
            <p:nvPr/>
          </p:nvSpPr>
          <p:spPr bwMode="auto">
            <a:xfrm>
              <a:off x="4176" y="3024"/>
              <a:ext cx="17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+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6" name="Rectangle 48"/>
            <p:cNvSpPr>
              <a:spLocks noChangeArrowheads="1"/>
            </p:cNvSpPr>
            <p:nvPr/>
          </p:nvSpPr>
          <p:spPr bwMode="auto">
            <a:xfrm>
              <a:off x="4320" y="3888"/>
              <a:ext cx="16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q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7" name="Rectangle 49"/>
            <p:cNvSpPr>
              <a:spLocks noChangeArrowheads="1"/>
            </p:cNvSpPr>
            <p:nvPr/>
          </p:nvSpPr>
          <p:spPr bwMode="auto">
            <a:xfrm>
              <a:off x="4176" y="3840"/>
              <a:ext cx="17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-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78" name="Line 50"/>
            <p:cNvSpPr>
              <a:spLocks noChangeShapeType="1"/>
            </p:cNvSpPr>
            <p:nvPr/>
          </p:nvSpPr>
          <p:spPr bwMode="auto">
            <a:xfrm flipV="1">
              <a:off x="4542" y="3342"/>
              <a:ext cx="1025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Arc 51"/>
            <p:cNvSpPr>
              <a:spLocks/>
            </p:cNvSpPr>
            <p:nvPr/>
          </p:nvSpPr>
          <p:spPr bwMode="auto">
            <a:xfrm>
              <a:off x="4432" y="3518"/>
              <a:ext cx="285" cy="412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Rectangle 52"/>
            <p:cNvSpPr>
              <a:spLocks noChangeArrowheads="1"/>
            </p:cNvSpPr>
            <p:nvPr/>
          </p:nvSpPr>
          <p:spPr bwMode="auto">
            <a:xfrm>
              <a:off x="4697" y="3226"/>
              <a:ext cx="17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Symbol" panose="05050102010706020507" pitchFamily="18" charset="2"/>
                </a:rPr>
                <a:t>q</a:t>
              </a:r>
              <a:endParaRPr kumimoji="1"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23581" name="Oval 53"/>
            <p:cNvSpPr>
              <a:spLocks noChangeArrowheads="1"/>
            </p:cNvSpPr>
            <p:nvPr/>
          </p:nvSpPr>
          <p:spPr bwMode="auto">
            <a:xfrm>
              <a:off x="5567" y="3306"/>
              <a:ext cx="37" cy="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582" name="Rectangle 54"/>
            <p:cNvSpPr>
              <a:spLocks noChangeArrowheads="1"/>
            </p:cNvSpPr>
            <p:nvPr/>
          </p:nvSpPr>
          <p:spPr bwMode="auto">
            <a:xfrm>
              <a:off x="5639" y="3280"/>
              <a:ext cx="1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23583" name="Rectangle 55"/>
            <p:cNvSpPr>
              <a:spLocks noChangeArrowheads="1"/>
            </p:cNvSpPr>
            <p:nvPr/>
          </p:nvSpPr>
          <p:spPr bwMode="auto">
            <a:xfrm>
              <a:off x="5662" y="3130"/>
              <a:ext cx="13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>
                  <a:latin typeface="MT Extra" panose="05050102010205020202" pitchFamily="18" charset="2"/>
                </a:rPr>
                <a:t>r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1" name="Object 56"/>
          <p:cNvGraphicFramePr>
            <a:graphicFrameLocks noChangeAspect="1"/>
          </p:cNvGraphicFramePr>
          <p:nvPr/>
        </p:nvGraphicFramePr>
        <p:xfrm>
          <a:off x="1265238" y="2657475"/>
          <a:ext cx="14890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Equation" r:id="rId3" imgW="1701800" imgH="673100" progId="Equation.DSMT4">
                  <p:embed/>
                </p:oleObj>
              </mc:Choice>
              <mc:Fallback>
                <p:oleObj name="Equation" r:id="rId3" imgW="1701800" imgH="673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2657475"/>
                        <a:ext cx="148907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7"/>
          <p:cNvGraphicFramePr>
            <a:graphicFrameLocks noChangeAspect="1"/>
          </p:cNvGraphicFramePr>
          <p:nvPr/>
        </p:nvGraphicFramePr>
        <p:xfrm>
          <a:off x="2943225" y="2657475"/>
          <a:ext cx="14890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" name="Equation" r:id="rId5" imgW="1676400" imgH="673100" progId="Equation.DSMT4">
                  <p:embed/>
                </p:oleObj>
              </mc:Choice>
              <mc:Fallback>
                <p:oleObj name="Equation" r:id="rId5" imgW="1676400" imgH="6731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2657475"/>
                        <a:ext cx="14890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58"/>
          <p:cNvSpPr txBox="1">
            <a:spLocks noChangeArrowheads="1"/>
          </p:cNvSpPr>
          <p:nvPr/>
        </p:nvSpPr>
        <p:spPr bwMode="auto">
          <a:xfrm>
            <a:off x="971550" y="5326063"/>
            <a:ext cx="6769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说明沿偶极子轴向辐射为零，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垂直于轴向辐射最强。</a:t>
            </a:r>
          </a:p>
        </p:txBody>
      </p:sp>
      <p:sp>
        <p:nvSpPr>
          <p:cNvPr id="23561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平面电磁波的性质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1446213" y="3625850"/>
          <a:ext cx="14954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" name="公式" r:id="rId7" imgW="485699" imgH="66690" progId="Equation.3">
                  <p:embed/>
                </p:oleObj>
              </mc:Choice>
              <mc:Fallback>
                <p:oleObj name="公式" r:id="rId7" imgW="485699" imgH="6669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3625850"/>
                        <a:ext cx="14954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1446213" y="4129088"/>
          <a:ext cx="9334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1" name="公式" r:id="rId9" imgW="295255" imgH="295380" progId="Equation.3">
                  <p:embed/>
                </p:oleObj>
              </mc:Choice>
              <mc:Fallback>
                <p:oleObj name="公式" r:id="rId9" imgW="295255" imgH="2953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4129088"/>
                        <a:ext cx="9334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3246438" y="3625850"/>
          <a:ext cx="19431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2" name="公式" r:id="rId11" imgW="723956" imgH="114210" progId="Equation.3">
                  <p:embed/>
                </p:oleObj>
              </mc:Choice>
              <mc:Fallback>
                <p:oleObj name="公式" r:id="rId11" imgW="723956" imgH="11421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3625850"/>
                        <a:ext cx="19431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3175000" y="4416425"/>
            <a:ext cx="2297113" cy="525463"/>
            <a:chOff x="3441" y="2920"/>
            <a:chExt cx="1317" cy="290"/>
          </a:xfrm>
        </p:grpSpPr>
        <p:graphicFrame>
          <p:nvGraphicFramePr>
            <p:cNvPr id="23567" name="Object 30"/>
            <p:cNvGraphicFramePr>
              <a:graphicFrameLocks noChangeAspect="1"/>
            </p:cNvGraphicFramePr>
            <p:nvPr/>
          </p:nvGraphicFramePr>
          <p:xfrm>
            <a:off x="3441" y="2928"/>
            <a:ext cx="72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3" name="公式" r:id="rId13" imgW="485699" imgH="114210" progId="Equation.3">
                    <p:embed/>
                  </p:oleObj>
                </mc:Choice>
                <mc:Fallback>
                  <p:oleObj name="公式" r:id="rId13" imgW="485699" imgH="11421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1" y="2928"/>
                          <a:ext cx="72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8" name="Text Box 31"/>
            <p:cNvSpPr txBox="1">
              <a:spLocks noChangeArrowheads="1"/>
            </p:cNvSpPr>
            <p:nvPr/>
          </p:nvSpPr>
          <p:spPr bwMode="auto">
            <a:xfrm>
              <a:off x="4192" y="2920"/>
              <a:ext cx="566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最大</a:t>
              </a:r>
            </a:p>
          </p:txBody>
        </p:sp>
      </p:grpSp>
      <p:sp>
        <p:nvSpPr>
          <p:cNvPr id="31" name="AutoShape 32"/>
          <p:cNvSpPr>
            <a:spLocks/>
          </p:cNvSpPr>
          <p:nvPr/>
        </p:nvSpPr>
        <p:spPr bwMode="auto">
          <a:xfrm>
            <a:off x="1087438" y="3768725"/>
            <a:ext cx="288925" cy="863600"/>
          </a:xfrm>
          <a:prstGeom prst="leftBrace">
            <a:avLst>
              <a:gd name="adj1" fmla="val 24908"/>
              <a:gd name="adj2" fmla="val 50000"/>
            </a:avLst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23" grpId="0" autoUpdateAnimBg="0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36525" y="142875"/>
            <a:ext cx="3924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2.4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电磁波的能量</a:t>
            </a: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b="1">
              <a:solidFill>
                <a:srgbClr val="0000CC"/>
              </a:solidFill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790825" y="2578100"/>
          <a:ext cx="19970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0" name="Equation" r:id="rId3" imgW="1714500" imgH="533400" progId="Equation.DSMT4">
                  <p:embed/>
                </p:oleObj>
              </mc:Choice>
              <mc:Fallback>
                <p:oleObj name="Equation" r:id="rId3" imgW="17145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578100"/>
                        <a:ext cx="199707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039938" y="3697288"/>
          <a:ext cx="159543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1" name="Equation" r:id="rId5" imgW="1419278" imgH="266760" progId="Equation.DSMT4">
                  <p:embed/>
                </p:oleObj>
              </mc:Choice>
              <mc:Fallback>
                <p:oleObj name="Equation" r:id="rId5" imgW="1419278" imgH="266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3697288"/>
                        <a:ext cx="159543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5076825" y="4149725"/>
          <a:ext cx="23177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2" name="Equation" r:id="rId7" imgW="2387600" imgH="850900" progId="Equation.DSMT4">
                  <p:embed/>
                </p:oleObj>
              </mc:Choice>
              <mc:Fallback>
                <p:oleObj name="Equation" r:id="rId7" imgW="2387600" imgH="850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149725"/>
                        <a:ext cx="23177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5003800" y="5121275"/>
          <a:ext cx="2543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3" name="Equation" r:id="rId9" imgW="2438400" imgH="812800" progId="Equation.DSMT4">
                  <p:embed/>
                </p:oleObj>
              </mc:Choice>
              <mc:Fallback>
                <p:oleObj name="Equation" r:id="rId9" imgW="2438400" imgH="812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121275"/>
                        <a:ext cx="25431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1871663" y="5808663"/>
          <a:ext cx="14239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4" name="Equation" r:id="rId11" imgW="1231366" imgH="799753" progId="Equation.DSMT4">
                  <p:embed/>
                </p:oleObj>
              </mc:Choice>
              <mc:Fallback>
                <p:oleObj name="Equation" r:id="rId11" imgW="1231366" imgH="79975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5808663"/>
                        <a:ext cx="142398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4262438" y="3748088"/>
          <a:ext cx="13890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5" name="Equation" r:id="rId13" imgW="933579" imgH="247590" progId="Equation.DSMT4">
                  <p:embed/>
                </p:oleObj>
              </mc:Choice>
              <mc:Fallback>
                <p:oleObj name="Equation" r:id="rId13" imgW="933579" imgH="2475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748088"/>
                        <a:ext cx="13890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1258888" y="4113213"/>
          <a:ext cx="3290887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6" name="Equation" r:id="rId15" imgW="3721100" imgH="1066800" progId="Equation.DSMT4">
                  <p:embed/>
                </p:oleObj>
              </mc:Choice>
              <mc:Fallback>
                <p:oleObj name="Equation" r:id="rId15" imgW="3721100" imgH="106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113213"/>
                        <a:ext cx="3290887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1079500" y="5013325"/>
          <a:ext cx="351313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7" name="Equation" r:id="rId17" imgW="3873500" imgH="1066800" progId="Equation.DSMT4">
                  <p:embed/>
                </p:oleObj>
              </mc:Choice>
              <mc:Fallback>
                <p:oleObj name="Equation" r:id="rId17" imgW="3873500" imgH="106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5013325"/>
                        <a:ext cx="3513138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468313" y="3213100"/>
            <a:ext cx="7883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）能流密度矢量（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坡印廷矢量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539750" y="728663"/>
            <a:ext cx="691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）能量密度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449" name="Rectangle 17"/>
          <p:cNvSpPr>
            <a:spLocks noChangeArrowheads="1"/>
          </p:cNvSpPr>
          <p:nvPr/>
        </p:nvSpPr>
        <p:spPr bwMode="auto">
          <a:xfrm>
            <a:off x="1330325" y="2563813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总能量</a:t>
            </a:r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/>
        </p:nvGraphicFramePr>
        <p:xfrm>
          <a:off x="5472113" y="1304925"/>
          <a:ext cx="129698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8" name="Equation" r:id="rId19" imgW="1371600" imgH="673100" progId="Equation.DSMT4">
                  <p:embed/>
                </p:oleObj>
              </mc:Choice>
              <mc:Fallback>
                <p:oleObj name="Equation" r:id="rId19" imgW="1371600" imgH="673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1304925"/>
                        <a:ext cx="1296987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6" name="Object 24"/>
          <p:cNvGraphicFramePr>
            <a:graphicFrameLocks noChangeAspect="1"/>
          </p:cNvGraphicFramePr>
          <p:nvPr/>
        </p:nvGraphicFramePr>
        <p:xfrm>
          <a:off x="3527425" y="1304925"/>
          <a:ext cx="18732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9" name="Equation" r:id="rId21" imgW="1816100" imgH="673100" progId="Equation.DSMT4">
                  <p:embed/>
                </p:oleObj>
              </mc:Choice>
              <mc:Fallback>
                <p:oleObj name="Equation" r:id="rId21" imgW="1816100" imgH="673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1304925"/>
                        <a:ext cx="18732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6840538" y="1304925"/>
          <a:ext cx="10779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0" name="Equation" r:id="rId23" imgW="965200" imgH="673100" progId="Equation.DSMT4">
                  <p:embed/>
                </p:oleObj>
              </mc:Choice>
              <mc:Fallback>
                <p:oleObj name="Equation" r:id="rId23" imgW="965200" imgH="6731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1304925"/>
                        <a:ext cx="10779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29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14</a:t>
            </a:r>
            <a:endParaRPr lang="en-US" altLang="zh-CN" sz="1800"/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400675" y="620713"/>
            <a:ext cx="3484563" cy="619125"/>
            <a:chOff x="5400675" y="620713"/>
            <a:chExt cx="3484563" cy="619918"/>
          </a:xfrm>
        </p:grpSpPr>
        <p:graphicFrame>
          <p:nvGraphicFramePr>
            <p:cNvPr id="24601" name="Object 96"/>
            <p:cNvGraphicFramePr>
              <a:graphicFrameLocks noChangeAspect="1"/>
            </p:cNvGraphicFramePr>
            <p:nvPr/>
          </p:nvGraphicFramePr>
          <p:xfrm>
            <a:off x="8235950" y="628253"/>
            <a:ext cx="649288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1" name="位图图像" r:id="rId25" imgW="743054" imgH="657317" progId="Paint.Picture">
                    <p:embed/>
                  </p:oleObj>
                </mc:Choice>
                <mc:Fallback>
                  <p:oleObj name="位图图像" r:id="rId25" imgW="743054" imgH="657317" progId="Paint.Picture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35950" y="628253"/>
                          <a:ext cx="649288" cy="604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2" name="Object 24"/>
            <p:cNvGraphicFramePr>
              <a:graphicFrameLocks noChangeAspect="1"/>
            </p:cNvGraphicFramePr>
            <p:nvPr/>
          </p:nvGraphicFramePr>
          <p:xfrm>
            <a:off x="5521236" y="793527"/>
            <a:ext cx="104775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2" name="Equation" r:id="rId27" imgW="1016000" imgH="381000" progId="Equation.DSMT4">
                    <p:embed/>
                  </p:oleObj>
                </mc:Choice>
                <mc:Fallback>
                  <p:oleObj name="Equation" r:id="rId27" imgW="1016000" imgH="381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1236" y="793527"/>
                          <a:ext cx="1047750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3" name="文本框 3"/>
            <p:cNvSpPr txBox="1">
              <a:spLocks noChangeArrowheads="1"/>
            </p:cNvSpPr>
            <p:nvPr/>
          </p:nvSpPr>
          <p:spPr bwMode="auto">
            <a:xfrm>
              <a:off x="6460448" y="692299"/>
              <a:ext cx="17315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电位移矢量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5400675" y="620713"/>
              <a:ext cx="2790825" cy="6199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51"/>
          <p:cNvGrpSpPr>
            <a:grpSpLocks/>
          </p:cNvGrpSpPr>
          <p:nvPr/>
        </p:nvGrpSpPr>
        <p:grpSpPr bwMode="auto">
          <a:xfrm>
            <a:off x="6467475" y="2319338"/>
            <a:ext cx="2308225" cy="1447800"/>
            <a:chOff x="4014" y="666"/>
            <a:chExt cx="1454" cy="912"/>
          </a:xfrm>
        </p:grpSpPr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4014" y="666"/>
              <a:ext cx="1454" cy="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24599" name="Object 8"/>
            <p:cNvGraphicFramePr>
              <a:graphicFrameLocks noChangeAspect="1"/>
            </p:cNvGraphicFramePr>
            <p:nvPr/>
          </p:nvGraphicFramePr>
          <p:xfrm>
            <a:off x="4014" y="709"/>
            <a:ext cx="140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3" name="公式" r:id="rId29" imgW="876311" imgH="142830" progId="Equation.3">
                    <p:embed/>
                  </p:oleObj>
                </mc:Choice>
                <mc:Fallback>
                  <p:oleObj name="公式" r:id="rId29" imgW="876311" imgH="14283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709"/>
                          <a:ext cx="140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0" name="Object 9"/>
            <p:cNvGraphicFramePr>
              <a:graphicFrameLocks noChangeAspect="1"/>
            </p:cNvGraphicFramePr>
            <p:nvPr/>
          </p:nvGraphicFramePr>
          <p:xfrm>
            <a:off x="4150" y="1088"/>
            <a:ext cx="1315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74" name="公式" r:id="rId31" imgW="847677" imgH="295380" progId="Equation.3">
                    <p:embed/>
                  </p:oleObj>
                </mc:Choice>
                <mc:Fallback>
                  <p:oleObj name="公式" r:id="rId31" imgW="847677" imgH="2953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088"/>
                          <a:ext cx="1315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81928"/>
              </p:ext>
            </p:extLst>
          </p:nvPr>
        </p:nvGraphicFramePr>
        <p:xfrm>
          <a:off x="1171575" y="1438275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5" name="Equation" r:id="rId33" imgW="2120760" imgH="431640" progId="Equation.DSMT4">
                  <p:embed/>
                </p:oleObj>
              </mc:Choice>
              <mc:Fallback>
                <p:oleObj name="Equation" r:id="rId33" imgW="2120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71575" y="1438275"/>
                        <a:ext cx="2120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128473"/>
              </p:ext>
            </p:extLst>
          </p:nvPr>
        </p:nvGraphicFramePr>
        <p:xfrm>
          <a:off x="1470025" y="1919124"/>
          <a:ext cx="3797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6" name="Equation" r:id="rId35" imgW="3797280" imgH="672840" progId="Equation.DSMT4">
                  <p:embed/>
                </p:oleObj>
              </mc:Choice>
              <mc:Fallback>
                <p:oleObj name="Equation" r:id="rId35" imgW="379728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470025" y="1919124"/>
                        <a:ext cx="3797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46" grpId="0" autoUpdateAnimBg="0"/>
      <p:bldP spid="18448" grpId="0" autoUpdateAnimBg="0"/>
      <p:bldP spid="1844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1077913" y="904875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平均能流密度 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3265488" y="4051300"/>
          <a:ext cx="14573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7" name="Equation" r:id="rId3" imgW="1016000" imgH="469900" progId="Equation.DSMT4">
                  <p:embed/>
                </p:oleObj>
              </mc:Choice>
              <mc:Fallback>
                <p:oleObj name="Equation" r:id="rId3" imgW="1016000" imgH="469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88" y="4051300"/>
                        <a:ext cx="14573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12"/>
          <p:cNvGraphicFramePr>
            <a:graphicFrameLocks noChangeAspect="1"/>
          </p:cNvGraphicFramePr>
          <p:nvPr/>
        </p:nvGraphicFramePr>
        <p:xfrm>
          <a:off x="3065463" y="4932363"/>
          <a:ext cx="963612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8" name="Equation" r:id="rId5" imgW="508000" imgH="469900" progId="Equation.DSMT4">
                  <p:embed/>
                </p:oleObj>
              </mc:Choice>
              <mc:Fallback>
                <p:oleObj name="Equation" r:id="rId5" imgW="508000" imgH="469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4932363"/>
                        <a:ext cx="963612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1725613" y="4046538"/>
            <a:ext cx="150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显然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3611563" y="5067300"/>
          <a:ext cx="14112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9" name="Equation" r:id="rId7" imgW="710891" imgH="304668" progId="Equation.DSMT4">
                  <p:embed/>
                </p:oleObj>
              </mc:Choice>
              <mc:Fallback>
                <p:oleObj name="Equation" r:id="rId7" imgW="710891" imgH="30466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5067300"/>
                        <a:ext cx="14112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5184775" y="4941888"/>
          <a:ext cx="10064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0" name="Equation" r:id="rId9" imgW="748975" imgH="495085" progId="Equation.DSMT4">
                  <p:embed/>
                </p:oleObj>
              </mc:Choice>
              <mc:Fallback>
                <p:oleObj name="Equation" r:id="rId9" imgW="748975" imgH="4950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4941888"/>
                        <a:ext cx="100647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076188"/>
              </p:ext>
            </p:extLst>
          </p:nvPr>
        </p:nvGraphicFramePr>
        <p:xfrm>
          <a:off x="2522538" y="1552575"/>
          <a:ext cx="45958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1" name="Equation" r:id="rId11" imgW="4457520" imgH="672840" progId="Equation.DSMT4">
                  <p:embed/>
                </p:oleObj>
              </mc:Choice>
              <mc:Fallback>
                <p:oleObj name="Equation" r:id="rId11" imgW="4457520" imgH="6728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1552575"/>
                        <a:ext cx="459581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Text Box 18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15</a:t>
            </a:r>
            <a:endParaRPr lang="en-US" altLang="zh-CN" sz="1800"/>
          </a:p>
        </p:txBody>
      </p:sp>
      <p:grpSp>
        <p:nvGrpSpPr>
          <p:cNvPr id="2" name="组合 11"/>
          <p:cNvGrpSpPr>
            <a:grpSpLocks/>
          </p:cNvGrpSpPr>
          <p:nvPr/>
        </p:nvGrpSpPr>
        <p:grpSpPr bwMode="auto">
          <a:xfrm>
            <a:off x="2849563" y="2452688"/>
            <a:ext cx="3708400" cy="1439862"/>
            <a:chOff x="2447764" y="1952836"/>
            <a:chExt cx="3708412" cy="1440160"/>
          </a:xfrm>
        </p:grpSpPr>
        <p:graphicFrame>
          <p:nvGraphicFramePr>
            <p:cNvPr id="25611" name="Object 8"/>
            <p:cNvGraphicFramePr>
              <a:graphicFrameLocks noChangeAspect="1"/>
            </p:cNvGraphicFramePr>
            <p:nvPr/>
          </p:nvGraphicFramePr>
          <p:xfrm>
            <a:off x="2538251" y="2043342"/>
            <a:ext cx="3455999" cy="1278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02" name="Equation" r:id="rId13" imgW="2562211" imgH="781110" progId="Equation.DSMT4">
                    <p:embed/>
                  </p:oleObj>
                </mc:Choice>
                <mc:Fallback>
                  <p:oleObj name="Equation" r:id="rId13" imgW="2562211" imgH="78111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8251" y="2043342"/>
                          <a:ext cx="3455999" cy="1278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圆角矩形 10"/>
            <p:cNvSpPr/>
            <p:nvPr/>
          </p:nvSpPr>
          <p:spPr>
            <a:xfrm>
              <a:off x="2447764" y="1952836"/>
              <a:ext cx="3708412" cy="144016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8" grpId="0" autoUpdateAnimBg="0"/>
      <p:bldP spid="2254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已知真空中电磁波的电场表达式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301750" y="957263"/>
          <a:ext cx="55340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9" name="Equation" r:id="rId3" imgW="5638800" imgH="736600" progId="Equation.DSMT4">
                  <p:embed/>
                </p:oleObj>
              </mc:Choice>
              <mc:Fallback>
                <p:oleObj name="Equation" r:id="rId3" imgW="56388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957263"/>
                        <a:ext cx="55340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331913" y="1757363"/>
          <a:ext cx="10080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0" name="Equation" r:id="rId5" imgW="990170" imgH="482391" progId="Equation.DSMT4">
                  <p:embed/>
                </p:oleObj>
              </mc:Choice>
              <mc:Fallback>
                <p:oleObj name="Equation" r:id="rId5" imgW="990170" imgH="4823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57363"/>
                        <a:ext cx="10080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700338" y="1768475"/>
          <a:ext cx="9715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1" name="Equation" r:id="rId7" imgW="952500" imgH="457200" progId="Equation.DSMT4">
                  <p:embed/>
                </p:oleObj>
              </mc:Choice>
              <mc:Fallback>
                <p:oleObj name="Equation" r:id="rId7" imgW="9525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768475"/>
                        <a:ext cx="9715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39750" y="2420938"/>
            <a:ext cx="8424863" cy="1135062"/>
            <a:chOff x="363" y="1545"/>
            <a:chExt cx="5307" cy="715"/>
          </a:xfrm>
        </p:grpSpPr>
        <p:sp>
          <p:nvSpPr>
            <p:cNvPr id="26655" name="Text Box 7"/>
            <p:cNvSpPr txBox="1">
              <a:spLocks noChangeArrowheads="1"/>
            </p:cNvSpPr>
            <p:nvPr/>
          </p:nvSpPr>
          <p:spPr bwMode="auto">
            <a:xfrm>
              <a:off x="363" y="1548"/>
              <a:ext cx="53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求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: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1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）    的振幅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频率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波长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波速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传播方向？</a:t>
              </a:r>
            </a:p>
          </p:txBody>
        </p:sp>
        <p:graphicFrame>
          <p:nvGraphicFramePr>
            <p:cNvPr id="26656" name="Object 8"/>
            <p:cNvGraphicFramePr>
              <a:graphicFrameLocks noChangeAspect="1"/>
            </p:cNvGraphicFramePr>
            <p:nvPr/>
          </p:nvGraphicFramePr>
          <p:xfrm>
            <a:off x="1205" y="1545"/>
            <a:ext cx="402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2" name="Equation" r:id="rId9" imgW="393529" imgH="482391" progId="Equation.DSMT4">
                    <p:embed/>
                  </p:oleObj>
                </mc:Choice>
                <mc:Fallback>
                  <p:oleObj name="Equation" r:id="rId9" imgW="393529" imgH="482391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5" y="1545"/>
                          <a:ext cx="402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7" name="Text Box 10"/>
            <p:cNvSpPr txBox="1">
              <a:spLocks noChangeArrowheads="1"/>
            </p:cNvSpPr>
            <p:nvPr/>
          </p:nvSpPr>
          <p:spPr bwMode="auto">
            <a:xfrm>
              <a:off x="657" y="1933"/>
              <a:ext cx="29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（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2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）    的表达式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?</a:t>
              </a:r>
            </a:p>
          </p:txBody>
        </p:sp>
        <p:graphicFrame>
          <p:nvGraphicFramePr>
            <p:cNvPr id="26658" name="Object 11"/>
            <p:cNvGraphicFramePr>
              <a:graphicFrameLocks noChangeAspect="1"/>
            </p:cNvGraphicFramePr>
            <p:nvPr/>
          </p:nvGraphicFramePr>
          <p:xfrm>
            <a:off x="1253" y="1953"/>
            <a:ext cx="24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3" name="Equation" r:id="rId11" imgW="469696" imgH="482391" progId="Equation.DSMT4">
                    <p:embed/>
                  </p:oleObj>
                </mc:Choice>
                <mc:Fallback>
                  <p:oleObj name="Equation" r:id="rId11" imgW="469696" imgH="48239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3" y="1953"/>
                          <a:ext cx="24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611188" y="371633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解：（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9469" name="Object 13"/>
          <p:cNvGraphicFramePr>
            <a:graphicFrameLocks noChangeAspect="1"/>
          </p:cNvGraphicFramePr>
          <p:nvPr/>
        </p:nvGraphicFramePr>
        <p:xfrm>
          <a:off x="2465388" y="3727450"/>
          <a:ext cx="86836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4" name="Equation" r:id="rId13" imgW="1002865" imgH="545863" progId="Equation.DSMT4">
                  <p:embed/>
                </p:oleObj>
              </mc:Choice>
              <mc:Fallback>
                <p:oleObj name="Equation" r:id="rId13" imgW="1002865" imgH="54586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3727450"/>
                        <a:ext cx="868362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2687638" y="4459288"/>
          <a:ext cx="7318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5" name="Equation" r:id="rId15" imgW="647700" imgH="279400" progId="Equation.DSMT4">
                  <p:embed/>
                </p:oleObj>
              </mc:Choice>
              <mc:Fallback>
                <p:oleObj name="Equation" r:id="rId15" imgW="647700" imgH="279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4459288"/>
                        <a:ext cx="731837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/>
          <p:cNvGraphicFramePr>
            <a:graphicFrameLocks noChangeAspect="1"/>
          </p:cNvGraphicFramePr>
          <p:nvPr/>
        </p:nvGraphicFramePr>
        <p:xfrm>
          <a:off x="2671763" y="5033963"/>
          <a:ext cx="727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6" name="Equation" r:id="rId17" imgW="647700" imgH="279400" progId="Equation.DSMT4">
                  <p:embed/>
                </p:oleObj>
              </mc:Choice>
              <mc:Fallback>
                <p:oleObj name="Equation" r:id="rId17" imgW="647700" imgH="279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5033963"/>
                        <a:ext cx="7270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6"/>
          <p:cNvGraphicFramePr>
            <a:graphicFrameLocks noChangeAspect="1"/>
          </p:cNvGraphicFramePr>
          <p:nvPr/>
        </p:nvGraphicFramePr>
        <p:xfrm>
          <a:off x="2605088" y="5265738"/>
          <a:ext cx="131127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77" name="Equation" r:id="rId19" imgW="1485900" imgH="1066800" progId="Equation.DSMT4">
                  <p:embed/>
                </p:oleObj>
              </mc:Choice>
              <mc:Fallback>
                <p:oleObj name="Equation" r:id="rId19" imgW="1485900" imgH="1066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265738"/>
                        <a:ext cx="1311275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3995738" y="6129338"/>
            <a:ext cx="4319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沿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正向传播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7188200" y="549275"/>
            <a:ext cx="1600200" cy="1692275"/>
            <a:chOff x="4416" y="144"/>
            <a:chExt cx="1008" cy="1066"/>
          </a:xfrm>
        </p:grpSpPr>
        <p:sp>
          <p:nvSpPr>
            <p:cNvPr id="26646" name="Rectangle 20"/>
            <p:cNvSpPr>
              <a:spLocks noChangeArrowheads="1"/>
            </p:cNvSpPr>
            <p:nvPr/>
          </p:nvSpPr>
          <p:spPr bwMode="auto">
            <a:xfrm>
              <a:off x="4512" y="144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6647" name="Line 21"/>
            <p:cNvSpPr>
              <a:spLocks noChangeShapeType="1"/>
            </p:cNvSpPr>
            <p:nvPr/>
          </p:nvSpPr>
          <p:spPr bwMode="auto">
            <a:xfrm>
              <a:off x="4704" y="768"/>
              <a:ext cx="720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Line 22"/>
            <p:cNvSpPr>
              <a:spLocks noChangeShapeType="1"/>
            </p:cNvSpPr>
            <p:nvPr/>
          </p:nvSpPr>
          <p:spPr bwMode="auto">
            <a:xfrm flipV="1">
              <a:off x="4704" y="19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Line 23"/>
            <p:cNvSpPr>
              <a:spLocks noChangeShapeType="1"/>
            </p:cNvSpPr>
            <p:nvPr/>
          </p:nvSpPr>
          <p:spPr bwMode="auto">
            <a:xfrm flipH="1">
              <a:off x="4416" y="768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0" name="Rectangle 24"/>
            <p:cNvSpPr>
              <a:spLocks noChangeArrowheads="1"/>
            </p:cNvSpPr>
            <p:nvPr/>
          </p:nvSpPr>
          <p:spPr bwMode="auto">
            <a:xfrm>
              <a:off x="5280" y="720"/>
              <a:ext cx="8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6651" name="Line 25"/>
            <p:cNvSpPr>
              <a:spLocks noChangeShapeType="1"/>
            </p:cNvSpPr>
            <p:nvPr/>
          </p:nvSpPr>
          <p:spPr bwMode="auto">
            <a:xfrm flipV="1">
              <a:off x="4704" y="480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2" name="Rectangle 26"/>
            <p:cNvSpPr>
              <a:spLocks noChangeArrowheads="1"/>
            </p:cNvSpPr>
            <p:nvPr/>
          </p:nvSpPr>
          <p:spPr bwMode="auto">
            <a:xfrm>
              <a:off x="4512" y="472"/>
              <a:ext cx="12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 b="1" i="1">
                  <a:latin typeface="Times New Roman" panose="02020603050405020304" pitchFamily="18" charset="0"/>
                </a:rPr>
                <a:t>E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6653" name="Rectangle 27"/>
            <p:cNvSpPr>
              <a:spLocks noChangeArrowheads="1"/>
            </p:cNvSpPr>
            <p:nvPr/>
          </p:nvSpPr>
          <p:spPr bwMode="auto">
            <a:xfrm>
              <a:off x="4551" y="336"/>
              <a:ext cx="7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>
                  <a:latin typeface="MT Extra" panose="05050102010205020202" pitchFamily="18" charset="2"/>
                </a:rPr>
                <a:t>r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4" name="Object 28"/>
            <p:cNvGraphicFramePr>
              <a:graphicFrameLocks noChangeAspect="1"/>
            </p:cNvGraphicFramePr>
            <p:nvPr/>
          </p:nvGraphicFramePr>
          <p:xfrm>
            <a:off x="4439" y="983"/>
            <a:ext cx="21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8" name="Equation" r:id="rId21" imgW="161810" imgH="228690" progId="Equation.DSMT4">
                    <p:embed/>
                  </p:oleObj>
                </mc:Choice>
                <mc:Fallback>
                  <p:oleObj name="Equation" r:id="rId21" imgW="161810" imgH="22869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983"/>
                          <a:ext cx="21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7797800" y="842963"/>
            <a:ext cx="762000" cy="468312"/>
            <a:chOff x="4704" y="1961"/>
            <a:chExt cx="480" cy="295"/>
          </a:xfrm>
        </p:grpSpPr>
        <p:sp>
          <p:nvSpPr>
            <p:cNvPr id="26644" name="Line 30"/>
            <p:cNvSpPr>
              <a:spLocks noChangeShapeType="1"/>
            </p:cNvSpPr>
            <p:nvPr/>
          </p:nvSpPr>
          <p:spPr bwMode="auto">
            <a:xfrm>
              <a:off x="4704" y="225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6645" name="Object 31"/>
            <p:cNvGraphicFramePr>
              <a:graphicFrameLocks noChangeAspect="1"/>
            </p:cNvGraphicFramePr>
            <p:nvPr/>
          </p:nvGraphicFramePr>
          <p:xfrm>
            <a:off x="4853" y="1961"/>
            <a:ext cx="19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79" name="Equation" r:id="rId23" imgW="142900" imgH="257310" progId="Equation.DSMT4">
                    <p:embed/>
                  </p:oleObj>
                </mc:Choice>
                <mc:Fallback>
                  <p:oleObj name="Equation" r:id="rId23" imgW="142900" imgH="25731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961"/>
                          <a:ext cx="19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88" name="Object 32"/>
          <p:cNvGraphicFramePr>
            <a:graphicFrameLocks noChangeAspect="1"/>
          </p:cNvGraphicFramePr>
          <p:nvPr/>
        </p:nvGraphicFramePr>
        <p:xfrm>
          <a:off x="3386138" y="3827463"/>
          <a:ext cx="125412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0" name="Equation" r:id="rId25" imgW="1396394" imgH="317362" progId="Equation.DSMT4">
                  <p:embed/>
                </p:oleObj>
              </mc:Choice>
              <mc:Fallback>
                <p:oleObj name="Equation" r:id="rId25" imgW="1396394" imgH="31736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3827463"/>
                        <a:ext cx="1254125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9" name="Object 33"/>
          <p:cNvGraphicFramePr>
            <a:graphicFrameLocks noChangeAspect="1"/>
          </p:cNvGraphicFramePr>
          <p:nvPr/>
        </p:nvGraphicFramePr>
        <p:xfrm>
          <a:off x="3527425" y="4329113"/>
          <a:ext cx="10556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1" name="Equation" r:id="rId27" imgW="952087" imgH="393529" progId="Equation.DSMT4">
                  <p:embed/>
                </p:oleObj>
              </mc:Choice>
              <mc:Fallback>
                <p:oleObj name="Equation" r:id="rId27" imgW="952087" imgH="39352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329113"/>
                        <a:ext cx="10556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90" name="Object 34"/>
          <p:cNvGraphicFramePr>
            <a:graphicFrameLocks noChangeAspect="1"/>
          </p:cNvGraphicFramePr>
          <p:nvPr/>
        </p:nvGraphicFramePr>
        <p:xfrm>
          <a:off x="3563938" y="4905375"/>
          <a:ext cx="22542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2" name="Equation" r:id="rId29" imgW="2108200" imgH="393700" progId="Equation.DSMT4">
                  <p:embed/>
                </p:oleObj>
              </mc:Choice>
              <mc:Fallback>
                <p:oleObj name="Equation" r:id="rId29" imgW="2108200" imgH="3937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905375"/>
                        <a:ext cx="22542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5"/>
          <p:cNvGraphicFramePr>
            <a:graphicFrameLocks noChangeAspect="1"/>
          </p:cNvGraphicFramePr>
          <p:nvPr/>
        </p:nvGraphicFramePr>
        <p:xfrm>
          <a:off x="3995738" y="5614988"/>
          <a:ext cx="5413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83" name="Equation" r:id="rId31" imgW="507780" imgH="317362" progId="Equation.DSMT4">
                  <p:embed/>
                </p:oleObj>
              </mc:Choice>
              <mc:Fallback>
                <p:oleObj name="Equation" r:id="rId31" imgW="507780" imgH="31736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614988"/>
                        <a:ext cx="54133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Text Box 38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16</a:t>
            </a:r>
            <a:endParaRPr lang="en-US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35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68" grpId="0" autoUpdateAnimBg="0"/>
      <p:bldP spid="1947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0"/>
          <p:cNvGrpSpPr>
            <a:grpSpLocks/>
          </p:cNvGrpSpPr>
          <p:nvPr/>
        </p:nvGrpSpPr>
        <p:grpSpPr bwMode="auto">
          <a:xfrm>
            <a:off x="6137275" y="4876800"/>
            <a:ext cx="2287588" cy="1555750"/>
            <a:chOff x="6137684" y="4876576"/>
            <a:chExt cx="2287153" cy="1555750"/>
          </a:xfrm>
        </p:grpSpPr>
        <p:sp>
          <p:nvSpPr>
            <p:cNvPr id="27692" name="Line 3"/>
            <p:cNvSpPr>
              <a:spLocks noChangeShapeType="1"/>
            </p:cNvSpPr>
            <p:nvPr/>
          </p:nvSpPr>
          <p:spPr bwMode="auto">
            <a:xfrm>
              <a:off x="7128284" y="5805264"/>
              <a:ext cx="1295400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3" name="Line 4"/>
            <p:cNvSpPr>
              <a:spLocks noChangeShapeType="1"/>
            </p:cNvSpPr>
            <p:nvPr/>
          </p:nvSpPr>
          <p:spPr bwMode="auto">
            <a:xfrm flipV="1">
              <a:off x="7128284" y="4967064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4" name="Line 5"/>
            <p:cNvSpPr>
              <a:spLocks noChangeShapeType="1"/>
            </p:cNvSpPr>
            <p:nvPr/>
          </p:nvSpPr>
          <p:spPr bwMode="auto">
            <a:xfrm flipH="1">
              <a:off x="6594884" y="5348064"/>
              <a:ext cx="990600" cy="99060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5" name="Line 6"/>
            <p:cNvSpPr>
              <a:spLocks noChangeShapeType="1"/>
            </p:cNvSpPr>
            <p:nvPr/>
          </p:nvSpPr>
          <p:spPr bwMode="auto">
            <a:xfrm flipH="1">
              <a:off x="6137684" y="557666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7696" name="Object 7"/>
            <p:cNvGraphicFramePr>
              <a:graphicFrameLocks noChangeAspect="1"/>
            </p:cNvGraphicFramePr>
            <p:nvPr/>
          </p:nvGraphicFramePr>
          <p:xfrm>
            <a:off x="6794909" y="4876576"/>
            <a:ext cx="304800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80" name="Equation" r:id="rId3" imgW="123721" imgH="133380" progId="Equation.DSMT4">
                    <p:embed/>
                  </p:oleObj>
                </mc:Choice>
                <mc:Fallback>
                  <p:oleObj name="Equation" r:id="rId3" imgW="123721" imgH="1333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4909" y="4876576"/>
                          <a:ext cx="304800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7" name="Object 8"/>
            <p:cNvGraphicFramePr>
              <a:graphicFrameLocks noChangeAspect="1"/>
            </p:cNvGraphicFramePr>
            <p:nvPr/>
          </p:nvGraphicFramePr>
          <p:xfrm>
            <a:off x="6302784" y="6059264"/>
            <a:ext cx="319088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81" name="Equation" r:id="rId5" imgW="152355" imgH="228690" progId="Equation.DSMT4">
                    <p:embed/>
                  </p:oleObj>
                </mc:Choice>
                <mc:Fallback>
                  <p:oleObj name="Equation" r:id="rId5" imgW="152355" imgH="22869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2784" y="6059264"/>
                          <a:ext cx="319088" cy="373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8" name="Object 9"/>
            <p:cNvGraphicFramePr>
              <a:graphicFrameLocks noChangeAspect="1"/>
            </p:cNvGraphicFramePr>
            <p:nvPr/>
          </p:nvGraphicFramePr>
          <p:xfrm>
            <a:off x="8143847" y="5844951"/>
            <a:ext cx="280990" cy="285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82" name="Equation" r:id="rId7" imgW="114266" imgH="114210" progId="Equation.DSMT4">
                    <p:embed/>
                  </p:oleObj>
                </mc:Choice>
                <mc:Fallback>
                  <p:oleObj name="Equation" r:id="rId7" imgW="114266" imgH="11421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3847" y="5844951"/>
                          <a:ext cx="280990" cy="285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9" name="Object 10"/>
            <p:cNvGraphicFramePr>
              <a:graphicFrameLocks noChangeAspect="1"/>
            </p:cNvGraphicFramePr>
            <p:nvPr/>
          </p:nvGraphicFramePr>
          <p:xfrm>
            <a:off x="6331359" y="5067077"/>
            <a:ext cx="254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83" name="Equation" r:id="rId9" imgW="279279" imgH="393529" progId="Equation.DSMT4">
                    <p:embed/>
                  </p:oleObj>
                </mc:Choice>
                <mc:Fallback>
                  <p:oleObj name="Equation" r:id="rId9" imgW="279279" imgH="39352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1359" y="5067077"/>
                          <a:ext cx="254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3998913" y="909637"/>
            <a:ext cx="3432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沿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轴振动    </a:t>
            </a:r>
          </a:p>
        </p:txBody>
      </p:sp>
      <p:graphicFrame>
        <p:nvGraphicFramePr>
          <p:cNvPr id="204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378314"/>
              </p:ext>
            </p:extLst>
          </p:nvPr>
        </p:nvGraphicFramePr>
        <p:xfrm>
          <a:off x="3677444" y="909637"/>
          <a:ext cx="6778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4" name="Equation" r:id="rId11" imgW="672808" imgH="393529" progId="Equation.DSMT4">
                  <p:embed/>
                </p:oleObj>
              </mc:Choice>
              <mc:Fallback>
                <p:oleObj name="Equation" r:id="rId11" imgW="672808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444" y="909637"/>
                        <a:ext cx="6778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100951"/>
              </p:ext>
            </p:extLst>
          </p:nvPr>
        </p:nvGraphicFramePr>
        <p:xfrm>
          <a:off x="1063625" y="938213"/>
          <a:ext cx="21939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5" name="Equation" r:id="rId13" imgW="1968480" imgH="406080" progId="Equation.DSMT4">
                  <p:embed/>
                </p:oleObj>
              </mc:Choice>
              <mc:Fallback>
                <p:oleObj name="Equation" r:id="rId13" imgW="1968480" imgH="4060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938213"/>
                        <a:ext cx="21939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876350" y="1553415"/>
            <a:ext cx="9635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并且</a:t>
            </a:r>
          </a:p>
        </p:txBody>
      </p:sp>
      <p:graphicFrame>
        <p:nvGraphicFramePr>
          <p:cNvPr id="204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689661"/>
              </p:ext>
            </p:extLst>
          </p:nvPr>
        </p:nvGraphicFramePr>
        <p:xfrm>
          <a:off x="1808213" y="1532501"/>
          <a:ext cx="11207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6" name="Equation" r:id="rId15" imgW="1028520" imgH="482400" progId="Equation.DSMT4">
                  <p:embed/>
                </p:oleObj>
              </mc:Choice>
              <mc:Fallback>
                <p:oleObj name="Equation" r:id="rId15" imgW="1028520" imgH="482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213" y="1532501"/>
                        <a:ext cx="11207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02511"/>
              </p:ext>
            </p:extLst>
          </p:nvPr>
        </p:nvGraphicFramePr>
        <p:xfrm>
          <a:off x="6167114" y="968374"/>
          <a:ext cx="16208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7" name="Equation" r:id="rId17" imgW="1612800" imgH="457200" progId="Equation.DSMT4">
                  <p:embed/>
                </p:oleObj>
              </mc:Choice>
              <mc:Fallback>
                <p:oleObj name="Equation" r:id="rId17" imgW="1612800" imgH="457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114" y="968374"/>
                        <a:ext cx="16208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755650" y="4113213"/>
            <a:ext cx="77406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讨论：若波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沿</a:t>
            </a: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反向传播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，方程如何？</a:t>
            </a:r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 flipV="1">
            <a:off x="7127875" y="5341938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40209"/>
              </p:ext>
            </p:extLst>
          </p:nvPr>
        </p:nvGraphicFramePr>
        <p:xfrm>
          <a:off x="1216025" y="4689475"/>
          <a:ext cx="42354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8" name="Equation" r:id="rId19" imgW="3466800" imgH="698400" progId="Equation.DSMT4">
                  <p:embed/>
                </p:oleObj>
              </mc:Choice>
              <mc:Fallback>
                <p:oleObj name="Equation" r:id="rId19" imgW="3466800" imgH="698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4689475"/>
                        <a:ext cx="42354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748022"/>
              </p:ext>
            </p:extLst>
          </p:nvPr>
        </p:nvGraphicFramePr>
        <p:xfrm>
          <a:off x="1193800" y="5589588"/>
          <a:ext cx="4318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89" name="Equation" r:id="rId21" imgW="3949560" imgH="698400" progId="Equation.DSMT4">
                  <p:embed/>
                </p:oleObj>
              </mc:Choice>
              <mc:Fallback>
                <p:oleObj name="Equation" r:id="rId21" imgW="3949560" imgH="698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5589588"/>
                        <a:ext cx="43180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3"/>
          <p:cNvSpPr>
            <a:spLocks noChangeShapeType="1"/>
          </p:cNvSpPr>
          <p:nvPr/>
        </p:nvSpPr>
        <p:spPr bwMode="auto">
          <a:xfrm>
            <a:off x="2773363" y="6273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24"/>
          <p:cNvGraphicFramePr>
            <a:graphicFrameLocks noChangeAspect="1"/>
          </p:cNvGraphicFramePr>
          <p:nvPr/>
        </p:nvGraphicFramePr>
        <p:xfrm>
          <a:off x="6796088" y="5229225"/>
          <a:ext cx="2603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0" name="Equation" r:id="rId23" imgW="355446" imgH="482391" progId="Equation.DSMT4">
                  <p:embed/>
                </p:oleObj>
              </mc:Choice>
              <mc:Fallback>
                <p:oleObj name="Equation" r:id="rId23" imgW="355446" imgH="48239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088" y="5229225"/>
                        <a:ext cx="2603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5" name="Object 25"/>
          <p:cNvGraphicFramePr>
            <a:graphicFrameLocks noChangeAspect="1"/>
          </p:cNvGraphicFramePr>
          <p:nvPr/>
        </p:nvGraphicFramePr>
        <p:xfrm>
          <a:off x="7596188" y="5164138"/>
          <a:ext cx="2921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1" name="Equation" r:id="rId25" imgW="431613" imgH="482391" progId="Equation.DSMT4">
                  <p:embed/>
                </p:oleObj>
              </mc:Choice>
              <mc:Fallback>
                <p:oleObj name="Equation" r:id="rId25" imgW="431613" imgH="48239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5164138"/>
                        <a:ext cx="2921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1800225" y="3141663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2576513" y="5408613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82401"/>
              </p:ext>
            </p:extLst>
          </p:nvPr>
        </p:nvGraphicFramePr>
        <p:xfrm>
          <a:off x="935038" y="2166938"/>
          <a:ext cx="54006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2" name="Equation" r:id="rId27" imgW="5384520" imgH="927000" progId="Equation.DSMT4">
                  <p:embed/>
                </p:oleObj>
              </mc:Choice>
              <mc:Fallback>
                <p:oleObj name="Equation" r:id="rId27" imgW="5384520" imgH="9270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2166938"/>
                        <a:ext cx="54006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607957"/>
              </p:ext>
            </p:extLst>
          </p:nvPr>
        </p:nvGraphicFramePr>
        <p:xfrm>
          <a:off x="1476375" y="3357563"/>
          <a:ext cx="59626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3" name="Equation" r:id="rId29" imgW="6324480" imgH="736560" progId="Equation.DSMT4">
                  <p:embed/>
                </p:oleObj>
              </mc:Choice>
              <mc:Fallback>
                <p:oleObj name="Equation" r:id="rId29" imgW="6324480" imgH="73656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357563"/>
                        <a:ext cx="59626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4" name="Line 34"/>
          <p:cNvSpPr>
            <a:spLocks noChangeShapeType="1"/>
          </p:cNvSpPr>
          <p:nvPr/>
        </p:nvSpPr>
        <p:spPr bwMode="auto">
          <a:xfrm flipH="1">
            <a:off x="7802563" y="2814787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1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534431"/>
              </p:ext>
            </p:extLst>
          </p:nvPr>
        </p:nvGraphicFramePr>
        <p:xfrm>
          <a:off x="7507288" y="2921149"/>
          <a:ext cx="3048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4" name="Equation" r:id="rId31" imgW="285801" imgH="342900" progId="Equation.DSMT4">
                  <p:embed/>
                </p:oleObj>
              </mc:Choice>
              <mc:Fallback>
                <p:oleObj name="Equation" r:id="rId31" imgW="285801" imgH="3429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288" y="2921149"/>
                        <a:ext cx="3048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36"/>
          <p:cNvGrpSpPr>
            <a:grpSpLocks/>
          </p:cNvGrpSpPr>
          <p:nvPr/>
        </p:nvGrpSpPr>
        <p:grpSpPr bwMode="auto">
          <a:xfrm>
            <a:off x="6723063" y="1921024"/>
            <a:ext cx="2020887" cy="1509713"/>
            <a:chOff x="4442" y="672"/>
            <a:chExt cx="1273" cy="951"/>
          </a:xfrm>
        </p:grpSpPr>
        <p:grpSp>
          <p:nvGrpSpPr>
            <p:cNvPr id="27679" name="Group 37"/>
            <p:cNvGrpSpPr>
              <a:grpSpLocks/>
            </p:cNvGrpSpPr>
            <p:nvPr/>
          </p:nvGrpSpPr>
          <p:grpSpPr bwMode="auto">
            <a:xfrm>
              <a:off x="4608" y="672"/>
              <a:ext cx="1107" cy="864"/>
              <a:chOff x="4416" y="192"/>
              <a:chExt cx="1107" cy="864"/>
            </a:xfrm>
          </p:grpSpPr>
          <p:sp>
            <p:nvSpPr>
              <p:cNvPr id="27681" name="Rectangle 38"/>
              <p:cNvSpPr>
                <a:spLocks noChangeArrowheads="1"/>
              </p:cNvSpPr>
              <p:nvPr/>
            </p:nvSpPr>
            <p:spPr bwMode="auto">
              <a:xfrm>
                <a:off x="4719" y="257"/>
                <a:ext cx="1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 dirty="0">
                    <a:latin typeface="Times New Roman" panose="02020603050405020304" pitchFamily="18" charset="0"/>
                  </a:rPr>
                  <a:t>x</a:t>
                </a:r>
                <a:endParaRPr kumimoji="1"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2" name="Line 39"/>
              <p:cNvSpPr>
                <a:spLocks noChangeShapeType="1"/>
              </p:cNvSpPr>
              <p:nvPr/>
            </p:nvSpPr>
            <p:spPr bwMode="auto">
              <a:xfrm>
                <a:off x="4704" y="768"/>
                <a:ext cx="720" cy="0"/>
              </a:xfrm>
              <a:prstGeom prst="line">
                <a:avLst/>
              </a:prstGeom>
              <a:noFill/>
              <a:ln w="381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Line 40"/>
              <p:cNvSpPr>
                <a:spLocks noChangeShapeType="1"/>
              </p:cNvSpPr>
              <p:nvPr/>
            </p:nvSpPr>
            <p:spPr bwMode="auto">
              <a:xfrm flipV="1">
                <a:off x="4704" y="1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Line 41"/>
              <p:cNvSpPr>
                <a:spLocks noChangeShapeType="1"/>
              </p:cNvSpPr>
              <p:nvPr/>
            </p:nvSpPr>
            <p:spPr bwMode="auto">
              <a:xfrm flipH="1">
                <a:off x="4416" y="768"/>
                <a:ext cx="288" cy="28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Rectangle 42"/>
              <p:cNvSpPr>
                <a:spLocks noChangeArrowheads="1"/>
              </p:cNvSpPr>
              <p:nvPr/>
            </p:nvSpPr>
            <p:spPr bwMode="auto">
              <a:xfrm>
                <a:off x="5420" y="668"/>
                <a:ext cx="10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300" b="1" i="1">
                    <a:latin typeface="Times New Roman" panose="02020603050405020304" pitchFamily="18" charset="0"/>
                  </a:rPr>
                  <a:t>z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6" name="Line 43"/>
              <p:cNvSpPr>
                <a:spLocks noChangeShapeType="1"/>
              </p:cNvSpPr>
              <p:nvPr/>
            </p:nvSpPr>
            <p:spPr bwMode="auto">
              <a:xfrm flipV="1">
                <a:off x="4704" y="480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Rectangle 44"/>
              <p:cNvSpPr>
                <a:spLocks noChangeArrowheads="1"/>
              </p:cNvSpPr>
              <p:nvPr/>
            </p:nvSpPr>
            <p:spPr bwMode="auto">
              <a:xfrm>
                <a:off x="4512" y="472"/>
                <a:ext cx="12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 b="1" i="1">
                    <a:latin typeface="Times New Roman" panose="02020603050405020304" pitchFamily="18" charset="0"/>
                  </a:rPr>
                  <a:t>E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8" name="Rectangle 45"/>
              <p:cNvSpPr>
                <a:spLocks noChangeArrowheads="1"/>
              </p:cNvSpPr>
              <p:nvPr/>
            </p:nvSpPr>
            <p:spPr bwMode="auto">
              <a:xfrm>
                <a:off x="4551" y="336"/>
                <a:ext cx="75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 dirty="0">
                    <a:latin typeface="MT Extra" panose="05050102010205020202" pitchFamily="18" charset="2"/>
                  </a:rPr>
                  <a:t>r</a:t>
                </a:r>
                <a:endParaRPr kumimoji="1"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89" name="Line 46"/>
              <p:cNvSpPr>
                <a:spLocks noChangeShapeType="1"/>
              </p:cNvSpPr>
              <p:nvPr/>
            </p:nvSpPr>
            <p:spPr bwMode="auto">
              <a:xfrm>
                <a:off x="4992" y="67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Rectangle 47"/>
              <p:cNvSpPr>
                <a:spLocks noChangeArrowheads="1"/>
              </p:cNvSpPr>
              <p:nvPr/>
            </p:nvSpPr>
            <p:spPr bwMode="auto">
              <a:xfrm>
                <a:off x="5136" y="384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latin typeface="Times New Roman" panose="02020603050405020304" pitchFamily="18" charset="0"/>
                  </a:rPr>
                  <a:t>u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1" name="Line 48"/>
              <p:cNvSpPr>
                <a:spLocks noChangeShapeType="1"/>
              </p:cNvSpPr>
              <p:nvPr/>
            </p:nvSpPr>
            <p:spPr bwMode="auto">
              <a:xfrm>
                <a:off x="5136" y="4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27680" name="Object 49"/>
            <p:cNvGraphicFramePr>
              <a:graphicFrameLocks noChangeAspect="1"/>
            </p:cNvGraphicFramePr>
            <p:nvPr/>
          </p:nvGraphicFramePr>
          <p:xfrm>
            <a:off x="4442" y="1355"/>
            <a:ext cx="22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95" name="Equation" r:id="rId33" imgW="152355" imgH="228690" progId="Equation.DSMT4">
                    <p:embed/>
                  </p:oleObj>
                </mc:Choice>
                <mc:Fallback>
                  <p:oleObj name="Equation" r:id="rId33" imgW="152355" imgH="22869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355"/>
                          <a:ext cx="22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30" name="Line 50"/>
          <p:cNvSpPr>
            <a:spLocks noChangeShapeType="1"/>
          </p:cNvSpPr>
          <p:nvPr/>
        </p:nvSpPr>
        <p:spPr bwMode="auto">
          <a:xfrm flipV="1">
            <a:off x="7127875" y="5265738"/>
            <a:ext cx="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2" name="Text Box 52"/>
          <p:cNvSpPr txBox="1">
            <a:spLocks noChangeArrowheads="1"/>
          </p:cNvSpPr>
          <p:nvPr/>
        </p:nvSpPr>
        <p:spPr bwMode="auto">
          <a:xfrm>
            <a:off x="468313" y="439738"/>
            <a:ext cx="4608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    的表达式</a:t>
            </a:r>
          </a:p>
        </p:txBody>
      </p:sp>
      <p:graphicFrame>
        <p:nvGraphicFramePr>
          <p:cNvPr id="27673" name="Object 53"/>
          <p:cNvGraphicFramePr>
            <a:graphicFrameLocks noChangeAspect="1"/>
          </p:cNvGraphicFramePr>
          <p:nvPr/>
        </p:nvGraphicFramePr>
        <p:xfrm>
          <a:off x="1384300" y="430213"/>
          <a:ext cx="4159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6" name="Equation" r:id="rId35" imgW="469696" imgH="482391" progId="Equation.DSMT4">
                  <p:embed/>
                </p:oleObj>
              </mc:Choice>
              <mc:Fallback>
                <p:oleObj name="Equation" r:id="rId35" imgW="469696" imgH="482391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430213"/>
                        <a:ext cx="4159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55"/>
          <p:cNvGrpSpPr>
            <a:grpSpLocks/>
          </p:cNvGrpSpPr>
          <p:nvPr/>
        </p:nvGrpSpPr>
        <p:grpSpPr bwMode="auto">
          <a:xfrm>
            <a:off x="5651500" y="188640"/>
            <a:ext cx="3241675" cy="614363"/>
            <a:chOff x="3220" y="92"/>
            <a:chExt cx="2042" cy="387"/>
          </a:xfrm>
        </p:grpSpPr>
        <p:graphicFrame>
          <p:nvGraphicFramePr>
            <p:cNvPr id="27677" name="Object 33"/>
            <p:cNvGraphicFramePr>
              <a:graphicFrameLocks noChangeAspect="1"/>
            </p:cNvGraphicFramePr>
            <p:nvPr/>
          </p:nvGraphicFramePr>
          <p:xfrm>
            <a:off x="3220" y="92"/>
            <a:ext cx="163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97" name="Equation" r:id="rId37" imgW="2247900" imgH="508000" progId="Equation.DSMT4">
                    <p:embed/>
                  </p:oleObj>
                </mc:Choice>
                <mc:Fallback>
                  <p:oleObj name="Equation" r:id="rId37" imgW="2247900" imgH="5080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92"/>
                          <a:ext cx="1632" cy="348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66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8" name="Object 54"/>
            <p:cNvGraphicFramePr>
              <a:graphicFrameLocks noChangeAspect="1"/>
            </p:cNvGraphicFramePr>
            <p:nvPr/>
          </p:nvGraphicFramePr>
          <p:xfrm>
            <a:off x="4876" y="138"/>
            <a:ext cx="38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98" name="位图图像" r:id="rId39" imgW="743054" imgH="657317" progId="Paint.Picture">
                    <p:embed/>
                  </p:oleObj>
                </mc:Choice>
                <mc:Fallback>
                  <p:oleObj name="位图图像" r:id="rId39" imgW="743054" imgH="657317" progId="Paint.Picture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38"/>
                          <a:ext cx="386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75" name="Text Box 57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graphicFrame>
        <p:nvGraphicFramePr>
          <p:cNvPr id="1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616969"/>
              </p:ext>
            </p:extLst>
          </p:nvPr>
        </p:nvGraphicFramePr>
        <p:xfrm>
          <a:off x="2887712" y="1622429"/>
          <a:ext cx="60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99" name="Unknown" r:id="rId41" imgW="609600" imgH="419100" progId="Equation.DSMT4">
                  <p:embed/>
                </p:oleObj>
              </mc:Choice>
              <mc:Fallback>
                <p:oleObj name="Unknown" r:id="rId41" imgW="609600" imgH="419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712" y="1622429"/>
                        <a:ext cx="60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2">
            <a:extLst>
              <a:ext uri="{FF2B5EF4-FFF2-40B4-BE49-F238E27FC236}">
                <a16:creationId xmlns:a16="http://schemas.microsoft.com/office/drawing/2014/main" id="{5B56F0B2-C632-418A-9D68-2D828A3A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946" y="1514112"/>
            <a:ext cx="56721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当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=0.5 V/m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2" grpId="0"/>
      <p:bldP spid="20496" grpId="0" autoUpdateAnimBg="0"/>
      <p:bldP spid="20499" grpId="0" autoUpdateAnimBg="0"/>
      <p:bldP spid="20500" grpId="0" animBg="1"/>
      <p:bldP spid="6" grpId="0" animBg="1"/>
      <p:bldP spid="20506" grpId="0" animBg="1"/>
      <p:bldP spid="20507" grpId="0" animBg="1"/>
      <p:bldP spid="20514" grpId="0" animBg="1"/>
      <p:bldP spid="20530" grpId="0" animBg="1"/>
      <p:bldP spid="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若已知真空中电磁波的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磁场表达式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972595"/>
              </p:ext>
            </p:extLst>
          </p:nvPr>
        </p:nvGraphicFramePr>
        <p:xfrm>
          <a:off x="1265238" y="957263"/>
          <a:ext cx="56086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6" name="Equation" r:id="rId3" imgW="5715000" imgH="736600" progId="Equation.DSMT4">
                  <p:embed/>
                </p:oleObj>
              </mc:Choice>
              <mc:Fallback>
                <p:oleObj name="Equation" r:id="rId3" imgW="5715000" imgH="736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957263"/>
                        <a:ext cx="560863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873665"/>
              </p:ext>
            </p:extLst>
          </p:nvPr>
        </p:nvGraphicFramePr>
        <p:xfrm>
          <a:off x="1209675" y="1765300"/>
          <a:ext cx="10588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7" name="Equation" r:id="rId5" imgW="1040948" imgH="482391" progId="Equation.DSMT4">
                  <p:embed/>
                </p:oleObj>
              </mc:Choice>
              <mc:Fallback>
                <p:oleObj name="Equation" r:id="rId5" imgW="1040948" imgH="4823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1765300"/>
                        <a:ext cx="105886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675592"/>
              </p:ext>
            </p:extLst>
          </p:nvPr>
        </p:nvGraphicFramePr>
        <p:xfrm>
          <a:off x="2668588" y="1768475"/>
          <a:ext cx="10366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8" name="Equation" r:id="rId7" imgW="1016000" imgH="457200" progId="Equation.DSMT4">
                  <p:embed/>
                </p:oleObj>
              </mc:Choice>
              <mc:Fallback>
                <p:oleObj name="Equation" r:id="rId7" imgW="10160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1768475"/>
                        <a:ext cx="10366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8" name="Group 19"/>
          <p:cNvGrpSpPr>
            <a:grpSpLocks/>
          </p:cNvGrpSpPr>
          <p:nvPr/>
        </p:nvGrpSpPr>
        <p:grpSpPr bwMode="auto">
          <a:xfrm>
            <a:off x="7188200" y="549275"/>
            <a:ext cx="1600200" cy="1692275"/>
            <a:chOff x="4416" y="144"/>
            <a:chExt cx="1008" cy="1066"/>
          </a:xfrm>
        </p:grpSpPr>
        <p:sp>
          <p:nvSpPr>
            <p:cNvPr id="33831" name="Rectangle 20"/>
            <p:cNvSpPr>
              <a:spLocks noChangeArrowheads="1"/>
            </p:cNvSpPr>
            <p:nvPr/>
          </p:nvSpPr>
          <p:spPr bwMode="auto">
            <a:xfrm>
              <a:off x="4512" y="144"/>
              <a:ext cx="1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3832" name="Line 21"/>
            <p:cNvSpPr>
              <a:spLocks noChangeShapeType="1"/>
            </p:cNvSpPr>
            <p:nvPr/>
          </p:nvSpPr>
          <p:spPr bwMode="auto">
            <a:xfrm>
              <a:off x="4704" y="768"/>
              <a:ext cx="720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3" name="Line 22"/>
            <p:cNvSpPr>
              <a:spLocks noChangeShapeType="1"/>
            </p:cNvSpPr>
            <p:nvPr/>
          </p:nvSpPr>
          <p:spPr bwMode="auto">
            <a:xfrm flipV="1">
              <a:off x="4704" y="19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4" name="Line 23"/>
            <p:cNvSpPr>
              <a:spLocks noChangeShapeType="1"/>
            </p:cNvSpPr>
            <p:nvPr/>
          </p:nvSpPr>
          <p:spPr bwMode="auto">
            <a:xfrm flipH="1">
              <a:off x="4416" y="768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5" name="Rectangle 24"/>
            <p:cNvSpPr>
              <a:spLocks noChangeArrowheads="1"/>
            </p:cNvSpPr>
            <p:nvPr/>
          </p:nvSpPr>
          <p:spPr bwMode="auto">
            <a:xfrm>
              <a:off x="5280" y="720"/>
              <a:ext cx="8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3836" name="Line 25"/>
            <p:cNvSpPr>
              <a:spLocks noChangeShapeType="1"/>
            </p:cNvSpPr>
            <p:nvPr/>
          </p:nvSpPr>
          <p:spPr bwMode="auto">
            <a:xfrm flipV="1">
              <a:off x="4704" y="480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37" name="Rectangle 26"/>
            <p:cNvSpPr>
              <a:spLocks noChangeArrowheads="1"/>
            </p:cNvSpPr>
            <p:nvPr/>
          </p:nvSpPr>
          <p:spPr bwMode="auto">
            <a:xfrm>
              <a:off x="4512" y="416"/>
              <a:ext cx="14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38" name="Rectangle 27"/>
            <p:cNvSpPr>
              <a:spLocks noChangeArrowheads="1"/>
            </p:cNvSpPr>
            <p:nvPr/>
          </p:nvSpPr>
          <p:spPr bwMode="auto">
            <a:xfrm>
              <a:off x="4551" y="336"/>
              <a:ext cx="76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300">
                  <a:latin typeface="MT Extra" panose="05050102010205020202" pitchFamily="18" charset="2"/>
                </a:rPr>
                <a:t>r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839" name="Object 28"/>
            <p:cNvGraphicFramePr>
              <a:graphicFrameLocks noChangeAspect="1"/>
            </p:cNvGraphicFramePr>
            <p:nvPr/>
          </p:nvGraphicFramePr>
          <p:xfrm>
            <a:off x="4439" y="983"/>
            <a:ext cx="211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9" name="Equation" r:id="rId9" imgW="161810" imgH="228690" progId="Equation.DSMT4">
                    <p:embed/>
                  </p:oleObj>
                </mc:Choice>
                <mc:Fallback>
                  <p:oleObj name="Equation" r:id="rId9" imgW="161810" imgH="22869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983"/>
                          <a:ext cx="211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799" name="Group 29"/>
          <p:cNvGrpSpPr>
            <a:grpSpLocks/>
          </p:cNvGrpSpPr>
          <p:nvPr/>
        </p:nvGrpSpPr>
        <p:grpSpPr bwMode="auto">
          <a:xfrm>
            <a:off x="7797800" y="842963"/>
            <a:ext cx="762000" cy="468312"/>
            <a:chOff x="4704" y="1961"/>
            <a:chExt cx="480" cy="295"/>
          </a:xfrm>
        </p:grpSpPr>
        <p:sp>
          <p:nvSpPr>
            <p:cNvPr id="33829" name="Line 30"/>
            <p:cNvSpPr>
              <a:spLocks noChangeShapeType="1"/>
            </p:cNvSpPr>
            <p:nvPr/>
          </p:nvSpPr>
          <p:spPr bwMode="auto">
            <a:xfrm>
              <a:off x="4704" y="225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3830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413504"/>
                </p:ext>
              </p:extLst>
            </p:nvPr>
          </p:nvGraphicFramePr>
          <p:xfrm>
            <a:off x="4853" y="1961"/>
            <a:ext cx="19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40" name="Equation" r:id="rId11" imgW="142900" imgH="257310" progId="Equation.DSMT4">
                    <p:embed/>
                  </p:oleObj>
                </mc:Choice>
                <mc:Fallback>
                  <p:oleObj name="Equation" r:id="rId11" imgW="142900" imgH="25731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961"/>
                          <a:ext cx="19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0" name="Text Box 2"/>
          <p:cNvSpPr txBox="1">
            <a:spLocks noChangeArrowheads="1"/>
          </p:cNvSpPr>
          <p:nvPr/>
        </p:nvSpPr>
        <p:spPr bwMode="auto">
          <a:xfrm>
            <a:off x="549275" y="2457450"/>
            <a:ext cx="3519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电场表达式如何写？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1354138" y="3979863"/>
            <a:ext cx="3432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沿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轴振动    </a:t>
            </a: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958850" y="4002088"/>
          <a:ext cx="6143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1" name="MathType 6.0 Equation" r:id="rId13" imgW="609336" imgH="393529" progId="Equation.DSMT4">
                  <p:embed/>
                </p:oleObj>
              </mc:Choice>
              <mc:Fallback>
                <p:oleObj name="MathType 6.0 Equation" r:id="rId13" imgW="609336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4002088"/>
                        <a:ext cx="6143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39456"/>
              </p:ext>
            </p:extLst>
          </p:nvPr>
        </p:nvGraphicFramePr>
        <p:xfrm>
          <a:off x="923925" y="3178175"/>
          <a:ext cx="15144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2" name="Equation" r:id="rId15" imgW="1358310" imgH="393529" progId="Equation.DSMT4">
                  <p:embed/>
                </p:oleObj>
              </mc:Choice>
              <mc:Fallback>
                <p:oleObj name="Equation" r:id="rId15" imgW="1358310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3178175"/>
                        <a:ext cx="15144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2470150" y="32019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且</a:t>
            </a:r>
          </a:p>
        </p:txBody>
      </p:sp>
      <p:graphicFrame>
        <p:nvGraphicFramePr>
          <p:cNvPr id="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696658"/>
              </p:ext>
            </p:extLst>
          </p:nvPr>
        </p:nvGraphicFramePr>
        <p:xfrm>
          <a:off x="3262313" y="3165475"/>
          <a:ext cx="11207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3" name="Equation" r:id="rId17" imgW="1028520" imgH="482400" progId="Equation.DSMT4">
                  <p:embed/>
                </p:oleObj>
              </mc:Choice>
              <mc:Fallback>
                <p:oleObj name="Equation" r:id="rId17" imgW="1028520" imgH="482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3165475"/>
                        <a:ext cx="11207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467909"/>
              </p:ext>
            </p:extLst>
          </p:nvPr>
        </p:nvGraphicFramePr>
        <p:xfrm>
          <a:off x="3624263" y="4076700"/>
          <a:ext cx="15049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4" name="Equation" r:id="rId19" imgW="1498600" imgH="457200" progId="Equation.DSMT4">
                  <p:embed/>
                </p:oleObj>
              </mc:Choice>
              <mc:Fallback>
                <p:oleObj name="Equation" r:id="rId19" imgW="1498600" imgH="457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4076700"/>
                        <a:ext cx="15049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1476375" y="5816600"/>
            <a:ext cx="1336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748554"/>
              </p:ext>
            </p:extLst>
          </p:nvPr>
        </p:nvGraphicFramePr>
        <p:xfrm>
          <a:off x="777875" y="4873625"/>
          <a:ext cx="6132513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5" name="Equation" r:id="rId21" imgW="6667500" imgH="927100" progId="Equation.DSMT4">
                  <p:embed/>
                </p:oleObj>
              </mc:Choice>
              <mc:Fallback>
                <p:oleObj name="Equation" r:id="rId21" imgW="6667500" imgH="9271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4873625"/>
                        <a:ext cx="6132513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34"/>
          <p:cNvSpPr>
            <a:spLocks noChangeShapeType="1"/>
          </p:cNvSpPr>
          <p:nvPr/>
        </p:nvSpPr>
        <p:spPr bwMode="auto">
          <a:xfrm flipV="1">
            <a:off x="7627938" y="5064125"/>
            <a:ext cx="325437" cy="333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" name="Group 36"/>
          <p:cNvGrpSpPr>
            <a:grpSpLocks/>
          </p:cNvGrpSpPr>
          <p:nvPr/>
        </p:nvGrpSpPr>
        <p:grpSpPr bwMode="auto">
          <a:xfrm>
            <a:off x="6899275" y="4421188"/>
            <a:ext cx="2020888" cy="1585912"/>
            <a:chOff x="4442" y="624"/>
            <a:chExt cx="1273" cy="999"/>
          </a:xfrm>
        </p:grpSpPr>
        <p:grpSp>
          <p:nvGrpSpPr>
            <p:cNvPr id="33816" name="Group 37"/>
            <p:cNvGrpSpPr>
              <a:grpSpLocks/>
            </p:cNvGrpSpPr>
            <p:nvPr/>
          </p:nvGrpSpPr>
          <p:grpSpPr bwMode="auto">
            <a:xfrm>
              <a:off x="4608" y="624"/>
              <a:ext cx="1107" cy="912"/>
              <a:chOff x="4416" y="144"/>
              <a:chExt cx="1107" cy="912"/>
            </a:xfrm>
          </p:grpSpPr>
          <p:sp>
            <p:nvSpPr>
              <p:cNvPr id="33818" name="Rectangle 38"/>
              <p:cNvSpPr>
                <a:spLocks noChangeArrowheads="1"/>
              </p:cNvSpPr>
              <p:nvPr/>
            </p:nvSpPr>
            <p:spPr bwMode="auto">
              <a:xfrm>
                <a:off x="4512" y="144"/>
                <a:ext cx="10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latin typeface="Times New Roman" panose="02020603050405020304" pitchFamily="18" charset="0"/>
                  </a:rPr>
                  <a:t>x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19" name="Line 39"/>
              <p:cNvSpPr>
                <a:spLocks noChangeShapeType="1"/>
              </p:cNvSpPr>
              <p:nvPr/>
            </p:nvSpPr>
            <p:spPr bwMode="auto">
              <a:xfrm>
                <a:off x="4704" y="768"/>
                <a:ext cx="720" cy="0"/>
              </a:xfrm>
              <a:prstGeom prst="line">
                <a:avLst/>
              </a:prstGeom>
              <a:noFill/>
              <a:ln w="381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0" name="Line 40"/>
              <p:cNvSpPr>
                <a:spLocks noChangeShapeType="1"/>
              </p:cNvSpPr>
              <p:nvPr/>
            </p:nvSpPr>
            <p:spPr bwMode="auto">
              <a:xfrm flipV="1">
                <a:off x="4704" y="1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1" name="Line 41"/>
              <p:cNvSpPr>
                <a:spLocks noChangeShapeType="1"/>
              </p:cNvSpPr>
              <p:nvPr/>
            </p:nvSpPr>
            <p:spPr bwMode="auto">
              <a:xfrm flipH="1">
                <a:off x="4416" y="768"/>
                <a:ext cx="288" cy="28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2" name="Rectangle 42"/>
              <p:cNvSpPr>
                <a:spLocks noChangeArrowheads="1"/>
              </p:cNvSpPr>
              <p:nvPr/>
            </p:nvSpPr>
            <p:spPr bwMode="auto">
              <a:xfrm>
                <a:off x="5420" y="668"/>
                <a:ext cx="10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300" b="1" i="1">
                    <a:latin typeface="Times New Roman" panose="02020603050405020304" pitchFamily="18" charset="0"/>
                  </a:rPr>
                  <a:t>z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3" name="Line 43"/>
              <p:cNvSpPr>
                <a:spLocks noChangeShapeType="1"/>
              </p:cNvSpPr>
              <p:nvPr/>
            </p:nvSpPr>
            <p:spPr bwMode="auto">
              <a:xfrm flipV="1">
                <a:off x="4704" y="480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4" name="Rectangle 44"/>
              <p:cNvSpPr>
                <a:spLocks noChangeArrowheads="1"/>
              </p:cNvSpPr>
              <p:nvPr/>
            </p:nvSpPr>
            <p:spPr bwMode="auto">
              <a:xfrm>
                <a:off x="4512" y="472"/>
                <a:ext cx="14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H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5" name="Rectangle 45"/>
              <p:cNvSpPr>
                <a:spLocks noChangeArrowheads="1"/>
              </p:cNvSpPr>
              <p:nvPr/>
            </p:nvSpPr>
            <p:spPr bwMode="auto">
              <a:xfrm>
                <a:off x="4551" y="336"/>
                <a:ext cx="75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300">
                    <a:latin typeface="MT Extra" panose="05050102010205020202" pitchFamily="18" charset="2"/>
                  </a:rPr>
                  <a:t>r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6" name="Line 46"/>
              <p:cNvSpPr>
                <a:spLocks noChangeShapeType="1"/>
              </p:cNvSpPr>
              <p:nvPr/>
            </p:nvSpPr>
            <p:spPr bwMode="auto">
              <a:xfrm>
                <a:off x="4992" y="67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7" name="Rectangle 47"/>
              <p:cNvSpPr>
                <a:spLocks noChangeArrowheads="1"/>
              </p:cNvSpPr>
              <p:nvPr/>
            </p:nvSpPr>
            <p:spPr bwMode="auto">
              <a:xfrm>
                <a:off x="5136" y="384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600" b="1" i="1">
                    <a:latin typeface="Times New Roman" panose="02020603050405020304" pitchFamily="18" charset="0"/>
                  </a:rPr>
                  <a:t>u</a:t>
                </a:r>
                <a:endParaRPr kumimoji="1" lang="en-US" altLang="zh-CN" sz="2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8" name="Line 48"/>
              <p:cNvSpPr>
                <a:spLocks noChangeShapeType="1"/>
              </p:cNvSpPr>
              <p:nvPr/>
            </p:nvSpPr>
            <p:spPr bwMode="auto">
              <a:xfrm>
                <a:off x="5136" y="4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33817" name="Object 49"/>
            <p:cNvGraphicFramePr>
              <a:graphicFrameLocks noChangeAspect="1"/>
            </p:cNvGraphicFramePr>
            <p:nvPr/>
          </p:nvGraphicFramePr>
          <p:xfrm>
            <a:off x="4442" y="1355"/>
            <a:ext cx="22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46" name="Equation" r:id="rId23" imgW="152355" imgH="228690" progId="Equation.DSMT4">
                    <p:embed/>
                  </p:oleObj>
                </mc:Choice>
                <mc:Fallback>
                  <p:oleObj name="Equation" r:id="rId23" imgW="152355" imgH="22869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2" y="1355"/>
                          <a:ext cx="22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Group 55"/>
          <p:cNvGrpSpPr>
            <a:grpSpLocks/>
          </p:cNvGrpSpPr>
          <p:nvPr/>
        </p:nvGrpSpPr>
        <p:grpSpPr bwMode="auto">
          <a:xfrm>
            <a:off x="5794375" y="2479675"/>
            <a:ext cx="3241675" cy="614363"/>
            <a:chOff x="3220" y="92"/>
            <a:chExt cx="2042" cy="387"/>
          </a:xfrm>
        </p:grpSpPr>
        <p:graphicFrame>
          <p:nvGraphicFramePr>
            <p:cNvPr id="3381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0140"/>
                </p:ext>
              </p:extLst>
            </p:nvPr>
          </p:nvGraphicFramePr>
          <p:xfrm>
            <a:off x="3220" y="92"/>
            <a:ext cx="163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47" name="Equation" r:id="rId25" imgW="2247840" imgH="507960" progId="Equation.DSMT4">
                    <p:embed/>
                  </p:oleObj>
                </mc:Choice>
                <mc:Fallback>
                  <p:oleObj name="Equation" r:id="rId25" imgW="2247840" imgH="50796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92"/>
                          <a:ext cx="1632" cy="348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0066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5" name="Object 54"/>
            <p:cNvGraphicFramePr>
              <a:graphicFrameLocks noChangeAspect="1"/>
            </p:cNvGraphicFramePr>
            <p:nvPr/>
          </p:nvGraphicFramePr>
          <p:xfrm>
            <a:off x="4876" y="138"/>
            <a:ext cx="386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48" name="位图图像" r:id="rId27" imgW="743054" imgH="657317" progId="Paint.Picture">
                    <p:embed/>
                  </p:oleObj>
                </mc:Choice>
                <mc:Fallback>
                  <p:oleObj name="位图图像" r:id="rId27" imgW="743054" imgH="657317" progId="Paint.Picture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38"/>
                          <a:ext cx="386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Object 50"/>
          <p:cNvGraphicFramePr>
            <a:graphicFrameLocks noChangeAspect="1"/>
          </p:cNvGraphicFramePr>
          <p:nvPr/>
        </p:nvGraphicFramePr>
        <p:xfrm>
          <a:off x="4522788" y="3236913"/>
          <a:ext cx="60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9" name="Unknown" r:id="rId29" imgW="609600" imgH="419100" progId="Equation.DSMT4">
                  <p:embed/>
                </p:oleObj>
              </mc:Choice>
              <mc:Fallback>
                <p:oleObj name="Unknown" r:id="rId29" imgW="609600" imgH="419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8" y="3236913"/>
                        <a:ext cx="609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44"/>
          <p:cNvSpPr>
            <a:spLocks noChangeArrowheads="1"/>
          </p:cNvSpPr>
          <p:nvPr/>
        </p:nvSpPr>
        <p:spPr bwMode="auto">
          <a:xfrm>
            <a:off x="7861300" y="4713288"/>
            <a:ext cx="1968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300" b="1" i="1">
                <a:latin typeface="Times New Roman" panose="02020603050405020304" pitchFamily="18" charset="0"/>
              </a:rPr>
              <a:t>E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 autoUpdateAnimBg="0"/>
      <p:bldP spid="26" grpId="0" animBg="1"/>
      <p:bldP spid="29" grpId="0" animBg="1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88" y="3824288"/>
            <a:ext cx="3227387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941763"/>
            <a:ext cx="2714625" cy="1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944563"/>
            <a:ext cx="7218363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36525" y="142875"/>
            <a:ext cx="3924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CC"/>
                </a:solidFill>
                <a:latin typeface="Times New Roman" panose="02020603050405020304" pitchFamily="18" charset="0"/>
              </a:rPr>
              <a:t>2.5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电磁波的应用</a:t>
            </a: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b="1">
              <a:solidFill>
                <a:srgbClr val="0000CC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13" y="3860800"/>
            <a:ext cx="2844800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468313" y="598963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射频，微波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3924300" y="5989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红外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7153275" y="5984875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射线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348038" y="18732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上节内容回顾</a:t>
            </a: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179388" y="800100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电磁振荡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15900" y="1360488"/>
            <a:ext cx="5099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电路中电量</a:t>
            </a:r>
            <a:r>
              <a:rPr kumimoji="1" lang="en-US" altLang="zh-CN" sz="2400" b="1" i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和电流</a:t>
            </a:r>
            <a:r>
              <a:rPr kumimoji="1" lang="en-US" altLang="zh-CN" sz="2400" b="1" i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的周期性变化。</a:t>
            </a:r>
          </a:p>
        </p:txBody>
      </p:sp>
      <p:graphicFrame>
        <p:nvGraphicFramePr>
          <p:cNvPr id="55" name="Object 136"/>
          <p:cNvGraphicFramePr>
            <a:graphicFrameLocks noChangeAspect="1"/>
          </p:cNvGraphicFramePr>
          <p:nvPr/>
        </p:nvGraphicFramePr>
        <p:xfrm>
          <a:off x="1200150" y="3287713"/>
          <a:ext cx="313213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7" name="Equation" r:id="rId4" imgW="3022600" imgH="431800" progId="Equation.DSMT4">
                  <p:embed/>
                </p:oleObj>
              </mc:Choice>
              <mc:Fallback>
                <p:oleObj name="Equation" r:id="rId4" imgW="3022600" imgH="431800" progId="Equation.DSMT4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287713"/>
                        <a:ext cx="3132138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37"/>
          <p:cNvGraphicFramePr>
            <a:graphicFrameLocks noChangeAspect="1"/>
          </p:cNvGraphicFramePr>
          <p:nvPr/>
        </p:nvGraphicFramePr>
        <p:xfrm>
          <a:off x="1212850" y="2686050"/>
          <a:ext cx="27733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name="Equation" r:id="rId6" imgW="2603500" imgH="431800" progId="Equation.DSMT4">
                  <p:embed/>
                </p:oleObj>
              </mc:Choice>
              <mc:Fallback>
                <p:oleObj name="Equation" r:id="rId6" imgW="2603500" imgH="43180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2686050"/>
                        <a:ext cx="27733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35"/>
          <p:cNvSpPr txBox="1">
            <a:spLocks noChangeArrowheads="1"/>
          </p:cNvSpPr>
          <p:nvPr/>
        </p:nvSpPr>
        <p:spPr bwMode="auto">
          <a:xfrm>
            <a:off x="268288" y="2028825"/>
            <a:ext cx="2881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振荡方程</a:t>
            </a:r>
            <a:endParaRPr kumimoji="1"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8" name="Object 130"/>
          <p:cNvGraphicFramePr>
            <a:graphicFrameLocks noChangeAspect="1"/>
          </p:cNvGraphicFramePr>
          <p:nvPr/>
        </p:nvGraphicFramePr>
        <p:xfrm>
          <a:off x="1646238" y="1858963"/>
          <a:ext cx="35385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name="Equation" r:id="rId8" imgW="3340100" imgH="762000" progId="Equation.DSMT4">
                  <p:embed/>
                </p:oleObj>
              </mc:Choice>
              <mc:Fallback>
                <p:oleObj name="Equation" r:id="rId8" imgW="3340100" imgH="7620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1858963"/>
                        <a:ext cx="35385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"/>
          <p:cNvGraphicFramePr>
            <a:graphicFrameLocks noChangeAspect="1"/>
          </p:cNvGraphicFramePr>
          <p:nvPr/>
        </p:nvGraphicFramePr>
        <p:xfrm>
          <a:off x="388938" y="4429125"/>
          <a:ext cx="47958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0" name="Equation" r:id="rId10" imgW="7797800" imgH="1117600" progId="Equation.DSMT4">
                  <p:embed/>
                </p:oleObj>
              </mc:Choice>
              <mc:Fallback>
                <p:oleObj name="Equation" r:id="rId10" imgW="7797800" imgH="1117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4429125"/>
                        <a:ext cx="47958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4"/>
          <p:cNvGraphicFramePr>
            <a:graphicFrameLocks noChangeAspect="1"/>
          </p:cNvGraphicFramePr>
          <p:nvPr/>
        </p:nvGraphicFramePr>
        <p:xfrm>
          <a:off x="393700" y="5157788"/>
          <a:ext cx="47910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1" name="Equation" r:id="rId12" imgW="4978400" imgH="673100" progId="Equation.DSMT4">
                  <p:embed/>
                </p:oleObj>
              </mc:Choice>
              <mc:Fallback>
                <p:oleObj name="Equation" r:id="rId12" imgW="49784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5157788"/>
                        <a:ext cx="4791075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10"/>
          <p:cNvGraphicFramePr>
            <a:graphicFrameLocks noChangeAspect="1"/>
          </p:cNvGraphicFramePr>
          <p:nvPr/>
        </p:nvGraphicFramePr>
        <p:xfrm>
          <a:off x="388938" y="5891213"/>
          <a:ext cx="33131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2" name="Equation" r:id="rId14" imgW="3327400" imgH="673100" progId="Equation.DSMT4">
                  <p:embed/>
                </p:oleObj>
              </mc:Choice>
              <mc:Fallback>
                <p:oleObj name="Equation" r:id="rId14" imgW="33274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5891213"/>
                        <a:ext cx="33131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箭头 5"/>
          <p:cNvSpPr/>
          <p:nvPr/>
        </p:nvSpPr>
        <p:spPr>
          <a:xfrm>
            <a:off x="479425" y="2820988"/>
            <a:ext cx="588963" cy="30797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28613" y="3914775"/>
            <a:ext cx="2820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黑体" panose="02010609060101010101" pitchFamily="49" charset="-122"/>
                <a:ea typeface="黑体" panose="02010609060101010101" pitchFamily="49" charset="-122"/>
              </a:rPr>
              <a:t>LC </a:t>
            </a:r>
            <a:r>
              <a:rPr kumimoji="1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振荡电路的能量</a:t>
            </a:r>
          </a:p>
        </p:txBody>
      </p:sp>
      <p:pic>
        <p:nvPicPr>
          <p:cNvPr id="28686" name="图片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575" y="1958975"/>
            <a:ext cx="3275013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utoUpdateAnimBg="0"/>
      <p:bldP spid="4" grpId="0"/>
      <p:bldP spid="57" grpId="0" autoUpdateAnimBg="0"/>
      <p:bldP spid="6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307794" y="3573016"/>
            <a:ext cx="4294096" cy="2670494"/>
            <a:chOff x="307794" y="3573016"/>
            <a:chExt cx="4294096" cy="267049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451" y="3582809"/>
              <a:ext cx="4191439" cy="2660701"/>
            </a:xfrm>
            <a:prstGeom prst="rect">
              <a:avLst/>
            </a:prstGeom>
          </p:spPr>
        </p:pic>
        <p:cxnSp>
          <p:nvCxnSpPr>
            <p:cNvPr id="34" name="直接箭头连接符 33"/>
            <p:cNvCxnSpPr/>
            <p:nvPr/>
          </p:nvCxnSpPr>
          <p:spPr>
            <a:xfrm flipH="1" flipV="1">
              <a:off x="579188" y="3938791"/>
              <a:ext cx="31319" cy="545923"/>
            </a:xfrm>
            <a:prstGeom prst="straightConnector1">
              <a:avLst/>
            </a:prstGeom>
            <a:ln>
              <a:solidFill>
                <a:srgbClr val="3ABAB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7794" y="357301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40BCB6"/>
                  </a:solidFill>
                </a:rPr>
                <a:t>电场线</a:t>
              </a:r>
              <a:endParaRPr lang="en-US" b="1" dirty="0">
                <a:solidFill>
                  <a:srgbClr val="40BCB6"/>
                </a:solidFill>
              </a:endParaRPr>
            </a:p>
          </p:txBody>
        </p:sp>
      </p:grpSp>
      <p:sp>
        <p:nvSpPr>
          <p:cNvPr id="15391" name="AutoShape 31"/>
          <p:cNvSpPr>
            <a:spLocks/>
          </p:cNvSpPr>
          <p:nvPr/>
        </p:nvSpPr>
        <p:spPr bwMode="auto">
          <a:xfrm>
            <a:off x="2434734" y="875319"/>
            <a:ext cx="142875" cy="876300"/>
          </a:xfrm>
          <a:prstGeom prst="leftBrace">
            <a:avLst>
              <a:gd name="adj1" fmla="val 511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230969" y="223838"/>
            <a:ext cx="2517775" cy="1852613"/>
            <a:chOff x="3600" y="1248"/>
            <a:chExt cx="1976" cy="1536"/>
          </a:xfrm>
        </p:grpSpPr>
        <p:sp>
          <p:nvSpPr>
            <p:cNvPr id="20532" name="Oval 33"/>
            <p:cNvSpPr>
              <a:spLocks noChangeArrowheads="1"/>
            </p:cNvSpPr>
            <p:nvPr/>
          </p:nvSpPr>
          <p:spPr bwMode="auto">
            <a:xfrm>
              <a:off x="3936" y="14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3" name="Oval 34"/>
            <p:cNvSpPr>
              <a:spLocks noChangeArrowheads="1"/>
            </p:cNvSpPr>
            <p:nvPr/>
          </p:nvSpPr>
          <p:spPr bwMode="auto">
            <a:xfrm>
              <a:off x="3936" y="25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4" name="Line 35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99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35" name="Group 36"/>
            <p:cNvGrpSpPr>
              <a:grpSpLocks/>
            </p:cNvGrpSpPr>
            <p:nvPr/>
          </p:nvGrpSpPr>
          <p:grpSpPr bwMode="auto">
            <a:xfrm>
              <a:off x="3744" y="1806"/>
              <a:ext cx="123" cy="641"/>
              <a:chOff x="3744" y="1806"/>
              <a:chExt cx="123" cy="641"/>
            </a:xfrm>
          </p:grpSpPr>
          <p:sp>
            <p:nvSpPr>
              <p:cNvPr id="20549" name="Rectangle 37"/>
              <p:cNvSpPr>
                <a:spLocks noChangeArrowheads="1"/>
              </p:cNvSpPr>
              <p:nvPr/>
            </p:nvSpPr>
            <p:spPr bwMode="auto">
              <a:xfrm>
                <a:off x="3757" y="2064"/>
                <a:ext cx="84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l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50" name="Rectangle 38"/>
              <p:cNvSpPr>
                <a:spLocks noChangeArrowheads="1"/>
              </p:cNvSpPr>
              <p:nvPr/>
            </p:nvSpPr>
            <p:spPr bwMode="auto">
              <a:xfrm>
                <a:off x="3744" y="1806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6" name="Group 39"/>
            <p:cNvGrpSpPr>
              <a:grpSpLocks/>
            </p:cNvGrpSpPr>
            <p:nvPr/>
          </p:nvGrpSpPr>
          <p:grpSpPr bwMode="auto">
            <a:xfrm>
              <a:off x="3600" y="1248"/>
              <a:ext cx="333" cy="411"/>
              <a:chOff x="3660" y="1199"/>
              <a:chExt cx="333" cy="411"/>
            </a:xfrm>
          </p:grpSpPr>
          <p:sp>
            <p:nvSpPr>
              <p:cNvPr id="20547" name="Rectangle 40"/>
              <p:cNvSpPr>
                <a:spLocks noChangeArrowheads="1"/>
              </p:cNvSpPr>
              <p:nvPr/>
            </p:nvSpPr>
            <p:spPr bwMode="auto">
              <a:xfrm>
                <a:off x="3842" y="1227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8" name="Rectangle 41"/>
              <p:cNvSpPr>
                <a:spLocks noChangeArrowheads="1"/>
              </p:cNvSpPr>
              <p:nvPr/>
            </p:nvSpPr>
            <p:spPr bwMode="auto">
              <a:xfrm>
                <a:off x="3660" y="1199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+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7" name="Group 42"/>
            <p:cNvGrpSpPr>
              <a:grpSpLocks/>
            </p:cNvGrpSpPr>
            <p:nvPr/>
          </p:nvGrpSpPr>
          <p:grpSpPr bwMode="auto">
            <a:xfrm>
              <a:off x="3612" y="2373"/>
              <a:ext cx="329" cy="411"/>
              <a:chOff x="3612" y="2247"/>
              <a:chExt cx="329" cy="411"/>
            </a:xfrm>
          </p:grpSpPr>
          <p:sp>
            <p:nvSpPr>
              <p:cNvPr id="20545" name="Rectangle 43"/>
              <p:cNvSpPr>
                <a:spLocks noChangeArrowheads="1"/>
              </p:cNvSpPr>
              <p:nvPr/>
            </p:nvSpPr>
            <p:spPr bwMode="auto">
              <a:xfrm>
                <a:off x="3790" y="2275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6" name="Rectangle 44"/>
              <p:cNvSpPr>
                <a:spLocks noChangeArrowheads="1"/>
              </p:cNvSpPr>
              <p:nvPr/>
            </p:nvSpPr>
            <p:spPr bwMode="auto">
              <a:xfrm>
                <a:off x="3612" y="2247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-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38" name="Line 45"/>
            <p:cNvSpPr>
              <a:spLocks noChangeShapeType="1"/>
            </p:cNvSpPr>
            <p:nvPr/>
          </p:nvSpPr>
          <p:spPr bwMode="auto">
            <a:xfrm flipV="1">
              <a:off x="3984" y="1680"/>
              <a:ext cx="134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9" name="Arc 46"/>
            <p:cNvSpPr>
              <a:spLocks/>
            </p:cNvSpPr>
            <p:nvPr/>
          </p:nvSpPr>
          <p:spPr bwMode="auto">
            <a:xfrm>
              <a:off x="3840" y="1920"/>
              <a:ext cx="373" cy="560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Rectangle 47"/>
            <p:cNvSpPr>
              <a:spLocks noChangeArrowheads="1"/>
            </p:cNvSpPr>
            <p:nvPr/>
          </p:nvSpPr>
          <p:spPr bwMode="auto">
            <a:xfrm>
              <a:off x="4088" y="1701"/>
              <a:ext cx="13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0541" name="Oval 48"/>
            <p:cNvSpPr>
              <a:spLocks noChangeArrowheads="1"/>
            </p:cNvSpPr>
            <p:nvPr/>
          </p:nvSpPr>
          <p:spPr bwMode="auto">
            <a:xfrm>
              <a:off x="5328" y="163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0542" name="Group 49"/>
            <p:cNvGrpSpPr>
              <a:grpSpLocks/>
            </p:cNvGrpSpPr>
            <p:nvPr/>
          </p:nvGrpSpPr>
          <p:grpSpPr bwMode="auto">
            <a:xfrm>
              <a:off x="5424" y="1392"/>
              <a:ext cx="152" cy="586"/>
              <a:chOff x="4752" y="1669"/>
              <a:chExt cx="152" cy="586"/>
            </a:xfrm>
          </p:grpSpPr>
          <p:sp>
            <p:nvSpPr>
              <p:cNvPr id="20543" name="Rectangle 50"/>
              <p:cNvSpPr>
                <a:spLocks noChangeArrowheads="1"/>
              </p:cNvSpPr>
              <p:nvPr/>
            </p:nvSpPr>
            <p:spPr bwMode="auto">
              <a:xfrm>
                <a:off x="4752" y="1872"/>
                <a:ext cx="117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4" name="Rectangle 51"/>
              <p:cNvSpPr>
                <a:spLocks noChangeArrowheads="1"/>
              </p:cNvSpPr>
              <p:nvPr/>
            </p:nvSpPr>
            <p:spPr bwMode="auto">
              <a:xfrm>
                <a:off x="4781" y="1669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179388" y="296863"/>
            <a:ext cx="489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CC"/>
                </a:solidFill>
              </a:rPr>
              <a:t>电磁波的波动方程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30163" y="823397"/>
            <a:ext cx="230958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）球面波</a:t>
            </a:r>
          </a:p>
        </p:txBody>
      </p:sp>
      <p:graphicFrame>
        <p:nvGraphicFramePr>
          <p:cNvPr id="15462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43983"/>
              </p:ext>
            </p:extLst>
          </p:nvPr>
        </p:nvGraphicFramePr>
        <p:xfrm>
          <a:off x="2663334" y="730856"/>
          <a:ext cx="29987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8" name="Equation" r:id="rId4" imgW="2984400" imgH="672840" progId="Equation.DSMT4">
                  <p:embed/>
                </p:oleObj>
              </mc:Choice>
              <mc:Fallback>
                <p:oleObj name="Equation" r:id="rId4" imgW="298440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334" y="730856"/>
                        <a:ext cx="29987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086657"/>
              </p:ext>
            </p:extLst>
          </p:nvPr>
        </p:nvGraphicFramePr>
        <p:xfrm>
          <a:off x="2591897" y="1307119"/>
          <a:ext cx="31146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" name="Equation" r:id="rId6" imgW="3098520" imgH="672840" progId="Equation.DSMT4">
                  <p:embed/>
                </p:oleObj>
              </mc:Choice>
              <mc:Fallback>
                <p:oleObj name="Equation" r:id="rId6" imgW="30985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897" y="1307119"/>
                        <a:ext cx="31146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endParaRPr lang="en-US" altLang="zh-CN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4233" y="3383804"/>
            <a:ext cx="4105456" cy="3029269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563312"/>
              </p:ext>
            </p:extLst>
          </p:nvPr>
        </p:nvGraphicFramePr>
        <p:xfrm>
          <a:off x="364634" y="1969456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" name="Equation" r:id="rId9" imgW="2298600" imgH="927000" progId="Equation.DSMT4">
                  <p:embed/>
                </p:oleObj>
              </mc:Choice>
              <mc:Fallback>
                <p:oleObj name="Equation" r:id="rId9" imgW="2298600" imgH="92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634" y="1969456"/>
                        <a:ext cx="22987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88873"/>
              </p:ext>
            </p:extLst>
          </p:nvPr>
        </p:nvGraphicFramePr>
        <p:xfrm>
          <a:off x="2936583" y="1982168"/>
          <a:ext cx="234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" name="Equation" r:id="rId11" imgW="2349360" imgH="888840" progId="Equation.DSMT4">
                  <p:embed/>
                </p:oleObj>
              </mc:Choice>
              <mc:Fallback>
                <p:oleObj name="Equation" r:id="rId11" imgW="234936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6583" y="1982168"/>
                        <a:ext cx="2349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937618"/>
              </p:ext>
            </p:extLst>
          </p:nvPr>
        </p:nvGraphicFramePr>
        <p:xfrm>
          <a:off x="5828332" y="2182622"/>
          <a:ext cx="1485686" cy="485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2" name="Equation" r:id="rId13" imgW="1320480" imgH="431640" progId="Equation.DSMT4">
                  <p:embed/>
                </p:oleObj>
              </mc:Choice>
              <mc:Fallback>
                <p:oleObj name="Equation" r:id="rId13" imgW="1320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28332" y="2182622"/>
                        <a:ext cx="1485686" cy="485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2510894" y="4833156"/>
            <a:ext cx="0" cy="504056"/>
          </a:xfrm>
          <a:prstGeom prst="straightConnector1">
            <a:avLst/>
          </a:prstGeom>
          <a:ln w="4127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3743908" y="5024773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515941" y="5085184"/>
            <a:ext cx="1813802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3797668" y="4484713"/>
            <a:ext cx="0" cy="118813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484992" y="502477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073598" y="4733912"/>
            <a:ext cx="341760" cy="400110"/>
            <a:chOff x="3040489" y="4728875"/>
            <a:chExt cx="341760" cy="400110"/>
          </a:xfrm>
        </p:grpSpPr>
        <p:sp>
          <p:nvSpPr>
            <p:cNvPr id="89" name="文本框 88"/>
            <p:cNvSpPr txBox="1"/>
            <p:nvPr/>
          </p:nvSpPr>
          <p:spPr>
            <a:xfrm>
              <a:off x="3040489" y="4728875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</a:t>
              </a: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3806762" y="4355550"/>
            <a:ext cx="338554" cy="369332"/>
            <a:chOff x="3806762" y="4355550"/>
            <a:chExt cx="338554" cy="369332"/>
          </a:xfrm>
        </p:grpSpPr>
        <p:sp>
          <p:nvSpPr>
            <p:cNvPr id="93" name="文本框 92"/>
            <p:cNvSpPr txBox="1"/>
            <p:nvPr/>
          </p:nvSpPr>
          <p:spPr>
            <a:xfrm>
              <a:off x="3806762" y="435555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</a:t>
              </a:r>
            </a:p>
          </p:txBody>
        </p:sp>
        <p:cxnSp>
          <p:nvCxnSpPr>
            <p:cNvPr id="95" name="直接箭头连接符 94"/>
            <p:cNvCxnSpPr/>
            <p:nvPr/>
          </p:nvCxnSpPr>
          <p:spPr>
            <a:xfrm>
              <a:off x="3923928" y="4355550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椭圆 95"/>
          <p:cNvSpPr/>
          <p:nvPr/>
        </p:nvSpPr>
        <p:spPr>
          <a:xfrm>
            <a:off x="3195499" y="4092873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文本框 96"/>
          <p:cNvSpPr txBox="1"/>
          <p:nvPr/>
        </p:nvSpPr>
        <p:spPr>
          <a:xfrm>
            <a:off x="2808513" y="405981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P’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V="1">
            <a:off x="2506170" y="3645024"/>
            <a:ext cx="1148099" cy="144016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/>
          <p:cNvGrpSpPr/>
          <p:nvPr/>
        </p:nvGrpSpPr>
        <p:grpSpPr>
          <a:xfrm>
            <a:off x="3605425" y="3538681"/>
            <a:ext cx="402674" cy="400110"/>
            <a:chOff x="3040489" y="4728875"/>
            <a:chExt cx="402674" cy="400110"/>
          </a:xfrm>
        </p:grpSpPr>
        <p:sp>
          <p:nvSpPr>
            <p:cNvPr id="101" name="文本框 100"/>
            <p:cNvSpPr txBox="1"/>
            <p:nvPr/>
          </p:nvSpPr>
          <p:spPr>
            <a:xfrm>
              <a:off x="3040489" y="4728875"/>
              <a:ext cx="4026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u'</a:t>
              </a: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直接箭头连接符 102"/>
          <p:cNvCxnSpPr/>
          <p:nvPr/>
        </p:nvCxnSpPr>
        <p:spPr>
          <a:xfrm flipH="1" flipV="1">
            <a:off x="2855683" y="3787686"/>
            <a:ext cx="719210" cy="64124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519772" y="3644805"/>
            <a:ext cx="402674" cy="369332"/>
            <a:chOff x="2564764" y="3644805"/>
            <a:chExt cx="402674" cy="369332"/>
          </a:xfrm>
        </p:grpSpPr>
        <p:sp>
          <p:nvSpPr>
            <p:cNvPr id="107" name="文本框 106"/>
            <p:cNvSpPr txBox="1"/>
            <p:nvPr/>
          </p:nvSpPr>
          <p:spPr>
            <a:xfrm>
              <a:off x="2564764" y="3644805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E’</a:t>
              </a:r>
            </a:p>
          </p:txBody>
        </p:sp>
        <p:cxnSp>
          <p:nvCxnSpPr>
            <p:cNvPr id="108" name="直接箭头连接符 107"/>
            <p:cNvCxnSpPr/>
            <p:nvPr/>
          </p:nvCxnSpPr>
          <p:spPr>
            <a:xfrm>
              <a:off x="2681930" y="3644805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ectangle 53"/>
          <p:cNvSpPr>
            <a:spLocks noChangeArrowheads="1"/>
          </p:cNvSpPr>
          <p:nvPr/>
        </p:nvSpPr>
        <p:spPr bwMode="auto">
          <a:xfrm>
            <a:off x="209618" y="2951224"/>
            <a:ext cx="8314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kumimoji="1" lang="zh-CN" altLang="en-US" sz="2800" b="1" dirty="0">
                <a:solidFill>
                  <a:srgbClr val="0000CC"/>
                </a:solidFill>
              </a:rPr>
              <a:t>电磁波的方向</a:t>
            </a:r>
            <a:r>
              <a:rPr kumimoji="1" lang="en-US" altLang="zh-CN" sz="2800" b="1" dirty="0">
                <a:solidFill>
                  <a:srgbClr val="0000CC"/>
                </a:solidFill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</a:rPr>
              <a:t>传播方向，电场、磁场振荡方向</a:t>
            </a:r>
            <a:r>
              <a:rPr kumimoji="1" lang="en-US" altLang="zh-CN" sz="2800" b="1" dirty="0">
                <a:solidFill>
                  <a:srgbClr val="0000CC"/>
                </a:solidFill>
              </a:rPr>
              <a:t>)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290304" y="6358162"/>
            <a:ext cx="4027636" cy="491300"/>
            <a:chOff x="2487790" y="6234100"/>
            <a:chExt cx="4027636" cy="491300"/>
          </a:xfrm>
        </p:grpSpPr>
        <p:sp>
          <p:nvSpPr>
            <p:cNvPr id="119" name="Rectangle 53"/>
            <p:cNvSpPr>
              <a:spLocks noChangeArrowheads="1"/>
            </p:cNvSpPr>
            <p:nvPr/>
          </p:nvSpPr>
          <p:spPr bwMode="auto">
            <a:xfrm>
              <a:off x="2487790" y="6234100"/>
              <a:ext cx="1700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任意一点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3805140" y="6313833"/>
              <a:ext cx="1065309" cy="411567"/>
              <a:chOff x="3805140" y="6313833"/>
              <a:chExt cx="1065309" cy="411567"/>
            </a:xfrm>
          </p:grpSpPr>
          <p:grpSp>
            <p:nvGrpSpPr>
              <p:cNvPr id="120" name="组合 119"/>
              <p:cNvGrpSpPr/>
              <p:nvPr/>
            </p:nvGrpSpPr>
            <p:grpSpPr>
              <a:xfrm>
                <a:off x="3805140" y="6313833"/>
                <a:ext cx="599844" cy="400110"/>
                <a:chOff x="3040489" y="4728875"/>
                <a:chExt cx="599844" cy="400110"/>
              </a:xfrm>
            </p:grpSpPr>
            <p:sp>
              <p:nvSpPr>
                <p:cNvPr id="121" name="文本框 120"/>
                <p:cNvSpPr txBox="1"/>
                <p:nvPr/>
              </p:nvSpPr>
              <p:spPr>
                <a:xfrm>
                  <a:off x="3040489" y="4728875"/>
                  <a:ext cx="59984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i="1" dirty="0">
                      <a:solidFill>
                        <a:srgbClr val="FF0000"/>
                      </a:solidFill>
                    </a:rPr>
                    <a:t>u</a:t>
                  </a:r>
                  <a:r>
                    <a:rPr lang="zh-CN" altLang="en-US" sz="2000" b="1" i="1" dirty="0">
                      <a:solidFill>
                        <a:srgbClr val="FF0000"/>
                      </a:solidFill>
                    </a:rPr>
                    <a:t>，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2" name="直接箭头连接符 121"/>
                <p:cNvCxnSpPr/>
                <p:nvPr/>
              </p:nvCxnSpPr>
              <p:spPr>
                <a:xfrm>
                  <a:off x="3153749" y="4761720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组合 122"/>
              <p:cNvGrpSpPr/>
              <p:nvPr/>
            </p:nvGrpSpPr>
            <p:grpSpPr>
              <a:xfrm>
                <a:off x="4184873" y="6325290"/>
                <a:ext cx="614271" cy="400110"/>
                <a:chOff x="3040489" y="4728875"/>
                <a:chExt cx="614271" cy="400110"/>
              </a:xfrm>
            </p:grpSpPr>
            <p:sp>
              <p:nvSpPr>
                <p:cNvPr id="124" name="文本框 123"/>
                <p:cNvSpPr txBox="1"/>
                <p:nvPr/>
              </p:nvSpPr>
              <p:spPr>
                <a:xfrm>
                  <a:off x="3040489" y="4728875"/>
                  <a:ext cx="6142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E</a:t>
                  </a:r>
                  <a:r>
                    <a:rPr lang="zh-CN" altLang="en-US" sz="2000" b="1" i="1" dirty="0">
                      <a:solidFill>
                        <a:srgbClr val="FF0000"/>
                      </a:solidFill>
                    </a:rPr>
                    <a:t>，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5" name="直接箭头连接符 124"/>
                <p:cNvCxnSpPr/>
                <p:nvPr/>
              </p:nvCxnSpPr>
              <p:spPr>
                <a:xfrm>
                  <a:off x="3153749" y="4748909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组合 125"/>
              <p:cNvGrpSpPr/>
              <p:nvPr/>
            </p:nvGrpSpPr>
            <p:grpSpPr>
              <a:xfrm>
                <a:off x="4499835" y="6324651"/>
                <a:ext cx="370614" cy="400110"/>
                <a:chOff x="3040489" y="4728875"/>
                <a:chExt cx="370614" cy="400110"/>
              </a:xfrm>
            </p:grpSpPr>
            <p:sp>
              <p:nvSpPr>
                <p:cNvPr id="127" name="文本框 126"/>
                <p:cNvSpPr txBox="1"/>
                <p:nvPr/>
              </p:nvSpPr>
              <p:spPr>
                <a:xfrm>
                  <a:off x="3040489" y="4728875"/>
                  <a:ext cx="37061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H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8" name="直接箭头连接符 127"/>
                <p:cNvCxnSpPr/>
                <p:nvPr/>
              </p:nvCxnSpPr>
              <p:spPr>
                <a:xfrm>
                  <a:off x="3153749" y="4761720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9" name="Rectangle 53"/>
            <p:cNvSpPr>
              <a:spLocks noChangeArrowheads="1"/>
            </p:cNvSpPr>
            <p:nvPr/>
          </p:nvSpPr>
          <p:spPr bwMode="auto">
            <a:xfrm>
              <a:off x="4814797" y="6243510"/>
              <a:ext cx="1700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相互垂直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34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413" grpId="0" autoUpdateAnimBg="0"/>
      <p:bldP spid="15414" grpId="0" autoUpdateAnimBg="0"/>
      <p:bldP spid="18" grpId="0" animBg="1"/>
      <p:bldP spid="24" grpId="0"/>
      <p:bldP spid="96" grpId="0" animBg="1"/>
      <p:bldP spid="97" grpId="0"/>
      <p:bldP spid="11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348038" y="44450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上节内容回顾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50825" y="638175"/>
            <a:ext cx="4008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电磁波的波动方程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" name="Text Box 3"/>
          <p:cNvSpPr txBox="1">
            <a:spLocks noChangeArrowheads="1"/>
          </p:cNvSpPr>
          <p:nvPr/>
        </p:nvSpPr>
        <p:spPr bwMode="auto">
          <a:xfrm>
            <a:off x="258763" y="3914775"/>
            <a:ext cx="4008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电磁波的性质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323850" y="4508500"/>
            <a:ext cx="8929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E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H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的位相</a:t>
            </a:r>
            <a:r>
              <a:rPr lang="en-US" altLang="zh-CN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同相</a:t>
            </a:r>
            <a:r>
              <a:rPr lang="en-US" altLang="zh-CN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，数量关系，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</a:t>
            </a:r>
          </a:p>
        </p:txBody>
      </p:sp>
      <p:sp>
        <p:nvSpPr>
          <p:cNvPr id="99" name="Text Box 3"/>
          <p:cNvSpPr txBox="1">
            <a:spLocks noChangeArrowheads="1"/>
          </p:cNvSpPr>
          <p:nvPr/>
        </p:nvSpPr>
        <p:spPr bwMode="auto">
          <a:xfrm>
            <a:off x="250825" y="5030788"/>
            <a:ext cx="4008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电磁波的能量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>
            <a:off x="500063" y="56261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能流密度矢量（</a:t>
            </a:r>
            <a:r>
              <a:rPr kumimoji="1"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坡印廷矢量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左大括号 7"/>
          <p:cNvSpPr>
            <a:spLocks/>
          </p:cNvSpPr>
          <p:nvPr/>
        </p:nvSpPr>
        <p:spPr bwMode="auto">
          <a:xfrm>
            <a:off x="768350" y="1358900"/>
            <a:ext cx="173038" cy="811213"/>
          </a:xfrm>
          <a:prstGeom prst="leftBrace">
            <a:avLst>
              <a:gd name="adj1" fmla="val 20510"/>
              <a:gd name="adj2" fmla="val 50000"/>
            </a:avLst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242888" y="1192213"/>
            <a:ext cx="615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球面波</a:t>
            </a:r>
          </a:p>
        </p:txBody>
      </p:sp>
      <p:sp>
        <p:nvSpPr>
          <p:cNvPr id="105" name="左大括号 104"/>
          <p:cNvSpPr>
            <a:spLocks/>
          </p:cNvSpPr>
          <p:nvPr/>
        </p:nvSpPr>
        <p:spPr bwMode="auto">
          <a:xfrm>
            <a:off x="739775" y="2811463"/>
            <a:ext cx="174625" cy="811212"/>
          </a:xfrm>
          <a:prstGeom prst="leftBrace">
            <a:avLst>
              <a:gd name="adj1" fmla="val 20324"/>
              <a:gd name="adj2" fmla="val 50000"/>
            </a:avLst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" name="文本框 105"/>
          <p:cNvSpPr txBox="1">
            <a:spLocks noChangeArrowheads="1"/>
          </p:cNvSpPr>
          <p:nvPr/>
        </p:nvSpPr>
        <p:spPr bwMode="auto">
          <a:xfrm>
            <a:off x="215900" y="2643188"/>
            <a:ext cx="615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平面波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77925"/>
            <a:ext cx="2684463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1095375"/>
            <a:ext cx="19415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870075"/>
            <a:ext cx="4452937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2600325"/>
            <a:ext cx="2582863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317875"/>
            <a:ext cx="27717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6162675"/>
            <a:ext cx="2928938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938" y="485775"/>
            <a:ext cx="28670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2886075"/>
            <a:ext cx="387985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箭头连接符 17"/>
          <p:cNvCxnSpPr/>
          <p:nvPr/>
        </p:nvCxnSpPr>
        <p:spPr>
          <a:xfrm>
            <a:off x="6767513" y="3068638"/>
            <a:ext cx="10080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747000" y="2811463"/>
            <a:ext cx="373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/>
              <a:t>u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256213" y="5494338"/>
            <a:ext cx="38004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重点：写平面电磁波的电场、磁场波动方程</a:t>
            </a:r>
            <a:endParaRPr lang="en-US" sz="28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5" grpId="0"/>
      <p:bldP spid="99" grpId="0"/>
      <p:bldP spid="103" grpId="0"/>
      <p:bldP spid="8" grpId="0" animBg="1"/>
      <p:bldP spid="9" grpId="0"/>
      <p:bldP spid="105" grpId="0" animBg="1"/>
      <p:bldP spid="106" grpId="0"/>
      <p:bldP spid="19" grpId="0"/>
      <p:bldP spid="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4656231</TotalTime>
  <Words>1016</Words>
  <Application>Microsoft Office PowerPoint</Application>
  <PresentationFormat>全屏显示(4:3)</PresentationFormat>
  <Paragraphs>254</Paragraphs>
  <Slides>27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黑体</vt:lpstr>
      <vt:lpstr>宋体</vt:lpstr>
      <vt:lpstr>Arial</vt:lpstr>
      <vt:lpstr>Calibri</vt:lpstr>
      <vt:lpstr>MT Extra</vt:lpstr>
      <vt:lpstr>Symbol</vt:lpstr>
      <vt:lpstr>Times New Roman</vt:lpstr>
      <vt:lpstr>Wingdings</vt:lpstr>
      <vt:lpstr>默认设计模板</vt:lpstr>
      <vt:lpstr>位图图像</vt:lpstr>
      <vt:lpstr>BMP 图象</vt:lpstr>
      <vt:lpstr>公式</vt:lpstr>
      <vt:lpstr>Equation</vt:lpstr>
      <vt:lpstr>MathType 6.0 Equation</vt:lpstr>
      <vt:lpstr>BMP 图像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240</cp:revision>
  <cp:lastPrinted>2019-10-24T04:44:23Z</cp:lastPrinted>
  <dcterms:created xsi:type="dcterms:W3CDTF">2006-09-12T02:57:17Z</dcterms:created>
  <dcterms:modified xsi:type="dcterms:W3CDTF">2024-10-28T11:34:20Z</dcterms:modified>
</cp:coreProperties>
</file>